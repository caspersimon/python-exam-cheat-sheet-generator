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66" r:id="rId3"/>
    <p:sldId id="273" r:id="rId4"/>
    <p:sldId id="324" r:id="rId5"/>
    <p:sldId id="327" r:id="rId6"/>
    <p:sldId id="325" r:id="rId7"/>
    <p:sldId id="329" r:id="rId8"/>
    <p:sldId id="330" r:id="rId9"/>
    <p:sldId id="331" r:id="rId10"/>
    <p:sldId id="332" r:id="rId11"/>
    <p:sldId id="333" r:id="rId12"/>
    <p:sldId id="334" r:id="rId13"/>
    <p:sldId id="336" r:id="rId14"/>
    <p:sldId id="337" r:id="rId15"/>
    <p:sldId id="338" r:id="rId16"/>
    <p:sldId id="339" r:id="rId17"/>
    <p:sldId id="340" r:id="rId18"/>
    <p:sldId id="341" r:id="rId19"/>
    <p:sldId id="342" r:id="rId20"/>
    <p:sldId id="343" r:id="rId21"/>
    <p:sldId id="326" r:id="rId22"/>
    <p:sldId id="344" r:id="rId23"/>
    <p:sldId id="345" r:id="rId24"/>
    <p:sldId id="346" r:id="rId25"/>
    <p:sldId id="347" r:id="rId26"/>
    <p:sldId id="348" r:id="rId27"/>
    <p:sldId id="349" r:id="rId28"/>
    <p:sldId id="350" r:id="rId29"/>
    <p:sldId id="351" r:id="rId30"/>
    <p:sldId id="352" r:id="rId31"/>
    <p:sldId id="353" r:id="rId32"/>
    <p:sldId id="355" r:id="rId33"/>
    <p:sldId id="372" r:id="rId34"/>
    <p:sldId id="356" r:id="rId35"/>
    <p:sldId id="373" r:id="rId36"/>
    <p:sldId id="367" r:id="rId37"/>
    <p:sldId id="371" r:id="rId38"/>
    <p:sldId id="357" r:id="rId39"/>
    <p:sldId id="358" r:id="rId40"/>
    <p:sldId id="359" r:id="rId41"/>
    <p:sldId id="370" r:id="rId42"/>
    <p:sldId id="360" r:id="rId43"/>
    <p:sldId id="364" r:id="rId44"/>
    <p:sldId id="365" r:id="rId45"/>
    <p:sldId id="374" r:id="rId46"/>
    <p:sldId id="375" r:id="rId47"/>
    <p:sldId id="376" r:id="rId48"/>
    <p:sldId id="383" r:id="rId49"/>
    <p:sldId id="384" r:id="rId50"/>
    <p:sldId id="385" r:id="rId51"/>
    <p:sldId id="386" r:id="rId52"/>
    <p:sldId id="378" r:id="rId53"/>
    <p:sldId id="379" r:id="rId54"/>
    <p:sldId id="381" r:id="rId55"/>
    <p:sldId id="382" r:id="rId56"/>
  </p:sldIdLst>
  <p:sldSz cx="12192000" cy="6858000"/>
  <p:notesSz cx="6742113" cy="987266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A7D084-BB2D-4EF9-AFAF-3BC88FB2B8E2}" v="10" dt="2026-02-14T12:41:56.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712" autoAdjust="0"/>
  </p:normalViewPr>
  <p:slideViewPr>
    <p:cSldViewPr snapToGrid="0">
      <p:cViewPr varScale="1">
        <p:scale>
          <a:sx n="78" d="100"/>
          <a:sy n="78" d="100"/>
        </p:scale>
        <p:origin x="821" y="67"/>
      </p:cViewPr>
      <p:guideLst/>
    </p:cSldViewPr>
  </p:slideViewPr>
  <p:outlineViewPr>
    <p:cViewPr>
      <p:scale>
        <a:sx n="33" d="100"/>
        <a:sy n="33" d="100"/>
      </p:scale>
      <p:origin x="0" y="-4651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js Janssen" userId="e1c712ed-fa05-4b32-a6ac-d3bcfe11202a" providerId="ADAL" clId="{8FD1F137-BF03-485D-B0D1-ED5AC4324200}"/>
    <pc:docChg chg="modSld">
      <pc:chgData name="Mathijs Janssen" userId="e1c712ed-fa05-4b32-a6ac-d3bcfe11202a" providerId="ADAL" clId="{8FD1F137-BF03-485D-B0D1-ED5AC4324200}" dt="2026-02-14T12:41:56.607" v="9" actId="6549"/>
      <pc:docMkLst>
        <pc:docMk/>
      </pc:docMkLst>
      <pc:sldChg chg="modSp">
        <pc:chgData name="Mathijs Janssen" userId="e1c712ed-fa05-4b32-a6ac-d3bcfe11202a" providerId="ADAL" clId="{8FD1F137-BF03-485D-B0D1-ED5AC4324200}" dt="2026-02-14T12:29:29.443" v="8" actId="20577"/>
        <pc:sldMkLst>
          <pc:docMk/>
          <pc:sldMk cId="3284775294" sldId="325"/>
        </pc:sldMkLst>
        <pc:spChg chg="mod">
          <ac:chgData name="Mathijs Janssen" userId="e1c712ed-fa05-4b32-a6ac-d3bcfe11202a" providerId="ADAL" clId="{8FD1F137-BF03-485D-B0D1-ED5AC4324200}" dt="2026-02-14T12:29:29.443" v="8" actId="20577"/>
          <ac:spMkLst>
            <pc:docMk/>
            <pc:sldMk cId="3284775294" sldId="325"/>
            <ac:spMk id="3" creationId="{45FD20EC-0702-AB37-AE38-B6C28EFCFFAE}"/>
          </ac:spMkLst>
        </pc:spChg>
      </pc:sldChg>
      <pc:sldChg chg="modSp">
        <pc:chgData name="Mathijs Janssen" userId="e1c712ed-fa05-4b32-a6ac-d3bcfe11202a" providerId="ADAL" clId="{8FD1F137-BF03-485D-B0D1-ED5AC4324200}" dt="2026-02-14T12:41:56.607" v="9" actId="6549"/>
        <pc:sldMkLst>
          <pc:docMk/>
          <pc:sldMk cId="3495429256" sldId="353"/>
        </pc:sldMkLst>
        <pc:spChg chg="mod">
          <ac:chgData name="Mathijs Janssen" userId="e1c712ed-fa05-4b32-a6ac-d3bcfe11202a" providerId="ADAL" clId="{8FD1F137-BF03-485D-B0D1-ED5AC4324200}" dt="2026-02-14T12:41:56.607" v="9" actId="6549"/>
          <ac:spMkLst>
            <pc:docMk/>
            <pc:sldMk cId="3495429256" sldId="353"/>
            <ac:spMk id="3" creationId="{45FD20EC-0702-AB37-AE38-B6C28EFCFFA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53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19525" y="0"/>
            <a:ext cx="2921000" cy="495300"/>
          </a:xfrm>
          <a:prstGeom prst="rect">
            <a:avLst/>
          </a:prstGeom>
        </p:spPr>
        <p:txBody>
          <a:bodyPr vert="horz" lIns="91440" tIns="45720" rIns="91440" bIns="45720" rtlCol="0"/>
          <a:lstStyle>
            <a:lvl1pPr algn="r">
              <a:defRPr sz="1200"/>
            </a:lvl1pPr>
          </a:lstStyle>
          <a:p>
            <a:fld id="{BED8D0C0-C12B-4026-93BD-1C17E3A785DD}" type="datetimeFigureOut">
              <a:rPr lang="nl-NL" smtClean="0"/>
              <a:t>14-2-2026</a:t>
            </a:fld>
            <a:endParaRPr lang="nl-NL"/>
          </a:p>
        </p:txBody>
      </p:sp>
      <p:sp>
        <p:nvSpPr>
          <p:cNvPr id="4" name="Slide Image Placeholder 3"/>
          <p:cNvSpPr>
            <a:spLocks noGrp="1" noRot="1" noChangeAspect="1"/>
          </p:cNvSpPr>
          <p:nvPr>
            <p:ph type="sldImg" idx="2"/>
          </p:nvPr>
        </p:nvSpPr>
        <p:spPr>
          <a:xfrm>
            <a:off x="409575" y="1233488"/>
            <a:ext cx="5922963" cy="3332162"/>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74688" y="4751388"/>
            <a:ext cx="5392737" cy="38877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9377363"/>
            <a:ext cx="2921000" cy="4953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19525" y="9377363"/>
            <a:ext cx="2921000" cy="495300"/>
          </a:xfrm>
          <a:prstGeom prst="rect">
            <a:avLst/>
          </a:prstGeom>
        </p:spPr>
        <p:txBody>
          <a:bodyPr vert="horz" lIns="91440" tIns="45720" rIns="91440" bIns="45720" rtlCol="0" anchor="b"/>
          <a:lstStyle>
            <a:lvl1pPr algn="r">
              <a:defRPr sz="1200"/>
            </a:lvl1pPr>
          </a:lstStyle>
          <a:p>
            <a:fld id="{499A7710-45F6-4EB2-BA6A-4A604696382C}" type="slidenum">
              <a:rPr lang="nl-NL" smtClean="0"/>
              <a:t>‹#›</a:t>
            </a:fld>
            <a:endParaRPr lang="nl-NL"/>
          </a:p>
        </p:txBody>
      </p:sp>
    </p:spTree>
    <p:extLst>
      <p:ext uri="{BB962C8B-B14F-4D97-AF65-F5344CB8AC3E}">
        <p14:creationId xmlns:p14="http://schemas.microsoft.com/office/powerpoint/2010/main" val="777890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88A8-8C05-F949-A3B5-D999903B41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3D0A0611-8B3C-636E-D05A-0D407B4CB0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50377F61-ACE5-72DA-FB61-D83FE708F314}"/>
              </a:ext>
            </a:extLst>
          </p:cNvPr>
          <p:cNvSpPr>
            <a:spLocks noGrp="1"/>
          </p:cNvSpPr>
          <p:nvPr>
            <p:ph type="dt" sz="half" idx="10"/>
          </p:nvPr>
        </p:nvSpPr>
        <p:spPr/>
        <p:txBody>
          <a:bodyPr/>
          <a:lstStyle/>
          <a:p>
            <a:fld id="{134C7CB9-8C3B-4917-A5B0-3D45EA33B3C1}" type="datetime1">
              <a:rPr lang="nl-NL" smtClean="0"/>
              <a:t>14-2-2026</a:t>
            </a:fld>
            <a:endParaRPr lang="nl-NL"/>
          </a:p>
        </p:txBody>
      </p:sp>
      <p:sp>
        <p:nvSpPr>
          <p:cNvPr id="5" name="Footer Placeholder 4">
            <a:extLst>
              <a:ext uri="{FF2B5EF4-FFF2-40B4-BE49-F238E27FC236}">
                <a16:creationId xmlns:a16="http://schemas.microsoft.com/office/drawing/2014/main" id="{75A989B3-9635-38C7-3F0F-095E765E318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1C2124D-CF80-7A52-7A0F-C5B0A27B6DEE}"/>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984525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FB7F-1E42-E6FC-9584-3281E9D319E0}"/>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3C51B8A7-7924-2CB3-1987-573374026C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6BC0E4A-CAD0-68AA-8799-69E81F0A749A}"/>
              </a:ext>
            </a:extLst>
          </p:cNvPr>
          <p:cNvSpPr>
            <a:spLocks noGrp="1"/>
          </p:cNvSpPr>
          <p:nvPr>
            <p:ph type="dt" sz="half" idx="10"/>
          </p:nvPr>
        </p:nvSpPr>
        <p:spPr/>
        <p:txBody>
          <a:bodyPr/>
          <a:lstStyle/>
          <a:p>
            <a:fld id="{A68E26BE-3285-497D-B5CB-5569C523383C}" type="datetime1">
              <a:rPr lang="nl-NL" smtClean="0"/>
              <a:t>14-2-2026</a:t>
            </a:fld>
            <a:endParaRPr lang="nl-NL"/>
          </a:p>
        </p:txBody>
      </p:sp>
      <p:sp>
        <p:nvSpPr>
          <p:cNvPr id="5" name="Footer Placeholder 4">
            <a:extLst>
              <a:ext uri="{FF2B5EF4-FFF2-40B4-BE49-F238E27FC236}">
                <a16:creationId xmlns:a16="http://schemas.microsoft.com/office/drawing/2014/main" id="{EF1F55AA-665E-7AA1-7349-2F106AD1F952}"/>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E14912EC-135E-67FA-7E58-ED7104069DA5}"/>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410509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79971-8BDC-936B-2CD8-524EDBD0FA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69782443-9395-7F68-276C-D8B7586A0B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8C9DE8-667D-5EAB-0A60-7DBAA23A1DC0}"/>
              </a:ext>
            </a:extLst>
          </p:cNvPr>
          <p:cNvSpPr>
            <a:spLocks noGrp="1"/>
          </p:cNvSpPr>
          <p:nvPr>
            <p:ph type="dt" sz="half" idx="10"/>
          </p:nvPr>
        </p:nvSpPr>
        <p:spPr/>
        <p:txBody>
          <a:bodyPr/>
          <a:lstStyle/>
          <a:p>
            <a:fld id="{8E9B39E8-3CE4-40BE-A321-246CD3298B22}" type="datetime1">
              <a:rPr lang="nl-NL" smtClean="0"/>
              <a:t>14-2-2026</a:t>
            </a:fld>
            <a:endParaRPr lang="nl-NL"/>
          </a:p>
        </p:txBody>
      </p:sp>
      <p:sp>
        <p:nvSpPr>
          <p:cNvPr id="5" name="Footer Placeholder 4">
            <a:extLst>
              <a:ext uri="{FF2B5EF4-FFF2-40B4-BE49-F238E27FC236}">
                <a16:creationId xmlns:a16="http://schemas.microsoft.com/office/drawing/2014/main" id="{C8CAA8FC-A3DD-E65F-1389-C98503D249F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ACADA893-DF01-76F7-37DB-B1972B46E7E2}"/>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529679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B509-8F5B-89D3-D61E-D594A08B44C4}"/>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8C3E5F12-99E2-4304-B9C2-6CE674CD66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57388F09-0559-726D-6AEA-C13C7C492D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C0D1C8AF-7198-4B88-E8F4-5F8FB7017A84}"/>
              </a:ext>
            </a:extLst>
          </p:cNvPr>
          <p:cNvSpPr>
            <a:spLocks noGrp="1"/>
          </p:cNvSpPr>
          <p:nvPr>
            <p:ph type="dt" sz="half" idx="10"/>
          </p:nvPr>
        </p:nvSpPr>
        <p:spPr/>
        <p:txBody>
          <a:bodyPr/>
          <a:lstStyle/>
          <a:p>
            <a:fld id="{5587BAD2-2420-4A54-B020-EFF049C66F53}" type="datetime1">
              <a:rPr lang="nl-NL" smtClean="0"/>
              <a:t>14-2-2026</a:t>
            </a:fld>
            <a:endParaRPr lang="nl-NL"/>
          </a:p>
        </p:txBody>
      </p:sp>
      <p:sp>
        <p:nvSpPr>
          <p:cNvPr id="6" name="Footer Placeholder 5">
            <a:extLst>
              <a:ext uri="{FF2B5EF4-FFF2-40B4-BE49-F238E27FC236}">
                <a16:creationId xmlns:a16="http://schemas.microsoft.com/office/drawing/2014/main" id="{FC8D7BF7-A756-61F2-ADEB-0F8E19413BED}"/>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8EF48370-19D4-0C25-8A94-C3074DED2933}"/>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755571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D90AE-DAA2-46CE-20F5-11FBE930D014}"/>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075959DF-8B47-2581-A229-01D604D5C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B881A0-F621-F3FC-AD26-FB04D6A7E9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53420DBE-0B45-72CC-2E1F-DB73E0B01B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30688-EA72-DB1C-47BA-DE0306BC92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4EBC5AE4-528F-D8CA-0D7D-EB7AC54AB39C}"/>
              </a:ext>
            </a:extLst>
          </p:cNvPr>
          <p:cNvSpPr>
            <a:spLocks noGrp="1"/>
          </p:cNvSpPr>
          <p:nvPr>
            <p:ph type="dt" sz="half" idx="10"/>
          </p:nvPr>
        </p:nvSpPr>
        <p:spPr/>
        <p:txBody>
          <a:bodyPr/>
          <a:lstStyle/>
          <a:p>
            <a:fld id="{7008551D-F13E-4006-A577-89801FE2D24D}" type="datetime1">
              <a:rPr lang="nl-NL" smtClean="0"/>
              <a:t>14-2-2026</a:t>
            </a:fld>
            <a:endParaRPr lang="nl-NL"/>
          </a:p>
        </p:txBody>
      </p:sp>
      <p:sp>
        <p:nvSpPr>
          <p:cNvPr id="8" name="Footer Placeholder 7">
            <a:extLst>
              <a:ext uri="{FF2B5EF4-FFF2-40B4-BE49-F238E27FC236}">
                <a16:creationId xmlns:a16="http://schemas.microsoft.com/office/drawing/2014/main" id="{744CE958-A4BB-1DD0-FDAA-1277A9B6FA3B}"/>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021B48D2-431C-73CD-E3D8-8D0BD416857B}"/>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41755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9C7D9-AB32-EBDC-D83D-910DC1D45FEC}"/>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D85E39E1-C9FD-B23F-93BB-16292FDA2EF5}"/>
              </a:ext>
            </a:extLst>
          </p:cNvPr>
          <p:cNvSpPr>
            <a:spLocks noGrp="1"/>
          </p:cNvSpPr>
          <p:nvPr>
            <p:ph type="dt" sz="half" idx="10"/>
          </p:nvPr>
        </p:nvSpPr>
        <p:spPr/>
        <p:txBody>
          <a:bodyPr/>
          <a:lstStyle/>
          <a:p>
            <a:fld id="{0D186441-451F-42EE-9D90-61AA8C70698F}" type="datetime1">
              <a:rPr lang="nl-NL" smtClean="0"/>
              <a:t>14-2-2026</a:t>
            </a:fld>
            <a:endParaRPr lang="nl-NL"/>
          </a:p>
        </p:txBody>
      </p:sp>
      <p:sp>
        <p:nvSpPr>
          <p:cNvPr id="4" name="Footer Placeholder 3">
            <a:extLst>
              <a:ext uri="{FF2B5EF4-FFF2-40B4-BE49-F238E27FC236}">
                <a16:creationId xmlns:a16="http://schemas.microsoft.com/office/drawing/2014/main" id="{B7CA10E7-F0D1-C059-4E0E-982FBB2FB0C3}"/>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E2F340A7-2FCA-33A5-5020-90F6FC30F811}"/>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61972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277AE5-10B9-2184-5C36-0E69CCE8EE58}"/>
              </a:ext>
            </a:extLst>
          </p:cNvPr>
          <p:cNvSpPr>
            <a:spLocks noGrp="1"/>
          </p:cNvSpPr>
          <p:nvPr>
            <p:ph type="dt" sz="half" idx="10"/>
          </p:nvPr>
        </p:nvSpPr>
        <p:spPr/>
        <p:txBody>
          <a:bodyPr/>
          <a:lstStyle/>
          <a:p>
            <a:fld id="{469B0709-0E42-43A2-854E-2B5DCECAAF97}" type="datetime1">
              <a:rPr lang="nl-NL" smtClean="0"/>
              <a:t>14-2-2026</a:t>
            </a:fld>
            <a:endParaRPr lang="nl-NL"/>
          </a:p>
        </p:txBody>
      </p:sp>
      <p:sp>
        <p:nvSpPr>
          <p:cNvPr id="3" name="Footer Placeholder 2">
            <a:extLst>
              <a:ext uri="{FF2B5EF4-FFF2-40B4-BE49-F238E27FC236}">
                <a16:creationId xmlns:a16="http://schemas.microsoft.com/office/drawing/2014/main" id="{4D2E625B-DBB2-1B94-35E2-4DE3A1616742}"/>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054AD80B-1D0F-C7C1-1098-949C07B5C11F}"/>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6399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3E405-D932-4356-1804-989E4CDDB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D19CDD79-A635-6C0C-77FE-22722537F4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17AA58B2-BF86-327B-EEA7-245AFC328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D978E3-5475-BFD0-7D55-51123354CC24}"/>
              </a:ext>
            </a:extLst>
          </p:cNvPr>
          <p:cNvSpPr>
            <a:spLocks noGrp="1"/>
          </p:cNvSpPr>
          <p:nvPr>
            <p:ph type="dt" sz="half" idx="10"/>
          </p:nvPr>
        </p:nvSpPr>
        <p:spPr/>
        <p:txBody>
          <a:bodyPr/>
          <a:lstStyle/>
          <a:p>
            <a:fld id="{78FBBD10-804D-4E44-9CCC-3298350B16AD}" type="datetime1">
              <a:rPr lang="nl-NL" smtClean="0"/>
              <a:t>14-2-2026</a:t>
            </a:fld>
            <a:endParaRPr lang="nl-NL"/>
          </a:p>
        </p:txBody>
      </p:sp>
      <p:sp>
        <p:nvSpPr>
          <p:cNvPr id="6" name="Footer Placeholder 5">
            <a:extLst>
              <a:ext uri="{FF2B5EF4-FFF2-40B4-BE49-F238E27FC236}">
                <a16:creationId xmlns:a16="http://schemas.microsoft.com/office/drawing/2014/main" id="{95EAA283-0066-85C7-35AF-4FE8D9716299}"/>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A398D4CC-09AD-BB38-BD5F-52E0E60D1CF1}"/>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352210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CD974-3EFF-6D20-111A-EFBD7086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BC84BF45-865A-BEF4-7BFF-84FD7767F2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B5612C10-AD8C-1CC1-B50B-8C7EE6CCC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7350B-B870-9E42-D7CD-8EAA38173262}"/>
              </a:ext>
            </a:extLst>
          </p:cNvPr>
          <p:cNvSpPr>
            <a:spLocks noGrp="1"/>
          </p:cNvSpPr>
          <p:nvPr>
            <p:ph type="dt" sz="half" idx="10"/>
          </p:nvPr>
        </p:nvSpPr>
        <p:spPr/>
        <p:txBody>
          <a:bodyPr/>
          <a:lstStyle/>
          <a:p>
            <a:fld id="{091A181F-9FF2-4FA9-AC6A-62F0C1A83FC4}" type="datetime1">
              <a:rPr lang="nl-NL" smtClean="0"/>
              <a:t>14-2-2026</a:t>
            </a:fld>
            <a:endParaRPr lang="nl-NL"/>
          </a:p>
        </p:txBody>
      </p:sp>
      <p:sp>
        <p:nvSpPr>
          <p:cNvPr id="6" name="Footer Placeholder 5">
            <a:extLst>
              <a:ext uri="{FF2B5EF4-FFF2-40B4-BE49-F238E27FC236}">
                <a16:creationId xmlns:a16="http://schemas.microsoft.com/office/drawing/2014/main" id="{553B5C27-DD08-3586-F1C1-64EB4F67BE28}"/>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44361CD1-AC21-B8F4-237E-5484757D12F6}"/>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58030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84F3B-E455-410B-F930-5F40187D88EC}"/>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BE043454-7FE8-69B5-2338-5EA46D674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1642C776-A0A0-3798-679C-6BCD4F4DC615}"/>
              </a:ext>
            </a:extLst>
          </p:cNvPr>
          <p:cNvSpPr>
            <a:spLocks noGrp="1"/>
          </p:cNvSpPr>
          <p:nvPr>
            <p:ph type="dt" sz="half" idx="10"/>
          </p:nvPr>
        </p:nvSpPr>
        <p:spPr/>
        <p:txBody>
          <a:bodyPr/>
          <a:lstStyle/>
          <a:p>
            <a:fld id="{DA0B0EA8-EDAC-4A69-B8C1-7579311685DA}" type="datetime1">
              <a:rPr lang="nl-NL" smtClean="0"/>
              <a:t>14-2-2026</a:t>
            </a:fld>
            <a:endParaRPr lang="nl-NL"/>
          </a:p>
        </p:txBody>
      </p:sp>
      <p:sp>
        <p:nvSpPr>
          <p:cNvPr id="5" name="Footer Placeholder 4">
            <a:extLst>
              <a:ext uri="{FF2B5EF4-FFF2-40B4-BE49-F238E27FC236}">
                <a16:creationId xmlns:a16="http://schemas.microsoft.com/office/drawing/2014/main" id="{14D64D2D-7CE5-1327-49B5-D0F25ADD3F9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EDFC27B-244D-437D-5DE3-6B9CB8BBE926}"/>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2773024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2130B6-C164-8EF0-774F-DBC6D57671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B36D7AAF-2482-6979-87AA-BF001B40E7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BC3CFCC-2008-4B15-FD8E-8BB7C348B4B4}"/>
              </a:ext>
            </a:extLst>
          </p:cNvPr>
          <p:cNvSpPr>
            <a:spLocks noGrp="1"/>
          </p:cNvSpPr>
          <p:nvPr>
            <p:ph type="dt" sz="half" idx="10"/>
          </p:nvPr>
        </p:nvSpPr>
        <p:spPr/>
        <p:txBody>
          <a:bodyPr/>
          <a:lstStyle/>
          <a:p>
            <a:fld id="{4C223ECF-73A5-4764-B34E-F45E46B29A78}" type="datetime1">
              <a:rPr lang="nl-NL" smtClean="0"/>
              <a:t>14-2-2026</a:t>
            </a:fld>
            <a:endParaRPr lang="nl-NL"/>
          </a:p>
        </p:txBody>
      </p:sp>
      <p:sp>
        <p:nvSpPr>
          <p:cNvPr id="5" name="Footer Placeholder 4">
            <a:extLst>
              <a:ext uri="{FF2B5EF4-FFF2-40B4-BE49-F238E27FC236}">
                <a16:creationId xmlns:a16="http://schemas.microsoft.com/office/drawing/2014/main" id="{055F7187-7A9F-22D8-EE26-F55B351B23F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8601A5B-5CAE-9C7B-E730-72AA8BDB6DF0}"/>
              </a:ext>
            </a:extLst>
          </p:cNvPr>
          <p:cNvSpPr>
            <a:spLocks noGrp="1"/>
          </p:cNvSpPr>
          <p:nvPr>
            <p:ph type="sldNum" sz="quarter" idx="12"/>
          </p:nvPr>
        </p:nvSpPr>
        <p:spPr/>
        <p:txBody>
          <a:bodyPr/>
          <a:lstStyle/>
          <a:p>
            <a:fld id="{937257EE-0CEF-4D7E-9E69-5277D6172560}" type="slidenum">
              <a:rPr lang="nl-NL" smtClean="0"/>
              <a:t>‹#›</a:t>
            </a:fld>
            <a:endParaRPr lang="nl-NL"/>
          </a:p>
        </p:txBody>
      </p:sp>
    </p:spTree>
    <p:extLst>
      <p:ext uri="{BB962C8B-B14F-4D97-AF65-F5344CB8AC3E}">
        <p14:creationId xmlns:p14="http://schemas.microsoft.com/office/powerpoint/2010/main" val="1547746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8D0953-0162-9E55-EEF8-4C0D25A93A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C7EE67A3-665A-54FC-E782-F8572962BE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9F36617-FFD2-6739-790E-371D7AC5C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6C33F0-5D32-4A27-8287-010FEB55C2BA}" type="datetime1">
              <a:rPr lang="nl-NL" smtClean="0"/>
              <a:t>14-2-2026</a:t>
            </a:fld>
            <a:endParaRPr lang="nl-NL"/>
          </a:p>
        </p:txBody>
      </p:sp>
      <p:sp>
        <p:nvSpPr>
          <p:cNvPr id="5" name="Footer Placeholder 4">
            <a:extLst>
              <a:ext uri="{FF2B5EF4-FFF2-40B4-BE49-F238E27FC236}">
                <a16:creationId xmlns:a16="http://schemas.microsoft.com/office/drawing/2014/main" id="{FDE88479-F3C5-3A7F-437D-5C0FEF0E1F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a:extLst>
              <a:ext uri="{FF2B5EF4-FFF2-40B4-BE49-F238E27FC236}">
                <a16:creationId xmlns:a16="http://schemas.microsoft.com/office/drawing/2014/main" id="{8E343497-1FD2-8D46-0743-B9CBAED0DE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257EE-0CEF-4D7E-9E69-5277D6172560}" type="slidenum">
              <a:rPr lang="nl-NL" smtClean="0"/>
              <a:t>‹#›</a:t>
            </a:fld>
            <a:endParaRPr lang="nl-NL"/>
          </a:p>
        </p:txBody>
      </p:sp>
    </p:spTree>
    <p:extLst>
      <p:ext uri="{BB962C8B-B14F-4D97-AF65-F5344CB8AC3E}">
        <p14:creationId xmlns:p14="http://schemas.microsoft.com/office/powerpoint/2010/main" val="4082248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E373-03F6-7C2F-CE4E-0CC678205B25}"/>
              </a:ext>
            </a:extLst>
          </p:cNvPr>
          <p:cNvSpPr>
            <a:spLocks noGrp="1"/>
          </p:cNvSpPr>
          <p:nvPr>
            <p:ph type="ctrTitle"/>
          </p:nvPr>
        </p:nvSpPr>
        <p:spPr/>
        <p:txBody>
          <a:bodyPr/>
          <a:lstStyle/>
          <a:p>
            <a:r>
              <a:rPr lang="en-US" noProof="0" dirty="0"/>
              <a:t>Introduction to Python</a:t>
            </a:r>
          </a:p>
        </p:txBody>
      </p:sp>
      <p:sp>
        <p:nvSpPr>
          <p:cNvPr id="3" name="Subtitle 2">
            <a:extLst>
              <a:ext uri="{FF2B5EF4-FFF2-40B4-BE49-F238E27FC236}">
                <a16:creationId xmlns:a16="http://schemas.microsoft.com/office/drawing/2014/main" id="{7BB943DD-A8C7-8C87-9D15-2979A51BFDAB}"/>
              </a:ext>
            </a:extLst>
          </p:cNvPr>
          <p:cNvSpPr>
            <a:spLocks noGrp="1"/>
          </p:cNvSpPr>
          <p:nvPr>
            <p:ph type="subTitle" idx="1"/>
          </p:nvPr>
        </p:nvSpPr>
        <p:spPr/>
        <p:txBody>
          <a:bodyPr/>
          <a:lstStyle/>
          <a:p>
            <a:r>
              <a:rPr lang="en-US" noProof="0" dirty="0"/>
              <a:t>Week 3</a:t>
            </a:r>
          </a:p>
        </p:txBody>
      </p:sp>
      <p:sp>
        <p:nvSpPr>
          <p:cNvPr id="4" name="Slide Number Placeholder 3">
            <a:extLst>
              <a:ext uri="{FF2B5EF4-FFF2-40B4-BE49-F238E27FC236}">
                <a16:creationId xmlns:a16="http://schemas.microsoft.com/office/drawing/2014/main" id="{744175D4-4626-179F-8112-DF720253AD4E}"/>
              </a:ext>
            </a:extLst>
          </p:cNvPr>
          <p:cNvSpPr>
            <a:spLocks noGrp="1"/>
          </p:cNvSpPr>
          <p:nvPr>
            <p:ph type="sldNum" sz="quarter" idx="12"/>
          </p:nvPr>
        </p:nvSpPr>
        <p:spPr/>
        <p:txBody>
          <a:bodyPr/>
          <a:lstStyle/>
          <a:p>
            <a:fld id="{937257EE-0CEF-4D7E-9E69-5277D6172560}" type="slidenum">
              <a:rPr lang="nl-NL" smtClean="0"/>
              <a:t>1</a:t>
            </a:fld>
            <a:endParaRPr lang="nl-NL"/>
          </a:p>
        </p:txBody>
      </p:sp>
    </p:spTree>
    <p:extLst>
      <p:ext uri="{BB962C8B-B14F-4D97-AF65-F5344CB8AC3E}">
        <p14:creationId xmlns:p14="http://schemas.microsoft.com/office/powerpoint/2010/main" val="1092227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Program for Today: all about functions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pPr marL="514350" indent="-514350">
              <a:buFont typeface="+mj-lt"/>
              <a:buAutoNum type="arabicPeriod"/>
            </a:pPr>
            <a:r>
              <a:rPr lang="en-US" sz="1600" noProof="0" dirty="0">
                <a:latin typeface="Arial" panose="020B0604020202020204" pitchFamily="34" charset="0"/>
              </a:rPr>
              <a:t>How to define a function</a:t>
            </a:r>
          </a:p>
          <a:p>
            <a:pPr marL="514350" indent="-514350">
              <a:buFont typeface="+mj-lt"/>
              <a:buAutoNum type="arabicPeriod"/>
            </a:pPr>
            <a:r>
              <a:rPr lang="en-US" sz="1600" noProof="0" dirty="0">
                <a:latin typeface="Arial" panose="020B0604020202020204" pitchFamily="34" charset="0"/>
              </a:rPr>
              <a:t>How to call a function</a:t>
            </a:r>
          </a:p>
          <a:p>
            <a:pPr marL="514350" indent="-514350">
              <a:buFont typeface="+mj-lt"/>
              <a:buAutoNum type="arabicPeriod"/>
            </a:pPr>
            <a:r>
              <a:rPr lang="en-US" sz="1600" noProof="0" dirty="0">
                <a:latin typeface="Arial" panose="020B0604020202020204" pitchFamily="34" charset="0"/>
              </a:rPr>
              <a:t>Return statements</a:t>
            </a:r>
          </a:p>
          <a:p>
            <a:pPr marL="971550" lvl="1" indent="-514350">
              <a:buFont typeface="+mj-lt"/>
              <a:buAutoNum type="arabicPeriod"/>
            </a:pPr>
            <a:r>
              <a:rPr lang="en-US" sz="1600" noProof="0" dirty="0">
                <a:latin typeface="Arial" panose="020B0604020202020204" pitchFamily="34" charset="0"/>
              </a:rPr>
              <a:t>Implicit return statements </a:t>
            </a:r>
          </a:p>
          <a:p>
            <a:pPr marL="971550" lvl="1" indent="-514350">
              <a:buFont typeface="+mj-lt"/>
              <a:buAutoNum type="arabicPeriod"/>
            </a:pPr>
            <a:r>
              <a:rPr lang="en-US" sz="1600" noProof="0" dirty="0">
                <a:latin typeface="Arial" panose="020B0604020202020204" pitchFamily="34" charset="0"/>
              </a:rPr>
              <a:t>Multiple return statements </a:t>
            </a:r>
          </a:p>
          <a:p>
            <a:pPr marL="514350" indent="-514350">
              <a:buFont typeface="+mj-lt"/>
              <a:buAutoNum type="arabicPeriod"/>
            </a:pPr>
            <a:r>
              <a:rPr lang="en-US" sz="1600" noProof="0" dirty="0">
                <a:latin typeface="Arial" panose="020B0604020202020204" pitchFamily="34" charset="0"/>
              </a:rPr>
              <a:t>Global and local names</a:t>
            </a:r>
          </a:p>
          <a:p>
            <a:pPr marL="514350" indent="-514350">
              <a:buFont typeface="+mj-lt"/>
              <a:buAutoNum type="arabicPeriod"/>
            </a:pPr>
            <a:r>
              <a:rPr lang="en-US" sz="1600" noProof="0" dirty="0">
                <a:latin typeface="Arial" panose="020B0604020202020204" pitchFamily="34" charset="0"/>
              </a:rPr>
              <a:t>Arguments I</a:t>
            </a:r>
          </a:p>
          <a:p>
            <a:pPr marL="971550" lvl="1" indent="-514350">
              <a:buFont typeface="+mj-lt"/>
              <a:buAutoNum type="arabicPeriod"/>
            </a:pPr>
            <a:r>
              <a:rPr lang="en-US" sz="1600" noProof="0" dirty="0">
                <a:latin typeface="Arial" panose="020B0604020202020204" pitchFamily="34" charset="0"/>
              </a:rPr>
              <a:t>Accepting positional arguments</a:t>
            </a:r>
          </a:p>
          <a:p>
            <a:pPr marL="971550" lvl="1" indent="-514350">
              <a:buFont typeface="+mj-lt"/>
              <a:buAutoNum type="arabicPeriod"/>
            </a:pPr>
            <a:r>
              <a:rPr lang="en-US" sz="1600" noProof="0" dirty="0">
                <a:latin typeface="Arial" panose="020B0604020202020204" pitchFamily="34" charset="0"/>
              </a:rPr>
              <a:t>Undefined number of arguments</a:t>
            </a:r>
          </a:p>
          <a:p>
            <a:pPr marL="971550" lvl="1" indent="-514350">
              <a:buFont typeface="+mj-lt"/>
              <a:buAutoNum type="arabicPeriod"/>
            </a:pPr>
            <a:r>
              <a:rPr lang="en-US" sz="1600" noProof="0" dirty="0">
                <a:latin typeface="Arial" panose="020B0604020202020204" pitchFamily="34" charset="0"/>
              </a:rPr>
              <a:t>Mutable arguments</a:t>
            </a:r>
          </a:p>
          <a:p>
            <a:pPr marL="514350" indent="-514350">
              <a:buFont typeface="+mj-lt"/>
              <a:buAutoNum type="arabicPeriod"/>
            </a:pPr>
            <a:r>
              <a:rPr lang="en-US" sz="1600" noProof="0" dirty="0">
                <a:latin typeface="Arial" panose="020B0604020202020204" pitchFamily="34" charset="0"/>
              </a:rPr>
              <a:t>Nested functions and Function Factories</a:t>
            </a:r>
          </a:p>
          <a:p>
            <a:pPr marL="514350" indent="-514350">
              <a:buFont typeface="+mj-lt"/>
              <a:buAutoNum type="arabicPeriod"/>
            </a:pPr>
            <a:r>
              <a:rPr lang="en-US" sz="1600" noProof="0" dirty="0">
                <a:latin typeface="Arial" panose="020B0604020202020204" pitchFamily="34" charset="0"/>
              </a:rPr>
              <a:t>Arguments II</a:t>
            </a:r>
          </a:p>
          <a:p>
            <a:pPr marL="971550" lvl="1" indent="-514350">
              <a:buFont typeface="+mj-lt"/>
              <a:buAutoNum type="arabicPeriod"/>
            </a:pPr>
            <a:r>
              <a:rPr lang="en-US" sz="1600" noProof="0" dirty="0">
                <a:latin typeface="Arial" panose="020B0604020202020204" pitchFamily="34" charset="0"/>
              </a:rPr>
              <a:t>Accepting keyword arguments</a:t>
            </a:r>
          </a:p>
          <a:p>
            <a:pPr marL="971550" lvl="1" indent="-514350">
              <a:buFont typeface="+mj-lt"/>
              <a:buAutoNum type="arabicPeriod"/>
            </a:pPr>
            <a:r>
              <a:rPr lang="en-US" sz="1600" noProof="0" dirty="0">
                <a:latin typeface="Arial" panose="020B0604020202020204" pitchFamily="34" charset="0"/>
              </a:rPr>
              <a:t>Positional and keyword arguments </a:t>
            </a:r>
          </a:p>
          <a:p>
            <a:pPr marL="971550" lvl="1" indent="-514350">
              <a:buFont typeface="+mj-lt"/>
              <a:buAutoNum type="arabicPeriod"/>
            </a:pPr>
            <a:r>
              <a:rPr lang="en-US" sz="1600" noProof="0" dirty="0">
                <a:latin typeface="Arial" panose="020B0604020202020204" pitchFamily="34" charset="0"/>
              </a:rPr>
              <a:t>Defining defaults for missing arguments</a:t>
            </a:r>
          </a:p>
          <a:p>
            <a:pPr marL="514350" indent="-514350">
              <a:buFont typeface="+mj-lt"/>
              <a:buAutoNum type="arabicPeriod"/>
            </a:pPr>
            <a:r>
              <a:rPr lang="en-US" sz="1600" noProof="0" dirty="0">
                <a:latin typeface="Arial" panose="020B0604020202020204" pitchFamily="34" charset="0"/>
              </a:rPr>
              <a:t>Lambda functions in map, filter, reduce and in sorted</a:t>
            </a:r>
          </a:p>
          <a:p>
            <a:pPr marL="514350" indent="-514350">
              <a:buFont typeface="+mj-lt"/>
              <a:buAutoNum type="arabicPeriod"/>
            </a:pPr>
            <a:r>
              <a:rPr lang="en-US" sz="1600" noProof="0" dirty="0">
                <a:latin typeface="Arial" panose="020B0604020202020204" pitchFamily="34" charset="0"/>
              </a:rPr>
              <a:t>Programming notes</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a:t>
            </a:fld>
            <a:endParaRPr lang="nl-NL"/>
          </a:p>
        </p:txBody>
      </p:sp>
    </p:spTree>
    <p:extLst>
      <p:ext uri="{BB962C8B-B14F-4D97-AF65-F5344CB8AC3E}">
        <p14:creationId xmlns:p14="http://schemas.microsoft.com/office/powerpoint/2010/main" val="357098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effectLst/>
                <a:latin typeface="Calibri Light (Koppen)"/>
              </a:rPr>
              <a:t>How to define a function</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418328"/>
          </a:xfrm>
        </p:spPr>
        <p:txBody>
          <a:bodyPr>
            <a:noAutofit/>
          </a:bodyPr>
          <a:lstStyle/>
          <a:p>
            <a:r>
              <a:rPr lang="en-US" sz="2400" noProof="0" dirty="0">
                <a:latin typeface="Arial" panose="020B0604020202020204" pitchFamily="34" charset="0"/>
              </a:rPr>
              <a:t>A </a:t>
            </a:r>
            <a:r>
              <a:rPr lang="en-US" sz="2400" i="1" noProof="0" dirty="0">
                <a:latin typeface="Arial" panose="020B0604020202020204" pitchFamily="34" charset="0"/>
              </a:rPr>
              <a:t>function</a:t>
            </a:r>
            <a:r>
              <a:rPr lang="en-US" sz="2400" noProof="0" dirty="0">
                <a:latin typeface="Arial" panose="020B0604020202020204" pitchFamily="34" charset="0"/>
              </a:rPr>
              <a:t> is an object consisting of code that can be executed by calling the name of that function</a:t>
            </a:r>
          </a:p>
          <a:p>
            <a:r>
              <a:rPr lang="en-US" sz="2400" noProof="0" dirty="0">
                <a:latin typeface="Arial" panose="020B0604020202020204" pitchFamily="34" charset="0"/>
              </a:rPr>
              <a:t>We define a function with a </a:t>
            </a:r>
            <a:r>
              <a:rPr lang="en-US" sz="2400" i="1" noProof="0" dirty="0">
                <a:latin typeface="Arial" panose="020B0604020202020204" pitchFamily="34" charset="0"/>
              </a:rPr>
              <a:t>function definition</a:t>
            </a:r>
          </a:p>
          <a:p>
            <a:pPr lvl="1"/>
            <a:r>
              <a:rPr lang="en-US" sz="2000" noProof="0" dirty="0">
                <a:latin typeface="Arial" panose="020B0604020202020204" pitchFamily="34" charset="0"/>
                <a:cs typeface="Arial" panose="020B0604020202020204" pitchFamily="34" charset="0"/>
              </a:rPr>
              <a:t>For example:</a:t>
            </a:r>
          </a:p>
          <a:p>
            <a:pPr lvl="2"/>
            <a:r>
              <a:rPr lang="en-US" noProof="0" dirty="0">
                <a:latin typeface="Courier New" panose="02070309020205020404" pitchFamily="49" charset="0"/>
              </a:rPr>
              <a:t>def adder(n1, n2):</a:t>
            </a:r>
            <a:br>
              <a:rPr lang="en-US" noProof="0" dirty="0">
                <a:latin typeface="Courier New" panose="02070309020205020404" pitchFamily="49" charset="0"/>
              </a:rPr>
            </a:br>
            <a:r>
              <a:rPr lang="en-US" noProof="0" dirty="0">
                <a:latin typeface="Courier New" panose="02070309020205020404" pitchFamily="49" charset="0"/>
              </a:rPr>
              <a:t>    total = n1 + n2</a:t>
            </a:r>
            <a:br>
              <a:rPr lang="en-US" noProof="0" dirty="0">
                <a:latin typeface="Courier New" panose="02070309020205020404" pitchFamily="49" charset="0"/>
              </a:rPr>
            </a:br>
            <a:r>
              <a:rPr lang="en-US" noProof="0" dirty="0">
                <a:latin typeface="Courier New" panose="02070309020205020404" pitchFamily="49" charset="0"/>
              </a:rPr>
              <a:t>    return total</a:t>
            </a:r>
          </a:p>
          <a:p>
            <a:pPr lvl="1"/>
            <a:r>
              <a:rPr lang="en-US" sz="2000" noProof="0" dirty="0">
                <a:latin typeface="Arial" panose="020B0604020202020204" pitchFamily="34" charset="0"/>
              </a:rPr>
              <a:t>The part of the definition starting with </a:t>
            </a:r>
            <a:r>
              <a:rPr lang="en-US" sz="2000" noProof="0" dirty="0">
                <a:latin typeface="Courier New" panose="02070309020205020404" pitchFamily="49" charset="0"/>
                <a:cs typeface="Courier New" panose="02070309020205020404" pitchFamily="49" charset="0"/>
              </a:rPr>
              <a:t>def</a:t>
            </a:r>
            <a:r>
              <a:rPr lang="en-US" sz="2000" noProof="0" dirty="0">
                <a:latin typeface="Arial" panose="020B0604020202020204" pitchFamily="34" charset="0"/>
              </a:rPr>
              <a:t> and ending with the </a:t>
            </a:r>
            <a:r>
              <a:rPr lang="en-US" sz="2000" dirty="0">
                <a:latin typeface="Arial" panose="020B0604020202020204" pitchFamily="34" charset="0"/>
              </a:rPr>
              <a:t>colon (:) is called </a:t>
            </a:r>
            <a:r>
              <a:rPr lang="en-US" sz="2000" noProof="0" dirty="0">
                <a:latin typeface="Arial" panose="020B0604020202020204" pitchFamily="34" charset="0"/>
              </a:rPr>
              <a:t>the </a:t>
            </a:r>
            <a:r>
              <a:rPr lang="en-US" sz="2000" i="1" noProof="0" dirty="0">
                <a:latin typeface="Arial" panose="020B0604020202020204" pitchFamily="34" charset="0"/>
              </a:rPr>
              <a:t>function header</a:t>
            </a:r>
          </a:p>
          <a:p>
            <a:pPr lvl="1"/>
            <a:r>
              <a:rPr lang="en-US" sz="2000" noProof="0" dirty="0">
                <a:latin typeface="Arial" panose="020B0604020202020204" pitchFamily="34" charset="0"/>
              </a:rPr>
              <a:t>The function header consists of the keyword </a:t>
            </a:r>
            <a:r>
              <a:rPr lang="en-US" sz="2000" noProof="0" dirty="0">
                <a:latin typeface="Courier New" panose="02070309020205020404" pitchFamily="49" charset="0"/>
              </a:rPr>
              <a:t>def</a:t>
            </a:r>
            <a:r>
              <a:rPr lang="en-US" sz="2000" noProof="0" dirty="0">
                <a:latin typeface="Arial" panose="020B0604020202020204" pitchFamily="34" charset="0"/>
              </a:rPr>
              <a:t>, the name of the function, and between brackets the parameters of the function </a:t>
            </a:r>
          </a:p>
          <a:p>
            <a:pPr lvl="1"/>
            <a:r>
              <a:rPr lang="en-US" sz="2000" noProof="0" dirty="0">
                <a:latin typeface="Arial" panose="020B0604020202020204" pitchFamily="34" charset="0"/>
              </a:rPr>
              <a:t>Everything below the function header with the same indentation is called the </a:t>
            </a:r>
            <a:r>
              <a:rPr lang="en-US" sz="2000" i="1" noProof="0" dirty="0">
                <a:latin typeface="Arial" panose="020B0604020202020204" pitchFamily="34" charset="0"/>
              </a:rPr>
              <a:t>function body</a:t>
            </a:r>
            <a:r>
              <a:rPr lang="en-US" sz="2000" noProof="0" dirty="0">
                <a:latin typeface="Arial" panose="020B0604020202020204" pitchFamily="34" charset="0"/>
              </a:rPr>
              <a:t>, and that is the code Python will execute when the function is called</a:t>
            </a:r>
          </a:p>
          <a:p>
            <a:pPr lvl="1"/>
            <a:r>
              <a:rPr lang="en-US" sz="2000" noProof="0" dirty="0">
                <a:latin typeface="Arial" panose="020B0604020202020204" pitchFamily="34" charset="0"/>
              </a:rPr>
              <a:t>The statement with the </a:t>
            </a:r>
            <a:r>
              <a:rPr lang="en-US" sz="2000" i="1" noProof="0" dirty="0">
                <a:latin typeface="Arial" panose="020B0604020202020204" pitchFamily="34" charset="0"/>
              </a:rPr>
              <a:t>return </a:t>
            </a:r>
            <a:r>
              <a:rPr lang="en-US" sz="2000" noProof="0" dirty="0">
                <a:latin typeface="Arial" panose="020B0604020202020204" pitchFamily="34" charset="0"/>
              </a:rPr>
              <a:t>keyword</a:t>
            </a:r>
            <a:r>
              <a:rPr lang="en-US" sz="2000" i="1" noProof="0" dirty="0">
                <a:latin typeface="Arial" panose="020B0604020202020204" pitchFamily="34" charset="0"/>
              </a:rPr>
              <a:t>, </a:t>
            </a:r>
            <a:r>
              <a:rPr lang="en-US" sz="2000" noProof="0" dirty="0">
                <a:latin typeface="Arial" panose="020B0604020202020204" pitchFamily="34" charset="0"/>
              </a:rPr>
              <a:t>returns a value to the caller of the function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a:t>
            </a:fld>
            <a:endParaRPr lang="nl-NL"/>
          </a:p>
        </p:txBody>
      </p:sp>
    </p:spTree>
    <p:extLst>
      <p:ext uri="{BB962C8B-B14F-4D97-AF65-F5344CB8AC3E}">
        <p14:creationId xmlns:p14="http://schemas.microsoft.com/office/powerpoint/2010/main" val="303439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effectLst/>
                <a:latin typeface="Calibri Light (Koppen)"/>
              </a:rPr>
              <a:t>How to call a function</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latin typeface="Arial" panose="020B0604020202020204" pitchFamily="34" charset="0"/>
              </a:rPr>
              <a:t>We call a function by writing round brackets after its name </a:t>
            </a:r>
          </a:p>
          <a:p>
            <a:pPr lvl="1"/>
            <a:r>
              <a:rPr lang="en-US" sz="2000" noProof="0" dirty="0">
                <a:latin typeface="Arial" panose="020B0604020202020204" pitchFamily="34" charset="0"/>
              </a:rPr>
              <a:t>Between these round brackets we can put arguments</a:t>
            </a:r>
          </a:p>
          <a:p>
            <a:pPr lvl="1"/>
            <a:r>
              <a:rPr lang="en-US" sz="2000" dirty="0">
                <a:latin typeface="Arial" panose="020B0604020202020204" pitchFamily="34" charset="0"/>
              </a:rPr>
              <a:t>For example, </a:t>
            </a:r>
            <a:r>
              <a:rPr lang="en-US" sz="2000" dirty="0">
                <a:latin typeface="Courier New" panose="02070309020205020404" pitchFamily="49" charset="0"/>
                <a:cs typeface="Courier New" panose="02070309020205020404" pitchFamily="49" charset="0"/>
              </a:rPr>
              <a:t>a = adder(1, 2)</a:t>
            </a:r>
          </a:p>
          <a:p>
            <a:r>
              <a:rPr lang="en-US" sz="2000" noProof="0" dirty="0">
                <a:latin typeface="Arial" panose="020B0604020202020204" pitchFamily="34" charset="0"/>
              </a:rPr>
              <a:t>After a function is called by this function call, Python will first create objects with as values the values from the arguments and as names the names of the parameters in the function definition</a:t>
            </a:r>
          </a:p>
          <a:p>
            <a:r>
              <a:rPr lang="en-US" sz="2000" dirty="0">
                <a:latin typeface="Arial" panose="020B0604020202020204" pitchFamily="34" charset="0"/>
              </a:rPr>
              <a:t>Next Python will execute the code in the function body</a:t>
            </a:r>
            <a:endParaRPr lang="en-US" sz="2000" noProof="0" dirty="0">
              <a:latin typeface="Arial" panose="020B0604020202020204" pitchFamily="34" charset="0"/>
            </a:endParaRPr>
          </a:p>
          <a:p>
            <a:r>
              <a:rPr lang="en-US" sz="2000" dirty="0">
                <a:latin typeface="Arial" panose="020B0604020202020204" pitchFamily="34" charset="0"/>
              </a:rPr>
              <a:t>When the arguments are mutable, Python doesn't create a new object, but attaches the name in the parameter list to the object in the argument list</a:t>
            </a:r>
            <a:endParaRPr lang="en-US" sz="2000" noProof="0" dirty="0">
              <a:latin typeface="Arial" panose="020B0604020202020204" pitchFamily="34" charset="0"/>
            </a:endParaRPr>
          </a:p>
          <a:p>
            <a:r>
              <a:rPr lang="en-US" sz="2000" noProof="0" dirty="0">
                <a:latin typeface="Arial" panose="020B0604020202020204" pitchFamily="34" charset="0"/>
              </a:rPr>
              <a:t>At the end of the execution, Python creates an object with as value the value returned by the function</a:t>
            </a:r>
          </a:p>
          <a:p>
            <a:r>
              <a:rPr lang="en-US" sz="2000" noProof="0" dirty="0">
                <a:latin typeface="Arial" panose="020B0604020202020204" pitchFamily="34" charset="0"/>
              </a:rPr>
              <a:t>In our example, we add the name </a:t>
            </a:r>
            <a:r>
              <a:rPr lang="en-US" sz="2000" noProof="0" dirty="0">
                <a:latin typeface="Courier New" panose="02070309020205020404" pitchFamily="49" charset="0"/>
                <a:cs typeface="Courier New" panose="02070309020205020404" pitchFamily="49" charset="0"/>
              </a:rPr>
              <a:t>a</a:t>
            </a:r>
            <a:r>
              <a:rPr lang="en-US" sz="2000" noProof="0" dirty="0">
                <a:latin typeface="Arial" panose="020B0604020202020204" pitchFamily="34" charset="0"/>
              </a:rPr>
              <a:t> to that object with the returned value, so we can use its value in our program by using the name </a:t>
            </a:r>
            <a:r>
              <a:rPr lang="en-US" sz="2000" noProof="0" dirty="0">
                <a:latin typeface="Courier New" panose="02070309020205020404" pitchFamily="49" charset="0"/>
                <a:cs typeface="Courier New" panose="02070309020205020404" pitchFamily="49" charset="0"/>
              </a:rPr>
              <a:t>a</a:t>
            </a:r>
          </a:p>
          <a:p>
            <a:r>
              <a:rPr lang="en-US" sz="2000" dirty="0">
                <a:latin typeface="Arial" panose="020B0604020202020204" pitchFamily="34" charset="0"/>
              </a:rPr>
              <a:t>Forgetting to give the returned value a name or safeguard it in another way, e.g., in a file, is a common error</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a:t>
            </a:fld>
            <a:endParaRPr lang="nl-NL"/>
          </a:p>
        </p:txBody>
      </p:sp>
    </p:spTree>
    <p:extLst>
      <p:ext uri="{BB962C8B-B14F-4D97-AF65-F5344CB8AC3E}">
        <p14:creationId xmlns:p14="http://schemas.microsoft.com/office/powerpoint/2010/main" val="54553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How to call a function</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Arial" panose="020B0604020202020204" pitchFamily="34" charset="0"/>
              </a:rPr>
              <a:t>Recall: we call a function by writing round brackets after its name</a:t>
            </a:r>
          </a:p>
          <a:p>
            <a:r>
              <a:rPr lang="en-US" sz="2400" noProof="0" dirty="0">
                <a:latin typeface="Arial" panose="020B0604020202020204" pitchFamily="34" charset="0"/>
              </a:rPr>
              <a:t>A common error is using [], when actually you want to execute a function:</a:t>
            </a:r>
          </a:p>
          <a:p>
            <a:pPr lvl="1"/>
            <a:r>
              <a:rPr lang="en-US" sz="2000" noProof="0" dirty="0">
                <a:latin typeface="Courier New" panose="02070309020205020404" pitchFamily="49" charset="0"/>
              </a:rPr>
              <a:t>print[1] # Onscreen: </a:t>
            </a:r>
            <a:r>
              <a:rPr lang="en-US" altLang="nl-NL" sz="2000" noProof="0" dirty="0" err="1">
                <a:latin typeface="Courier New" panose="02070309020205020404" pitchFamily="49" charset="0"/>
              </a:rPr>
              <a:t>TypeError</a:t>
            </a:r>
            <a:r>
              <a:rPr lang="en-US" altLang="nl-NL" sz="2000" noProof="0" dirty="0">
                <a:latin typeface="Courier New" panose="02070309020205020404" pitchFamily="49" charset="0"/>
              </a:rPr>
              <a:t>: 'function' object is not </a:t>
            </a:r>
            <a:r>
              <a:rPr lang="en-US" altLang="nl-NL" sz="2000" noProof="0" dirty="0" err="1">
                <a:latin typeface="Courier New" panose="02070309020205020404" pitchFamily="49" charset="0"/>
              </a:rPr>
              <a:t>subscriptable</a:t>
            </a:r>
            <a:endParaRPr lang="en-US" altLang="nl-NL" sz="2000" noProof="0" dirty="0">
              <a:latin typeface="Courier New" panose="02070309020205020404" pitchFamily="49" charset="0"/>
            </a:endParaRPr>
          </a:p>
          <a:p>
            <a:r>
              <a:rPr lang="en-US" sz="2400" dirty="0">
                <a:latin typeface="Arial" panose="020B0604020202020204" pitchFamily="34" charset="0"/>
              </a:rPr>
              <a:t>Another common error is using (), when you mean to take a slice []</a:t>
            </a:r>
          </a:p>
          <a:p>
            <a:pPr lvl="1"/>
            <a:r>
              <a:rPr lang="en-US" sz="2000" dirty="0">
                <a:latin typeface="Courier New" panose="02070309020205020404" pitchFamily="49" charset="0"/>
              </a:rPr>
              <a:t>l1 = [1, 2, 3]</a:t>
            </a:r>
            <a:br>
              <a:rPr lang="en-US" sz="2000" dirty="0">
                <a:latin typeface="Courier New" panose="02070309020205020404" pitchFamily="49" charset="0"/>
              </a:rPr>
            </a:br>
            <a:r>
              <a:rPr lang="en-US" sz="2000" dirty="0">
                <a:latin typeface="Courier New" panose="02070309020205020404" pitchFamily="49" charset="0"/>
              </a:rPr>
              <a:t>l1(1)    # Onscreen: </a:t>
            </a:r>
            <a:r>
              <a:rPr lang="en-US" altLang="nl-NL" sz="2000" dirty="0" err="1">
                <a:latin typeface="Courier New" panose="02070309020205020404" pitchFamily="49" charset="0"/>
              </a:rPr>
              <a:t>TypeError</a:t>
            </a:r>
            <a:r>
              <a:rPr lang="en-US" altLang="nl-NL" sz="2000" dirty="0">
                <a:latin typeface="Courier New" panose="02070309020205020404" pitchFamily="49" charset="0"/>
              </a:rPr>
              <a:t>: 'list' object is not callable</a:t>
            </a:r>
            <a:r>
              <a:rPr lang="en-US" sz="2000" dirty="0">
                <a:latin typeface="Courier New" panose="02070309020205020404" pitchFamily="49" charset="0"/>
              </a:rPr>
              <a:t> </a:t>
            </a:r>
            <a:endParaRPr lang="en-US" sz="2400" noProof="0" dirty="0">
              <a:latin typeface="Arial" panose="020B0604020202020204" pitchFamily="34" charset="0"/>
            </a:endParaRPr>
          </a:p>
          <a:p>
            <a:r>
              <a:rPr lang="en-US" sz="2400" noProof="0" dirty="0">
                <a:latin typeface="Arial" panose="020B0604020202020204" pitchFamily="34" charset="0"/>
              </a:rPr>
              <a:t>These errors messages are Python's slightly complicated way to tell you that you are using the wrong type of brackets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5</a:t>
            </a:fld>
            <a:endParaRPr lang="nl-NL"/>
          </a:p>
        </p:txBody>
      </p:sp>
    </p:spTree>
    <p:extLst>
      <p:ext uri="{BB962C8B-B14F-4D97-AF65-F5344CB8AC3E}">
        <p14:creationId xmlns:p14="http://schemas.microsoft.com/office/powerpoint/2010/main" val="145281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effectLst/>
                <a:latin typeface="Calibri Light (Koppen)"/>
              </a:rPr>
              <a:t>How to call a function</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latin typeface="Arial" panose="020B0604020202020204" pitchFamily="34" charset="0"/>
              </a:rPr>
              <a:t>The following code:</a:t>
            </a:r>
          </a:p>
          <a:p>
            <a:pPr lvl="1"/>
            <a:r>
              <a:rPr lang="en-US" sz="1800" noProof="0" dirty="0">
                <a:latin typeface="Courier New" panose="02070309020205020404" pitchFamily="49" charset="0"/>
              </a:rPr>
              <a:t>def adder(n1, n2):</a:t>
            </a:r>
            <a:br>
              <a:rPr lang="en-US" sz="1800" noProof="0" dirty="0">
                <a:latin typeface="Courier New" panose="02070309020205020404" pitchFamily="49" charset="0"/>
              </a:rPr>
            </a:br>
            <a:r>
              <a:rPr lang="en-US" sz="1800" noProof="0" dirty="0">
                <a:latin typeface="Courier New" panose="02070309020205020404" pitchFamily="49" charset="0"/>
              </a:rPr>
              <a:t>    total = n1 + n2</a:t>
            </a:r>
            <a:br>
              <a:rPr lang="en-US" sz="1800" noProof="0" dirty="0">
                <a:latin typeface="Courier New" panose="02070309020205020404" pitchFamily="49" charset="0"/>
              </a:rPr>
            </a:br>
            <a:r>
              <a:rPr lang="en-US" sz="1800" noProof="0" dirty="0">
                <a:latin typeface="Courier New" panose="02070309020205020404" pitchFamily="49" charset="0"/>
              </a:rPr>
              <a:t>    return total</a:t>
            </a:r>
            <a:br>
              <a:rPr lang="en-US" sz="1800" noProof="0" dirty="0">
                <a:latin typeface="Courier New" panose="02070309020205020404" pitchFamily="49" charset="0"/>
              </a:rPr>
            </a:br>
            <a:r>
              <a:rPr lang="en-US" sz="1800" noProof="0" dirty="0">
                <a:latin typeface="Courier New" panose="02070309020205020404" pitchFamily="49" charset="0"/>
              </a:rPr>
              <a:t>a = adder(1, 2)</a:t>
            </a:r>
          </a:p>
          <a:p>
            <a:r>
              <a:rPr lang="en-US" sz="2000" noProof="0" dirty="0">
                <a:latin typeface="Arial" panose="020B0604020202020204" pitchFamily="34" charset="0"/>
              </a:rPr>
              <a:t>Works the same as:</a:t>
            </a:r>
          </a:p>
          <a:p>
            <a:pPr lvl="1"/>
            <a:r>
              <a:rPr lang="en-US" sz="1800" noProof="0" dirty="0">
                <a:latin typeface="Courier New" panose="02070309020205020404" pitchFamily="49" charset="0"/>
              </a:rPr>
              <a:t>n1 = 1</a:t>
            </a:r>
            <a:br>
              <a:rPr lang="en-US" sz="1800" noProof="0" dirty="0">
                <a:latin typeface="Courier New" panose="02070309020205020404" pitchFamily="49" charset="0"/>
              </a:rPr>
            </a:br>
            <a:r>
              <a:rPr lang="en-US" sz="1800" noProof="0" dirty="0">
                <a:latin typeface="Courier New" panose="02070309020205020404" pitchFamily="49" charset="0"/>
              </a:rPr>
              <a:t>n2 = 2</a:t>
            </a:r>
            <a:br>
              <a:rPr lang="en-US" sz="1800" noProof="0" dirty="0">
                <a:latin typeface="Courier New" panose="02070309020205020404" pitchFamily="49" charset="0"/>
              </a:rPr>
            </a:br>
            <a:r>
              <a:rPr lang="en-US" sz="1800" noProof="0" dirty="0">
                <a:latin typeface="Courier New" panose="02070309020205020404" pitchFamily="49" charset="0"/>
              </a:rPr>
              <a:t>total = n1 + n2</a:t>
            </a:r>
            <a:br>
              <a:rPr lang="en-US" sz="1800" noProof="0" dirty="0">
                <a:latin typeface="Courier New" panose="02070309020205020404" pitchFamily="49" charset="0"/>
              </a:rPr>
            </a:br>
            <a:r>
              <a:rPr lang="en-US" sz="1800" noProof="0" dirty="0">
                <a:latin typeface="Courier New" panose="02070309020205020404" pitchFamily="49" charset="0"/>
              </a:rPr>
              <a:t>a = total</a:t>
            </a:r>
          </a:p>
          <a:p>
            <a:pPr marL="228600" lvl="1">
              <a:spcBef>
                <a:spcPts val="1000"/>
              </a:spcBef>
            </a:pPr>
            <a:r>
              <a:rPr lang="en-US" sz="2000" noProof="0" dirty="0">
                <a:latin typeface="Arial" panose="020B0604020202020204" pitchFamily="34" charset="0"/>
              </a:rPr>
              <a:t>Question: Why bother using functions?</a:t>
            </a:r>
          </a:p>
          <a:p>
            <a:pPr marL="685800" lvl="2">
              <a:spcBef>
                <a:spcPts val="1000"/>
              </a:spcBef>
            </a:pPr>
            <a:r>
              <a:rPr lang="en-US" sz="1800" noProof="0" dirty="0">
                <a:latin typeface="Arial" panose="020B0604020202020204" pitchFamily="34" charset="0"/>
              </a:rPr>
              <a:t>Using functions makes your code more readable</a:t>
            </a:r>
          </a:p>
          <a:p>
            <a:pPr marL="685800" lvl="2">
              <a:spcBef>
                <a:spcPts val="1000"/>
              </a:spcBef>
            </a:pPr>
            <a:r>
              <a:rPr lang="en-US" sz="1800" noProof="0" dirty="0">
                <a:latin typeface="Arial" panose="020B0604020202020204" pitchFamily="34" charset="0"/>
              </a:rPr>
              <a:t>Reusing code is good for maintenance</a:t>
            </a:r>
          </a:p>
          <a:p>
            <a:pPr marL="1143000" lvl="3">
              <a:spcBef>
                <a:spcPts val="1000"/>
              </a:spcBef>
            </a:pPr>
            <a:r>
              <a:rPr lang="en-US" noProof="0" dirty="0">
                <a:latin typeface="Arial" panose="020B0604020202020204" pitchFamily="34" charset="0"/>
              </a:rPr>
              <a:t>You will make </a:t>
            </a:r>
            <a:r>
              <a:rPr lang="en-US" dirty="0">
                <a:latin typeface="Arial" panose="020B0604020202020204" pitchFamily="34" charset="0"/>
              </a:rPr>
              <a:t>fewer</a:t>
            </a:r>
            <a:r>
              <a:rPr lang="en-US" noProof="0" dirty="0">
                <a:latin typeface="Arial" panose="020B0604020202020204" pitchFamily="34" charset="0"/>
              </a:rPr>
              <a:t> errors if you write </a:t>
            </a:r>
            <a:r>
              <a:rPr lang="en-US" dirty="0">
                <a:latin typeface="Arial" panose="020B0604020202020204" pitchFamily="34" charset="0"/>
              </a:rPr>
              <a:t>fewer</a:t>
            </a:r>
            <a:r>
              <a:rPr lang="en-US" noProof="0" dirty="0">
                <a:latin typeface="Arial" panose="020B0604020202020204" pitchFamily="34" charset="0"/>
              </a:rPr>
              <a:t> lines of code</a:t>
            </a:r>
          </a:p>
          <a:p>
            <a:pPr marL="1143000" lvl="3">
              <a:spcBef>
                <a:spcPts val="1000"/>
              </a:spcBef>
            </a:pPr>
            <a:r>
              <a:rPr lang="en-US" noProof="0" dirty="0">
                <a:latin typeface="Arial" panose="020B0604020202020204" pitchFamily="34" charset="0"/>
              </a:rPr>
              <a:t>If you want to change something in the way you add, you only must make that change in one place</a:t>
            </a:r>
          </a:p>
          <a:p>
            <a:pPr marL="1600200" lvl="4">
              <a:spcBef>
                <a:spcPts val="1000"/>
              </a:spcBef>
            </a:pPr>
            <a:r>
              <a:rPr lang="en-US" noProof="0" dirty="0">
                <a:latin typeface="Arial" panose="020B0604020202020204" pitchFamily="34" charset="0"/>
              </a:rPr>
              <a:t>E.g. if </a:t>
            </a:r>
            <a:r>
              <a:rPr lang="en-US" sz="1600" noProof="0" dirty="0">
                <a:latin typeface="Courier New" panose="02070309020205020404" pitchFamily="49" charset="0"/>
                <a:cs typeface="Courier New" panose="02070309020205020404" pitchFamily="49" charset="0"/>
              </a:rPr>
              <a:t>adder</a:t>
            </a:r>
            <a:r>
              <a:rPr lang="en-US" noProof="0" dirty="0">
                <a:latin typeface="Arial" panose="020B0604020202020204" pitchFamily="34" charset="0"/>
              </a:rPr>
              <a:t> is a function adding to bank accounts, maybe you want to add a </a:t>
            </a:r>
            <a:r>
              <a:rPr lang="en-US" noProof="0" dirty="0">
                <a:cs typeface="Courier New" panose="02070309020205020404" pitchFamily="49" charset="0"/>
              </a:rPr>
              <a:t>logging function</a:t>
            </a:r>
            <a:r>
              <a:rPr lang="en-US" noProof="0" dirty="0">
                <a:latin typeface="Arial" panose="020B0604020202020204" pitchFamily="34" charset="0"/>
              </a:rPr>
              <a:t> to </a:t>
            </a:r>
            <a:r>
              <a:rPr lang="en-US" sz="1600" noProof="0" dirty="0">
                <a:latin typeface="Courier New" panose="02070309020205020404" pitchFamily="49" charset="0"/>
                <a:cs typeface="Courier New" panose="02070309020205020404" pitchFamily="49" charset="0"/>
              </a:rPr>
              <a:t>adder</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6</a:t>
            </a:fld>
            <a:endParaRPr lang="nl-NL" dirty="0"/>
          </a:p>
        </p:txBody>
      </p:sp>
    </p:spTree>
    <p:extLst>
      <p:ext uri="{BB962C8B-B14F-4D97-AF65-F5344CB8AC3E}">
        <p14:creationId xmlns:p14="http://schemas.microsoft.com/office/powerpoint/2010/main" val="328477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Return statement</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Courier New" panose="02070309020205020404" pitchFamily="49" charset="0"/>
              </a:rPr>
              <a:t>def adder(n1, n2):</a:t>
            </a:r>
            <a:br>
              <a:rPr lang="en-US" sz="2400" noProof="0" dirty="0">
                <a:latin typeface="Courier New" panose="02070309020205020404" pitchFamily="49" charset="0"/>
              </a:rPr>
            </a:br>
            <a:r>
              <a:rPr lang="en-US" sz="2400" noProof="0" dirty="0">
                <a:latin typeface="Courier New" panose="02070309020205020404" pitchFamily="49" charset="0"/>
              </a:rPr>
              <a:t>    total = n1 + n2</a:t>
            </a:r>
            <a:br>
              <a:rPr lang="en-US" sz="2400" noProof="0" dirty="0">
                <a:latin typeface="Courier New" panose="02070309020205020404" pitchFamily="49" charset="0"/>
              </a:rPr>
            </a:br>
            <a:r>
              <a:rPr lang="en-US" sz="2400" noProof="0" dirty="0">
                <a:latin typeface="Courier New" panose="02070309020205020404" pitchFamily="49" charset="0"/>
              </a:rPr>
              <a:t>    return total</a:t>
            </a:r>
            <a:br>
              <a:rPr lang="en-US" sz="2400" noProof="0" dirty="0">
                <a:latin typeface="Courier New" panose="02070309020205020404" pitchFamily="49" charset="0"/>
              </a:rPr>
            </a:br>
            <a:r>
              <a:rPr lang="en-US" sz="2400" noProof="0" dirty="0">
                <a:latin typeface="Courier New" panose="02070309020205020404" pitchFamily="49" charset="0"/>
              </a:rPr>
              <a:t>a = adder(1,2)</a:t>
            </a:r>
          </a:p>
          <a:p>
            <a:r>
              <a:rPr lang="en-US" sz="2400" noProof="0" dirty="0">
                <a:latin typeface="Arial" panose="020B0604020202020204" pitchFamily="34" charset="0"/>
              </a:rPr>
              <a:t>There are multiple things you can do with the result of a function:</a:t>
            </a:r>
          </a:p>
          <a:p>
            <a:pPr lvl="1"/>
            <a:r>
              <a:rPr lang="en-US" sz="2000" noProof="0" dirty="0">
                <a:latin typeface="Arial" panose="020B0604020202020204" pitchFamily="34" charset="0"/>
              </a:rPr>
              <a:t>You can use </a:t>
            </a:r>
            <a:r>
              <a:rPr lang="en-US" sz="2000" noProof="0" dirty="0">
                <a:latin typeface="Courier New" panose="02070309020205020404" pitchFamily="49" charset="0"/>
                <a:cs typeface="Courier New" panose="02070309020205020404" pitchFamily="49" charset="0"/>
              </a:rPr>
              <a:t>return</a:t>
            </a:r>
            <a:r>
              <a:rPr lang="en-US" sz="2000" noProof="0" dirty="0">
                <a:latin typeface="Arial" panose="020B0604020202020204" pitchFamily="34" charset="0"/>
              </a:rPr>
              <a:t> in the function definition and give the result a name like we did in the above example</a:t>
            </a:r>
          </a:p>
          <a:p>
            <a:pPr lvl="1"/>
            <a:r>
              <a:rPr lang="en-US" sz="2000" noProof="0" dirty="0">
                <a:latin typeface="Arial" panose="020B0604020202020204" pitchFamily="34" charset="0"/>
              </a:rPr>
              <a:t>You can store the result in a database or another file type</a:t>
            </a:r>
          </a:p>
          <a:p>
            <a:pPr lvl="1"/>
            <a:r>
              <a:rPr lang="en-US" sz="2000" noProof="0" dirty="0">
                <a:latin typeface="Arial" panose="020B0604020202020204" pitchFamily="34" charset="0"/>
              </a:rPr>
              <a:t>You can print the result on the screen so a user can see it</a:t>
            </a:r>
          </a:p>
          <a:p>
            <a:r>
              <a:rPr lang="en-US" sz="2400" noProof="0" dirty="0">
                <a:latin typeface="Arial" panose="020B0604020202020204" pitchFamily="34" charset="0"/>
              </a:rPr>
              <a:t>You must think about this, otherwise inadvertently the result will be gone when the function is finished</a:t>
            </a:r>
          </a:p>
          <a:p>
            <a:r>
              <a:rPr lang="en-US" sz="2400" noProof="0" dirty="0">
                <a:latin typeface="Arial" panose="020B0604020202020204" pitchFamily="34" charset="0"/>
              </a:rPr>
              <a:t>A function leaves no traces, and you cannot use names that are defined inside a function, outside that function</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7</a:t>
            </a:fld>
            <a:endParaRPr lang="nl-NL"/>
          </a:p>
        </p:txBody>
      </p:sp>
    </p:spTree>
    <p:extLst>
      <p:ext uri="{BB962C8B-B14F-4D97-AF65-F5344CB8AC3E}">
        <p14:creationId xmlns:p14="http://schemas.microsoft.com/office/powerpoint/2010/main" val="217673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Return statement</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Arial" panose="020B0604020202020204" pitchFamily="34" charset="0"/>
              </a:rPr>
              <a:t>In the homework exercises where you define functions, we often say you must use </a:t>
            </a:r>
            <a:r>
              <a:rPr lang="en-US" sz="2400" noProof="0" dirty="0">
                <a:latin typeface="Courier New" panose="02070309020205020404" pitchFamily="49" charset="0"/>
              </a:rPr>
              <a:t>return</a:t>
            </a:r>
            <a:r>
              <a:rPr lang="en-US" sz="2400" noProof="0" dirty="0">
                <a:latin typeface="Arial" panose="020B0604020202020204" pitchFamily="34" charset="0"/>
              </a:rPr>
              <a:t>, so in that case you have no choice</a:t>
            </a:r>
          </a:p>
          <a:p>
            <a:pPr lvl="1"/>
            <a:r>
              <a:rPr lang="en-US" sz="2000" noProof="0" dirty="0">
                <a:latin typeface="Arial" panose="020B0604020202020204" pitchFamily="34" charset="0"/>
              </a:rPr>
              <a:t>Forgetting  </a:t>
            </a:r>
            <a:r>
              <a:rPr lang="en-US" sz="2000" noProof="0" dirty="0">
                <a:latin typeface="Courier New" panose="02070309020205020404" pitchFamily="49" charset="0"/>
              </a:rPr>
              <a:t>return </a:t>
            </a:r>
            <a:r>
              <a:rPr lang="en-US" sz="2000" noProof="0" dirty="0">
                <a:latin typeface="Arial" panose="020B0604020202020204" pitchFamily="34" charset="0"/>
              </a:rPr>
              <a:t>or using </a:t>
            </a:r>
            <a:r>
              <a:rPr lang="en-US" sz="2000" noProof="0" dirty="0">
                <a:latin typeface="Courier New" panose="02070309020205020404" pitchFamily="49" charset="0"/>
              </a:rPr>
              <a:t>print </a:t>
            </a:r>
            <a:r>
              <a:rPr lang="en-US" sz="2000" noProof="0" dirty="0">
                <a:latin typeface="Arial" panose="020B0604020202020204" pitchFamily="34" charset="0"/>
              </a:rPr>
              <a:t>instead is a common mistake when doing homework</a:t>
            </a:r>
          </a:p>
          <a:p>
            <a:r>
              <a:rPr lang="en-US" sz="2400" noProof="0" dirty="0">
                <a:latin typeface="Arial" panose="020B0604020202020204" pitchFamily="34" charset="0"/>
                <a:cs typeface="Arial" panose="020B0604020202020204" pitchFamily="34" charset="0"/>
              </a:rPr>
              <a:t>Recall the example from the previous slide: </a:t>
            </a:r>
          </a:p>
          <a:p>
            <a:pPr lvl="1"/>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total = n1 + n2</a:t>
            </a:r>
            <a:br>
              <a:rPr lang="en-US" sz="2000" noProof="0" dirty="0">
                <a:latin typeface="Courier New" panose="02070309020205020404" pitchFamily="49" charset="0"/>
              </a:rPr>
            </a:br>
            <a:r>
              <a:rPr lang="en-US" sz="2000" noProof="0" dirty="0">
                <a:latin typeface="Courier New" panose="02070309020205020404" pitchFamily="49" charset="0"/>
              </a:rPr>
              <a:t>    return total</a:t>
            </a:r>
            <a:br>
              <a:rPr lang="en-US" sz="2000" noProof="0" dirty="0">
                <a:latin typeface="Courier New" panose="02070309020205020404" pitchFamily="49" charset="0"/>
              </a:rPr>
            </a:br>
            <a:r>
              <a:rPr lang="en-US" sz="2000" noProof="0" dirty="0">
                <a:latin typeface="Courier New" panose="02070309020205020404" pitchFamily="49" charset="0"/>
              </a:rPr>
              <a:t>a = adder(1,2)</a:t>
            </a:r>
          </a:p>
          <a:p>
            <a:r>
              <a:rPr lang="en-US" sz="2400" noProof="0" dirty="0">
                <a:latin typeface="Arial" panose="020B0604020202020204" pitchFamily="34" charset="0"/>
              </a:rPr>
              <a:t>An alternative, more concise style is:</a:t>
            </a:r>
          </a:p>
          <a:p>
            <a:pPr lvl="1"/>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return n1 + n2</a:t>
            </a:r>
            <a:br>
              <a:rPr lang="en-US" sz="2000" noProof="0" dirty="0">
                <a:latin typeface="Courier New" panose="02070309020205020404" pitchFamily="49" charset="0"/>
              </a:rPr>
            </a:br>
            <a:r>
              <a:rPr lang="en-US" sz="2000" noProof="0" dirty="0">
                <a:latin typeface="Courier New" panose="02070309020205020404" pitchFamily="49" charset="0"/>
              </a:rPr>
              <a:t>a = adder(1,2)</a:t>
            </a:r>
          </a:p>
          <a:p>
            <a:pPr lvl="1"/>
            <a:r>
              <a:rPr lang="en-US" sz="2000" noProof="0" dirty="0">
                <a:latin typeface="Arial" panose="020B0604020202020204" pitchFamily="34" charset="0"/>
              </a:rPr>
              <a:t>Here you see that we do all the calculations in one step in the return statement. This is very common and seen as good practice.</a:t>
            </a:r>
          </a:p>
          <a:p>
            <a:pPr lvl="1"/>
            <a:r>
              <a:rPr lang="en-US" sz="2200" noProof="0" dirty="0">
                <a:latin typeface="Arial" panose="020B0604020202020204" pitchFamily="34" charset="0"/>
              </a:rPr>
              <a:t>Of course,  here again we see the trade-off between concision and complexity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8</a:t>
            </a:fld>
            <a:endParaRPr lang="nl-NL"/>
          </a:p>
        </p:txBody>
      </p:sp>
    </p:spTree>
    <p:extLst>
      <p:ext uri="{BB962C8B-B14F-4D97-AF65-F5344CB8AC3E}">
        <p14:creationId xmlns:p14="http://schemas.microsoft.com/office/powerpoint/2010/main" val="139464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Return statement</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Arial" panose="020B0604020202020204" pitchFamily="34" charset="0"/>
                <a:cs typeface="Arial" panose="020B0604020202020204" pitchFamily="34" charset="0"/>
              </a:rPr>
              <a:t>Consider:</a:t>
            </a:r>
          </a:p>
          <a:p>
            <a:pPr lvl="1"/>
            <a:r>
              <a:rPr lang="en-US" sz="2000" noProof="0" dirty="0">
                <a:latin typeface="Courier New" panose="02070309020205020404" pitchFamily="49" charset="0"/>
              </a:rPr>
              <a:t>def calculate ():</a:t>
            </a:r>
            <a:br>
              <a:rPr lang="en-US" sz="2000" noProof="0" dirty="0">
                <a:latin typeface="Courier New" panose="02070309020205020404" pitchFamily="49" charset="0"/>
              </a:rPr>
            </a:br>
            <a:r>
              <a:rPr lang="en-US" sz="2000" noProof="0" dirty="0">
                <a:latin typeface="Courier New" panose="02070309020205020404" pitchFamily="49" charset="0"/>
              </a:rPr>
              <a:t>    result = 1</a:t>
            </a:r>
            <a:br>
              <a:rPr lang="en-US" sz="2000" noProof="0" dirty="0">
                <a:latin typeface="Courier New" panose="02070309020205020404" pitchFamily="49" charset="0"/>
              </a:rPr>
            </a:br>
            <a:r>
              <a:rPr lang="en-US" sz="2000" noProof="0" dirty="0">
                <a:latin typeface="Courier New" panose="02070309020205020404" pitchFamily="49" charset="0"/>
              </a:rPr>
              <a:t>    return result</a:t>
            </a:r>
            <a:br>
              <a:rPr lang="en-US" sz="2000" noProof="0" dirty="0">
                <a:latin typeface="Courier New" panose="02070309020205020404" pitchFamily="49" charset="0"/>
              </a:rPr>
            </a:br>
            <a:r>
              <a:rPr lang="en-US" sz="2000" noProof="0" dirty="0">
                <a:latin typeface="Courier New" panose="02070309020205020404" pitchFamily="49" charset="0"/>
              </a:rPr>
              <a:t>total = calculate()</a:t>
            </a:r>
          </a:p>
          <a:p>
            <a:r>
              <a:rPr lang="en-US" sz="2400" noProof="0" dirty="0">
                <a:latin typeface="Arial" panose="020B0604020202020204" pitchFamily="34" charset="0"/>
              </a:rPr>
              <a:t>A return statement can only return one value</a:t>
            </a:r>
          </a:p>
          <a:p>
            <a:pPr lvl="1"/>
            <a:r>
              <a:rPr lang="en-US" sz="2000" noProof="0" dirty="0">
                <a:latin typeface="Arial" panose="020B0604020202020204" pitchFamily="34" charset="0"/>
              </a:rPr>
              <a:t>Why then does the following work:</a:t>
            </a:r>
          </a:p>
          <a:p>
            <a:pPr lvl="2"/>
            <a:r>
              <a:rPr lang="en-US" sz="1800" noProof="0" dirty="0">
                <a:latin typeface="Courier New" panose="02070309020205020404" pitchFamily="49" charset="0"/>
              </a:rPr>
              <a:t>def calculate ():</a:t>
            </a:r>
            <a:br>
              <a:rPr lang="en-US" sz="1800" noProof="0" dirty="0">
                <a:latin typeface="Courier New" panose="02070309020205020404" pitchFamily="49" charset="0"/>
              </a:rPr>
            </a:br>
            <a:r>
              <a:rPr lang="en-US" sz="1800" noProof="0" dirty="0">
                <a:latin typeface="Courier New" panose="02070309020205020404" pitchFamily="49" charset="0"/>
              </a:rPr>
              <a:t>    result1 = 1</a:t>
            </a:r>
            <a:br>
              <a:rPr lang="en-US" sz="1800" noProof="0" dirty="0">
                <a:latin typeface="Courier New" panose="02070309020205020404" pitchFamily="49" charset="0"/>
              </a:rPr>
            </a:br>
            <a:r>
              <a:rPr lang="en-US" sz="1800" noProof="0" dirty="0">
                <a:latin typeface="Courier New" panose="02070309020205020404" pitchFamily="49" charset="0"/>
              </a:rPr>
              <a:t>    result2 = 2</a:t>
            </a:r>
            <a:br>
              <a:rPr lang="en-US" sz="1800" noProof="0" dirty="0">
                <a:latin typeface="Courier New" panose="02070309020205020404" pitchFamily="49" charset="0"/>
              </a:rPr>
            </a:br>
            <a:r>
              <a:rPr lang="en-US" sz="1800" noProof="0" dirty="0">
                <a:latin typeface="Courier New" panose="02070309020205020404" pitchFamily="49" charset="0"/>
              </a:rPr>
              <a:t>    return result1, result2</a:t>
            </a:r>
            <a:br>
              <a:rPr lang="en-US" sz="1800" noProof="0" dirty="0">
                <a:latin typeface="Courier New" panose="02070309020205020404" pitchFamily="49" charset="0"/>
              </a:rPr>
            </a:br>
            <a:r>
              <a:rPr lang="en-US" sz="1800" noProof="0" dirty="0">
                <a:latin typeface="Courier New" panose="02070309020205020404" pitchFamily="49" charset="0"/>
              </a:rPr>
              <a:t>total1, total2 = calculate() # total1 is now 1 and total2 is now 2</a:t>
            </a:r>
          </a:p>
          <a:p>
            <a:r>
              <a:rPr lang="en-US" sz="2400" noProof="0" dirty="0">
                <a:latin typeface="Arial" panose="020B0604020202020204" pitchFamily="34" charset="0"/>
              </a:rPr>
              <a:t>Answer: last week we said the way to define a tuple is </a:t>
            </a:r>
            <a:r>
              <a:rPr lang="en-US" sz="2000" noProof="0" dirty="0">
                <a:latin typeface="Courier New" panose="02070309020205020404" pitchFamily="49" charset="0"/>
              </a:rPr>
              <a:t>t1 = (1, 2, 3)</a:t>
            </a:r>
            <a:r>
              <a:rPr lang="en-US" sz="2400" noProof="0" dirty="0">
                <a:latin typeface="Arial" panose="020B0604020202020204" pitchFamily="34" charset="0"/>
              </a:rPr>
              <a:t>and this is true, but an alternative way to define a tuple is</a:t>
            </a:r>
            <a:r>
              <a:rPr lang="en-US" sz="2000" noProof="0" dirty="0">
                <a:latin typeface="Arial" panose="020B0604020202020204" pitchFamily="34" charset="0"/>
              </a:rPr>
              <a:t> </a:t>
            </a:r>
            <a:r>
              <a:rPr lang="en-US" sz="2000" noProof="0" dirty="0">
                <a:latin typeface="Courier New" panose="02070309020205020404" pitchFamily="49" charset="0"/>
              </a:rPr>
              <a:t>t1 = 1, 2, 3</a:t>
            </a:r>
          </a:p>
          <a:p>
            <a:pPr lvl="1"/>
            <a:r>
              <a:rPr lang="en-US" sz="2000" noProof="0" dirty="0">
                <a:latin typeface="Arial" panose="020B0604020202020204" pitchFamily="34" charset="0"/>
              </a:rPr>
              <a:t>So, what you saw in the code fragment above wasn't the return of two integer objects, but the return of exactly one tuple object</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9</a:t>
            </a:fld>
            <a:endParaRPr lang="nl-NL"/>
          </a:p>
        </p:txBody>
      </p:sp>
    </p:spTree>
    <p:extLst>
      <p:ext uri="{BB962C8B-B14F-4D97-AF65-F5344CB8AC3E}">
        <p14:creationId xmlns:p14="http://schemas.microsoft.com/office/powerpoint/2010/main" val="45924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252414"/>
            <a:ext cx="10515600" cy="1325563"/>
          </a:xfrm>
        </p:spPr>
        <p:txBody>
          <a:bodyPr/>
          <a:lstStyle/>
          <a:p>
            <a:r>
              <a:rPr lang="en-US" noProof="0" dirty="0"/>
              <a:t>Intermezzo 1: defining a tuple with one element and a nice trick</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581151"/>
            <a:ext cx="11849100" cy="5276849"/>
          </a:xfrm>
        </p:spPr>
        <p:txBody>
          <a:bodyPr>
            <a:noAutofit/>
          </a:bodyPr>
          <a:lstStyle/>
          <a:p>
            <a:r>
              <a:rPr lang="en-US" noProof="0" dirty="0">
                <a:latin typeface="Courier New" panose="02070309020205020404" pitchFamily="49" charset="0"/>
              </a:rPr>
              <a:t>t1 = (1) </a:t>
            </a:r>
            <a:r>
              <a:rPr lang="en-US" noProof="0" dirty="0">
                <a:latin typeface="Arial" panose="020B0604020202020204" pitchFamily="34" charset="0"/>
              </a:rPr>
              <a:t>Does this work?</a:t>
            </a:r>
          </a:p>
          <a:p>
            <a:r>
              <a:rPr lang="en-US" noProof="0" dirty="0">
                <a:latin typeface="Arial" panose="020B0604020202020204" pitchFamily="34" charset="0"/>
              </a:rPr>
              <a:t>Let's ask Python:</a:t>
            </a:r>
          </a:p>
          <a:p>
            <a:pPr lvl="1"/>
            <a:r>
              <a:rPr lang="en-US" sz="2000" noProof="0" dirty="0">
                <a:latin typeface="Courier New" panose="02070309020205020404" pitchFamily="49" charset="0"/>
              </a:rPr>
              <a:t>print(type(t1)==tuple)  # Onscreen: False</a:t>
            </a:r>
          </a:p>
          <a:p>
            <a:pPr lvl="1"/>
            <a:r>
              <a:rPr lang="en-US" sz="2000" noProof="0" dirty="0">
                <a:latin typeface="Courier New" panose="02070309020205020404" pitchFamily="49" charset="0"/>
              </a:rPr>
              <a:t>print(type(t1)==int)    # Onscreen: True</a:t>
            </a:r>
          </a:p>
          <a:p>
            <a:r>
              <a:rPr lang="en-US" noProof="0" dirty="0">
                <a:latin typeface="Arial" panose="020B0604020202020204" pitchFamily="34" charset="0"/>
              </a:rPr>
              <a:t>Conclusion: the Python designers decided that </a:t>
            </a:r>
            <a:r>
              <a:rPr lang="en-US" noProof="0" dirty="0">
                <a:latin typeface="Arial" panose="020B0604020202020204" pitchFamily="34" charset="0"/>
                <a:cs typeface="Arial" panose="020B0604020202020204" pitchFamily="34" charset="0"/>
              </a:rPr>
              <a:t>(1)</a:t>
            </a:r>
            <a:r>
              <a:rPr lang="en-US" noProof="0" dirty="0">
                <a:latin typeface="Arial" panose="020B0604020202020204" pitchFamily="34" charset="0"/>
              </a:rPr>
              <a:t> means the integer 1</a:t>
            </a:r>
          </a:p>
          <a:p>
            <a:pPr lvl="1"/>
            <a:r>
              <a:rPr lang="en-US" noProof="0" dirty="0">
                <a:latin typeface="Arial" panose="020B0604020202020204" pitchFamily="34" charset="0"/>
              </a:rPr>
              <a:t>The way to define a tuple with one element is:  </a:t>
            </a:r>
            <a:br>
              <a:rPr lang="en-US" noProof="0" dirty="0">
                <a:latin typeface="Arial" panose="020B0604020202020204" pitchFamily="34" charset="0"/>
              </a:rPr>
            </a:br>
            <a:r>
              <a:rPr lang="en-US" sz="2000" noProof="0" dirty="0">
                <a:latin typeface="Courier New" panose="02070309020205020404" pitchFamily="49" charset="0"/>
              </a:rPr>
              <a:t>t1 = 1, </a:t>
            </a:r>
            <a:r>
              <a:rPr lang="en-US" noProof="0" dirty="0">
                <a:latin typeface="Arial" panose="020B0604020202020204" pitchFamily="34" charset="0"/>
              </a:rPr>
              <a:t>or </a:t>
            </a:r>
            <a:br>
              <a:rPr lang="en-US" noProof="0" dirty="0">
                <a:latin typeface="Arial" panose="020B0604020202020204" pitchFamily="34" charset="0"/>
              </a:rPr>
            </a:br>
            <a:r>
              <a:rPr lang="en-US" sz="2000" noProof="0" dirty="0">
                <a:latin typeface="Courier New" panose="02070309020205020404" pitchFamily="49" charset="0"/>
              </a:rPr>
              <a:t>t1 = (1,)</a:t>
            </a:r>
            <a:endParaRPr lang="en-US" noProof="0" dirty="0">
              <a:latin typeface="Courier New" panose="02070309020205020404" pitchFamily="49" charset="0"/>
            </a:endParaRPr>
          </a:p>
          <a:p>
            <a:r>
              <a:rPr lang="en-US" noProof="0" dirty="0">
                <a:latin typeface="Arial" panose="020B0604020202020204" pitchFamily="34" charset="0"/>
              </a:rPr>
              <a:t>Tuples are the basis of a neat trick to swap values: </a:t>
            </a:r>
            <a:r>
              <a:rPr lang="en-US" sz="2400" noProof="0" dirty="0">
                <a:latin typeface="Courier New" panose="02070309020205020404" pitchFamily="49" charset="0"/>
              </a:rPr>
              <a:t>x, y = y, x</a:t>
            </a:r>
            <a:endParaRPr lang="en-US" sz="2000" noProof="0" dirty="0">
              <a:latin typeface="Arial" panose="020B0604020202020204" pitchFamily="34"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10</a:t>
            </a:fld>
            <a:endParaRPr lang="nl-NL"/>
          </a:p>
        </p:txBody>
      </p:sp>
    </p:spTree>
    <p:extLst>
      <p:ext uri="{BB962C8B-B14F-4D97-AF65-F5344CB8AC3E}">
        <p14:creationId xmlns:p14="http://schemas.microsoft.com/office/powerpoint/2010/main" val="315777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Implicit return statement</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total = n1 + n2</a:t>
            </a:r>
            <a:br>
              <a:rPr lang="en-US" sz="2000" noProof="0" dirty="0">
                <a:latin typeface="Courier New" panose="02070309020205020404" pitchFamily="49" charset="0"/>
              </a:rPr>
            </a:br>
            <a:r>
              <a:rPr lang="en-US" sz="2000" noProof="0" dirty="0">
                <a:latin typeface="Courier New" panose="02070309020205020404" pitchFamily="49" charset="0"/>
              </a:rPr>
              <a:t>a = adder(1, 2)</a:t>
            </a:r>
          </a:p>
          <a:p>
            <a:r>
              <a:rPr lang="en-US" sz="2000" noProof="0" dirty="0">
                <a:latin typeface="Arial" panose="020B0604020202020204" pitchFamily="34" charset="0"/>
              </a:rPr>
              <a:t>If during execution of the function code Python gets to the end of the function, but didn't encounter a return statement, Python returns </a:t>
            </a:r>
            <a:r>
              <a:rPr lang="en-US" sz="2000" noProof="0" dirty="0">
                <a:latin typeface="Courier New" panose="02070309020205020404" pitchFamily="49" charset="0"/>
                <a:cs typeface="Courier New" panose="02070309020205020404" pitchFamily="49" charset="0"/>
              </a:rPr>
              <a:t>None</a:t>
            </a:r>
            <a:r>
              <a:rPr lang="en-US" sz="2000" noProof="0" dirty="0">
                <a:latin typeface="Arial" panose="020B0604020202020204" pitchFamily="34" charset="0"/>
              </a:rPr>
              <a:t> for you</a:t>
            </a:r>
          </a:p>
          <a:p>
            <a:pPr lvl="1"/>
            <a:r>
              <a:rPr lang="en-US" sz="1600" noProof="0" dirty="0">
                <a:latin typeface="Courier New" panose="02070309020205020404" pitchFamily="49" charset="0"/>
              </a:rPr>
              <a:t>def adder(n1, n2):</a:t>
            </a:r>
            <a:br>
              <a:rPr lang="en-US" sz="1600" noProof="0" dirty="0">
                <a:latin typeface="Courier New" panose="02070309020205020404" pitchFamily="49" charset="0"/>
              </a:rPr>
            </a:br>
            <a:r>
              <a:rPr lang="en-US" sz="1600" noProof="0" dirty="0">
                <a:latin typeface="Courier New" panose="02070309020205020404" pitchFamily="49" charset="0"/>
              </a:rPr>
              <a:t> </a:t>
            </a:r>
            <a:r>
              <a:rPr lang="en-US" sz="1600" dirty="0">
                <a:latin typeface="Courier New" panose="02070309020205020404" pitchFamily="49" charset="0"/>
              </a:rPr>
              <a:t>if type(n1) == type(n2) == int:</a:t>
            </a:r>
            <a:br>
              <a:rPr lang="en-US" sz="1600" noProof="0" dirty="0">
                <a:latin typeface="Courier New" panose="02070309020205020404" pitchFamily="49" charset="0"/>
              </a:rPr>
            </a:br>
            <a:r>
              <a:rPr lang="en-US" sz="1600" noProof="0" dirty="0">
                <a:latin typeface="Courier New" panose="02070309020205020404" pitchFamily="49" charset="0"/>
              </a:rPr>
              <a:t>        total = n1 + n2</a:t>
            </a:r>
            <a:br>
              <a:rPr lang="en-US" sz="1600" noProof="0" dirty="0">
                <a:latin typeface="Courier New" panose="02070309020205020404" pitchFamily="49" charset="0"/>
              </a:rPr>
            </a:br>
            <a:r>
              <a:rPr lang="en-US" sz="1600" noProof="0" dirty="0">
                <a:latin typeface="Courier New" panose="02070309020205020404" pitchFamily="49" charset="0"/>
              </a:rPr>
              <a:t>        return total</a:t>
            </a:r>
            <a:br>
              <a:rPr lang="en-US" sz="1600" noProof="0" dirty="0">
                <a:latin typeface="Courier New" panose="02070309020205020404" pitchFamily="49" charset="0"/>
              </a:rPr>
            </a:br>
            <a:r>
              <a:rPr lang="en-US" sz="1600" noProof="0" dirty="0">
                <a:latin typeface="Courier New" panose="02070309020205020404" pitchFamily="49" charset="0"/>
              </a:rPr>
              <a:t>a = adder('1', 2) # Returns: None </a:t>
            </a:r>
          </a:p>
          <a:p>
            <a:r>
              <a:rPr lang="en-US" sz="2000" noProof="0" dirty="0">
                <a:latin typeface="Arial" panose="020B0604020202020204" pitchFamily="34" charset="0"/>
              </a:rPr>
              <a:t>You can test for </a:t>
            </a:r>
            <a:r>
              <a:rPr lang="en-US" sz="2000" noProof="0" dirty="0">
                <a:latin typeface="Courier New" panose="02070309020205020404" pitchFamily="49" charset="0"/>
                <a:cs typeface="Courier New" panose="02070309020205020404" pitchFamily="49" charset="0"/>
              </a:rPr>
              <a:t>None</a:t>
            </a:r>
            <a:r>
              <a:rPr lang="en-US" sz="2000" noProof="0" dirty="0">
                <a:latin typeface="Arial" panose="020B0604020202020204" pitchFamily="34" charset="0"/>
              </a:rPr>
              <a:t>:</a:t>
            </a:r>
            <a:endParaRPr lang="en-US" sz="2000" noProof="0" dirty="0">
              <a:latin typeface="Courier New" panose="02070309020205020404" pitchFamily="49" charset="0"/>
            </a:endParaRPr>
          </a:p>
          <a:p>
            <a:pPr lvl="1"/>
            <a:r>
              <a:rPr lang="en-US" sz="1600" noProof="0" dirty="0">
                <a:latin typeface="Courier New" panose="02070309020205020404" pitchFamily="49" charset="0"/>
              </a:rPr>
              <a:t>if a != None:</a:t>
            </a:r>
            <a:br>
              <a:rPr lang="en-US" sz="1600" noProof="0" dirty="0">
                <a:latin typeface="Courier New" panose="02070309020205020404" pitchFamily="49" charset="0"/>
              </a:rPr>
            </a:br>
            <a:r>
              <a:rPr lang="en-US" sz="1600" noProof="0" dirty="0">
                <a:latin typeface="Courier New" panose="02070309020205020404" pitchFamily="49" charset="0"/>
              </a:rPr>
              <a:t>    print ('The result is: ' + a)</a:t>
            </a:r>
            <a:br>
              <a:rPr lang="en-US" sz="1600" noProof="0" dirty="0">
                <a:latin typeface="Courier New" panose="02070309020205020404" pitchFamily="49" charset="0"/>
              </a:rPr>
            </a:br>
            <a:r>
              <a:rPr lang="en-US" sz="1600" noProof="0" dirty="0">
                <a:latin typeface="Courier New" panose="02070309020205020404" pitchFamily="49" charset="0"/>
              </a:rPr>
              <a:t>else:</a:t>
            </a:r>
            <a:br>
              <a:rPr lang="en-US" sz="1600" noProof="0" dirty="0">
                <a:latin typeface="Courier New" panose="02070309020205020404" pitchFamily="49" charset="0"/>
              </a:rPr>
            </a:br>
            <a:r>
              <a:rPr lang="en-US" sz="1600" noProof="0" dirty="0">
                <a:latin typeface="Courier New" panose="02070309020205020404" pitchFamily="49" charset="0"/>
              </a:rPr>
              <a:t>    print ('Wrong numbers')</a:t>
            </a:r>
          </a:p>
          <a:p>
            <a:r>
              <a:rPr lang="en-US" sz="2000" noProof="0" dirty="0">
                <a:latin typeface="Arial" panose="020B0604020202020204" pitchFamily="34" charset="0"/>
              </a:rPr>
              <a:t>You must know about this implicit return statement, as it is used a lot, but using this trick is bad: it makes your code more difficult to read</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11</a:t>
            </a:fld>
            <a:endParaRPr lang="nl-NL"/>
          </a:p>
        </p:txBody>
      </p:sp>
    </p:spTree>
    <p:extLst>
      <p:ext uri="{BB962C8B-B14F-4D97-AF65-F5344CB8AC3E}">
        <p14:creationId xmlns:p14="http://schemas.microsoft.com/office/powerpoint/2010/main" val="140812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Multiple return statements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0" y="1186658"/>
            <a:ext cx="12192000" cy="5276849"/>
          </a:xfrm>
        </p:spPr>
        <p:txBody>
          <a:bodyPr>
            <a:noAutofit/>
          </a:bodyPr>
          <a:lstStyle/>
          <a:p>
            <a:r>
              <a:rPr lang="en-US" sz="2400" dirty="0">
                <a:latin typeface="Courier New" panose="02070309020205020404" pitchFamily="49" charset="0"/>
              </a:rPr>
              <a:t>def calculator():</a:t>
            </a:r>
            <a:br>
              <a:rPr lang="en-US" sz="2400" dirty="0">
                <a:latin typeface="Courier New" panose="02070309020205020404" pitchFamily="49" charset="0"/>
              </a:rPr>
            </a:br>
            <a:r>
              <a:rPr lang="en-US" sz="2400" dirty="0">
                <a:latin typeface="Courier New" panose="02070309020205020404" pitchFamily="49" charset="0"/>
              </a:rPr>
              <a:t>    n1 = int(input('First number? '))</a:t>
            </a:r>
            <a:br>
              <a:rPr lang="en-US" sz="2400" dirty="0">
                <a:latin typeface="Courier New" panose="02070309020205020404" pitchFamily="49" charset="0"/>
              </a:rPr>
            </a:br>
            <a:r>
              <a:rPr lang="en-US" sz="2400" dirty="0">
                <a:latin typeface="Courier New" panose="02070309020205020404" pitchFamily="49" charset="0"/>
              </a:rPr>
              <a:t>    while (operator :=input('Operator?')) not in '+*':</a:t>
            </a:r>
            <a:br>
              <a:rPr lang="en-US" sz="2400" dirty="0">
                <a:latin typeface="Courier New" panose="02070309020205020404" pitchFamily="49" charset="0"/>
              </a:rPr>
            </a:br>
            <a:r>
              <a:rPr lang="en-US" sz="2400" dirty="0">
                <a:latin typeface="Courier New" panose="02070309020205020404" pitchFamily="49" charset="0"/>
              </a:rPr>
              <a:t>        print("Only operators '+' and '*' allowed")</a:t>
            </a:r>
            <a:br>
              <a:rPr lang="en-US" sz="2400" dirty="0">
                <a:latin typeface="Courier New" panose="02070309020205020404" pitchFamily="49" charset="0"/>
              </a:rPr>
            </a:br>
            <a:r>
              <a:rPr lang="en-US" sz="2400" dirty="0">
                <a:latin typeface="Courier New" panose="02070309020205020404" pitchFamily="49" charset="0"/>
              </a:rPr>
              <a:t>    n2 = int(input('Second number? '))</a:t>
            </a:r>
            <a:br>
              <a:rPr lang="en-US" sz="2400" dirty="0">
                <a:latin typeface="Courier New" panose="02070309020205020404" pitchFamily="49" charset="0"/>
              </a:rPr>
            </a:br>
            <a:r>
              <a:rPr lang="en-US" sz="2400" dirty="0">
                <a:latin typeface="Courier New" panose="02070309020205020404" pitchFamily="49" charset="0"/>
              </a:rPr>
              <a:t>    if operator == '+':</a:t>
            </a:r>
            <a:br>
              <a:rPr lang="en-US" sz="2400" dirty="0">
                <a:latin typeface="Courier New" panose="02070309020205020404" pitchFamily="49" charset="0"/>
              </a:rPr>
            </a:br>
            <a:r>
              <a:rPr lang="en-US" sz="2400" dirty="0">
                <a:latin typeface="Courier New" panose="02070309020205020404" pitchFamily="49" charset="0"/>
              </a:rPr>
              <a:t>        return n1+n2</a:t>
            </a:r>
            <a:br>
              <a:rPr lang="en-US" sz="2400" dirty="0">
                <a:latin typeface="Courier New" panose="02070309020205020404" pitchFamily="49" charset="0"/>
              </a:rPr>
            </a:br>
            <a:r>
              <a:rPr lang="en-US" sz="2400" dirty="0">
                <a:latin typeface="Courier New" panose="02070309020205020404" pitchFamily="49" charset="0"/>
              </a:rPr>
              <a:t>    return n1*n2</a:t>
            </a:r>
          </a:p>
          <a:p>
            <a:r>
              <a:rPr lang="en-US" sz="2400" noProof="0" dirty="0">
                <a:latin typeface="Arial" panose="020B0604020202020204" pitchFamily="34" charset="0"/>
              </a:rPr>
              <a:t>This works and in this simple case it is no big deal, but there is a trade-off between time to write this code and time to read this code</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12</a:t>
            </a:fld>
            <a:endParaRPr lang="nl-NL"/>
          </a:p>
        </p:txBody>
      </p:sp>
    </p:spTree>
    <p:extLst>
      <p:ext uri="{BB962C8B-B14F-4D97-AF65-F5344CB8AC3E}">
        <p14:creationId xmlns:p14="http://schemas.microsoft.com/office/powerpoint/2010/main" val="388896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Intermezzo 2: pass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0186017" cy="5276849"/>
          </a:xfrm>
        </p:spPr>
        <p:txBody>
          <a:bodyPr>
            <a:noAutofit/>
          </a:bodyPr>
          <a:lstStyle/>
          <a:p>
            <a:r>
              <a:rPr lang="en-US" sz="2400" noProof="0" dirty="0">
                <a:latin typeface="Courier New" panose="02070309020205020404" pitchFamily="49" charset="0"/>
              </a:rPr>
              <a:t>def adder(n1, n2):</a:t>
            </a:r>
            <a:br>
              <a:rPr lang="en-US" sz="2400" noProof="0" dirty="0">
                <a:latin typeface="Courier New" panose="02070309020205020404" pitchFamily="49" charset="0"/>
              </a:rPr>
            </a:br>
            <a:r>
              <a:rPr lang="en-US" sz="2400" noProof="0" dirty="0">
                <a:latin typeface="Courier New" panose="02070309020205020404" pitchFamily="49" charset="0"/>
              </a:rPr>
              <a:t>    if type(n1) == int and type(n2) == int:</a:t>
            </a:r>
            <a:br>
              <a:rPr lang="en-US" sz="2400" noProof="0" dirty="0">
                <a:latin typeface="Courier New" panose="02070309020205020404" pitchFamily="49" charset="0"/>
              </a:rPr>
            </a:br>
            <a:r>
              <a:rPr lang="en-US" sz="2400" noProof="0" dirty="0">
                <a:latin typeface="Courier New" panose="02070309020205020404" pitchFamily="49" charset="0"/>
              </a:rPr>
              <a:t>        result = n1 + n2</a:t>
            </a:r>
            <a:br>
              <a:rPr lang="en-US" sz="2400" noProof="0" dirty="0">
                <a:latin typeface="Courier New" panose="02070309020205020404" pitchFamily="49" charset="0"/>
              </a:rPr>
            </a:br>
            <a:r>
              <a:rPr lang="en-US" sz="2400" noProof="0" dirty="0">
                <a:latin typeface="Courier New" panose="02070309020205020404" pitchFamily="49" charset="0"/>
              </a:rPr>
              <a:t>    else:</a:t>
            </a:r>
            <a:br>
              <a:rPr lang="en-US" sz="2400" noProof="0" dirty="0">
                <a:latin typeface="Courier New" panose="02070309020205020404" pitchFamily="49" charset="0"/>
              </a:rPr>
            </a:br>
            <a:r>
              <a:rPr lang="en-US" sz="2400" noProof="0" dirty="0">
                <a:latin typeface="Courier New" panose="02070309020205020404" pitchFamily="49" charset="0"/>
              </a:rPr>
              <a:t>        </a:t>
            </a:r>
            <a:r>
              <a:rPr lang="en-US" sz="2400" dirty="0">
                <a:latin typeface="Courier New" panose="02070309020205020404" pitchFamily="49" charset="0"/>
              </a:rPr>
              <a:t>pass # What to do when inputs are no integers</a:t>
            </a:r>
            <a:br>
              <a:rPr lang="en-US" sz="2400" noProof="0" dirty="0">
                <a:latin typeface="Courier New" panose="02070309020205020404" pitchFamily="49" charset="0"/>
              </a:rPr>
            </a:br>
            <a:r>
              <a:rPr lang="en-US" sz="2400" noProof="0" dirty="0">
                <a:latin typeface="Courier New" panose="02070309020205020404" pitchFamily="49" charset="0"/>
              </a:rPr>
              <a:t>    return result</a:t>
            </a:r>
            <a:br>
              <a:rPr lang="en-US" sz="2400" noProof="0" dirty="0">
                <a:latin typeface="Courier New" panose="02070309020205020404" pitchFamily="49" charset="0"/>
              </a:rPr>
            </a:br>
            <a:r>
              <a:rPr lang="en-US" sz="2400" noProof="0" dirty="0">
                <a:latin typeface="Courier New" panose="02070309020205020404" pitchFamily="49" charset="0"/>
              </a:rPr>
              <a:t>a = adder(1, 2)</a:t>
            </a:r>
            <a:br>
              <a:rPr lang="en-US" sz="2400" noProof="0" dirty="0">
                <a:latin typeface="Courier New" panose="02070309020205020404" pitchFamily="49" charset="0"/>
              </a:rPr>
            </a:br>
            <a:r>
              <a:rPr lang="en-US" sz="2400" noProof="0" dirty="0">
                <a:latin typeface="Courier New" panose="02070309020205020404" pitchFamily="49" charset="0"/>
              </a:rPr>
              <a:t>p</a:t>
            </a:r>
            <a:r>
              <a:rPr lang="en-US" sz="2400" dirty="0" err="1">
                <a:latin typeface="Courier New" panose="02070309020205020404" pitchFamily="49" charset="0"/>
              </a:rPr>
              <a:t>rint</a:t>
            </a:r>
            <a:r>
              <a:rPr lang="en-US" sz="2400" dirty="0">
                <a:latin typeface="Courier New" panose="02070309020205020404" pitchFamily="49" charset="0"/>
              </a:rPr>
              <a:t>(a)</a:t>
            </a:r>
            <a:r>
              <a:rPr lang="en-US" sz="2400" noProof="0" dirty="0">
                <a:latin typeface="Courier New" panose="02070309020205020404" pitchFamily="49" charset="0"/>
              </a:rPr>
              <a:t> </a:t>
            </a:r>
          </a:p>
          <a:p>
            <a:r>
              <a:rPr lang="en-US" sz="2400" noProof="0" dirty="0">
                <a:latin typeface="Courier New" panose="02070309020205020404" pitchFamily="49" charset="0"/>
                <a:cs typeface="Courier New" panose="02070309020205020404" pitchFamily="49" charset="0"/>
              </a:rPr>
              <a:t>pass</a:t>
            </a:r>
            <a:r>
              <a:rPr lang="en-US" sz="2400" noProof="0" dirty="0">
                <a:latin typeface="Arial" panose="020B0604020202020204" pitchFamily="34" charset="0"/>
              </a:rPr>
              <a:t> doesn't do anything, so it can be used as a stub</a:t>
            </a:r>
          </a:p>
          <a:p>
            <a:r>
              <a:rPr lang="en-US" sz="2400" noProof="0" dirty="0">
                <a:latin typeface="Arial" panose="020B0604020202020204" pitchFamily="34" charset="0"/>
              </a:rPr>
              <a:t>Question: why not do the following as a stub:</a:t>
            </a:r>
          </a:p>
          <a:p>
            <a:pPr lvl="1"/>
            <a:r>
              <a:rPr lang="en-US" sz="2000" noProof="0" dirty="0">
                <a:latin typeface="Courier New" panose="02070309020205020404" pitchFamily="49" charset="0"/>
              </a:rPr>
              <a:t>else: # </a:t>
            </a:r>
            <a:r>
              <a:rPr lang="en-US" sz="2000" dirty="0">
                <a:latin typeface="Courier New" panose="02070309020205020404" pitchFamily="49" charset="0"/>
              </a:rPr>
              <a:t>What to do when inputs are no integers</a:t>
            </a:r>
            <a:br>
              <a:rPr lang="en-US" sz="2000" noProof="0" dirty="0">
                <a:latin typeface="Courier New" panose="02070309020205020404" pitchFamily="49" charset="0"/>
              </a:rPr>
            </a:br>
            <a:r>
              <a:rPr lang="en-US" sz="2000" noProof="0" dirty="0">
                <a:latin typeface="Courier New" panose="02070309020205020404" pitchFamily="49" charset="0"/>
              </a:rPr>
              <a:t>return result</a:t>
            </a:r>
          </a:p>
          <a:p>
            <a:r>
              <a:rPr lang="en-US" sz="2400" noProof="0" dirty="0">
                <a:latin typeface="Arial" panose="020B0604020202020204" pitchFamily="34" charset="0"/>
              </a:rPr>
              <a:t>Answer: this will give you an error, because after a colon you need an indented block</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13</a:t>
            </a:fld>
            <a:endParaRPr lang="nl-NL"/>
          </a:p>
        </p:txBody>
      </p:sp>
    </p:spTree>
    <p:extLst>
      <p:ext uri="{BB962C8B-B14F-4D97-AF65-F5344CB8AC3E}">
        <p14:creationId xmlns:p14="http://schemas.microsoft.com/office/powerpoint/2010/main" val="369096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This is not a complete overview of scope, DataCamp (also here) does a very good job explaining. Here we will discuss some points in more detail </a:t>
            </a:r>
          </a:p>
          <a:p>
            <a:r>
              <a:rPr lang="en-US" sz="2400" noProof="0" dirty="0"/>
              <a:t>Function call:</a:t>
            </a:r>
          </a:p>
          <a:p>
            <a:pPr lvl="1"/>
            <a:r>
              <a:rPr lang="en-US" sz="2000" noProof="0" dirty="0">
                <a:latin typeface="Courier New" panose="02070309020205020404" pitchFamily="49" charset="0"/>
              </a:rPr>
              <a:t>print(adder(1, 2))    # Onscreen: 3</a:t>
            </a:r>
          </a:p>
          <a:p>
            <a:r>
              <a:rPr lang="en-US" sz="2400" noProof="0" dirty="0"/>
              <a:t>Function definition:</a:t>
            </a:r>
          </a:p>
          <a:p>
            <a:pPr lvl="1"/>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return n1 + n2</a:t>
            </a:r>
          </a:p>
          <a:p>
            <a:pPr lvl="1"/>
            <a:r>
              <a:rPr lang="en-US" sz="2000" noProof="0" dirty="0"/>
              <a:t>When the function is called, python attaches the name </a:t>
            </a:r>
            <a:r>
              <a:rPr lang="en-US" sz="2000" noProof="0" dirty="0">
                <a:latin typeface="Courier New" panose="02070309020205020404" pitchFamily="49" charset="0"/>
                <a:cs typeface="Courier New" panose="02070309020205020404" pitchFamily="49" charset="0"/>
              </a:rPr>
              <a:t>n1</a:t>
            </a:r>
            <a:r>
              <a:rPr lang="en-US" sz="2000" noProof="0" dirty="0"/>
              <a:t> to 1, and the name </a:t>
            </a:r>
            <a:r>
              <a:rPr lang="en-US" sz="2000" noProof="0" dirty="0">
                <a:latin typeface="Courier New" panose="02070309020205020404" pitchFamily="49" charset="0"/>
                <a:cs typeface="Courier New" panose="02070309020205020404" pitchFamily="49" charset="0"/>
              </a:rPr>
              <a:t>n2</a:t>
            </a:r>
            <a:r>
              <a:rPr lang="en-US" sz="2000" noProof="0" dirty="0"/>
              <a:t> to 2</a:t>
            </a:r>
          </a:p>
          <a:p>
            <a:r>
              <a:rPr lang="en-US" sz="2400" noProof="0" dirty="0"/>
              <a:t>The names </a:t>
            </a:r>
            <a:r>
              <a:rPr lang="en-US" sz="2400" noProof="0" dirty="0">
                <a:latin typeface="Courier New" panose="02070309020205020404" pitchFamily="49" charset="0"/>
                <a:cs typeface="Courier New" panose="02070309020205020404" pitchFamily="49" charset="0"/>
              </a:rPr>
              <a:t>n1</a:t>
            </a:r>
            <a:r>
              <a:rPr lang="en-US" sz="2400" noProof="0" dirty="0"/>
              <a:t> and </a:t>
            </a:r>
            <a:r>
              <a:rPr lang="en-US" sz="2400" noProof="0" dirty="0">
                <a:latin typeface="Courier New" panose="02070309020205020404" pitchFamily="49" charset="0"/>
                <a:cs typeface="Courier New" panose="02070309020205020404" pitchFamily="49" charset="0"/>
              </a:rPr>
              <a:t>n2</a:t>
            </a:r>
            <a:r>
              <a:rPr lang="en-US" sz="2400" noProof="0" dirty="0"/>
              <a:t> are </a:t>
            </a:r>
            <a:r>
              <a:rPr lang="en-US" sz="2400" i="1" noProof="0" dirty="0"/>
              <a:t>local </a:t>
            </a:r>
            <a:r>
              <a:rPr lang="en-US" sz="2400" noProof="0" dirty="0"/>
              <a:t>names</a:t>
            </a:r>
            <a:r>
              <a:rPr lang="en-US" sz="2400" i="1" noProof="0" dirty="0"/>
              <a:t> </a:t>
            </a:r>
            <a:r>
              <a:rPr lang="en-US" sz="2400" noProof="0" dirty="0"/>
              <a:t>that are only known inside the function, so the following gives you an error:</a:t>
            </a:r>
          </a:p>
          <a:p>
            <a:pPr lvl="1"/>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return n1 + n2</a:t>
            </a:r>
            <a:br>
              <a:rPr lang="en-US" sz="2000" noProof="0" dirty="0">
                <a:latin typeface="Courier New" panose="02070309020205020404" pitchFamily="49" charset="0"/>
              </a:rPr>
            </a:br>
            <a:r>
              <a:rPr lang="en-US" sz="2000" noProof="0" dirty="0">
                <a:latin typeface="Courier New" panose="02070309020205020404" pitchFamily="49" charset="0"/>
              </a:rPr>
              <a:t>adder (1,2)</a:t>
            </a:r>
            <a:br>
              <a:rPr lang="en-US" sz="2000" noProof="0" dirty="0">
                <a:latin typeface="Courier New" panose="02070309020205020404" pitchFamily="49" charset="0"/>
              </a:rPr>
            </a:br>
            <a:r>
              <a:rPr lang="en-US" sz="2000" noProof="0" dirty="0">
                <a:latin typeface="Courier New" panose="02070309020205020404" pitchFamily="49" charset="0"/>
              </a:rPr>
              <a:t>print(n1)     # Onscreen: </a:t>
            </a:r>
            <a:r>
              <a:rPr lang="en-US" altLang="nl-NL" sz="2000" noProof="0" dirty="0" err="1">
                <a:latin typeface="Courier New" panose="02070309020205020404" pitchFamily="49" charset="0"/>
              </a:rPr>
              <a:t>NameError</a:t>
            </a:r>
            <a:r>
              <a:rPr lang="en-US" altLang="nl-NL" sz="2000" noProof="0" dirty="0">
                <a:latin typeface="Courier New" panose="02070309020205020404" pitchFamily="49" charset="0"/>
              </a:rPr>
              <a:t>: name 'n1' is not defined </a:t>
            </a:r>
            <a:endParaRPr lang="en-US" sz="2000" noProof="0" dirty="0">
              <a:latin typeface="Courier New" panose="02070309020205020404" pitchFamily="49" charset="0"/>
            </a:endParaRPr>
          </a:p>
          <a:p>
            <a:endParaRPr lang="en-US" sz="2400" noProof="0" dirty="0">
              <a:latin typeface="Arial" panose="020B0604020202020204" pitchFamily="34"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14</a:t>
            </a:fld>
            <a:endParaRPr lang="nl-NL"/>
          </a:p>
        </p:txBody>
      </p:sp>
    </p:spTree>
    <p:extLst>
      <p:ext uri="{BB962C8B-B14F-4D97-AF65-F5344CB8AC3E}">
        <p14:creationId xmlns:p14="http://schemas.microsoft.com/office/powerpoint/2010/main" val="11111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A </a:t>
            </a:r>
            <a:r>
              <a:rPr lang="en-US" sz="2400" i="1" noProof="0" dirty="0"/>
              <a:t>global </a:t>
            </a:r>
            <a:r>
              <a:rPr lang="en-US" sz="2400" noProof="0" dirty="0"/>
              <a:t>name is defined outside any function and is known everywhere, even inside functions, except when the same name is also defined inside a function, then the local name dominates the global name</a:t>
            </a:r>
          </a:p>
          <a:p>
            <a:pPr lvl="1"/>
            <a:r>
              <a:rPr lang="en-US" sz="2200" noProof="0" dirty="0"/>
              <a:t>A global name can be defined via assignment:</a:t>
            </a:r>
          </a:p>
          <a:p>
            <a:pPr lvl="2"/>
            <a:r>
              <a:rPr lang="en-US" noProof="0" dirty="0">
                <a:latin typeface="Courier New" panose="02070309020205020404" pitchFamily="49" charset="0"/>
              </a:rPr>
              <a:t>a = 1</a:t>
            </a:r>
          </a:p>
          <a:p>
            <a:r>
              <a:rPr lang="en-US" sz="2400" noProof="0" dirty="0"/>
              <a:t>A </a:t>
            </a:r>
            <a:r>
              <a:rPr lang="en-US" sz="2400" i="1" noProof="0" dirty="0"/>
              <a:t>local</a:t>
            </a:r>
            <a:r>
              <a:rPr lang="en-US" sz="2400" noProof="0" dirty="0"/>
              <a:t> name is defined when a function is called, and is only known inside that function</a:t>
            </a:r>
          </a:p>
          <a:p>
            <a:r>
              <a:rPr lang="en-US" sz="2400" noProof="0" dirty="0"/>
              <a:t>A local name can be defined the same way as global names, but also in a function call</a:t>
            </a:r>
          </a:p>
          <a:p>
            <a:r>
              <a:rPr lang="en-US" sz="2400" dirty="0">
                <a:latin typeface="Courier New" panose="02070309020205020404" pitchFamily="49" charset="0"/>
              </a:rPr>
              <a:t>def </a:t>
            </a:r>
            <a:r>
              <a:rPr lang="en-US" sz="2400" dirty="0" err="1">
                <a:latin typeface="Courier New" panose="02070309020205020404" pitchFamily="49" charset="0"/>
              </a:rPr>
              <a:t>func</a:t>
            </a:r>
            <a:r>
              <a:rPr lang="en-US" sz="2400" dirty="0">
                <a:latin typeface="Courier New" panose="02070309020205020404" pitchFamily="49" charset="0"/>
              </a:rPr>
              <a:t>():</a:t>
            </a:r>
            <a:br>
              <a:rPr lang="en-US" sz="2400" dirty="0">
                <a:latin typeface="Courier New" panose="02070309020205020404" pitchFamily="49" charset="0"/>
              </a:rPr>
            </a:br>
            <a:r>
              <a:rPr lang="en-US" sz="2400" dirty="0">
                <a:latin typeface="Courier New" panose="02070309020205020404" pitchFamily="49" charset="0"/>
              </a:rPr>
              <a:t>    loc3 = 2</a:t>
            </a:r>
          </a:p>
          <a:p>
            <a:r>
              <a:rPr lang="en-US" sz="2400" noProof="0" dirty="0">
                <a:cs typeface="Arial" panose="020B0604020202020204" pitchFamily="34" charset="0"/>
              </a:rPr>
              <a:t>When the function is called, Python first creates</a:t>
            </a:r>
            <a:r>
              <a:rPr lang="en-US" sz="2400" noProof="0" dirty="0"/>
              <a:t> </a:t>
            </a:r>
            <a:r>
              <a:rPr lang="en-US" sz="2400" dirty="0">
                <a:latin typeface="Courier New" panose="02070309020205020404" pitchFamily="49" charset="0"/>
                <a:cs typeface="Courier New" panose="02070309020205020404" pitchFamily="49" charset="0"/>
              </a:rPr>
              <a:t>loc3 </a:t>
            </a:r>
            <a:r>
              <a:rPr lang="en-US" sz="2400" dirty="0"/>
              <a:t>as a local name. Next inside the function body, this name is assigned to an object with value 2 </a:t>
            </a:r>
          </a:p>
          <a:p>
            <a:r>
              <a:rPr lang="en-US" sz="2400" dirty="0">
                <a:latin typeface="Courier New" panose="02070309020205020404" pitchFamily="49" charset="0"/>
              </a:rPr>
              <a:t>def </a:t>
            </a:r>
            <a:r>
              <a:rPr lang="en-US" sz="2400" dirty="0" err="1">
                <a:latin typeface="Courier New" panose="02070309020205020404" pitchFamily="49" charset="0"/>
              </a:rPr>
              <a:t>func</a:t>
            </a:r>
            <a:r>
              <a:rPr lang="en-US" sz="2400" dirty="0">
                <a:latin typeface="Courier New" panose="02070309020205020404" pitchFamily="49" charset="0"/>
              </a:rPr>
              <a:t>(loc1, loc2):</a:t>
            </a:r>
            <a:endParaRPr lang="en-US" sz="2400" dirty="0">
              <a:cs typeface="Arial" panose="020B0604020202020204" pitchFamily="34" charset="0"/>
            </a:endParaRPr>
          </a:p>
          <a:p>
            <a:r>
              <a:rPr lang="en-US" sz="2400" dirty="0">
                <a:cs typeface="Arial" panose="020B0604020202020204" pitchFamily="34" charset="0"/>
              </a:rPr>
              <a:t>When the following function is called, Python first creates</a:t>
            </a:r>
            <a:r>
              <a:rPr lang="en-US" sz="2400" dirty="0"/>
              <a:t> </a:t>
            </a:r>
            <a:r>
              <a:rPr lang="en-US" sz="2400" dirty="0">
                <a:latin typeface="Courier New" panose="02070309020205020404" pitchFamily="49" charset="0"/>
                <a:cs typeface="Courier New" panose="02070309020205020404" pitchFamily="49" charset="0"/>
              </a:rPr>
              <a:t>loc1 </a:t>
            </a:r>
            <a:r>
              <a:rPr lang="en-US" sz="2400" dirty="0"/>
              <a:t>and</a:t>
            </a:r>
            <a:r>
              <a:rPr lang="en-US" sz="2400" dirty="0">
                <a:latin typeface="Courier New" panose="02070309020205020404" pitchFamily="49" charset="0"/>
                <a:cs typeface="Courier New" panose="02070309020205020404" pitchFamily="49" charset="0"/>
              </a:rPr>
              <a:t> loc2 </a:t>
            </a:r>
            <a:r>
              <a:rPr lang="en-US" sz="2400" dirty="0"/>
              <a:t>as a local name. Next these names will be assigned to values from the argument list</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15</a:t>
            </a:fld>
            <a:endParaRPr lang="nl-NL"/>
          </a:p>
        </p:txBody>
      </p:sp>
    </p:spTree>
    <p:extLst>
      <p:ext uri="{BB962C8B-B14F-4D97-AF65-F5344CB8AC3E}">
        <p14:creationId xmlns:p14="http://schemas.microsoft.com/office/powerpoint/2010/main" val="55709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Courier New" panose="02070309020205020404" pitchFamily="49" charset="0"/>
              </a:rPr>
              <a:t>def changer(n1):</a:t>
            </a:r>
            <a:br>
              <a:rPr lang="en-US" sz="2400" noProof="0" dirty="0">
                <a:latin typeface="Courier New" panose="02070309020205020404" pitchFamily="49" charset="0"/>
              </a:rPr>
            </a:br>
            <a:r>
              <a:rPr lang="en-US" sz="2400" noProof="0" dirty="0">
                <a:latin typeface="Courier New" panose="02070309020205020404" pitchFamily="49" charset="0"/>
              </a:rPr>
              <a:t>    n1 = 2</a:t>
            </a:r>
            <a:br>
              <a:rPr lang="en-US" sz="2400" noProof="0" dirty="0">
                <a:latin typeface="Courier New" panose="02070309020205020404" pitchFamily="49" charset="0"/>
              </a:rPr>
            </a:br>
            <a:r>
              <a:rPr lang="en-US" sz="2400" noProof="0" dirty="0">
                <a:latin typeface="Courier New" panose="02070309020205020404" pitchFamily="49" charset="0"/>
              </a:rPr>
              <a:t>    return n1</a:t>
            </a:r>
            <a:br>
              <a:rPr lang="en-US" sz="2400" noProof="0" dirty="0">
                <a:latin typeface="Courier New" panose="02070309020205020404" pitchFamily="49" charset="0"/>
              </a:rPr>
            </a:br>
            <a:r>
              <a:rPr lang="en-US" sz="2400" noProof="0" dirty="0" err="1">
                <a:latin typeface="Courier New" panose="02070309020205020404" pitchFamily="49" charset="0"/>
              </a:rPr>
              <a:t>n1</a:t>
            </a:r>
            <a:r>
              <a:rPr lang="en-US" sz="2400" noProof="0" dirty="0">
                <a:latin typeface="Courier New" panose="02070309020205020404" pitchFamily="49" charset="0"/>
              </a:rPr>
              <a:t> = 1</a:t>
            </a:r>
            <a:br>
              <a:rPr lang="en-US" sz="2400" noProof="0" dirty="0">
                <a:latin typeface="Courier New" panose="02070309020205020404" pitchFamily="49" charset="0"/>
              </a:rPr>
            </a:br>
            <a:r>
              <a:rPr lang="en-US" sz="2400" noProof="0" dirty="0">
                <a:latin typeface="Courier New" panose="02070309020205020404" pitchFamily="49" charset="0"/>
              </a:rPr>
              <a:t>changer(n1)</a:t>
            </a:r>
            <a:br>
              <a:rPr lang="en-US" sz="2400" noProof="0" dirty="0">
                <a:latin typeface="Courier New" panose="02070309020205020404" pitchFamily="49" charset="0"/>
              </a:rPr>
            </a:br>
            <a:r>
              <a:rPr lang="en-US" sz="2400" noProof="0" dirty="0">
                <a:latin typeface="Courier New" panose="02070309020205020404" pitchFamily="49" charset="0"/>
              </a:rPr>
              <a:t>print(n1) # Onscreen: 1</a:t>
            </a:r>
          </a:p>
          <a:p>
            <a:pPr marL="228600" lvl="1">
              <a:spcBef>
                <a:spcPts val="1000"/>
              </a:spcBef>
            </a:pPr>
            <a:r>
              <a:rPr lang="en-US" noProof="0" dirty="0"/>
              <a:t>The tricky part is that you may think you have only one name </a:t>
            </a:r>
            <a:r>
              <a:rPr lang="en-US" sz="2000" noProof="0" dirty="0">
                <a:latin typeface="Courier New" panose="02070309020205020404" pitchFamily="49" charset="0"/>
                <a:cs typeface="Courier New" panose="02070309020205020404" pitchFamily="49" charset="0"/>
              </a:rPr>
              <a:t>n1</a:t>
            </a:r>
            <a:r>
              <a:rPr lang="en-US" noProof="0" dirty="0"/>
              <a:t>, but you have two names </a:t>
            </a:r>
            <a:r>
              <a:rPr lang="en-US" sz="2000" noProof="0" dirty="0">
                <a:latin typeface="Courier New" panose="02070309020205020404" pitchFamily="49" charset="0"/>
                <a:cs typeface="Courier New" panose="02070309020205020404" pitchFamily="49" charset="0"/>
              </a:rPr>
              <a:t>n1</a:t>
            </a:r>
            <a:r>
              <a:rPr lang="en-US" noProof="0" dirty="0">
                <a:latin typeface="Courier New" panose="02070309020205020404" pitchFamily="49" charset="0"/>
                <a:cs typeface="Courier New" panose="02070309020205020404" pitchFamily="49" charset="0"/>
              </a:rPr>
              <a:t>:</a:t>
            </a:r>
          </a:p>
          <a:p>
            <a:pPr marL="685800" lvl="2">
              <a:spcBef>
                <a:spcPts val="1000"/>
              </a:spcBef>
            </a:pPr>
            <a:r>
              <a:rPr lang="en-US" noProof="0" dirty="0"/>
              <a:t>The local </a:t>
            </a:r>
            <a:r>
              <a:rPr lang="en-US" sz="1600" noProof="0" dirty="0">
                <a:latin typeface="Courier New" panose="02070309020205020404" pitchFamily="49" charset="0"/>
                <a:cs typeface="Courier New" panose="02070309020205020404" pitchFamily="49" charset="0"/>
              </a:rPr>
              <a:t>n1</a:t>
            </a:r>
            <a:r>
              <a:rPr lang="en-US" noProof="0" dirty="0"/>
              <a:t>, that is only known inside the function</a:t>
            </a:r>
          </a:p>
          <a:p>
            <a:pPr marL="685800" lvl="2">
              <a:spcBef>
                <a:spcPts val="1000"/>
              </a:spcBef>
            </a:pPr>
            <a:r>
              <a:rPr lang="en-US" noProof="0" dirty="0"/>
              <a:t>The global </a:t>
            </a:r>
            <a:r>
              <a:rPr lang="en-US" sz="1600" noProof="0" dirty="0">
                <a:latin typeface="Courier New" panose="02070309020205020404" pitchFamily="49" charset="0"/>
                <a:cs typeface="Courier New" panose="02070309020205020404" pitchFamily="49" charset="0"/>
              </a:rPr>
              <a:t>n1</a:t>
            </a:r>
            <a:r>
              <a:rPr lang="en-US" noProof="0" dirty="0"/>
              <a:t>, that is known outside the function, but not anymore inside the function. As soon as the local name </a:t>
            </a:r>
            <a:r>
              <a:rPr lang="en-US" sz="1600" dirty="0">
                <a:latin typeface="Courier New" panose="02070309020205020404" pitchFamily="49" charset="0"/>
                <a:cs typeface="Courier New" panose="02070309020205020404" pitchFamily="49" charset="0"/>
              </a:rPr>
              <a:t>n1</a:t>
            </a:r>
            <a:r>
              <a:rPr lang="en-US" noProof="0" dirty="0"/>
              <a:t> is defined, inside the function Python will take inside the function the local n1, when n1 is used as a name</a:t>
            </a:r>
          </a:p>
          <a:p>
            <a:pPr marL="228600" lvl="1">
              <a:spcBef>
                <a:spcPts val="1000"/>
              </a:spcBef>
            </a:pPr>
            <a:r>
              <a:rPr lang="en-US" noProof="0" dirty="0"/>
              <a:t>When solving problems with scope in my head, I would name the objects: </a:t>
            </a:r>
            <a:r>
              <a:rPr lang="en-US" sz="1600" dirty="0">
                <a:latin typeface="Courier New" panose="02070309020205020404" pitchFamily="49" charset="0"/>
                <a:cs typeface="Courier New" panose="02070309020205020404" pitchFamily="49" charset="0"/>
              </a:rPr>
              <a:t>local_n1 </a:t>
            </a:r>
            <a:r>
              <a:rPr lang="en-US" noProof="0" dirty="0"/>
              <a:t>and </a:t>
            </a:r>
            <a:r>
              <a:rPr lang="en-US" sz="1600" dirty="0">
                <a:latin typeface="Courier New" panose="02070309020205020404" pitchFamily="49" charset="0"/>
                <a:cs typeface="Courier New" panose="02070309020205020404" pitchFamily="49" charset="0"/>
              </a:rPr>
              <a:t>global_n1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16</a:t>
            </a:fld>
            <a:endParaRPr lang="nl-NL"/>
          </a:p>
        </p:txBody>
      </p:sp>
    </p:spTree>
    <p:extLst>
      <p:ext uri="{BB962C8B-B14F-4D97-AF65-F5344CB8AC3E}">
        <p14:creationId xmlns:p14="http://schemas.microsoft.com/office/powerpoint/2010/main" val="33070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If you define a name anywhere inside a function, that name will become a local name</a:t>
            </a:r>
          </a:p>
          <a:p>
            <a:pPr lvl="1"/>
            <a:r>
              <a:rPr lang="en-US" sz="2000" noProof="0" dirty="0"/>
              <a:t>Python makes a name local after the function is called and even before execution of the function body</a:t>
            </a:r>
          </a:p>
          <a:p>
            <a:r>
              <a:rPr lang="en-US" sz="2400" noProof="0" dirty="0"/>
              <a:t>As expected, this works:</a:t>
            </a:r>
          </a:p>
          <a:p>
            <a:pPr lvl="1"/>
            <a:r>
              <a:rPr lang="en-US" sz="1800" noProof="0" dirty="0">
                <a:solidFill>
                  <a:srgbClr val="000000"/>
                </a:solidFill>
                <a:latin typeface="Courier New" panose="02070309020205020404" pitchFamily="49" charset="0"/>
              </a:rPr>
              <a:t>def main (a):</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    return a</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b = 1</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print(main (1))  # Onscreen: 1</a:t>
            </a:r>
          </a:p>
          <a:p>
            <a:r>
              <a:rPr lang="en-US" sz="2400" noProof="0" dirty="0"/>
              <a:t>Question: Do you think, this works?</a:t>
            </a:r>
            <a:endParaRPr lang="en-US" sz="2000" noProof="0" dirty="0">
              <a:solidFill>
                <a:srgbClr val="000000"/>
              </a:solidFill>
              <a:latin typeface="Courier New" panose="02070309020205020404" pitchFamily="49" charset="0"/>
            </a:endParaRPr>
          </a:p>
          <a:p>
            <a:pPr lvl="1">
              <a:lnSpc>
                <a:spcPct val="100000"/>
              </a:lnSpc>
            </a:pPr>
            <a:r>
              <a:rPr lang="en-US" sz="1800" noProof="0" dirty="0">
                <a:solidFill>
                  <a:srgbClr val="000000"/>
                </a:solidFill>
                <a:latin typeface="Courier New" panose="02070309020205020404" pitchFamily="49" charset="0"/>
              </a:rPr>
              <a:t>def main (a):</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    b = b</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    return a</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b = 1</a:t>
            </a:r>
            <a:br>
              <a:rPr lang="en-US" sz="1800" noProof="0" dirty="0">
                <a:solidFill>
                  <a:srgbClr val="000000"/>
                </a:solidFill>
                <a:latin typeface="Courier New" panose="02070309020205020404" pitchFamily="49" charset="0"/>
              </a:rPr>
            </a:br>
            <a:r>
              <a:rPr lang="en-US" sz="1800" noProof="0" dirty="0">
                <a:solidFill>
                  <a:srgbClr val="000000"/>
                </a:solidFill>
                <a:latin typeface="Courier New" panose="02070309020205020404" pitchFamily="49" charset="0"/>
              </a:rPr>
              <a:t>print(main (1))  </a:t>
            </a:r>
          </a:p>
          <a:p>
            <a:pPr lvl="1">
              <a:lnSpc>
                <a:spcPct val="100000"/>
              </a:lnSpc>
            </a:pPr>
            <a:r>
              <a:rPr lang="en-US" sz="1800" noProof="0" dirty="0">
                <a:solidFill>
                  <a:srgbClr val="000000"/>
                </a:solidFill>
                <a:latin typeface="Courier New" panose="02070309020205020404" pitchFamily="49" charset="0"/>
              </a:rPr>
              <a:t># Onscreen: </a:t>
            </a:r>
            <a:r>
              <a:rPr lang="en-US" altLang="nl-NL" sz="1800" noProof="0" dirty="0" err="1">
                <a:solidFill>
                  <a:srgbClr val="000000"/>
                </a:solidFill>
                <a:latin typeface="Courier New" panose="02070309020205020404" pitchFamily="49" charset="0"/>
              </a:rPr>
              <a:t>UnboundLocalError</a:t>
            </a:r>
            <a:r>
              <a:rPr lang="en-US" altLang="nl-NL" sz="1800" noProof="0" dirty="0">
                <a:solidFill>
                  <a:srgbClr val="000000"/>
                </a:solidFill>
                <a:latin typeface="Courier New" panose="02070309020205020404" pitchFamily="49" charset="0"/>
              </a:rPr>
              <a:t>: local variable 'b' referenced before assignment</a:t>
            </a:r>
          </a:p>
          <a:p>
            <a:r>
              <a:rPr lang="en-US" sz="2400" dirty="0">
                <a:cs typeface="Arial" panose="020B0604020202020204" pitchFamily="34" charset="0"/>
              </a:rPr>
              <a:t>Again, s</a:t>
            </a:r>
            <a:r>
              <a:rPr lang="en-US" sz="2400" noProof="0" dirty="0">
                <a:cs typeface="Arial" panose="020B0604020202020204" pitchFamily="34" charset="0"/>
              </a:rPr>
              <a:t>copes can be very tricky. This problem is all about </a:t>
            </a:r>
            <a:r>
              <a:rPr lang="en-US" sz="2400" dirty="0">
                <a:cs typeface="Arial" panose="020B0604020202020204" pitchFamily="34" charset="0"/>
              </a:rPr>
              <a:t>understanding timing</a:t>
            </a:r>
            <a:r>
              <a:rPr lang="en-US" sz="2400" noProof="0" dirty="0">
                <a:cs typeface="Arial" panose="020B0604020202020204" pitchFamily="34" charset="0"/>
              </a:rPr>
              <a:t>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17</a:t>
            </a:fld>
            <a:endParaRPr lang="nl-NL"/>
          </a:p>
        </p:txBody>
      </p:sp>
    </p:spTree>
    <p:extLst>
      <p:ext uri="{BB962C8B-B14F-4D97-AF65-F5344CB8AC3E}">
        <p14:creationId xmlns:p14="http://schemas.microsoft.com/office/powerpoint/2010/main" val="407066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pPr>
              <a:lnSpc>
                <a:spcPct val="100000"/>
              </a:lnSpc>
            </a:pPr>
            <a:r>
              <a:rPr lang="en-US" altLang="nl-NL" sz="2400" noProof="0" dirty="0"/>
              <a:t>Why do we get this error? </a:t>
            </a:r>
          </a:p>
          <a:p>
            <a:pPr>
              <a:lnSpc>
                <a:spcPct val="100000"/>
              </a:lnSpc>
            </a:pPr>
            <a:r>
              <a:rPr lang="en-US" altLang="nl-NL" sz="2400" noProof="0" dirty="0"/>
              <a:t>When calling the function, the first thing Python, does is creating as local names, the names used in the parameter list  and the names in the left side of assignment statements</a:t>
            </a:r>
          </a:p>
          <a:p>
            <a:pPr>
              <a:lnSpc>
                <a:spcPct val="100000"/>
              </a:lnSpc>
            </a:pPr>
            <a:r>
              <a:rPr lang="en-US" altLang="nl-NL" sz="2400" dirty="0"/>
              <a:t>After that, the code in the function body be executed</a:t>
            </a:r>
            <a:r>
              <a:rPr lang="en-US" altLang="nl-NL" sz="2400" noProof="0" dirty="0"/>
              <a:t>, and Python sees </a:t>
            </a:r>
            <a:r>
              <a:rPr lang="en-US" altLang="nl-NL" sz="2400" noProof="0" dirty="0">
                <a:latin typeface="Courier New" panose="02070309020205020404" pitchFamily="49" charset="0"/>
                <a:cs typeface="Courier New" panose="02070309020205020404" pitchFamily="49" charset="0"/>
              </a:rPr>
              <a:t>b=b</a:t>
            </a:r>
          </a:p>
          <a:p>
            <a:pPr>
              <a:lnSpc>
                <a:spcPct val="100000"/>
              </a:lnSpc>
            </a:pPr>
            <a:r>
              <a:rPr lang="en-US" altLang="nl-NL" sz="2400" noProof="0" dirty="0"/>
              <a:t>Python now tries to create creates an object with the value </a:t>
            </a:r>
            <a:r>
              <a:rPr lang="en-US" altLang="nl-NL" sz="2400" dirty="0">
                <a:latin typeface="Courier New" panose="02070309020205020404" pitchFamily="49" charset="0"/>
                <a:cs typeface="Courier New" panose="02070309020205020404" pitchFamily="49" charset="0"/>
              </a:rPr>
              <a:t>b</a:t>
            </a:r>
            <a:r>
              <a:rPr lang="en-US" altLang="nl-NL" sz="2400" noProof="0" dirty="0"/>
              <a:t>. To see what that value is Python first look at the local names. Python sees, there is a local name </a:t>
            </a:r>
            <a:r>
              <a:rPr lang="en-US" altLang="nl-NL" sz="2400" dirty="0">
                <a:latin typeface="Courier New" panose="02070309020205020404" pitchFamily="49" charset="0"/>
                <a:cs typeface="Courier New" panose="02070309020205020404" pitchFamily="49" charset="0"/>
              </a:rPr>
              <a:t>b</a:t>
            </a:r>
            <a:r>
              <a:rPr lang="en-US" altLang="nl-NL" sz="2400" noProof="0" dirty="0"/>
              <a:t> but that hasn't yet a value</a:t>
            </a:r>
          </a:p>
          <a:p>
            <a:pPr>
              <a:lnSpc>
                <a:spcPct val="100000"/>
              </a:lnSpc>
            </a:pPr>
            <a:r>
              <a:rPr lang="en-US" altLang="nl-NL" sz="2400" noProof="0" dirty="0"/>
              <a:t>Python throws an error</a:t>
            </a:r>
            <a:endParaRPr lang="en-US" sz="2000" noProof="0" dirty="0">
              <a:cs typeface="Arial" panose="020B0604020202020204" pitchFamily="34"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18</a:t>
            </a:fld>
            <a:endParaRPr lang="nl-NL"/>
          </a:p>
        </p:txBody>
      </p:sp>
    </p:spTree>
    <p:extLst>
      <p:ext uri="{BB962C8B-B14F-4D97-AF65-F5344CB8AC3E}">
        <p14:creationId xmlns:p14="http://schemas.microsoft.com/office/powerpoint/2010/main" val="212453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t>The way to override the behavior where a local name dominates an equal global name, is by using the </a:t>
            </a:r>
            <a:r>
              <a:rPr lang="en-US" sz="2000" noProof="0" dirty="0">
                <a:solidFill>
                  <a:srgbClr val="000000"/>
                </a:solidFill>
                <a:latin typeface="Courier New" panose="02070309020205020404" pitchFamily="49" charset="0"/>
              </a:rPr>
              <a:t>global </a:t>
            </a:r>
            <a:r>
              <a:rPr lang="en-US" sz="2000" noProof="0" dirty="0"/>
              <a:t>keyword</a:t>
            </a:r>
          </a:p>
          <a:p>
            <a:pPr lvl="1"/>
            <a:r>
              <a:rPr lang="en-US" sz="1600" noProof="0" dirty="0"/>
              <a:t>If you use </a:t>
            </a:r>
            <a:r>
              <a:rPr lang="en-US" sz="1600" noProof="0" dirty="0">
                <a:solidFill>
                  <a:srgbClr val="000000"/>
                </a:solidFill>
                <a:latin typeface="Courier New" panose="02070309020205020404" pitchFamily="49" charset="0"/>
              </a:rPr>
              <a:t>global b,</a:t>
            </a:r>
            <a:r>
              <a:rPr lang="en-US" sz="1600" noProof="0" dirty="0"/>
              <a:t> when you use the name </a:t>
            </a:r>
            <a:r>
              <a:rPr lang="en-US" sz="1600" noProof="0" dirty="0">
                <a:latin typeface="Courier New" panose="02070309020205020404" pitchFamily="49" charset="0"/>
                <a:cs typeface="Courier New" panose="02070309020205020404" pitchFamily="49" charset="0"/>
              </a:rPr>
              <a:t>b</a:t>
            </a:r>
            <a:r>
              <a:rPr lang="en-US" sz="1600" noProof="0" dirty="0"/>
              <a:t> in the function definition, it will no longer be seen as local, but as global</a:t>
            </a:r>
          </a:p>
          <a:p>
            <a:r>
              <a:rPr lang="en-US" sz="2000" noProof="0" dirty="0"/>
              <a:t>For example: </a:t>
            </a:r>
          </a:p>
          <a:p>
            <a:pPr lvl="1"/>
            <a:r>
              <a:rPr lang="en-US" sz="1600" noProof="0" dirty="0">
                <a:solidFill>
                  <a:srgbClr val="000000"/>
                </a:solidFill>
                <a:latin typeface="Courier New" panose="02070309020205020404" pitchFamily="49" charset="0"/>
              </a:rPr>
              <a:t>def main (a):</a:t>
            </a:r>
            <a:br>
              <a:rPr lang="en-US" sz="1600" noProof="0" dirty="0">
                <a:solidFill>
                  <a:srgbClr val="000000"/>
                </a:solidFill>
                <a:latin typeface="Courier New" panose="02070309020205020404" pitchFamily="49" charset="0"/>
              </a:rPr>
            </a:br>
            <a:r>
              <a:rPr lang="en-US" sz="1600" noProof="0" dirty="0">
                <a:solidFill>
                  <a:srgbClr val="000000"/>
                </a:solidFill>
                <a:latin typeface="Courier New" panose="02070309020205020404" pitchFamily="49" charset="0"/>
              </a:rPr>
              <a:t>    global b </a:t>
            </a:r>
            <a:br>
              <a:rPr lang="en-US" sz="1600" noProof="0" dirty="0">
                <a:solidFill>
                  <a:srgbClr val="000000"/>
                </a:solidFill>
                <a:latin typeface="Courier New" panose="02070309020205020404" pitchFamily="49" charset="0"/>
              </a:rPr>
            </a:br>
            <a:r>
              <a:rPr lang="en-US" sz="1600" noProof="0" dirty="0">
                <a:solidFill>
                  <a:srgbClr val="000000"/>
                </a:solidFill>
                <a:latin typeface="Courier New" panose="02070309020205020404" pitchFamily="49" charset="0"/>
              </a:rPr>
              <a:t>    </a:t>
            </a:r>
            <a:r>
              <a:rPr lang="en-US" sz="1600" noProof="0" dirty="0" err="1">
                <a:solidFill>
                  <a:srgbClr val="000000"/>
                </a:solidFill>
                <a:latin typeface="Courier New" panose="02070309020205020404" pitchFamily="49" charset="0"/>
              </a:rPr>
              <a:t>b</a:t>
            </a:r>
            <a:r>
              <a:rPr lang="en-US" sz="1600" noProof="0" dirty="0">
                <a:solidFill>
                  <a:srgbClr val="000000"/>
                </a:solidFill>
                <a:latin typeface="Courier New" panose="02070309020205020404" pitchFamily="49" charset="0"/>
              </a:rPr>
              <a:t> = b</a:t>
            </a:r>
            <a:br>
              <a:rPr lang="en-US" sz="1600" noProof="0" dirty="0">
                <a:solidFill>
                  <a:srgbClr val="000000"/>
                </a:solidFill>
                <a:latin typeface="Courier New" panose="02070309020205020404" pitchFamily="49" charset="0"/>
              </a:rPr>
            </a:br>
            <a:r>
              <a:rPr lang="en-US" sz="1600" noProof="0" dirty="0">
                <a:solidFill>
                  <a:srgbClr val="000000"/>
                </a:solidFill>
                <a:latin typeface="Courier New" panose="02070309020205020404" pitchFamily="49" charset="0"/>
              </a:rPr>
              <a:t>    return a</a:t>
            </a:r>
            <a:br>
              <a:rPr lang="en-US" sz="1600" noProof="0" dirty="0">
                <a:solidFill>
                  <a:srgbClr val="000000"/>
                </a:solidFill>
                <a:latin typeface="Courier New" panose="02070309020205020404" pitchFamily="49" charset="0"/>
              </a:rPr>
            </a:br>
            <a:r>
              <a:rPr lang="en-US" sz="1600" noProof="0" dirty="0">
                <a:solidFill>
                  <a:srgbClr val="000000"/>
                </a:solidFill>
                <a:latin typeface="Courier New" panose="02070309020205020404" pitchFamily="49" charset="0"/>
              </a:rPr>
              <a:t>b = 1</a:t>
            </a:r>
            <a:br>
              <a:rPr lang="en-US" sz="1600" noProof="0" dirty="0">
                <a:solidFill>
                  <a:srgbClr val="000000"/>
                </a:solidFill>
                <a:latin typeface="Courier New" panose="02070309020205020404" pitchFamily="49" charset="0"/>
              </a:rPr>
            </a:br>
            <a:r>
              <a:rPr lang="en-US" sz="1600" noProof="0" dirty="0">
                <a:solidFill>
                  <a:srgbClr val="000000"/>
                </a:solidFill>
                <a:latin typeface="Courier New" panose="02070309020205020404" pitchFamily="49" charset="0"/>
              </a:rPr>
              <a:t>print(main (1))  # 1</a:t>
            </a:r>
            <a:endParaRPr lang="en-US" sz="1600" noProof="0" dirty="0">
              <a:cs typeface="Arial" panose="020B0604020202020204" pitchFamily="34"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19</a:t>
            </a:fld>
            <a:endParaRPr lang="nl-NL"/>
          </a:p>
        </p:txBody>
      </p:sp>
    </p:spTree>
    <p:extLst>
      <p:ext uri="{BB962C8B-B14F-4D97-AF65-F5344CB8AC3E}">
        <p14:creationId xmlns:p14="http://schemas.microsoft.com/office/powerpoint/2010/main" val="178668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Global and local names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altLang="nl-NL" sz="2400" noProof="0" dirty="0"/>
              <a:t>It's better to avoid the use of </a:t>
            </a:r>
            <a:r>
              <a:rPr lang="en-US" altLang="nl-NL" sz="2000" noProof="0" dirty="0">
                <a:solidFill>
                  <a:srgbClr val="000000"/>
                </a:solidFill>
                <a:latin typeface="Courier New" panose="02070309020205020404" pitchFamily="49" charset="0"/>
              </a:rPr>
              <a:t>global</a:t>
            </a:r>
            <a:r>
              <a:rPr lang="en-US" altLang="nl-NL" sz="2400" noProof="0" dirty="0"/>
              <a:t>, even though it is used a lot, and you need to know how it works</a:t>
            </a:r>
          </a:p>
          <a:p>
            <a:r>
              <a:rPr lang="en-US" altLang="nl-NL" sz="2400" noProof="0" dirty="0"/>
              <a:t>Instead of:</a:t>
            </a:r>
            <a:endParaRPr lang="en-US" sz="2400" noProof="0" dirty="0">
              <a:latin typeface="Courier New" panose="02070309020205020404" pitchFamily="49" charset="0"/>
            </a:endParaRPr>
          </a:p>
          <a:p>
            <a:pPr lvl="1"/>
            <a:r>
              <a:rPr lang="en-US" sz="1800" noProof="0" dirty="0">
                <a:latin typeface="Courier New" panose="02070309020205020404" pitchFamily="49" charset="0"/>
              </a:rPr>
              <a:t>def changer():</a:t>
            </a:r>
            <a:br>
              <a:rPr lang="en-US" sz="1800" noProof="0" dirty="0">
                <a:latin typeface="Courier New" panose="02070309020205020404" pitchFamily="49" charset="0"/>
              </a:rPr>
            </a:br>
            <a:r>
              <a:rPr lang="en-US" sz="1800" noProof="0" dirty="0">
                <a:latin typeface="Courier New" panose="02070309020205020404" pitchFamily="49" charset="0"/>
              </a:rPr>
              <a:t>    global n1</a:t>
            </a:r>
            <a:br>
              <a:rPr lang="en-US" sz="1800" noProof="0" dirty="0">
                <a:latin typeface="Courier New" panose="02070309020205020404" pitchFamily="49" charset="0"/>
              </a:rPr>
            </a:br>
            <a:r>
              <a:rPr lang="en-US" sz="1800" noProof="0" dirty="0">
                <a:latin typeface="Courier New" panose="02070309020205020404" pitchFamily="49" charset="0"/>
              </a:rPr>
              <a:t>    </a:t>
            </a:r>
            <a:r>
              <a:rPr lang="en-US" sz="1800" noProof="0" dirty="0" err="1">
                <a:latin typeface="Courier New" panose="02070309020205020404" pitchFamily="49" charset="0"/>
              </a:rPr>
              <a:t>n1</a:t>
            </a:r>
            <a:r>
              <a:rPr lang="en-US" sz="1800" noProof="0" dirty="0">
                <a:latin typeface="Courier New" panose="02070309020205020404" pitchFamily="49" charset="0"/>
              </a:rPr>
              <a:t> = n1 + 1</a:t>
            </a:r>
            <a:br>
              <a:rPr lang="en-US" sz="1800" noProof="0" dirty="0">
                <a:latin typeface="Courier New" panose="02070309020205020404" pitchFamily="49" charset="0"/>
              </a:rPr>
            </a:br>
            <a:r>
              <a:rPr lang="en-US" sz="1800" noProof="0" dirty="0">
                <a:latin typeface="Courier New" panose="02070309020205020404" pitchFamily="49" charset="0"/>
              </a:rPr>
              <a:t>n1 = 1</a:t>
            </a:r>
            <a:br>
              <a:rPr lang="en-US" sz="1800" noProof="0" dirty="0">
                <a:latin typeface="Courier New" panose="02070309020205020404" pitchFamily="49" charset="0"/>
              </a:rPr>
            </a:br>
            <a:r>
              <a:rPr lang="en-US" sz="1800" noProof="0" dirty="0">
                <a:latin typeface="Courier New" panose="02070309020205020404" pitchFamily="49" charset="0"/>
              </a:rPr>
              <a:t>changer()</a:t>
            </a:r>
            <a:br>
              <a:rPr lang="en-US" sz="1800" noProof="0" dirty="0">
                <a:latin typeface="Courier New" panose="02070309020205020404" pitchFamily="49" charset="0"/>
              </a:rPr>
            </a:br>
            <a:r>
              <a:rPr lang="en-US" sz="1800" noProof="0" dirty="0">
                <a:latin typeface="Courier New" panose="02070309020205020404" pitchFamily="49" charset="0"/>
              </a:rPr>
              <a:t>print(n1) # Onscreen: 2</a:t>
            </a:r>
          </a:p>
          <a:p>
            <a:pPr marL="228600" lvl="1">
              <a:spcBef>
                <a:spcPts val="1000"/>
              </a:spcBef>
            </a:pPr>
            <a:r>
              <a:rPr lang="en-US" noProof="0" dirty="0"/>
              <a:t>Use:</a:t>
            </a:r>
          </a:p>
          <a:p>
            <a:pPr lvl="1"/>
            <a:r>
              <a:rPr lang="en-US" sz="1800" noProof="0" dirty="0">
                <a:latin typeface="Courier New" panose="02070309020205020404" pitchFamily="49" charset="0"/>
              </a:rPr>
              <a:t>def changer(n1):</a:t>
            </a:r>
            <a:br>
              <a:rPr lang="en-US" sz="1800" noProof="0" dirty="0">
                <a:latin typeface="Courier New" panose="02070309020205020404" pitchFamily="49" charset="0"/>
              </a:rPr>
            </a:br>
            <a:r>
              <a:rPr lang="en-US" sz="1800" noProof="0" dirty="0">
                <a:latin typeface="Courier New" panose="02070309020205020404" pitchFamily="49" charset="0"/>
              </a:rPr>
              <a:t>    n1 = n1 + 1</a:t>
            </a:r>
            <a:br>
              <a:rPr lang="en-US" sz="1800" noProof="0" dirty="0">
                <a:latin typeface="Courier New" panose="02070309020205020404" pitchFamily="49" charset="0"/>
              </a:rPr>
            </a:br>
            <a:r>
              <a:rPr lang="en-US" sz="1800" noProof="0" dirty="0">
                <a:latin typeface="Courier New" panose="02070309020205020404" pitchFamily="49" charset="0"/>
              </a:rPr>
              <a:t>    return n1</a:t>
            </a:r>
            <a:br>
              <a:rPr lang="en-US" sz="1800" noProof="0" dirty="0">
                <a:latin typeface="Courier New" panose="02070309020205020404" pitchFamily="49" charset="0"/>
              </a:rPr>
            </a:br>
            <a:r>
              <a:rPr lang="en-US" sz="1800" noProof="0" dirty="0">
                <a:latin typeface="Courier New" panose="02070309020205020404" pitchFamily="49" charset="0"/>
              </a:rPr>
              <a:t>a = 1</a:t>
            </a:r>
            <a:br>
              <a:rPr lang="en-US" sz="1800" noProof="0" dirty="0">
                <a:latin typeface="Courier New" panose="02070309020205020404" pitchFamily="49" charset="0"/>
              </a:rPr>
            </a:br>
            <a:r>
              <a:rPr lang="en-US" sz="1800" noProof="0" dirty="0">
                <a:latin typeface="Courier New" panose="02070309020205020404" pitchFamily="49" charset="0"/>
              </a:rPr>
              <a:t>a = changer(a)</a:t>
            </a:r>
            <a:br>
              <a:rPr lang="en-US" sz="2000" noProof="0" dirty="0">
                <a:latin typeface="Courier New" panose="02070309020205020404" pitchFamily="49" charset="0"/>
              </a:rPr>
            </a:br>
            <a:r>
              <a:rPr lang="en-US" sz="1800" noProof="0" dirty="0">
                <a:latin typeface="Courier New" panose="02070309020205020404" pitchFamily="49" charset="0"/>
              </a:rPr>
              <a:t>print(a) # Onscreen: 2</a:t>
            </a:r>
          </a:p>
          <a:p>
            <a:pPr marL="228600" lvl="1">
              <a:spcBef>
                <a:spcPts val="1000"/>
              </a:spcBef>
            </a:pPr>
            <a:r>
              <a:rPr lang="en-US" noProof="0" dirty="0"/>
              <a:t>So instead of using </a:t>
            </a:r>
            <a:r>
              <a:rPr lang="en-US" sz="2000" noProof="0" dirty="0">
                <a:latin typeface="Courier New" panose="02070309020205020404" pitchFamily="49" charset="0"/>
                <a:cs typeface="Courier New" panose="02070309020205020404" pitchFamily="49" charset="0"/>
              </a:rPr>
              <a:t>global</a:t>
            </a:r>
            <a:r>
              <a:rPr lang="en-US" noProof="0" dirty="0"/>
              <a:t> we use the argument parameter mechanism for making data available to a function and </a:t>
            </a:r>
            <a:r>
              <a:rPr lang="en-US" sz="2000" noProof="0" dirty="0">
                <a:latin typeface="Courier New" panose="02070309020205020404" pitchFamily="49" charset="0"/>
                <a:cs typeface="Courier New" panose="02070309020205020404" pitchFamily="49" charset="0"/>
              </a:rPr>
              <a:t>return</a:t>
            </a:r>
            <a:r>
              <a:rPr lang="en-US" noProof="0" dirty="0"/>
              <a:t> for making data available to the caller of a function</a:t>
            </a:r>
          </a:p>
          <a:p>
            <a:pPr lvl="1"/>
            <a:endParaRPr lang="en-US" sz="1600" noProof="0" dirty="0">
              <a:cs typeface="Arial" panose="020B0604020202020204" pitchFamily="34"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20</a:t>
            </a:fld>
            <a:endParaRPr lang="nl-NL"/>
          </a:p>
        </p:txBody>
      </p:sp>
    </p:spTree>
    <p:extLst>
      <p:ext uri="{BB962C8B-B14F-4D97-AF65-F5344CB8AC3E}">
        <p14:creationId xmlns:p14="http://schemas.microsoft.com/office/powerpoint/2010/main" val="45034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effectLst/>
                <a:latin typeface="Calibri Light (Koppen)"/>
              </a:rPr>
              <a:t>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i="1" noProof="0" dirty="0">
                <a:latin typeface="Arial" panose="020B0604020202020204" pitchFamily="34" charset="0"/>
              </a:rPr>
              <a:t>Arguments</a:t>
            </a:r>
            <a:r>
              <a:rPr lang="en-US" sz="2400" noProof="0" dirty="0">
                <a:latin typeface="Arial" panose="020B0604020202020204" pitchFamily="34" charset="0"/>
              </a:rPr>
              <a:t> are the values you transfer to a function when it is called</a:t>
            </a:r>
          </a:p>
          <a:p>
            <a:r>
              <a:rPr lang="en-US" sz="2400" dirty="0">
                <a:latin typeface="Arial" panose="020B0604020202020204" pitchFamily="34" charset="0"/>
              </a:rPr>
              <a:t>Python assigns names from the parameter list of the function to these arguments</a:t>
            </a:r>
          </a:p>
          <a:p>
            <a:r>
              <a:rPr lang="en-US" sz="2400" noProof="0" dirty="0">
                <a:latin typeface="Arial" panose="020B0604020202020204" pitchFamily="34" charset="0"/>
              </a:rPr>
              <a:t>The following slides give you an overview, what rules Python follows</a:t>
            </a:r>
          </a:p>
          <a:p>
            <a:endParaRPr lang="en-US" sz="2400" noProof="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21</a:t>
            </a:fld>
            <a:endParaRPr lang="nl-NL"/>
          </a:p>
        </p:txBody>
      </p:sp>
    </p:spTree>
    <p:extLst>
      <p:ext uri="{BB962C8B-B14F-4D97-AF65-F5344CB8AC3E}">
        <p14:creationId xmlns:p14="http://schemas.microsoft.com/office/powerpoint/2010/main" val="410328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Accepting positional arguments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Function call:</a:t>
            </a:r>
          </a:p>
          <a:p>
            <a:pPr lvl="1"/>
            <a:r>
              <a:rPr lang="en-US" sz="2000" noProof="0" dirty="0">
                <a:latin typeface="Courier New" panose="02070309020205020404" pitchFamily="49" charset="0"/>
              </a:rPr>
              <a:t>print(adder(1, 2))    # Onscreen: 3</a:t>
            </a:r>
            <a:endParaRPr lang="en-US" noProof="0" dirty="0">
              <a:latin typeface="Courier New" panose="02070309020205020404" pitchFamily="49" charset="0"/>
            </a:endParaRPr>
          </a:p>
          <a:p>
            <a:r>
              <a:rPr lang="en-US" sz="2400" noProof="0" dirty="0"/>
              <a:t>Function definition:</a:t>
            </a:r>
          </a:p>
          <a:p>
            <a:pPr lvl="1"/>
            <a:r>
              <a:rPr lang="en-US" sz="2000" noProof="0" dirty="0">
                <a:latin typeface="Courier New" panose="02070309020205020404" pitchFamily="49" charset="0"/>
              </a:rPr>
              <a:t>def adder(n1, n2):</a:t>
            </a:r>
            <a:br>
              <a:rPr lang="en-US" sz="2000" noProof="0" dirty="0">
                <a:latin typeface="Courier New" panose="02070309020205020404" pitchFamily="49" charset="0"/>
              </a:rPr>
            </a:br>
            <a:r>
              <a:rPr lang="en-US" sz="2000" noProof="0" dirty="0">
                <a:latin typeface="Courier New" panose="02070309020205020404" pitchFamily="49" charset="0"/>
              </a:rPr>
              <a:t>    return n1 + n2</a:t>
            </a:r>
          </a:p>
          <a:p>
            <a:r>
              <a:rPr lang="en-US" sz="2400" noProof="0" dirty="0"/>
              <a:t>When the function is called, python attaches the local name </a:t>
            </a:r>
            <a:r>
              <a:rPr lang="en-US" sz="2000" noProof="0" dirty="0">
                <a:latin typeface="Courier New" panose="02070309020205020404" pitchFamily="49" charset="0"/>
                <a:cs typeface="Courier New" panose="02070309020205020404" pitchFamily="49" charset="0"/>
              </a:rPr>
              <a:t>n1</a:t>
            </a:r>
            <a:r>
              <a:rPr lang="en-US" sz="2400" noProof="0" dirty="0"/>
              <a:t> to 1, and the local name </a:t>
            </a:r>
            <a:r>
              <a:rPr lang="en-US" sz="2000" noProof="0" dirty="0">
                <a:latin typeface="Courier New" panose="02070309020205020404" pitchFamily="49" charset="0"/>
                <a:cs typeface="Courier New" panose="02070309020205020404" pitchFamily="49" charset="0"/>
              </a:rPr>
              <a:t>n2</a:t>
            </a:r>
            <a:r>
              <a:rPr lang="en-US" sz="2400" noProof="0" dirty="0"/>
              <a:t> to 2</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22</a:t>
            </a:fld>
            <a:endParaRPr lang="nl-NL"/>
          </a:p>
        </p:txBody>
      </p:sp>
    </p:spTree>
    <p:extLst>
      <p:ext uri="{BB962C8B-B14F-4D97-AF65-F5344CB8AC3E}">
        <p14:creationId xmlns:p14="http://schemas.microsoft.com/office/powerpoint/2010/main" val="228351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276225"/>
            <a:ext cx="10515600" cy="1325563"/>
          </a:xfrm>
        </p:spPr>
        <p:txBody>
          <a:bodyPr/>
          <a:lstStyle/>
          <a:p>
            <a:r>
              <a:rPr lang="en-US" noProof="0" dirty="0"/>
              <a:t>Accepting an undefined number of positional arguments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601788"/>
            <a:ext cx="11849100" cy="5276849"/>
          </a:xfrm>
        </p:spPr>
        <p:txBody>
          <a:bodyPr>
            <a:noAutofit/>
          </a:bodyPr>
          <a:lstStyle/>
          <a:p>
            <a:r>
              <a:rPr lang="en-US" sz="2400" noProof="0" dirty="0"/>
              <a:t>Function call:</a:t>
            </a:r>
          </a:p>
          <a:p>
            <a:pPr lvl="1"/>
            <a:r>
              <a:rPr lang="en-US" sz="2000" noProof="0" dirty="0">
                <a:latin typeface="Courier New" panose="02070309020205020404" pitchFamily="49" charset="0"/>
              </a:rPr>
              <a:t>print(adder(1, 2, 3, 4, 5))    # Onscreen: 15</a:t>
            </a:r>
            <a:endParaRPr lang="en-US" noProof="0" dirty="0">
              <a:latin typeface="Courier New" panose="02070309020205020404" pitchFamily="49" charset="0"/>
            </a:endParaRPr>
          </a:p>
          <a:p>
            <a:r>
              <a:rPr lang="en-US" sz="2400" noProof="0" dirty="0"/>
              <a:t>Function definition:</a:t>
            </a:r>
          </a:p>
          <a:p>
            <a:pPr lvl="1"/>
            <a:r>
              <a:rPr lang="en-US" sz="2000" noProof="0" dirty="0">
                <a:latin typeface="Courier New" panose="02070309020205020404" pitchFamily="49" charset="0"/>
              </a:rPr>
              <a:t>def adder(*</a:t>
            </a:r>
            <a:r>
              <a:rPr lang="en-US" sz="2000" noProof="0" dirty="0" err="1">
                <a:latin typeface="Courier New" panose="02070309020205020404" pitchFamily="49" charset="0"/>
              </a:rPr>
              <a:t>args</a:t>
            </a:r>
            <a:r>
              <a:rPr lang="en-US" sz="2000" noProof="0" dirty="0">
                <a:latin typeface="Courier New" panose="02070309020205020404" pitchFamily="49" charset="0"/>
              </a:rPr>
              <a:t>):</a:t>
            </a:r>
          </a:p>
          <a:p>
            <a:pPr marL="457200" lvl="1" indent="0">
              <a:buNone/>
            </a:pPr>
            <a:r>
              <a:rPr lang="en-US" sz="2000" noProof="0" dirty="0">
                <a:latin typeface="Courier New" panose="02070309020205020404" pitchFamily="49" charset="0"/>
              </a:rPr>
              <a:t>    result = 0</a:t>
            </a:r>
          </a:p>
          <a:p>
            <a:pPr marL="457200" lvl="1" indent="0">
              <a:buNone/>
            </a:pPr>
            <a:r>
              <a:rPr lang="en-US" sz="2000" noProof="0" dirty="0">
                <a:latin typeface="Courier New" panose="02070309020205020404" pitchFamily="49" charset="0"/>
              </a:rPr>
              <a:t>    for number in </a:t>
            </a:r>
            <a:r>
              <a:rPr lang="en-US" sz="2000" noProof="0" dirty="0" err="1">
                <a:latin typeface="Courier New" panose="02070309020205020404" pitchFamily="49" charset="0"/>
              </a:rPr>
              <a:t>args</a:t>
            </a:r>
            <a:r>
              <a:rPr lang="en-US" sz="2000" noProof="0" dirty="0">
                <a:latin typeface="Courier New" panose="02070309020205020404" pitchFamily="49" charset="0"/>
              </a:rPr>
              <a:t>:</a:t>
            </a:r>
          </a:p>
          <a:p>
            <a:pPr marL="457200" lvl="1" indent="0">
              <a:buNone/>
            </a:pPr>
            <a:r>
              <a:rPr lang="en-US" sz="2000" noProof="0" dirty="0">
                <a:latin typeface="Courier New" panose="02070309020205020404" pitchFamily="49" charset="0"/>
              </a:rPr>
              <a:t>        result += number  </a:t>
            </a:r>
            <a:br>
              <a:rPr lang="en-US" sz="2000" noProof="0" dirty="0">
                <a:latin typeface="Courier New" panose="02070309020205020404" pitchFamily="49" charset="0"/>
              </a:rPr>
            </a:br>
            <a:r>
              <a:rPr lang="en-US" sz="2000" noProof="0" dirty="0">
                <a:latin typeface="Courier New" panose="02070309020205020404" pitchFamily="49" charset="0"/>
              </a:rPr>
              <a:t>    return result</a:t>
            </a:r>
          </a:p>
          <a:p>
            <a:r>
              <a:rPr lang="en-US" sz="2400" noProof="0" dirty="0"/>
              <a:t>When the function is called python attaches the name </a:t>
            </a:r>
            <a:r>
              <a:rPr lang="en-US" sz="2000" noProof="0" dirty="0" err="1">
                <a:latin typeface="Courier New" panose="02070309020205020404" pitchFamily="49" charset="0"/>
                <a:cs typeface="Courier New" panose="02070309020205020404" pitchFamily="49" charset="0"/>
              </a:rPr>
              <a:t>args</a:t>
            </a:r>
            <a:r>
              <a:rPr lang="en-US" sz="2400" noProof="0" dirty="0"/>
              <a:t> to a list that contains all the arguments</a:t>
            </a:r>
          </a:p>
          <a:p>
            <a:pPr lvl="1"/>
            <a:r>
              <a:rPr lang="en-US" sz="2000" noProof="0" dirty="0"/>
              <a:t>The use of </a:t>
            </a:r>
            <a:r>
              <a:rPr lang="en-US" sz="2000" noProof="0" dirty="0" err="1"/>
              <a:t>args</a:t>
            </a:r>
            <a:r>
              <a:rPr lang="en-US" sz="2000" noProof="0" dirty="0"/>
              <a:t> is a convention, Python is also ok if you use another name</a:t>
            </a:r>
          </a:p>
          <a:p>
            <a:pPr lvl="1"/>
            <a:endParaRPr lang="en-US" sz="2000" noProof="0" dirty="0"/>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23</a:t>
            </a:fld>
            <a:endParaRPr lang="nl-NL"/>
          </a:p>
        </p:txBody>
      </p:sp>
    </p:spTree>
    <p:extLst>
      <p:ext uri="{BB962C8B-B14F-4D97-AF65-F5344CB8AC3E}">
        <p14:creationId xmlns:p14="http://schemas.microsoft.com/office/powerpoint/2010/main" val="313407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276225"/>
            <a:ext cx="10515600" cy="1325563"/>
          </a:xfrm>
        </p:spPr>
        <p:txBody>
          <a:bodyPr/>
          <a:lstStyle/>
          <a:p>
            <a:r>
              <a:rPr lang="en-US" noProof="0" dirty="0"/>
              <a:t>Alternative way to deal with an undefined number of 'arguments'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601788"/>
            <a:ext cx="11849100" cy="5276849"/>
          </a:xfrm>
        </p:spPr>
        <p:txBody>
          <a:bodyPr>
            <a:noAutofit/>
          </a:bodyPr>
          <a:lstStyle/>
          <a:p>
            <a:r>
              <a:rPr lang="en-US" sz="2400" noProof="0" dirty="0"/>
              <a:t>You could do the same with a self defined list</a:t>
            </a:r>
          </a:p>
          <a:p>
            <a:r>
              <a:rPr lang="en-US" sz="2400" noProof="0" dirty="0"/>
              <a:t>For example:</a:t>
            </a:r>
          </a:p>
          <a:p>
            <a:pPr lvl="1"/>
            <a:r>
              <a:rPr lang="en-US" sz="2000" noProof="0" dirty="0"/>
              <a:t>Function call:</a:t>
            </a:r>
          </a:p>
          <a:p>
            <a:pPr lvl="2"/>
            <a:r>
              <a:rPr lang="en-US" noProof="0" dirty="0">
                <a:latin typeface="Courier New" panose="02070309020205020404" pitchFamily="49" charset="0"/>
              </a:rPr>
              <a:t>print(adder([1, 2, 3, 4, 5]))    # Onscreen: 15</a:t>
            </a:r>
          </a:p>
          <a:p>
            <a:pPr lvl="1"/>
            <a:r>
              <a:rPr lang="en-US" sz="2000" noProof="0" dirty="0"/>
              <a:t>Function definition:</a:t>
            </a:r>
          </a:p>
          <a:p>
            <a:pPr lvl="2"/>
            <a:r>
              <a:rPr lang="en-US" noProof="0" dirty="0">
                <a:latin typeface="Courier New" panose="02070309020205020404" pitchFamily="49" charset="0"/>
              </a:rPr>
              <a:t>def adder(l1):</a:t>
            </a:r>
          </a:p>
          <a:p>
            <a:pPr marL="457200" lvl="1" indent="0">
              <a:buNone/>
            </a:pPr>
            <a:r>
              <a:rPr lang="en-US" sz="2000" noProof="0" dirty="0">
                <a:latin typeface="Courier New" panose="02070309020205020404" pitchFamily="49" charset="0"/>
              </a:rPr>
              <a:t>        result = 0</a:t>
            </a:r>
          </a:p>
          <a:p>
            <a:pPr marL="457200" lvl="1" indent="0">
              <a:buNone/>
            </a:pPr>
            <a:r>
              <a:rPr lang="en-US" sz="2000" noProof="0" dirty="0">
                <a:latin typeface="Courier New" panose="02070309020205020404" pitchFamily="49" charset="0"/>
              </a:rPr>
              <a:t>        for number in l1:</a:t>
            </a:r>
          </a:p>
          <a:p>
            <a:pPr marL="457200" lvl="1" indent="0">
              <a:buNone/>
            </a:pPr>
            <a:r>
              <a:rPr lang="en-US" sz="2000" noProof="0" dirty="0">
                <a:latin typeface="Courier New" panose="02070309020205020404" pitchFamily="49" charset="0"/>
              </a:rPr>
              <a:t>            result += number  </a:t>
            </a:r>
            <a:br>
              <a:rPr lang="en-US" sz="2000" noProof="0" dirty="0">
                <a:latin typeface="Courier New" panose="02070309020205020404" pitchFamily="49" charset="0"/>
              </a:rPr>
            </a:br>
            <a:r>
              <a:rPr lang="en-US" sz="2000" noProof="0" dirty="0">
                <a:latin typeface="Courier New" panose="02070309020205020404" pitchFamily="49" charset="0"/>
              </a:rPr>
              <a:t>        return result</a:t>
            </a:r>
          </a:p>
          <a:p>
            <a:r>
              <a:rPr lang="en-US" sz="2400" noProof="0" dirty="0"/>
              <a:t>The nice thing about using </a:t>
            </a:r>
            <a:r>
              <a:rPr lang="en-US" sz="2000" noProof="0" dirty="0">
                <a:latin typeface="Courier New" panose="02070309020205020404" pitchFamily="49" charset="0"/>
                <a:cs typeface="Courier New" panose="02070309020205020404" pitchFamily="49" charset="0"/>
              </a:rPr>
              <a:t>*</a:t>
            </a:r>
            <a:r>
              <a:rPr lang="en-US" sz="2000" noProof="0" dirty="0" err="1">
                <a:latin typeface="Courier New" panose="02070309020205020404" pitchFamily="49" charset="0"/>
                <a:cs typeface="Courier New" panose="02070309020205020404" pitchFamily="49" charset="0"/>
              </a:rPr>
              <a:t>args</a:t>
            </a:r>
            <a:r>
              <a:rPr lang="en-US" sz="2400" noProof="0" dirty="0"/>
              <a:t> however, is not that it would be faster or something like that, but that just by seeing the function header, everybody knows that the function will accept an unlimited number of positional arguments</a:t>
            </a:r>
          </a:p>
          <a:p>
            <a:pPr marL="457200" lvl="1" indent="0">
              <a:buNone/>
            </a:pPr>
            <a:r>
              <a:rPr lang="en-US" noProof="0" dirty="0">
                <a:latin typeface="Courier New" panose="02070309020205020404" pitchFamily="49" charset="0"/>
              </a:rPr>
              <a:t>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24</a:t>
            </a:fld>
            <a:endParaRPr lang="nl-NL"/>
          </a:p>
        </p:txBody>
      </p:sp>
    </p:spTree>
    <p:extLst>
      <p:ext uri="{BB962C8B-B14F-4D97-AF65-F5344CB8AC3E}">
        <p14:creationId xmlns:p14="http://schemas.microsoft.com/office/powerpoint/2010/main" val="399247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276225"/>
            <a:ext cx="10515600" cy="1325563"/>
          </a:xfrm>
        </p:spPr>
        <p:txBody>
          <a:bodyPr/>
          <a:lstStyle/>
          <a:p>
            <a:r>
              <a:rPr lang="en-US" noProof="0" dirty="0"/>
              <a:t>Mix of accepting defined and undefined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601788"/>
            <a:ext cx="11849100" cy="5276849"/>
          </a:xfrm>
        </p:spPr>
        <p:txBody>
          <a:bodyPr>
            <a:noAutofit/>
          </a:bodyPr>
          <a:lstStyle/>
          <a:p>
            <a:r>
              <a:rPr lang="en-US" sz="2400" noProof="0" dirty="0"/>
              <a:t>You can mix defined and undefined arguments</a:t>
            </a:r>
          </a:p>
          <a:p>
            <a:r>
              <a:rPr lang="en-US" sz="2400" noProof="0" dirty="0"/>
              <a:t>For example: </a:t>
            </a:r>
          </a:p>
          <a:p>
            <a:pPr lvl="1"/>
            <a:r>
              <a:rPr lang="en-US" sz="2000" noProof="0" dirty="0"/>
              <a:t>Function call:</a:t>
            </a:r>
          </a:p>
          <a:p>
            <a:pPr lvl="2"/>
            <a:r>
              <a:rPr lang="en-US" noProof="0" dirty="0">
                <a:latin typeface="Courier New" panose="02070309020205020404" pitchFamily="49" charset="0"/>
              </a:rPr>
              <a:t>print(adder(1, 2, 3, 4, 5))    # Onscreen: 15</a:t>
            </a:r>
          </a:p>
          <a:p>
            <a:pPr lvl="1"/>
            <a:r>
              <a:rPr lang="en-US" sz="2000" noProof="0" dirty="0"/>
              <a:t>Function definition:</a:t>
            </a:r>
          </a:p>
          <a:p>
            <a:pPr lvl="2"/>
            <a:r>
              <a:rPr lang="en-US" noProof="0" dirty="0">
                <a:latin typeface="Courier New" panose="02070309020205020404" pitchFamily="49" charset="0"/>
              </a:rPr>
              <a:t>def adder(n1, n2, *</a:t>
            </a:r>
            <a:r>
              <a:rPr lang="en-US" noProof="0" dirty="0" err="1">
                <a:latin typeface="Courier New" panose="02070309020205020404" pitchFamily="49" charset="0"/>
              </a:rPr>
              <a:t>args</a:t>
            </a:r>
            <a:r>
              <a:rPr lang="en-US" noProof="0" dirty="0">
                <a:latin typeface="Courier New" panose="02070309020205020404" pitchFamily="49" charset="0"/>
              </a:rPr>
              <a:t>):</a:t>
            </a:r>
            <a:br>
              <a:rPr lang="en-US" noProof="0" dirty="0">
                <a:latin typeface="Courier New" panose="02070309020205020404" pitchFamily="49" charset="0"/>
              </a:rPr>
            </a:br>
            <a:r>
              <a:rPr lang="en-US" noProof="0" dirty="0">
                <a:latin typeface="Courier New" panose="02070309020205020404" pitchFamily="49" charset="0"/>
              </a:rPr>
              <a:t>    </a:t>
            </a:r>
            <a:r>
              <a:rPr lang="en-US" sz="2000" noProof="0" dirty="0">
                <a:latin typeface="Courier New" panose="02070309020205020404" pitchFamily="49" charset="0"/>
              </a:rPr>
              <a:t>result = n1 + n2</a:t>
            </a:r>
            <a:br>
              <a:rPr lang="en-US" sz="2000" noProof="0" dirty="0">
                <a:latin typeface="Courier New" panose="02070309020205020404" pitchFamily="49" charset="0"/>
              </a:rPr>
            </a:br>
            <a:r>
              <a:rPr lang="en-US" sz="2000" noProof="0" dirty="0">
                <a:latin typeface="Courier New" panose="02070309020205020404" pitchFamily="49" charset="0"/>
              </a:rPr>
              <a:t>    for number in </a:t>
            </a:r>
            <a:r>
              <a:rPr lang="en-US" sz="2000" noProof="0" dirty="0" err="1">
                <a:latin typeface="Courier New" panose="02070309020205020404" pitchFamily="49" charset="0"/>
              </a:rPr>
              <a:t>args</a:t>
            </a:r>
            <a:r>
              <a:rPr lang="en-US" sz="2000" noProof="0" dirty="0">
                <a:latin typeface="Courier New" panose="02070309020205020404" pitchFamily="49" charset="0"/>
              </a:rPr>
              <a:t>:</a:t>
            </a:r>
            <a:br>
              <a:rPr lang="en-US" sz="2000" noProof="0" dirty="0">
                <a:latin typeface="Courier New" panose="02070309020205020404" pitchFamily="49" charset="0"/>
              </a:rPr>
            </a:br>
            <a:r>
              <a:rPr lang="en-US" sz="2000" noProof="0" dirty="0">
                <a:latin typeface="Courier New" panose="02070309020205020404" pitchFamily="49" charset="0"/>
              </a:rPr>
              <a:t>        result += number  </a:t>
            </a:r>
            <a:br>
              <a:rPr lang="en-US" sz="2000" noProof="0" dirty="0">
                <a:latin typeface="Courier New" panose="02070309020205020404" pitchFamily="49" charset="0"/>
              </a:rPr>
            </a:br>
            <a:r>
              <a:rPr lang="en-US" sz="2000" noProof="0" dirty="0">
                <a:latin typeface="Courier New" panose="02070309020205020404" pitchFamily="49" charset="0"/>
              </a:rPr>
              <a:t>    return result</a:t>
            </a:r>
          </a:p>
          <a:p>
            <a:r>
              <a:rPr lang="en-US" sz="2400" noProof="0" dirty="0"/>
              <a:t>Python first fills the defined parameters with arguments and after that fills the </a:t>
            </a:r>
            <a:r>
              <a:rPr lang="en-US" sz="2400" noProof="0" dirty="0" err="1"/>
              <a:t>args</a:t>
            </a:r>
            <a:r>
              <a:rPr lang="en-US" sz="2400" noProof="0" dirty="0"/>
              <a:t> list with the rest of the arguments</a:t>
            </a:r>
            <a:endParaRPr lang="en-US" sz="2400" noProof="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25</a:t>
            </a:fld>
            <a:endParaRPr lang="nl-NL"/>
          </a:p>
        </p:txBody>
      </p:sp>
    </p:spTree>
    <p:extLst>
      <p:ext uri="{BB962C8B-B14F-4D97-AF65-F5344CB8AC3E}">
        <p14:creationId xmlns:p14="http://schemas.microsoft.com/office/powerpoint/2010/main" val="2661270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A problem with mutable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54852" cy="5276849"/>
          </a:xfrm>
        </p:spPr>
        <p:txBody>
          <a:bodyPr>
            <a:noAutofit/>
          </a:bodyPr>
          <a:lstStyle/>
          <a:p>
            <a:r>
              <a:rPr lang="en-US" sz="2400" noProof="0" dirty="0"/>
              <a:t>Function definition:</a:t>
            </a:r>
          </a:p>
          <a:p>
            <a:pPr lvl="1"/>
            <a:r>
              <a:rPr lang="en-US" sz="2000" dirty="0">
                <a:latin typeface="Courier New" panose="02070309020205020404" pitchFamily="49" charset="0"/>
              </a:rPr>
              <a:t>def adder(l2):</a:t>
            </a:r>
            <a:br>
              <a:rPr lang="en-US" sz="2000" dirty="0">
                <a:latin typeface="Courier New" panose="02070309020205020404" pitchFamily="49" charset="0"/>
              </a:rPr>
            </a:br>
            <a:r>
              <a:rPr lang="en-US" sz="2000" dirty="0">
                <a:latin typeface="Courier New" panose="02070309020205020404" pitchFamily="49" charset="0"/>
              </a:rPr>
              <a:t>    result = 0</a:t>
            </a:r>
            <a:br>
              <a:rPr lang="en-US" sz="2000" dirty="0">
                <a:latin typeface="Courier New" panose="02070309020205020404" pitchFamily="49" charset="0"/>
              </a:rPr>
            </a:br>
            <a:r>
              <a:rPr lang="en-US" sz="2000" dirty="0">
                <a:latin typeface="Courier New" panose="02070309020205020404" pitchFamily="49" charset="0"/>
              </a:rPr>
              <a:t>    while l2:</a:t>
            </a:r>
            <a:br>
              <a:rPr lang="en-US" sz="2000" dirty="0">
                <a:latin typeface="Courier New" panose="02070309020205020404" pitchFamily="49" charset="0"/>
              </a:rPr>
            </a:br>
            <a:r>
              <a:rPr lang="en-US" sz="2000" dirty="0">
                <a:latin typeface="Courier New" panose="02070309020205020404" pitchFamily="49" charset="0"/>
              </a:rPr>
              <a:t>        result += l2.pop()</a:t>
            </a:r>
            <a:br>
              <a:rPr lang="en-US" sz="2000" dirty="0">
                <a:latin typeface="Courier New" panose="02070309020205020404" pitchFamily="49" charset="0"/>
              </a:rPr>
            </a:br>
            <a:r>
              <a:rPr lang="en-US" sz="2000" dirty="0">
                <a:latin typeface="Courier New" panose="02070309020205020404" pitchFamily="49" charset="0"/>
              </a:rPr>
              <a:t>    return result</a:t>
            </a:r>
            <a:br>
              <a:rPr lang="en-US" sz="2000" dirty="0">
                <a:latin typeface="Courier New" panose="02070309020205020404" pitchFamily="49" charset="0"/>
              </a:rPr>
            </a:br>
            <a:br>
              <a:rPr lang="en-US" sz="2000" dirty="0">
                <a:latin typeface="Courier New" panose="02070309020205020404" pitchFamily="49" charset="0"/>
              </a:rPr>
            </a:br>
            <a:r>
              <a:rPr lang="en-US" sz="2000" dirty="0">
                <a:latin typeface="Courier New" panose="02070309020205020404" pitchFamily="49" charset="0"/>
              </a:rPr>
              <a:t>l1 = [1, 2, 3, 4, 5]</a:t>
            </a:r>
            <a:br>
              <a:rPr lang="en-US" sz="2000" dirty="0">
                <a:latin typeface="Courier New" panose="02070309020205020404" pitchFamily="49" charset="0"/>
              </a:rPr>
            </a:br>
            <a:r>
              <a:rPr lang="en-US" sz="2000" dirty="0">
                <a:latin typeface="Courier New" panose="02070309020205020404" pitchFamily="49" charset="0"/>
              </a:rPr>
              <a:t>total = adder(l1)</a:t>
            </a:r>
            <a:br>
              <a:rPr lang="en-US" sz="2000" dirty="0">
                <a:latin typeface="Courier New" panose="02070309020205020404" pitchFamily="49" charset="0"/>
              </a:rPr>
            </a:br>
            <a:r>
              <a:rPr lang="en-US" sz="2000" dirty="0">
                <a:latin typeface="Courier New" panose="02070309020205020404" pitchFamily="49" charset="0"/>
              </a:rPr>
              <a:t>print(</a:t>
            </a:r>
            <a:r>
              <a:rPr lang="en-US" sz="2000" dirty="0" err="1">
                <a:latin typeface="Courier New" panose="02070309020205020404" pitchFamily="49" charset="0"/>
              </a:rPr>
              <a:t>f'The</a:t>
            </a:r>
            <a:r>
              <a:rPr lang="en-US" sz="2000" dirty="0">
                <a:latin typeface="Courier New" panose="02070309020205020404" pitchFamily="49" charset="0"/>
              </a:rPr>
              <a:t> sum of {l1} = {total}')</a:t>
            </a:r>
          </a:p>
          <a:p>
            <a:r>
              <a:rPr lang="en-US" sz="2400" dirty="0"/>
              <a:t>Question: what do you think the result is?</a:t>
            </a:r>
          </a:p>
          <a:p>
            <a:r>
              <a:rPr lang="en-US" sz="2400" dirty="0"/>
              <a:t>It is: </a:t>
            </a:r>
            <a:r>
              <a:rPr lang="en-US" altLang="en-US" sz="2400" dirty="0">
                <a:solidFill>
                  <a:srgbClr val="000000"/>
                </a:solidFill>
                <a:latin typeface="Courier New" panose="02070309020205020404" pitchFamily="49" charset="0"/>
              </a:rPr>
              <a:t>The sum of [] = 15</a:t>
            </a:r>
            <a:r>
              <a:rPr lang="en-US" altLang="en-US" sz="1800" dirty="0"/>
              <a:t> </a:t>
            </a:r>
            <a:endParaRPr lang="en-US" sz="2400" dirty="0"/>
          </a:p>
          <a:p>
            <a:r>
              <a:rPr lang="en-US" sz="2400" noProof="0" dirty="0"/>
              <a:t>Clearly the names </a:t>
            </a:r>
            <a:r>
              <a:rPr lang="en-US" sz="2000" noProof="0" dirty="0">
                <a:latin typeface="Courier New" panose="02070309020205020404" pitchFamily="49" charset="0"/>
                <a:cs typeface="Courier New" panose="02070309020205020404" pitchFamily="49" charset="0"/>
              </a:rPr>
              <a:t>l1</a:t>
            </a:r>
            <a:r>
              <a:rPr lang="en-US" sz="2400" noProof="0" dirty="0"/>
              <a:t> and </a:t>
            </a:r>
            <a:r>
              <a:rPr lang="en-US" sz="2000" noProof="0" dirty="0">
                <a:latin typeface="Courier New" panose="02070309020205020404" pitchFamily="49" charset="0"/>
                <a:cs typeface="Courier New" panose="02070309020205020404" pitchFamily="49" charset="0"/>
              </a:rPr>
              <a:t>l2</a:t>
            </a:r>
            <a:r>
              <a:rPr lang="en-US" sz="2400" noProof="0" dirty="0"/>
              <a:t> refer both to the same list object and as a list is mutable, disaster strikes</a:t>
            </a:r>
          </a:p>
          <a:p>
            <a:endParaRPr lang="en-US" noProof="0" dirty="0"/>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26</a:t>
            </a:fld>
            <a:endParaRPr lang="nl-NL"/>
          </a:p>
        </p:txBody>
      </p:sp>
      <p:sp>
        <p:nvSpPr>
          <p:cNvPr id="5" name="Rectangle 1">
            <a:extLst>
              <a:ext uri="{FF2B5EF4-FFF2-40B4-BE49-F238E27FC236}">
                <a16:creationId xmlns:a16="http://schemas.microsoft.com/office/drawing/2014/main" id="{055366BE-AD58-5D6F-1250-AF634409E6CE}"/>
              </a:ext>
            </a:extLst>
          </p:cNvPr>
          <p:cNvSpPr>
            <a:spLocks noChangeArrowheads="1"/>
          </p:cNvSpPr>
          <p:nvPr/>
        </p:nvSpPr>
        <p:spPr bwMode="auto">
          <a:xfrm>
            <a:off x="0" y="90101"/>
            <a:ext cx="12197918"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271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A problem with mutable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You could solve this by creating a copy of the list at the start of the function:</a:t>
            </a:r>
          </a:p>
          <a:p>
            <a:pPr lvl="1"/>
            <a:r>
              <a:rPr lang="en-US" sz="2000" noProof="0" dirty="0">
                <a:latin typeface="Courier New" panose="02070309020205020404" pitchFamily="49" charset="0"/>
              </a:rPr>
              <a:t>def adder(l2):</a:t>
            </a:r>
            <a:br>
              <a:rPr lang="en-US" sz="2000" noProof="0" dirty="0">
                <a:latin typeface="Courier New" panose="02070309020205020404" pitchFamily="49" charset="0"/>
              </a:rPr>
            </a:br>
            <a:r>
              <a:rPr lang="en-US" sz="2000" noProof="0" dirty="0">
                <a:latin typeface="Courier New" panose="02070309020205020404" pitchFamily="49" charset="0"/>
              </a:rPr>
              <a:t>   l2 = l2[:]</a:t>
            </a:r>
            <a:br>
              <a:rPr lang="en-US" sz="2000" noProof="0" dirty="0">
                <a:latin typeface="Courier New" panose="02070309020205020404" pitchFamily="49" charset="0"/>
              </a:rPr>
            </a:br>
            <a:r>
              <a:rPr lang="en-US" sz="2000" noProof="0" dirty="0">
                <a:latin typeface="Courier New" panose="02070309020205020404" pitchFamily="49" charset="0"/>
              </a:rPr>
              <a:t>   result = 0</a:t>
            </a:r>
          </a:p>
          <a:p>
            <a:r>
              <a:rPr lang="en-US" sz="2400" noProof="0" dirty="0"/>
              <a:t>Note: this problem only exists with mutable arguments</a:t>
            </a:r>
          </a:p>
          <a:p>
            <a:r>
              <a:rPr lang="en-US" sz="2400" noProof="0" dirty="0"/>
              <a:t>When we say that parameters are filled with arguments, we mean that:</a:t>
            </a:r>
          </a:p>
          <a:p>
            <a:pPr lvl="1"/>
            <a:r>
              <a:rPr lang="en-US" noProof="0" dirty="0"/>
              <a:t>When they are </a:t>
            </a:r>
            <a:r>
              <a:rPr lang="en-US" i="1" noProof="0" dirty="0"/>
              <a:t>mutable</a:t>
            </a:r>
            <a:r>
              <a:rPr lang="en-US" noProof="0" dirty="0"/>
              <a:t>, argument and parameter will refer to the same object</a:t>
            </a:r>
          </a:p>
          <a:p>
            <a:pPr lvl="1"/>
            <a:r>
              <a:rPr lang="en-US" noProof="0" dirty="0"/>
              <a:t>When they are </a:t>
            </a:r>
            <a:r>
              <a:rPr lang="en-US" i="1" noProof="0" dirty="0"/>
              <a:t>immutable</a:t>
            </a:r>
            <a:r>
              <a:rPr lang="en-US" noProof="0" dirty="0"/>
              <a:t>, the parameter will refer to a copy of the argument</a:t>
            </a:r>
          </a:p>
          <a:p>
            <a:r>
              <a:rPr lang="en-US" sz="2400" noProof="0" dirty="0"/>
              <a:t>This is not a common problem, but when it happens it can be rather difficult to understand what is happening</a:t>
            </a:r>
          </a:p>
          <a:p>
            <a:endParaRPr lang="en-US" noProof="0" dirty="0"/>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27</a:t>
            </a:fld>
            <a:endParaRPr lang="nl-NL"/>
          </a:p>
        </p:txBody>
      </p:sp>
    </p:spTree>
    <p:extLst>
      <p:ext uri="{BB962C8B-B14F-4D97-AF65-F5344CB8AC3E}">
        <p14:creationId xmlns:p14="http://schemas.microsoft.com/office/powerpoint/2010/main" val="297151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Nested functions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latin typeface="Arial" panose="020B0604020202020204" pitchFamily="34" charset="0"/>
              </a:rPr>
              <a:t>You can define a function inside another function, this is called a </a:t>
            </a:r>
            <a:r>
              <a:rPr lang="en-US" sz="2400" i="1" noProof="0" dirty="0">
                <a:latin typeface="Arial" panose="020B0604020202020204" pitchFamily="34" charset="0"/>
              </a:rPr>
              <a:t>nested function</a:t>
            </a:r>
            <a:endParaRPr lang="en-US" sz="2400" noProof="0" dirty="0">
              <a:latin typeface="Arial" panose="020B0604020202020204" pitchFamily="34" charset="0"/>
            </a:endParaRPr>
          </a:p>
          <a:p>
            <a:r>
              <a:rPr lang="en-US" sz="2400" noProof="0" dirty="0">
                <a:latin typeface="Arial" panose="020B0604020202020204" pitchFamily="34" charset="0"/>
              </a:rPr>
              <a:t>The inner function is only visible to its outer function, but not outside it</a:t>
            </a:r>
          </a:p>
          <a:p>
            <a:r>
              <a:rPr lang="en-US" sz="2400" noProof="0" dirty="0">
                <a:latin typeface="Arial" panose="020B0604020202020204" pitchFamily="34" charset="0"/>
              </a:rPr>
              <a:t>Functions are objects just like other objects and their names behave like any other name</a:t>
            </a:r>
          </a:p>
          <a:p>
            <a:pPr lvl="1"/>
            <a:r>
              <a:rPr lang="en-US" sz="2000" noProof="0" dirty="0">
                <a:solidFill>
                  <a:srgbClr val="000000"/>
                </a:solidFill>
                <a:latin typeface="Arial" panose="020B0604020202020204" pitchFamily="34" charset="0"/>
                <a:cs typeface="Arial" panose="020B0604020202020204" pitchFamily="34" charset="0"/>
              </a:rPr>
              <a:t>For example: </a:t>
            </a:r>
          </a:p>
          <a:p>
            <a:pPr lvl="2"/>
            <a:r>
              <a:rPr lang="en-US" noProof="0" dirty="0">
                <a:solidFill>
                  <a:srgbClr val="000000"/>
                </a:solidFill>
                <a:latin typeface="Courier New" panose="02070309020205020404" pitchFamily="49" charset="0"/>
              </a:rPr>
              <a:t>def main ():</a:t>
            </a:r>
            <a:br>
              <a:rPr lang="en-US" noProof="0" dirty="0">
                <a:solidFill>
                  <a:srgbClr val="000000"/>
                </a:solidFill>
                <a:latin typeface="Courier New" panose="02070309020205020404" pitchFamily="49" charset="0"/>
              </a:rPr>
            </a:br>
            <a:r>
              <a:rPr lang="en-US" noProof="0" dirty="0">
                <a:solidFill>
                  <a:srgbClr val="000000"/>
                </a:solidFill>
                <a:latin typeface="Courier New" panose="02070309020205020404" pitchFamily="49" charset="0"/>
              </a:rPr>
              <a:t>    pass</a:t>
            </a:r>
            <a:br>
              <a:rPr lang="en-US" noProof="0" dirty="0">
                <a:solidFill>
                  <a:srgbClr val="000000"/>
                </a:solidFill>
                <a:latin typeface="Courier New" panose="02070309020205020404" pitchFamily="49" charset="0"/>
              </a:rPr>
            </a:br>
            <a:r>
              <a:rPr lang="en-US" noProof="0" dirty="0">
                <a:solidFill>
                  <a:srgbClr val="000000"/>
                </a:solidFill>
                <a:latin typeface="Courier New" panose="02070309020205020404" pitchFamily="49" charset="0"/>
              </a:rPr>
              <a:t>print (type(main)) # Onscreen: </a:t>
            </a:r>
            <a:r>
              <a:rPr lang="en-US" altLang="nl-NL" noProof="0" dirty="0">
                <a:solidFill>
                  <a:srgbClr val="000000"/>
                </a:solidFill>
                <a:latin typeface="Courier New" panose="02070309020205020404" pitchFamily="49" charset="0"/>
              </a:rPr>
              <a:t>&lt;class 'function'&gt;</a:t>
            </a:r>
            <a:r>
              <a:rPr lang="en-US" altLang="nl-NL" noProof="0" dirty="0"/>
              <a:t> </a:t>
            </a:r>
            <a:r>
              <a:rPr lang="en-US" noProof="0" dirty="0"/>
              <a:t> </a:t>
            </a:r>
          </a:p>
          <a:p>
            <a:endParaRPr lang="en-US" sz="2400" noProof="0" dirty="0"/>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28</a:t>
            </a:fld>
            <a:endParaRPr lang="nl-NL"/>
          </a:p>
        </p:txBody>
      </p:sp>
    </p:spTree>
    <p:extLst>
      <p:ext uri="{BB962C8B-B14F-4D97-AF65-F5344CB8AC3E}">
        <p14:creationId xmlns:p14="http://schemas.microsoft.com/office/powerpoint/2010/main" val="371883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Function factories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t>You can use the fact that functions behave like any other object to write a function that returns new functions based on a template function</a:t>
            </a:r>
          </a:p>
          <a:p>
            <a:r>
              <a:rPr lang="en-US" sz="2000" noProof="0" dirty="0"/>
              <a:t>Our template function is:</a:t>
            </a:r>
          </a:p>
          <a:p>
            <a:pPr lvl="1"/>
            <a:r>
              <a:rPr lang="en-US" sz="1800" noProof="0" dirty="0">
                <a:latin typeface="Courier New" panose="02070309020205020404" pitchFamily="49" charset="0"/>
              </a:rPr>
              <a:t>def adder(n1, n2):</a:t>
            </a:r>
          </a:p>
          <a:p>
            <a:pPr marL="457200" lvl="1" indent="0">
              <a:buNone/>
            </a:pPr>
            <a:r>
              <a:rPr lang="en-US" sz="1800" noProof="0" dirty="0">
                <a:latin typeface="Courier New" panose="02070309020205020404" pitchFamily="49" charset="0"/>
              </a:rPr>
              <a:t>    return n1 + n2</a:t>
            </a:r>
          </a:p>
          <a:p>
            <a:r>
              <a:rPr lang="en-US" sz="2000" noProof="0" dirty="0"/>
              <a:t>We now write a function called </a:t>
            </a:r>
            <a:r>
              <a:rPr lang="en-US" sz="1800" noProof="0" dirty="0" err="1">
                <a:latin typeface="Courier New" panose="02070309020205020404" pitchFamily="49" charset="0"/>
                <a:cs typeface="Courier New" panose="02070309020205020404" pitchFamily="49" charset="0"/>
              </a:rPr>
              <a:t>function_factory</a:t>
            </a:r>
            <a:r>
              <a:rPr lang="en-US" sz="2000" noProof="0" dirty="0"/>
              <a:t>:</a:t>
            </a:r>
          </a:p>
          <a:p>
            <a:pPr lvl="1"/>
            <a:r>
              <a:rPr lang="en-US" sz="1800" noProof="0" dirty="0">
                <a:latin typeface="Courier New" panose="02070309020205020404" pitchFamily="49" charset="0"/>
              </a:rPr>
              <a:t>def </a:t>
            </a:r>
            <a:r>
              <a:rPr lang="en-US" sz="1800" noProof="0" dirty="0" err="1">
                <a:latin typeface="Courier New" panose="02070309020205020404" pitchFamily="49" charset="0"/>
              </a:rPr>
              <a:t>function_factory</a:t>
            </a:r>
            <a:r>
              <a:rPr lang="en-US" sz="1800" noProof="0" dirty="0">
                <a:latin typeface="Courier New" panose="02070309020205020404" pitchFamily="49" charset="0"/>
              </a:rPr>
              <a:t>(increment):</a:t>
            </a:r>
          </a:p>
          <a:p>
            <a:pPr marL="457200" lvl="1" indent="0">
              <a:buNone/>
            </a:pPr>
            <a:r>
              <a:rPr lang="en-US" sz="1800" noProof="0" dirty="0">
                <a:latin typeface="Courier New" panose="02070309020205020404" pitchFamily="49" charset="0"/>
              </a:rPr>
              <a:t>    def adder(n1):</a:t>
            </a:r>
          </a:p>
          <a:p>
            <a:pPr marL="457200" lvl="1" indent="0">
              <a:buNone/>
            </a:pPr>
            <a:r>
              <a:rPr lang="en-US" sz="1800" noProof="0" dirty="0">
                <a:latin typeface="Courier New" panose="02070309020205020404" pitchFamily="49" charset="0"/>
              </a:rPr>
              <a:t>        return n1 + increment</a:t>
            </a:r>
            <a:br>
              <a:rPr lang="en-US" sz="1800" noProof="0" dirty="0">
                <a:latin typeface="Courier New" panose="02070309020205020404" pitchFamily="49" charset="0"/>
              </a:rPr>
            </a:br>
            <a:r>
              <a:rPr lang="en-US" sz="1800" noProof="0" dirty="0">
                <a:latin typeface="Courier New" panose="02070309020205020404" pitchFamily="49" charset="0"/>
              </a:rPr>
              <a:t>    return adder</a:t>
            </a:r>
          </a:p>
          <a:p>
            <a:r>
              <a:rPr lang="en-US" sz="2000" noProof="0" dirty="0"/>
              <a:t>With the help of the function factory, you can create two new specialist functions:</a:t>
            </a:r>
          </a:p>
          <a:p>
            <a:pPr lvl="1"/>
            <a:r>
              <a:rPr lang="en-US" sz="1800" noProof="0" dirty="0">
                <a:latin typeface="Courier New" panose="02070309020205020404" pitchFamily="49" charset="0"/>
              </a:rPr>
              <a:t>add4 = </a:t>
            </a:r>
            <a:r>
              <a:rPr lang="en-US" sz="1800" noProof="0" dirty="0" err="1">
                <a:latin typeface="Courier New" panose="02070309020205020404" pitchFamily="49" charset="0"/>
              </a:rPr>
              <a:t>function_factory</a:t>
            </a:r>
            <a:r>
              <a:rPr lang="en-US" sz="1800" noProof="0" dirty="0">
                <a:latin typeface="Courier New" panose="02070309020205020404" pitchFamily="49" charset="0"/>
              </a:rPr>
              <a:t>(4)</a:t>
            </a:r>
          </a:p>
          <a:p>
            <a:pPr lvl="1"/>
            <a:r>
              <a:rPr lang="en-US" sz="1800" noProof="0" dirty="0">
                <a:latin typeface="Courier New" panose="02070309020205020404" pitchFamily="49" charset="0"/>
              </a:rPr>
              <a:t>add5 = </a:t>
            </a:r>
            <a:r>
              <a:rPr lang="en-US" sz="1800" noProof="0" dirty="0" err="1">
                <a:latin typeface="Courier New" panose="02070309020205020404" pitchFamily="49" charset="0"/>
              </a:rPr>
              <a:t>function_factory</a:t>
            </a:r>
            <a:r>
              <a:rPr lang="en-US" sz="1800" noProof="0" dirty="0">
                <a:latin typeface="Courier New" panose="02070309020205020404" pitchFamily="49" charset="0"/>
              </a:rPr>
              <a:t> (5)</a:t>
            </a:r>
          </a:p>
          <a:p>
            <a:pPr marL="228600" lvl="1">
              <a:spcBef>
                <a:spcPts val="1000"/>
              </a:spcBef>
            </a:pPr>
            <a:r>
              <a:rPr lang="en-US" sz="2000" noProof="0" dirty="0"/>
              <a:t>And now that we gave names to our newly created functions, we can use them:</a:t>
            </a:r>
          </a:p>
          <a:p>
            <a:pPr marL="685800" lvl="2">
              <a:spcBef>
                <a:spcPts val="1000"/>
              </a:spcBef>
            </a:pPr>
            <a:r>
              <a:rPr lang="en-US" sz="1800" noProof="0" dirty="0">
                <a:latin typeface="Courier New" panose="02070309020205020404" pitchFamily="49" charset="0"/>
              </a:rPr>
              <a:t>print(add4(3))  # Onscreen: 7</a:t>
            </a:r>
          </a:p>
          <a:p>
            <a:pPr marL="685800" lvl="2">
              <a:spcBef>
                <a:spcPts val="1000"/>
              </a:spcBef>
            </a:pPr>
            <a:r>
              <a:rPr lang="en-US" sz="1800" noProof="0" dirty="0">
                <a:latin typeface="Courier New" panose="02070309020205020404" pitchFamily="49" charset="0"/>
              </a:rPr>
              <a:t>print(add5(3))  # Onscreen: 8</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29</a:t>
            </a:fld>
            <a:endParaRPr lang="nl-NL"/>
          </a:p>
        </p:txBody>
      </p:sp>
    </p:spTree>
    <p:extLst>
      <p:ext uri="{BB962C8B-B14F-4D97-AF65-F5344CB8AC3E}">
        <p14:creationId xmlns:p14="http://schemas.microsoft.com/office/powerpoint/2010/main" val="352429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Accepting keyword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Function call:</a:t>
            </a:r>
          </a:p>
          <a:p>
            <a:pPr lvl="1"/>
            <a:r>
              <a:rPr lang="en-US" sz="2000" dirty="0">
                <a:latin typeface="Courier New" panose="02070309020205020404" pitchFamily="49" charset="0"/>
              </a:rPr>
              <a:t>print(calc(fifth = 2, third=4, fourth=1, sixth=5, second=2, first=3)) </a:t>
            </a:r>
            <a:br>
              <a:rPr lang="en-US" sz="2000" dirty="0">
                <a:latin typeface="Courier New" panose="02070309020205020404" pitchFamily="49" charset="0"/>
              </a:rPr>
            </a:br>
            <a:r>
              <a:rPr lang="en-US" sz="2000" dirty="0">
                <a:latin typeface="Courier New" panose="02070309020205020404" pitchFamily="49" charset="0"/>
              </a:rPr>
              <a:t>			</a:t>
            </a:r>
            <a:r>
              <a:rPr lang="en-US" sz="2000" noProof="0" dirty="0">
                <a:latin typeface="Courier New" panose="02070309020205020404" pitchFamily="49" charset="0"/>
              </a:rPr>
              <a:t># Onscreen: 63</a:t>
            </a:r>
            <a:endParaRPr lang="en-US" noProof="0" dirty="0">
              <a:latin typeface="Courier New" panose="02070309020205020404" pitchFamily="49" charset="0"/>
            </a:endParaRPr>
          </a:p>
          <a:p>
            <a:r>
              <a:rPr lang="en-US" sz="2400" noProof="0" dirty="0"/>
              <a:t>Function definition:</a:t>
            </a:r>
          </a:p>
          <a:p>
            <a:pPr lvl="1"/>
            <a:r>
              <a:rPr lang="en-US" sz="2000" dirty="0">
                <a:latin typeface="Courier New" panose="02070309020205020404" pitchFamily="49" charset="0"/>
              </a:rPr>
              <a:t>def calc(first, second, third, fourth, fifth, sixth):</a:t>
            </a:r>
            <a:br>
              <a:rPr lang="en-US" sz="2000" dirty="0">
                <a:latin typeface="Courier New" panose="02070309020205020404" pitchFamily="49" charset="0"/>
              </a:rPr>
            </a:br>
            <a:r>
              <a:rPr lang="en-US" sz="2000" dirty="0">
                <a:latin typeface="Courier New" panose="02070309020205020404" pitchFamily="49" charset="0"/>
              </a:rPr>
              <a:t>    return first + 2 * second + 3 * third + 4 * fourth \</a:t>
            </a:r>
            <a:br>
              <a:rPr lang="en-US" sz="2000" dirty="0">
                <a:latin typeface="Courier New" panose="02070309020205020404" pitchFamily="49" charset="0"/>
              </a:rPr>
            </a:br>
            <a:r>
              <a:rPr lang="en-US" sz="2000" dirty="0">
                <a:latin typeface="Courier New" panose="02070309020205020404" pitchFamily="49" charset="0"/>
              </a:rPr>
              <a:t>           + 5 * fifth + 6 * sixth</a:t>
            </a:r>
          </a:p>
          <a:p>
            <a:r>
              <a:rPr lang="en-US" sz="2400" dirty="0"/>
              <a:t>When the function is called, python attaches the name </a:t>
            </a:r>
            <a:r>
              <a:rPr lang="en-US" sz="2000" dirty="0">
                <a:latin typeface="Courier New" panose="02070309020205020404" pitchFamily="49" charset="0"/>
              </a:rPr>
              <a:t>first</a:t>
            </a:r>
            <a:r>
              <a:rPr lang="en-US" sz="2400" dirty="0"/>
              <a:t> to the value 3, and the name </a:t>
            </a:r>
            <a:r>
              <a:rPr lang="en-US" sz="2000" dirty="0">
                <a:latin typeface="Courier New" panose="02070309020205020404" pitchFamily="49" charset="0"/>
              </a:rPr>
              <a:t>second</a:t>
            </a:r>
            <a:r>
              <a:rPr lang="en-US" sz="2400" dirty="0"/>
              <a:t> to the value 2 </a:t>
            </a:r>
            <a:r>
              <a:rPr lang="en-US" sz="2400" dirty="0" err="1"/>
              <a:t>etc</a:t>
            </a:r>
            <a:endParaRPr lang="en-US" sz="2400" dirty="0"/>
          </a:p>
          <a:p>
            <a:r>
              <a:rPr lang="en-US" sz="2400" noProof="0" dirty="0"/>
              <a:t>The nice thing about keyword arguments is that you don't have to think of the order of the parameters</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30</a:t>
            </a:fld>
            <a:endParaRPr lang="nl-NL"/>
          </a:p>
        </p:txBody>
      </p:sp>
    </p:spTree>
    <p:extLst>
      <p:ext uri="{BB962C8B-B14F-4D97-AF65-F5344CB8AC3E}">
        <p14:creationId xmlns:p14="http://schemas.microsoft.com/office/powerpoint/2010/main" val="224945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Accepting undefined keyword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Function call:</a:t>
            </a:r>
          </a:p>
          <a:p>
            <a:pPr lvl="1"/>
            <a:r>
              <a:rPr lang="en-US" sz="2000" dirty="0">
                <a:latin typeface="Courier New" panose="02070309020205020404" pitchFamily="49" charset="0"/>
              </a:rPr>
              <a:t>print(calc(third=4, fourth=1, second=2, first=3, fifth = 2, </a:t>
            </a:r>
            <a:r>
              <a:rPr lang="en-US" sz="2000" dirty="0" err="1">
                <a:latin typeface="Courier New" panose="02070309020205020404" pitchFamily="49" charset="0"/>
              </a:rPr>
              <a:t>sixt</a:t>
            </a:r>
            <a:r>
              <a:rPr lang="en-US" sz="2000" dirty="0">
                <a:latin typeface="Courier New" panose="02070309020205020404" pitchFamily="49" charset="0"/>
              </a:rPr>
              <a:t>=5))</a:t>
            </a:r>
            <a:br>
              <a:rPr lang="en-US" sz="2000" dirty="0">
                <a:latin typeface="Courier New" panose="02070309020205020404" pitchFamily="49" charset="0"/>
              </a:rPr>
            </a:br>
            <a:r>
              <a:rPr lang="en-US" sz="2000" dirty="0">
                <a:latin typeface="Courier New" panose="02070309020205020404" pitchFamily="49" charset="0"/>
              </a:rPr>
              <a:t>			</a:t>
            </a:r>
            <a:r>
              <a:rPr lang="en-US" sz="2000" noProof="0" dirty="0">
                <a:latin typeface="Courier New" panose="02070309020205020404" pitchFamily="49" charset="0"/>
              </a:rPr>
              <a:t># Onscreen: 63</a:t>
            </a:r>
          </a:p>
          <a:p>
            <a:r>
              <a:rPr lang="en-US" sz="2400" noProof="0" dirty="0"/>
              <a:t>Function definition:</a:t>
            </a:r>
          </a:p>
          <a:p>
            <a:pPr lvl="1"/>
            <a:r>
              <a:rPr lang="en-US" sz="2000" dirty="0">
                <a:latin typeface="Courier New" panose="02070309020205020404" pitchFamily="49" charset="0"/>
              </a:rPr>
              <a:t>def calc(**</a:t>
            </a:r>
            <a:r>
              <a:rPr lang="en-US" sz="2000" dirty="0" err="1">
                <a:latin typeface="Courier New" panose="02070309020205020404" pitchFamily="49" charset="0"/>
              </a:rPr>
              <a:t>kwargs</a:t>
            </a:r>
            <a:r>
              <a:rPr lang="en-US" sz="2000" dirty="0">
                <a:latin typeface="Courier New" panose="02070309020205020404" pitchFamily="49" charset="0"/>
              </a:rPr>
              <a:t>):</a:t>
            </a:r>
            <a:br>
              <a:rPr lang="en-US" sz="2000" dirty="0">
                <a:latin typeface="Courier New" panose="02070309020205020404" pitchFamily="49" charset="0"/>
              </a:rPr>
            </a:br>
            <a:r>
              <a:rPr lang="en-US" sz="2000" dirty="0">
                <a:latin typeface="Courier New" panose="02070309020205020404" pitchFamily="49" charset="0"/>
              </a:rPr>
              <a:t>    return </a:t>
            </a:r>
            <a:r>
              <a:rPr lang="en-US" sz="2000" dirty="0" err="1">
                <a:latin typeface="Courier New" panose="02070309020205020404" pitchFamily="49" charset="0"/>
              </a:rPr>
              <a:t>kwargs</a:t>
            </a:r>
            <a:r>
              <a:rPr lang="en-US" sz="2000" dirty="0">
                <a:latin typeface="Courier New" panose="02070309020205020404" pitchFamily="49" charset="0"/>
              </a:rPr>
              <a:t>['first'] + 2 * </a:t>
            </a:r>
            <a:r>
              <a:rPr lang="en-US" sz="2000" dirty="0" err="1">
                <a:latin typeface="Courier New" panose="02070309020205020404" pitchFamily="49" charset="0"/>
              </a:rPr>
              <a:t>kwargs</a:t>
            </a:r>
            <a:r>
              <a:rPr lang="en-US" sz="2000" dirty="0">
                <a:latin typeface="Courier New" panose="02070309020205020404" pitchFamily="49" charset="0"/>
              </a:rPr>
              <a:t>['second']+\</a:t>
            </a:r>
            <a:br>
              <a:rPr lang="en-US" sz="2000" dirty="0">
                <a:latin typeface="Courier New" panose="02070309020205020404" pitchFamily="49" charset="0"/>
              </a:rPr>
            </a:br>
            <a:r>
              <a:rPr lang="en-US" sz="2000" dirty="0">
                <a:latin typeface="Courier New" panose="02070309020205020404" pitchFamily="49" charset="0"/>
              </a:rPr>
              <a:t>           3 * </a:t>
            </a:r>
            <a:r>
              <a:rPr lang="en-US" sz="2000" dirty="0" err="1">
                <a:latin typeface="Courier New" panose="02070309020205020404" pitchFamily="49" charset="0"/>
              </a:rPr>
              <a:t>kwargs</a:t>
            </a:r>
            <a:r>
              <a:rPr lang="en-US" sz="2000" dirty="0">
                <a:latin typeface="Courier New" panose="02070309020205020404" pitchFamily="49" charset="0"/>
              </a:rPr>
              <a:t>['third'] + 4 * </a:t>
            </a:r>
            <a:r>
              <a:rPr lang="en-US" sz="2000" dirty="0" err="1">
                <a:latin typeface="Courier New" panose="02070309020205020404" pitchFamily="49" charset="0"/>
              </a:rPr>
              <a:t>kwargs</a:t>
            </a:r>
            <a:r>
              <a:rPr lang="en-US" sz="2000" dirty="0">
                <a:latin typeface="Courier New" panose="02070309020205020404" pitchFamily="49" charset="0"/>
              </a:rPr>
              <a:t>['fourth'] +\</a:t>
            </a:r>
            <a:br>
              <a:rPr lang="en-US" sz="2000" dirty="0">
                <a:latin typeface="Courier New" panose="02070309020205020404" pitchFamily="49" charset="0"/>
              </a:rPr>
            </a:br>
            <a:r>
              <a:rPr lang="en-US" sz="2000" dirty="0">
                <a:latin typeface="Courier New" panose="02070309020205020404" pitchFamily="49" charset="0"/>
              </a:rPr>
              <a:t>           5 * </a:t>
            </a:r>
            <a:r>
              <a:rPr lang="en-US" sz="2000" dirty="0" err="1">
                <a:latin typeface="Courier New" panose="02070309020205020404" pitchFamily="49" charset="0"/>
              </a:rPr>
              <a:t>kwargs</a:t>
            </a:r>
            <a:r>
              <a:rPr lang="en-US" sz="2000" dirty="0">
                <a:latin typeface="Courier New" panose="02070309020205020404" pitchFamily="49" charset="0"/>
              </a:rPr>
              <a:t>['fifth']+ 6 * </a:t>
            </a:r>
            <a:r>
              <a:rPr lang="en-US" sz="2000" dirty="0" err="1">
                <a:latin typeface="Courier New" panose="02070309020205020404" pitchFamily="49" charset="0"/>
              </a:rPr>
              <a:t>kwargs</a:t>
            </a:r>
            <a:r>
              <a:rPr lang="en-US" sz="2000" dirty="0">
                <a:latin typeface="Courier New" panose="02070309020205020404" pitchFamily="49" charset="0"/>
              </a:rPr>
              <a:t>['</a:t>
            </a:r>
            <a:r>
              <a:rPr lang="en-US" sz="2000" dirty="0" err="1">
                <a:latin typeface="Courier New" panose="02070309020205020404" pitchFamily="49" charset="0"/>
              </a:rPr>
              <a:t>sixt</a:t>
            </a:r>
            <a:r>
              <a:rPr lang="en-US" sz="2000" dirty="0">
                <a:latin typeface="Courier New" panose="02070309020205020404" pitchFamily="49" charset="0"/>
              </a:rPr>
              <a:t>']</a:t>
            </a:r>
            <a:endParaRPr lang="en-US" sz="2000" noProof="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31</a:t>
            </a:fld>
            <a:endParaRPr lang="nl-NL"/>
          </a:p>
        </p:txBody>
      </p:sp>
    </p:spTree>
    <p:extLst>
      <p:ext uri="{BB962C8B-B14F-4D97-AF65-F5344CB8AC3E}">
        <p14:creationId xmlns:p14="http://schemas.microsoft.com/office/powerpoint/2010/main" val="349542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899" y="276225"/>
            <a:ext cx="11849099" cy="1325563"/>
          </a:xfrm>
        </p:spPr>
        <p:txBody>
          <a:bodyPr/>
          <a:lstStyle/>
          <a:p>
            <a:r>
              <a:rPr lang="en-US" noProof="0" dirty="0"/>
              <a:t>You can mix positional and keyword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601788"/>
            <a:ext cx="11849100" cy="5276849"/>
          </a:xfrm>
        </p:spPr>
        <p:txBody>
          <a:bodyPr>
            <a:noAutofit/>
          </a:bodyPr>
          <a:lstStyle/>
          <a:p>
            <a:r>
              <a:rPr lang="en-US" sz="2400" noProof="0" dirty="0"/>
              <a:t>You have to follow the right order, because other orders lead to an error:</a:t>
            </a:r>
          </a:p>
          <a:p>
            <a:pPr lvl="1"/>
            <a:r>
              <a:rPr lang="en-US" sz="2000" dirty="0">
                <a:latin typeface="Courier New" panose="02070309020205020404" pitchFamily="49" charset="0"/>
              </a:rPr>
              <a:t>def calc(first, second, *</a:t>
            </a:r>
            <a:r>
              <a:rPr lang="en-US" sz="2000" dirty="0" err="1">
                <a:latin typeface="Courier New" panose="02070309020205020404" pitchFamily="49" charset="0"/>
              </a:rPr>
              <a:t>args</a:t>
            </a:r>
            <a:r>
              <a:rPr lang="en-US" sz="2000" dirty="0">
                <a:latin typeface="Courier New" panose="02070309020205020404" pitchFamily="49" charset="0"/>
              </a:rPr>
              <a:t>, **</a:t>
            </a:r>
            <a:r>
              <a:rPr lang="en-US" sz="2000" dirty="0" err="1">
                <a:latin typeface="Courier New" panose="02070309020205020404" pitchFamily="49" charset="0"/>
              </a:rPr>
              <a:t>kwargs</a:t>
            </a:r>
            <a:r>
              <a:rPr lang="en-US" sz="2000" dirty="0">
                <a:latin typeface="Courier New" panose="02070309020205020404" pitchFamily="49" charset="0"/>
              </a:rPr>
              <a:t>):</a:t>
            </a:r>
            <a:br>
              <a:rPr lang="en-US" sz="2000" dirty="0">
                <a:latin typeface="Courier New" panose="02070309020205020404" pitchFamily="49" charset="0"/>
              </a:rPr>
            </a:br>
            <a:r>
              <a:rPr lang="en-US" sz="2000" dirty="0">
                <a:latin typeface="Courier New" panose="02070309020205020404" pitchFamily="49" charset="0"/>
              </a:rPr>
              <a:t>    return first + second * 2 + </a:t>
            </a:r>
            <a:r>
              <a:rPr lang="en-US" sz="2000" dirty="0" err="1">
                <a:latin typeface="Courier New" panose="02070309020205020404" pitchFamily="49" charset="0"/>
              </a:rPr>
              <a:t>args</a:t>
            </a:r>
            <a:r>
              <a:rPr lang="en-US" sz="2000" dirty="0">
                <a:latin typeface="Courier New" panose="02070309020205020404" pitchFamily="49" charset="0"/>
              </a:rPr>
              <a:t>[0] * 3 + </a:t>
            </a:r>
            <a:r>
              <a:rPr lang="en-US" sz="2000" dirty="0" err="1">
                <a:latin typeface="Courier New" panose="02070309020205020404" pitchFamily="49" charset="0"/>
              </a:rPr>
              <a:t>args</a:t>
            </a:r>
            <a:r>
              <a:rPr lang="en-US" sz="2000" dirty="0">
                <a:latin typeface="Courier New" panose="02070309020205020404" pitchFamily="49" charset="0"/>
              </a:rPr>
              <a:t>[1] * 4 +\</a:t>
            </a:r>
            <a:br>
              <a:rPr lang="en-US" sz="2000" dirty="0">
                <a:latin typeface="Courier New" panose="02070309020205020404" pitchFamily="49" charset="0"/>
              </a:rPr>
            </a:br>
            <a:r>
              <a:rPr lang="en-US" sz="2000" dirty="0">
                <a:latin typeface="Courier New" panose="02070309020205020404" pitchFamily="49" charset="0"/>
              </a:rPr>
              <a:t>           5 * </a:t>
            </a:r>
            <a:r>
              <a:rPr lang="en-US" sz="2000" dirty="0" err="1">
                <a:latin typeface="Courier New" panose="02070309020205020404" pitchFamily="49" charset="0"/>
              </a:rPr>
              <a:t>kwargs</a:t>
            </a:r>
            <a:r>
              <a:rPr lang="en-US" sz="2000" dirty="0">
                <a:latin typeface="Courier New" panose="02070309020205020404" pitchFamily="49" charset="0"/>
              </a:rPr>
              <a:t>['fifth']+ 6 * </a:t>
            </a:r>
            <a:r>
              <a:rPr lang="en-US" sz="2000" dirty="0" err="1">
                <a:latin typeface="Courier New" panose="02070309020205020404" pitchFamily="49" charset="0"/>
              </a:rPr>
              <a:t>kwargs</a:t>
            </a:r>
            <a:r>
              <a:rPr lang="en-US" sz="2000" dirty="0">
                <a:latin typeface="Courier New" panose="02070309020205020404" pitchFamily="49" charset="0"/>
              </a:rPr>
              <a:t>['sixth'] </a:t>
            </a:r>
          </a:p>
          <a:p>
            <a:pPr lvl="1"/>
            <a:r>
              <a:rPr lang="en-US" sz="2400" noProof="0" dirty="0"/>
              <a:t>A call could for example be:</a:t>
            </a:r>
          </a:p>
          <a:p>
            <a:pPr lvl="1"/>
            <a:r>
              <a:rPr lang="en-US" sz="2000" dirty="0">
                <a:latin typeface="Courier New" panose="02070309020205020404" pitchFamily="49" charset="0"/>
              </a:rPr>
              <a:t>print(calc(3, 2, 4, 1, sixth=5, fifth=2)) # </a:t>
            </a:r>
            <a:r>
              <a:rPr lang="en-US" sz="2000" noProof="0" dirty="0">
                <a:latin typeface="Courier New" panose="02070309020205020404" pitchFamily="49" charset="0"/>
              </a:rPr>
              <a:t>Onscreen: 63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32</a:t>
            </a:fld>
            <a:endParaRPr lang="nl-NL"/>
          </a:p>
        </p:txBody>
      </p:sp>
    </p:spTree>
    <p:extLst>
      <p:ext uri="{BB962C8B-B14F-4D97-AF65-F5344CB8AC3E}">
        <p14:creationId xmlns:p14="http://schemas.microsoft.com/office/powerpoint/2010/main" val="40854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D8EF-CF80-44DF-C1B8-09039D130DB4}"/>
              </a:ext>
            </a:extLst>
          </p:cNvPr>
          <p:cNvSpPr>
            <a:spLocks noGrp="1"/>
          </p:cNvSpPr>
          <p:nvPr>
            <p:ph type="title"/>
          </p:nvPr>
        </p:nvSpPr>
        <p:spPr/>
        <p:txBody>
          <a:bodyPr/>
          <a:lstStyle/>
          <a:p>
            <a:r>
              <a:rPr lang="en-US" dirty="0"/>
              <a:t>The argument list of the call decides whether an argument is positional or keyword</a:t>
            </a:r>
          </a:p>
        </p:txBody>
      </p:sp>
      <p:sp>
        <p:nvSpPr>
          <p:cNvPr id="3" name="Content Placeholder 2">
            <a:extLst>
              <a:ext uri="{FF2B5EF4-FFF2-40B4-BE49-F238E27FC236}">
                <a16:creationId xmlns:a16="http://schemas.microsoft.com/office/drawing/2014/main" id="{93E0A751-7554-9F62-52BE-9E3E4FB757F3}"/>
              </a:ext>
            </a:extLst>
          </p:cNvPr>
          <p:cNvSpPr>
            <a:spLocks noGrp="1"/>
          </p:cNvSpPr>
          <p:nvPr>
            <p:ph idx="1"/>
          </p:nvPr>
        </p:nvSpPr>
        <p:spPr/>
        <p:txBody>
          <a:bodyPr>
            <a:normAutofit fontScale="92500" lnSpcReduction="10000"/>
          </a:bodyPr>
          <a:lstStyle/>
          <a:p>
            <a:r>
              <a:rPr lang="en-US" dirty="0"/>
              <a:t>The function definition  is:</a:t>
            </a:r>
            <a:br>
              <a:rPr lang="en-US" dirty="0"/>
            </a:br>
            <a:r>
              <a:rPr lang="en-US" dirty="0">
                <a:latin typeface="Courier New" panose="02070309020205020404" pitchFamily="49" charset="0"/>
                <a:cs typeface="Courier New" panose="02070309020205020404" pitchFamily="49" charset="0"/>
              </a:rPr>
              <a:t>def adder(x, y):</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f'x</a:t>
            </a:r>
            <a:r>
              <a:rPr lang="en-US" dirty="0">
                <a:latin typeface="Courier New" panose="02070309020205020404" pitchFamily="49" charset="0"/>
                <a:cs typeface="Courier New" panose="02070309020205020404" pitchFamily="49" charset="0"/>
              </a:rPr>
              <a:t>={x}, y={y}')</a:t>
            </a:r>
          </a:p>
          <a:p>
            <a:r>
              <a:rPr lang="en-US" dirty="0"/>
              <a:t>The following function calls give all the same result ('</a:t>
            </a:r>
            <a:r>
              <a:rPr lang="en-US" dirty="0">
                <a:latin typeface="Courier New" panose="02070309020205020404" pitchFamily="49" charset="0"/>
                <a:cs typeface="Courier New" panose="02070309020205020404" pitchFamily="49" charset="0"/>
              </a:rPr>
              <a:t>x=1, y=2</a:t>
            </a:r>
            <a:r>
              <a:rPr lang="en-US" dirty="0"/>
              <a:t>'):</a:t>
            </a:r>
          </a:p>
          <a:p>
            <a:r>
              <a:rPr lang="en-US" dirty="0">
                <a:latin typeface="Courier New" panose="02070309020205020404" pitchFamily="49" charset="0"/>
                <a:cs typeface="Courier New" panose="02070309020205020404" pitchFamily="49" charset="0"/>
              </a:rPr>
              <a:t>adder(1, 2)</a:t>
            </a:r>
          </a:p>
          <a:p>
            <a:r>
              <a:rPr lang="en-US" dirty="0">
                <a:latin typeface="Courier New" panose="02070309020205020404" pitchFamily="49" charset="0"/>
                <a:cs typeface="Courier New" panose="02070309020205020404" pitchFamily="49" charset="0"/>
              </a:rPr>
              <a:t>adder(x = 1, 2)</a:t>
            </a:r>
          </a:p>
          <a:p>
            <a:r>
              <a:rPr lang="en-US" dirty="0">
                <a:latin typeface="Courier New" panose="02070309020205020404" pitchFamily="49" charset="0"/>
                <a:cs typeface="Courier New" panose="02070309020205020404" pitchFamily="49" charset="0"/>
              </a:rPr>
              <a:t>adder(1,  y=2)</a:t>
            </a:r>
          </a:p>
          <a:p>
            <a:r>
              <a:rPr lang="en-US" dirty="0">
                <a:latin typeface="Courier New" panose="02070309020205020404" pitchFamily="49" charset="0"/>
                <a:cs typeface="Courier New" panose="02070309020205020404" pitchFamily="49" charset="0"/>
              </a:rPr>
              <a:t>adder(x=1,y=2)</a:t>
            </a:r>
          </a:p>
          <a:p>
            <a:r>
              <a:rPr lang="en-US" dirty="0"/>
              <a:t>So, the parameter list of the function definition doesn't tell you whether it is positional or keyword, that is decide by the call</a:t>
            </a:r>
          </a:p>
        </p:txBody>
      </p:sp>
      <p:sp>
        <p:nvSpPr>
          <p:cNvPr id="4" name="Slide Number Placeholder 3">
            <a:extLst>
              <a:ext uri="{FF2B5EF4-FFF2-40B4-BE49-F238E27FC236}">
                <a16:creationId xmlns:a16="http://schemas.microsoft.com/office/drawing/2014/main" id="{FAA3B6B1-D92E-4029-9C4B-FE53535D15D1}"/>
              </a:ext>
            </a:extLst>
          </p:cNvPr>
          <p:cNvSpPr>
            <a:spLocks noGrp="1"/>
          </p:cNvSpPr>
          <p:nvPr>
            <p:ph type="sldNum" sz="quarter" idx="12"/>
          </p:nvPr>
        </p:nvSpPr>
        <p:spPr/>
        <p:txBody>
          <a:bodyPr/>
          <a:lstStyle/>
          <a:p>
            <a:fld id="{937257EE-0CEF-4D7E-9E69-5277D6172560}" type="slidenum">
              <a:rPr lang="nl-NL" smtClean="0"/>
              <a:t>33</a:t>
            </a:fld>
            <a:endParaRPr lang="nl-NL"/>
          </a:p>
        </p:txBody>
      </p:sp>
    </p:spTree>
    <p:extLst>
      <p:ext uri="{BB962C8B-B14F-4D97-AF65-F5344CB8AC3E}">
        <p14:creationId xmlns:p14="http://schemas.microsoft.com/office/powerpoint/2010/main" val="1651477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Defining defaults for missing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noProof="0" dirty="0"/>
              <a:t>Keyword </a:t>
            </a:r>
            <a:r>
              <a:rPr lang="en-US" b="1" noProof="0" dirty="0"/>
              <a:t>parameters</a:t>
            </a:r>
            <a:r>
              <a:rPr lang="en-US" noProof="0" dirty="0"/>
              <a:t> are used to define defaults for missing arguments</a:t>
            </a:r>
          </a:p>
          <a:p>
            <a:r>
              <a:rPr lang="en-US" noProof="0" dirty="0"/>
              <a:t>Function call:</a:t>
            </a:r>
          </a:p>
          <a:p>
            <a:pPr lvl="1"/>
            <a:r>
              <a:rPr lang="en-US" noProof="0" dirty="0">
                <a:latin typeface="Courier New" panose="02070309020205020404" pitchFamily="49" charset="0"/>
              </a:rPr>
              <a:t>print(multiplier(3))    	# Onscreen: 6</a:t>
            </a:r>
            <a:endParaRPr lang="en-US" sz="2800" noProof="0" dirty="0">
              <a:latin typeface="Courier New" panose="02070309020205020404" pitchFamily="49" charset="0"/>
            </a:endParaRPr>
          </a:p>
          <a:p>
            <a:r>
              <a:rPr lang="en-US" noProof="0" dirty="0"/>
              <a:t>Function definition:</a:t>
            </a:r>
          </a:p>
          <a:p>
            <a:pPr lvl="1"/>
            <a:r>
              <a:rPr lang="en-US" noProof="0" dirty="0">
                <a:latin typeface="Courier New" panose="02070309020205020404" pitchFamily="49" charset="0"/>
              </a:rPr>
              <a:t>def multiplier(first, second=2):</a:t>
            </a:r>
            <a:br>
              <a:rPr lang="en-US" noProof="0" dirty="0">
                <a:latin typeface="Courier New" panose="02070309020205020404" pitchFamily="49" charset="0"/>
              </a:rPr>
            </a:br>
            <a:r>
              <a:rPr lang="en-US" noProof="0" dirty="0">
                <a:latin typeface="Courier New" panose="02070309020205020404" pitchFamily="49" charset="0"/>
              </a:rPr>
              <a:t>    return first * second </a:t>
            </a:r>
          </a:p>
          <a:p>
            <a:r>
              <a:rPr lang="en-US" noProof="0" dirty="0"/>
              <a:t>When the function is called, python attaches the name </a:t>
            </a:r>
            <a:r>
              <a:rPr lang="en-US" sz="2400" noProof="0" dirty="0">
                <a:latin typeface="Courier New" panose="02070309020205020404" pitchFamily="49" charset="0"/>
                <a:cs typeface="Courier New" panose="02070309020205020404" pitchFamily="49" charset="0"/>
              </a:rPr>
              <a:t>first</a:t>
            </a:r>
            <a:r>
              <a:rPr lang="en-US" noProof="0" dirty="0"/>
              <a:t> to the value 3, and the name </a:t>
            </a:r>
            <a:r>
              <a:rPr lang="en-US" sz="2400" noProof="0" dirty="0">
                <a:latin typeface="Courier New" panose="02070309020205020404" pitchFamily="49" charset="0"/>
                <a:cs typeface="Courier New" panose="02070309020205020404" pitchFamily="49" charset="0"/>
              </a:rPr>
              <a:t>second</a:t>
            </a:r>
            <a:r>
              <a:rPr lang="en-US" noProof="0" dirty="0"/>
              <a:t> to second argument and, as there is no second argument, to the default value of 2</a:t>
            </a:r>
          </a:p>
          <a:p>
            <a:r>
              <a:rPr lang="en-US" noProof="0" dirty="0"/>
              <a:t>The names </a:t>
            </a:r>
            <a:r>
              <a:rPr lang="en-US" sz="2400" noProof="0" dirty="0">
                <a:latin typeface="Courier New" panose="02070309020205020404" pitchFamily="49" charset="0"/>
                <a:cs typeface="Courier New" panose="02070309020205020404" pitchFamily="49" charset="0"/>
              </a:rPr>
              <a:t>second</a:t>
            </a:r>
            <a:r>
              <a:rPr lang="en-US" noProof="0" dirty="0"/>
              <a:t> and </a:t>
            </a:r>
            <a:r>
              <a:rPr lang="en-US" sz="2400" noProof="0" dirty="0">
                <a:latin typeface="Courier New" panose="02070309020205020404" pitchFamily="49" charset="0"/>
                <a:cs typeface="Courier New" panose="02070309020205020404" pitchFamily="49" charset="0"/>
              </a:rPr>
              <a:t>first</a:t>
            </a:r>
            <a:r>
              <a:rPr lang="en-US" noProof="0" dirty="0"/>
              <a:t> are local names that are only known inside the function</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34</a:t>
            </a:fld>
            <a:endParaRPr lang="nl-NL"/>
          </a:p>
        </p:txBody>
      </p:sp>
    </p:spTree>
    <p:extLst>
      <p:ext uri="{BB962C8B-B14F-4D97-AF65-F5344CB8AC3E}">
        <p14:creationId xmlns:p14="http://schemas.microsoft.com/office/powerpoint/2010/main" val="318107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Defining defaults for missing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dirty="0"/>
              <a:t>Using defaults looks a lot like keyword arguments, but remember:</a:t>
            </a:r>
          </a:p>
          <a:p>
            <a:pPr lvl="1"/>
            <a:r>
              <a:rPr lang="en-US" noProof="0" dirty="0"/>
              <a:t>Keyword arguments are part of the argument list in the function call,</a:t>
            </a:r>
          </a:p>
          <a:p>
            <a:pPr lvl="1"/>
            <a:r>
              <a:rPr lang="en-US" dirty="0"/>
              <a:t>Defaults are part of the parameter list in the function header</a:t>
            </a:r>
          </a:p>
          <a:p>
            <a:r>
              <a:rPr lang="en-US" noProof="0" dirty="0"/>
              <a:t>You can combine them, what will be the result of</a:t>
            </a:r>
          </a:p>
          <a:p>
            <a:pPr lvl="1"/>
            <a:r>
              <a:rPr lang="en-US" dirty="0">
                <a:latin typeface="Courier New" panose="02070309020205020404" pitchFamily="49" charset="0"/>
              </a:rPr>
              <a:t>print(multiplier(2, second=3))    	</a:t>
            </a:r>
          </a:p>
          <a:p>
            <a:pPr lvl="1"/>
            <a:r>
              <a:rPr lang="en-US" dirty="0">
                <a:latin typeface="Courier New" panose="02070309020205020404" pitchFamily="49" charset="0"/>
              </a:rPr>
              <a:t>def multiplier(first, second=2):</a:t>
            </a:r>
            <a:br>
              <a:rPr lang="en-US" dirty="0">
                <a:latin typeface="Courier New" panose="02070309020205020404" pitchFamily="49" charset="0"/>
              </a:rPr>
            </a:br>
            <a:r>
              <a:rPr lang="en-US" dirty="0">
                <a:latin typeface="Courier New" panose="02070309020205020404" pitchFamily="49" charset="0"/>
              </a:rPr>
              <a:t>    return first * second </a:t>
            </a:r>
          </a:p>
          <a:p>
            <a:r>
              <a:rPr lang="en-US" sz="2400" dirty="0">
                <a:latin typeface="Courier New" panose="02070309020205020404" pitchFamily="49" charset="0"/>
              </a:rPr>
              <a:t># Onscreen: 6</a:t>
            </a:r>
            <a:endParaRPr lang="en-US" dirty="0">
              <a:latin typeface="Courier New" panose="02070309020205020404" pitchFamily="49" charset="0"/>
            </a:endParaRPr>
          </a:p>
          <a:p>
            <a:endParaRPr lang="en-US" sz="2400" noProof="0" dirty="0"/>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35</a:t>
            </a:fld>
            <a:endParaRPr lang="nl-NL"/>
          </a:p>
        </p:txBody>
      </p:sp>
    </p:spTree>
    <p:extLst>
      <p:ext uri="{BB962C8B-B14F-4D97-AF65-F5344CB8AC3E}">
        <p14:creationId xmlns:p14="http://schemas.microsoft.com/office/powerpoint/2010/main" val="323390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B814-7E43-A4A6-072C-C2322F5195FE}"/>
              </a:ext>
            </a:extLst>
          </p:cNvPr>
          <p:cNvSpPr>
            <a:spLocks noGrp="1"/>
          </p:cNvSpPr>
          <p:nvPr>
            <p:ph type="title"/>
          </p:nvPr>
        </p:nvSpPr>
        <p:spPr/>
        <p:txBody>
          <a:bodyPr/>
          <a:lstStyle/>
          <a:p>
            <a:r>
              <a:rPr lang="en-US" dirty="0"/>
              <a:t>A problem with mutable defaults</a:t>
            </a:r>
          </a:p>
        </p:txBody>
      </p:sp>
      <p:sp>
        <p:nvSpPr>
          <p:cNvPr id="3" name="Content Placeholder 2">
            <a:extLst>
              <a:ext uri="{FF2B5EF4-FFF2-40B4-BE49-F238E27FC236}">
                <a16:creationId xmlns:a16="http://schemas.microsoft.com/office/drawing/2014/main" id="{33EEFBDE-46D8-FE96-9426-B182D94D101F}"/>
              </a:ext>
            </a:extLst>
          </p:cNvPr>
          <p:cNvSpPr>
            <a:spLocks noGrp="1"/>
          </p:cNvSpPr>
          <p:nvPr>
            <p:ph idx="1"/>
          </p:nvPr>
        </p:nvSpPr>
        <p:spPr>
          <a:xfrm>
            <a:off x="838200" y="1825624"/>
            <a:ext cx="10515600" cy="5032375"/>
          </a:xfrm>
        </p:spPr>
        <p:txBody>
          <a:bodyPr>
            <a:normAutofit/>
          </a:bodyPr>
          <a:lstStyle/>
          <a:p>
            <a:r>
              <a:rPr lang="en-US" sz="2400" dirty="0">
                <a:latin typeface="Courier New" panose="02070309020205020404" pitchFamily="49" charset="0"/>
              </a:rPr>
              <a:t>def main (addition, l1 = []):</a:t>
            </a:r>
            <a:br>
              <a:rPr lang="en-US" sz="2400" dirty="0">
                <a:latin typeface="Courier New" panose="02070309020205020404" pitchFamily="49" charset="0"/>
              </a:rPr>
            </a:br>
            <a:r>
              <a:rPr lang="en-US" sz="2400" dirty="0">
                <a:latin typeface="Courier New" panose="02070309020205020404" pitchFamily="49" charset="0"/>
              </a:rPr>
              <a:t>    l1.append(addition)</a:t>
            </a:r>
            <a:br>
              <a:rPr lang="en-US" sz="2400" dirty="0">
                <a:latin typeface="Courier New" panose="02070309020205020404" pitchFamily="49" charset="0"/>
              </a:rPr>
            </a:br>
            <a:r>
              <a:rPr lang="en-US" sz="2400" dirty="0">
                <a:latin typeface="Courier New" panose="02070309020205020404" pitchFamily="49" charset="0"/>
              </a:rPr>
              <a:t>    return l1</a:t>
            </a:r>
            <a:br>
              <a:rPr lang="en-US" sz="2400" dirty="0">
                <a:latin typeface="Courier New" panose="02070309020205020404" pitchFamily="49" charset="0"/>
              </a:rPr>
            </a:br>
            <a:r>
              <a:rPr lang="en-US" sz="2400" dirty="0">
                <a:latin typeface="Courier New" panose="02070309020205020404" pitchFamily="49" charset="0"/>
              </a:rPr>
              <a:t>print(main(2))</a:t>
            </a:r>
            <a:br>
              <a:rPr lang="en-US" sz="2400" dirty="0">
                <a:latin typeface="Courier New" panose="02070309020205020404" pitchFamily="49" charset="0"/>
              </a:rPr>
            </a:br>
            <a:r>
              <a:rPr lang="en-US" sz="2400" dirty="0">
                <a:latin typeface="Courier New" panose="02070309020205020404" pitchFamily="49" charset="0"/>
              </a:rPr>
              <a:t>print(main(3))</a:t>
            </a:r>
          </a:p>
          <a:p>
            <a:r>
              <a:rPr lang="en-US" sz="2400" dirty="0"/>
              <a:t>Question: what do you think the result is?</a:t>
            </a:r>
          </a:p>
          <a:p>
            <a:r>
              <a:rPr lang="en-US" sz="2400" noProof="0" dirty="0"/>
              <a:t>It is:		 	</a:t>
            </a:r>
            <a:r>
              <a:rPr lang="en-US" sz="2000" dirty="0">
                <a:latin typeface="Courier New" panose="02070309020205020404" pitchFamily="49" charset="0"/>
              </a:rPr>
              <a:t>[2]</a:t>
            </a:r>
            <a:br>
              <a:rPr lang="en-US" sz="2400" noProof="0" dirty="0"/>
            </a:br>
            <a:r>
              <a:rPr lang="en-US" sz="2400" noProof="0" dirty="0"/>
              <a:t>			</a:t>
            </a:r>
            <a:r>
              <a:rPr lang="en-US" sz="2000" dirty="0">
                <a:latin typeface="Courier New" panose="02070309020205020404" pitchFamily="49" charset="0"/>
              </a:rPr>
              <a:t>[2, 3]</a:t>
            </a:r>
          </a:p>
          <a:p>
            <a:r>
              <a:rPr lang="en-US" sz="2400" noProof="0" dirty="0"/>
              <a:t>The problem is that Python creates an object with the value for the default when it encounters the def statement and that l1 keeps referring to the same object all the time. While that object is changed by the code inside the function</a:t>
            </a:r>
          </a:p>
        </p:txBody>
      </p:sp>
      <p:sp>
        <p:nvSpPr>
          <p:cNvPr id="4" name="Slide Number Placeholder 3">
            <a:extLst>
              <a:ext uri="{FF2B5EF4-FFF2-40B4-BE49-F238E27FC236}">
                <a16:creationId xmlns:a16="http://schemas.microsoft.com/office/drawing/2014/main" id="{268DB201-36EF-AF20-D41F-4430C2EE6F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7257EE-0CEF-4D7E-9E69-5277D6172560}"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308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B814-7E43-A4A6-072C-C2322F5195FE}"/>
              </a:ext>
            </a:extLst>
          </p:cNvPr>
          <p:cNvSpPr>
            <a:spLocks noGrp="1"/>
          </p:cNvSpPr>
          <p:nvPr>
            <p:ph type="title"/>
          </p:nvPr>
        </p:nvSpPr>
        <p:spPr/>
        <p:txBody>
          <a:bodyPr/>
          <a:lstStyle/>
          <a:p>
            <a:r>
              <a:rPr lang="en-US" dirty="0"/>
              <a:t>A problem with mutable defaults</a:t>
            </a:r>
          </a:p>
        </p:txBody>
      </p:sp>
      <p:sp>
        <p:nvSpPr>
          <p:cNvPr id="3" name="Content Placeholder 2">
            <a:extLst>
              <a:ext uri="{FF2B5EF4-FFF2-40B4-BE49-F238E27FC236}">
                <a16:creationId xmlns:a16="http://schemas.microsoft.com/office/drawing/2014/main" id="{33EEFBDE-46D8-FE96-9426-B182D94D101F}"/>
              </a:ext>
            </a:extLst>
          </p:cNvPr>
          <p:cNvSpPr>
            <a:spLocks noGrp="1"/>
          </p:cNvSpPr>
          <p:nvPr>
            <p:ph idx="1"/>
          </p:nvPr>
        </p:nvSpPr>
        <p:spPr>
          <a:xfrm>
            <a:off x="838200" y="1825624"/>
            <a:ext cx="10515600" cy="5032375"/>
          </a:xfrm>
        </p:spPr>
        <p:txBody>
          <a:bodyPr>
            <a:normAutofit/>
          </a:bodyPr>
          <a:lstStyle/>
          <a:p>
            <a:r>
              <a:rPr lang="en-US" sz="2400" noProof="0" dirty="0"/>
              <a:t>You could solve this by never using mutable defaults</a:t>
            </a:r>
          </a:p>
          <a:p>
            <a:r>
              <a:rPr lang="en-US" sz="2400" dirty="0">
                <a:latin typeface="Courier New" panose="02070309020205020404" pitchFamily="49" charset="0"/>
              </a:rPr>
              <a:t>def main (addition, l1 = None):</a:t>
            </a:r>
            <a:br>
              <a:rPr lang="en-US" sz="2400" dirty="0">
                <a:latin typeface="Courier New" panose="02070309020205020404" pitchFamily="49" charset="0"/>
              </a:rPr>
            </a:br>
            <a:r>
              <a:rPr lang="en-US" sz="2400" dirty="0">
                <a:latin typeface="Courier New" panose="02070309020205020404" pitchFamily="49" charset="0"/>
              </a:rPr>
              <a:t>    if l1 is None:</a:t>
            </a:r>
            <a:br>
              <a:rPr lang="en-US" sz="2400" dirty="0">
                <a:latin typeface="Courier New" panose="02070309020205020404" pitchFamily="49" charset="0"/>
              </a:rPr>
            </a:br>
            <a:r>
              <a:rPr lang="en-US" sz="2400" dirty="0">
                <a:latin typeface="Courier New" panose="02070309020205020404" pitchFamily="49" charset="0"/>
              </a:rPr>
              <a:t>        l1 = []</a:t>
            </a:r>
            <a:br>
              <a:rPr lang="en-US" sz="2400" dirty="0">
                <a:latin typeface="Courier New" panose="02070309020205020404" pitchFamily="49" charset="0"/>
              </a:rPr>
            </a:br>
            <a:r>
              <a:rPr lang="en-US" sz="2400" dirty="0">
                <a:latin typeface="Courier New" panose="02070309020205020404" pitchFamily="49" charset="0"/>
              </a:rPr>
              <a:t>    l1 += [addition]</a:t>
            </a:r>
            <a:br>
              <a:rPr lang="en-US" sz="2400" dirty="0">
                <a:latin typeface="Courier New" panose="02070309020205020404" pitchFamily="49" charset="0"/>
              </a:rPr>
            </a:br>
            <a:r>
              <a:rPr lang="en-US" sz="2400" dirty="0">
                <a:latin typeface="Courier New" panose="02070309020205020404" pitchFamily="49" charset="0"/>
              </a:rPr>
              <a:t>    return l1</a:t>
            </a:r>
            <a:br>
              <a:rPr lang="en-US" sz="2400" dirty="0">
                <a:latin typeface="Courier New" panose="02070309020205020404" pitchFamily="49" charset="0"/>
              </a:rPr>
            </a:br>
            <a:r>
              <a:rPr lang="en-US" sz="2400" dirty="0">
                <a:latin typeface="Courier New" panose="02070309020205020404" pitchFamily="49" charset="0"/>
              </a:rPr>
              <a:t>print(main(2))</a:t>
            </a:r>
            <a:br>
              <a:rPr lang="en-US" sz="2400" dirty="0">
                <a:latin typeface="Courier New" panose="02070309020205020404" pitchFamily="49" charset="0"/>
              </a:rPr>
            </a:br>
            <a:r>
              <a:rPr lang="en-US" sz="2400" dirty="0">
                <a:latin typeface="Courier New" panose="02070309020205020404" pitchFamily="49" charset="0"/>
              </a:rPr>
              <a:t>print(main(3))</a:t>
            </a:r>
            <a:endParaRPr lang="en-US" sz="2400" noProof="0" dirty="0"/>
          </a:p>
        </p:txBody>
      </p:sp>
      <p:sp>
        <p:nvSpPr>
          <p:cNvPr id="4" name="Slide Number Placeholder 3">
            <a:extLst>
              <a:ext uri="{FF2B5EF4-FFF2-40B4-BE49-F238E27FC236}">
                <a16:creationId xmlns:a16="http://schemas.microsoft.com/office/drawing/2014/main" id="{268DB201-36EF-AF20-D41F-4430C2EE6F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7257EE-0CEF-4D7E-9E69-5277D6172560}" type="slidenum">
              <a:rPr kumimoji="0" lang="nl-N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nl-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726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Methods without arguments?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b="0" i="0" noProof="0" dirty="0">
                <a:solidFill>
                  <a:srgbClr val="202124"/>
                </a:solidFill>
                <a:effectLst/>
              </a:rPr>
              <a:t>A method is </a:t>
            </a:r>
            <a:r>
              <a:rPr lang="en-US" sz="2400" b="0" i="0" noProof="0" dirty="0">
                <a:solidFill>
                  <a:srgbClr val="040C28"/>
                </a:solidFill>
                <a:effectLst/>
              </a:rPr>
              <a:t>a function that 'belongs to' an object</a:t>
            </a:r>
            <a:endParaRPr lang="en-US" sz="2400" noProof="0" dirty="0"/>
          </a:p>
          <a:p>
            <a:r>
              <a:rPr lang="en-US" sz="2400" noProof="0" dirty="0"/>
              <a:t>It often seems as if methods are called without arguments:</a:t>
            </a:r>
            <a:endParaRPr lang="en-US" sz="2400" noProof="0" dirty="0">
              <a:latin typeface="Courier New" panose="02070309020205020404" pitchFamily="49" charset="0"/>
            </a:endParaRPr>
          </a:p>
          <a:p>
            <a:pPr lvl="1"/>
            <a:r>
              <a:rPr lang="en-US" sz="2000" noProof="0" dirty="0">
                <a:latin typeface="Courier New" panose="02070309020205020404" pitchFamily="49" charset="0"/>
              </a:rPr>
              <a:t>l1 = [1,2,3]</a:t>
            </a:r>
            <a:br>
              <a:rPr lang="en-US" sz="2000" noProof="0" dirty="0">
                <a:latin typeface="Courier New" panose="02070309020205020404" pitchFamily="49" charset="0"/>
              </a:rPr>
            </a:br>
            <a:r>
              <a:rPr lang="en-US" sz="2000" noProof="0" dirty="0">
                <a:latin typeface="Courier New" panose="02070309020205020404" pitchFamily="49" charset="0"/>
              </a:rPr>
              <a:t>l1.sort()</a:t>
            </a:r>
            <a:br>
              <a:rPr lang="en-US" sz="2000" noProof="0" dirty="0">
                <a:latin typeface="Courier New" panose="02070309020205020404" pitchFamily="49" charset="0"/>
              </a:rPr>
            </a:br>
            <a:r>
              <a:rPr lang="en-US" sz="2000" noProof="0" dirty="0">
                <a:latin typeface="Courier New" panose="02070309020205020404" pitchFamily="49" charset="0"/>
              </a:rPr>
              <a:t>print(l1)</a:t>
            </a:r>
          </a:p>
          <a:p>
            <a:r>
              <a:rPr lang="en-US" sz="2400" noProof="0" dirty="0"/>
              <a:t>But under the hood:</a:t>
            </a:r>
          </a:p>
          <a:p>
            <a:pPr lvl="1"/>
            <a:r>
              <a:rPr lang="en-US" sz="2000" noProof="0" dirty="0">
                <a:latin typeface="Courier New" panose="02070309020205020404" pitchFamily="49" charset="0"/>
              </a:rPr>
              <a:t>l1 = [1,2,4]</a:t>
            </a:r>
            <a:br>
              <a:rPr lang="en-US" sz="2000" noProof="0" dirty="0">
                <a:latin typeface="Courier New" panose="02070309020205020404" pitchFamily="49" charset="0"/>
              </a:rPr>
            </a:br>
            <a:r>
              <a:rPr lang="en-US" sz="2000" noProof="0" dirty="0" err="1">
                <a:latin typeface="Courier New" panose="02070309020205020404" pitchFamily="49" charset="0"/>
              </a:rPr>
              <a:t>list.sort</a:t>
            </a:r>
            <a:r>
              <a:rPr lang="en-US" sz="2000" noProof="0" dirty="0">
                <a:latin typeface="Courier New" panose="02070309020205020404" pitchFamily="49" charset="0"/>
              </a:rPr>
              <a:t>(l1)</a:t>
            </a:r>
            <a:br>
              <a:rPr lang="en-US" sz="2000" noProof="0" dirty="0">
                <a:latin typeface="Courier New" panose="02070309020205020404" pitchFamily="49" charset="0"/>
              </a:rPr>
            </a:br>
            <a:r>
              <a:rPr lang="en-US" sz="2000" noProof="0" dirty="0">
                <a:latin typeface="Courier New" panose="02070309020205020404" pitchFamily="49" charset="0"/>
              </a:rPr>
              <a:t>print(l1)</a:t>
            </a:r>
          </a:p>
          <a:p>
            <a:r>
              <a:rPr lang="en-US" sz="2400" noProof="0" dirty="0"/>
              <a:t>So, the dot does do the same as putting the object as the first argument, between the round brackets</a:t>
            </a:r>
          </a:p>
          <a:p>
            <a:r>
              <a:rPr lang="en-US" sz="2400" noProof="0" dirty="0"/>
              <a:t>When we discuss OO-design it will be clear to you what this means</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38</a:t>
            </a:fld>
            <a:endParaRPr lang="nl-NL"/>
          </a:p>
        </p:txBody>
      </p:sp>
    </p:spTree>
    <p:extLst>
      <p:ext uri="{BB962C8B-B14F-4D97-AF65-F5344CB8AC3E}">
        <p14:creationId xmlns:p14="http://schemas.microsoft.com/office/powerpoint/2010/main" val="15273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Lambda functions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noProof="0" dirty="0"/>
              <a:t>Consider the following lambda function:</a:t>
            </a:r>
          </a:p>
          <a:p>
            <a:pPr lvl="1"/>
            <a:r>
              <a:rPr lang="en-US" noProof="0" dirty="0" err="1">
                <a:latin typeface="Courier New" panose="02070309020205020404" pitchFamily="49" charset="0"/>
              </a:rPr>
              <a:t>add_two_numbers</a:t>
            </a:r>
            <a:r>
              <a:rPr lang="en-US" noProof="0" dirty="0">
                <a:latin typeface="Courier New" panose="02070309020205020404" pitchFamily="49" charset="0"/>
              </a:rPr>
              <a:t> = lambda </a:t>
            </a:r>
            <a:r>
              <a:rPr lang="en-US" noProof="0" dirty="0" err="1">
                <a:latin typeface="Courier New" panose="02070309020205020404" pitchFamily="49" charset="0"/>
              </a:rPr>
              <a:t>x,y</a:t>
            </a:r>
            <a:r>
              <a:rPr lang="en-US" noProof="0" dirty="0">
                <a:latin typeface="Courier New" panose="02070309020205020404" pitchFamily="49" charset="0"/>
              </a:rPr>
              <a:t>: x + y</a:t>
            </a:r>
            <a:br>
              <a:rPr lang="en-US" noProof="0" dirty="0">
                <a:latin typeface="Courier New" panose="02070309020205020404" pitchFamily="49" charset="0"/>
              </a:rPr>
            </a:br>
            <a:r>
              <a:rPr lang="en-US" noProof="0" dirty="0">
                <a:latin typeface="Courier New" panose="02070309020205020404" pitchFamily="49" charset="0"/>
              </a:rPr>
              <a:t>print(</a:t>
            </a:r>
            <a:r>
              <a:rPr lang="en-US" noProof="0" dirty="0" err="1">
                <a:latin typeface="Courier New" panose="02070309020205020404" pitchFamily="49" charset="0"/>
              </a:rPr>
              <a:t>add_two_numbers</a:t>
            </a:r>
            <a:r>
              <a:rPr lang="en-US" noProof="0" dirty="0">
                <a:latin typeface="Courier New" panose="02070309020205020404" pitchFamily="49" charset="0"/>
              </a:rPr>
              <a:t>(1,2))</a:t>
            </a:r>
          </a:p>
          <a:p>
            <a:r>
              <a:rPr lang="en-US" noProof="0" dirty="0"/>
              <a:t>You could do the same as follows:</a:t>
            </a:r>
          </a:p>
          <a:p>
            <a:pPr lvl="1"/>
            <a:r>
              <a:rPr lang="en-US" noProof="0" dirty="0">
                <a:latin typeface="Courier New" panose="02070309020205020404" pitchFamily="49" charset="0"/>
              </a:rPr>
              <a:t>def </a:t>
            </a:r>
            <a:r>
              <a:rPr lang="en-US" noProof="0" dirty="0" err="1">
                <a:latin typeface="Courier New" panose="02070309020205020404" pitchFamily="49" charset="0"/>
              </a:rPr>
              <a:t>add_two_numbers</a:t>
            </a:r>
            <a:r>
              <a:rPr lang="en-US" noProof="0" dirty="0">
                <a:latin typeface="Courier New" panose="02070309020205020404" pitchFamily="49" charset="0"/>
              </a:rPr>
              <a:t> (</a:t>
            </a:r>
            <a:r>
              <a:rPr lang="en-US" noProof="0" dirty="0" err="1">
                <a:latin typeface="Courier New" panose="02070309020205020404" pitchFamily="49" charset="0"/>
              </a:rPr>
              <a:t>x,y</a:t>
            </a:r>
            <a:r>
              <a:rPr lang="en-US" noProof="0" dirty="0">
                <a:latin typeface="Courier New" panose="02070309020205020404" pitchFamily="49" charset="0"/>
              </a:rPr>
              <a:t>):</a:t>
            </a:r>
            <a:br>
              <a:rPr lang="en-US" noProof="0" dirty="0">
                <a:latin typeface="Courier New" panose="02070309020205020404" pitchFamily="49" charset="0"/>
              </a:rPr>
            </a:br>
            <a:r>
              <a:rPr lang="en-US" noProof="0" dirty="0">
                <a:latin typeface="Courier New" panose="02070309020205020404" pitchFamily="49" charset="0"/>
              </a:rPr>
              <a:t>    return </a:t>
            </a:r>
            <a:r>
              <a:rPr lang="en-US" noProof="0" dirty="0" err="1">
                <a:latin typeface="Courier New" panose="02070309020205020404" pitchFamily="49" charset="0"/>
              </a:rPr>
              <a:t>x+y</a:t>
            </a:r>
            <a:br>
              <a:rPr lang="en-US" noProof="0" dirty="0">
                <a:latin typeface="Courier New" panose="02070309020205020404" pitchFamily="49" charset="0"/>
              </a:rPr>
            </a:br>
            <a:r>
              <a:rPr lang="en-US" noProof="0" dirty="0">
                <a:latin typeface="Courier New" panose="02070309020205020404" pitchFamily="49" charset="0"/>
              </a:rPr>
              <a:t>print(</a:t>
            </a:r>
            <a:r>
              <a:rPr lang="en-US" noProof="0" dirty="0" err="1">
                <a:latin typeface="Courier New" panose="02070309020205020404" pitchFamily="49" charset="0"/>
              </a:rPr>
              <a:t>add_two_numbers</a:t>
            </a:r>
            <a:r>
              <a:rPr lang="en-US" noProof="0" dirty="0">
                <a:latin typeface="Courier New" panose="02070309020205020404" pitchFamily="49" charset="0"/>
              </a:rPr>
              <a:t>(1,2))</a:t>
            </a:r>
          </a:p>
          <a:p>
            <a:r>
              <a:rPr lang="en-US" noProof="0" dirty="0"/>
              <a:t>So, what's the fun?</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39</a:t>
            </a:fld>
            <a:endParaRPr lang="nl-NL"/>
          </a:p>
        </p:txBody>
      </p:sp>
    </p:spTree>
    <p:extLst>
      <p:ext uri="{BB962C8B-B14F-4D97-AF65-F5344CB8AC3E}">
        <p14:creationId xmlns:p14="http://schemas.microsoft.com/office/powerpoint/2010/main" val="320991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Lambda functions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0" y="1186658"/>
            <a:ext cx="12192000" cy="5276849"/>
          </a:xfrm>
        </p:spPr>
        <p:txBody>
          <a:bodyPr>
            <a:noAutofit/>
          </a:bodyPr>
          <a:lstStyle/>
          <a:p>
            <a:r>
              <a:rPr lang="en-US" sz="2400" dirty="0"/>
              <a:t>Lambda functions are useful in combination with the map function:</a:t>
            </a:r>
          </a:p>
          <a:p>
            <a:pPr lvl="1"/>
            <a:r>
              <a:rPr lang="en-US" sz="2000" dirty="0">
                <a:latin typeface="Courier New" panose="02070309020205020404" pitchFamily="49" charset="0"/>
              </a:rPr>
              <a:t>l1 = [1, 2, 3, 4, 5, 6]</a:t>
            </a:r>
            <a:br>
              <a:rPr lang="en-US" sz="2000" dirty="0">
                <a:latin typeface="Courier New" panose="02070309020205020404" pitchFamily="49" charset="0"/>
              </a:rPr>
            </a:br>
            <a:r>
              <a:rPr lang="en-US" sz="2000" dirty="0">
                <a:latin typeface="Courier New" panose="02070309020205020404" pitchFamily="49" charset="0"/>
              </a:rPr>
              <a:t>print(list(map(lambda x: x * 2, l1)))	# Onscreen: </a:t>
            </a:r>
            <a:r>
              <a:rPr lang="en-US" altLang="en-US" sz="2000" dirty="0">
                <a:solidFill>
                  <a:srgbClr val="000000"/>
                </a:solidFill>
                <a:latin typeface="Courier New" panose="02070309020205020404" pitchFamily="49" charset="0"/>
              </a:rPr>
              <a:t>[2, 4, 6, 8, 10, 12]</a:t>
            </a:r>
            <a:r>
              <a:rPr lang="en-US" altLang="en-US" sz="1600" dirty="0"/>
              <a:t> </a:t>
            </a:r>
            <a:r>
              <a:rPr lang="en-US" sz="2000" dirty="0">
                <a:latin typeface="Courier New" panose="02070309020205020404" pitchFamily="49" charset="0"/>
              </a:rPr>
              <a:t> </a:t>
            </a:r>
          </a:p>
          <a:p>
            <a:r>
              <a:rPr lang="en-US" sz="2400" dirty="0"/>
              <a:t>With the filter function:</a:t>
            </a:r>
          </a:p>
          <a:p>
            <a:pPr lvl="1"/>
            <a:r>
              <a:rPr lang="en-US" sz="2000" dirty="0">
                <a:latin typeface="Courier New" panose="02070309020205020404" pitchFamily="49" charset="0"/>
              </a:rPr>
              <a:t>l1 = [1, 2, 3, 4, 5, 6]</a:t>
            </a:r>
            <a:br>
              <a:rPr lang="en-US" sz="2000" dirty="0">
                <a:latin typeface="Courier New" panose="02070309020205020404" pitchFamily="49" charset="0"/>
              </a:rPr>
            </a:br>
            <a:r>
              <a:rPr lang="en-US" sz="2000" dirty="0">
                <a:latin typeface="Courier New" panose="02070309020205020404" pitchFamily="49" charset="0"/>
              </a:rPr>
              <a:t>print(list(filter(lambda x: not x % 2, l1)))# Onscreen: [2, 4, 6]</a:t>
            </a:r>
          </a:p>
          <a:p>
            <a:r>
              <a:rPr lang="en-US" sz="2400" dirty="0"/>
              <a:t>Note: you need the list function to convert a map or filter into a list, otherwise you get:</a:t>
            </a:r>
          </a:p>
          <a:p>
            <a:pPr lvl="1"/>
            <a:r>
              <a:rPr lang="en-US" sz="2000" dirty="0"/>
              <a:t> </a:t>
            </a:r>
            <a:r>
              <a:rPr lang="en-US" sz="2000" dirty="0">
                <a:latin typeface="Courier New" panose="02070309020205020404" pitchFamily="49" charset="0"/>
              </a:rPr>
              <a:t>print(map(lambda x: x * 2, l1))</a:t>
            </a:r>
            <a:br>
              <a:rPr lang="en-US" sz="2000" dirty="0">
                <a:latin typeface="Courier New" panose="02070309020205020404" pitchFamily="49" charset="0"/>
              </a:rPr>
            </a:br>
            <a:r>
              <a:rPr lang="en-US" sz="2000" dirty="0">
                <a:latin typeface="Courier New" panose="02070309020205020404" pitchFamily="49" charset="0"/>
              </a:rPr>
              <a:t># Onscreen: </a:t>
            </a:r>
            <a:r>
              <a:rPr lang="en-US" altLang="nl-NL" sz="2000" dirty="0">
                <a:solidFill>
                  <a:srgbClr val="000000"/>
                </a:solidFill>
                <a:latin typeface="Courier New" panose="02070309020205020404" pitchFamily="49" charset="0"/>
              </a:rPr>
              <a:t>&lt;map object at 0x000001E5136D77F0&gt;</a:t>
            </a:r>
            <a:r>
              <a:rPr lang="en-US" sz="2000" dirty="0"/>
              <a:t>    </a:t>
            </a:r>
          </a:p>
          <a:p>
            <a:r>
              <a:rPr lang="en-US" sz="2400" dirty="0"/>
              <a:t>With the reduce function:</a:t>
            </a:r>
          </a:p>
          <a:p>
            <a:pPr lvl="1"/>
            <a:r>
              <a:rPr lang="en-US" sz="2000" dirty="0">
                <a:latin typeface="Courier New" panose="02070309020205020404" pitchFamily="49" charset="0"/>
              </a:rPr>
              <a:t>from </a:t>
            </a:r>
            <a:r>
              <a:rPr lang="en-US" sz="2000" dirty="0" err="1">
                <a:latin typeface="Courier New" panose="02070309020205020404" pitchFamily="49" charset="0"/>
              </a:rPr>
              <a:t>functools</a:t>
            </a:r>
            <a:r>
              <a:rPr lang="en-US" sz="2000" dirty="0">
                <a:latin typeface="Courier New" panose="02070309020205020404" pitchFamily="49" charset="0"/>
              </a:rPr>
              <a:t> import reduce</a:t>
            </a:r>
            <a:br>
              <a:rPr lang="en-US" sz="2000" dirty="0">
                <a:latin typeface="Courier New" panose="02070309020205020404" pitchFamily="49" charset="0"/>
              </a:rPr>
            </a:br>
            <a:r>
              <a:rPr lang="en-US" sz="2000" dirty="0">
                <a:latin typeface="Courier New" panose="02070309020205020404" pitchFamily="49" charset="0"/>
              </a:rPr>
              <a:t>l1 = [1, 2, 3, 4, 5, 6]</a:t>
            </a:r>
            <a:br>
              <a:rPr lang="en-US" sz="2000" dirty="0">
                <a:latin typeface="Courier New" panose="02070309020205020404" pitchFamily="49" charset="0"/>
              </a:rPr>
            </a:br>
            <a:r>
              <a:rPr lang="en-US" sz="2000" dirty="0">
                <a:latin typeface="Courier New" panose="02070309020205020404" pitchFamily="49" charset="0"/>
              </a:rPr>
              <a:t>print(reduce(lambda x, y: x*y, l1)) # Onscreen: 720</a:t>
            </a:r>
          </a:p>
          <a:p>
            <a:pPr lvl="1"/>
            <a:endParaRPr lang="en-US" sz="2000" dirty="0">
              <a:latin typeface="Courier New" panose="02070309020205020404" pitchFamily="49" charset="0"/>
            </a:endParaRPr>
          </a:p>
          <a:p>
            <a:pPr lvl="1"/>
            <a:endParaRPr lang="en-US" sz="2000" dirty="0">
              <a:latin typeface="Courier New" panose="02070309020205020404" pitchFamily="49" charset="0"/>
            </a:endParaRPr>
          </a:p>
          <a:p>
            <a:pPr lvl="1"/>
            <a:endParaRPr lang="en-US" sz="200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40</a:t>
            </a:fld>
            <a:endParaRPr lang="nl-NL"/>
          </a:p>
        </p:txBody>
      </p:sp>
    </p:spTree>
    <p:extLst>
      <p:ext uri="{BB962C8B-B14F-4D97-AF65-F5344CB8AC3E}">
        <p14:creationId xmlns:p14="http://schemas.microsoft.com/office/powerpoint/2010/main" val="362080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Lambda functions </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0" y="1186658"/>
            <a:ext cx="12192000" cy="5276849"/>
          </a:xfrm>
        </p:spPr>
        <p:txBody>
          <a:bodyPr>
            <a:noAutofit/>
          </a:bodyPr>
          <a:lstStyle/>
          <a:p>
            <a:r>
              <a:rPr lang="en-US" sz="2000" dirty="0"/>
              <a:t>Lambda functions are useful in combination </a:t>
            </a:r>
            <a:r>
              <a:rPr lang="en-US" sz="2000" noProof="0" dirty="0"/>
              <a:t>with the sort method and the sorted function:</a:t>
            </a:r>
          </a:p>
          <a:p>
            <a:pPr lvl="1"/>
            <a:r>
              <a:rPr lang="en-US" sz="2000" noProof="0" dirty="0"/>
              <a:t>Sorted function without using the key parameter:  </a:t>
            </a:r>
          </a:p>
          <a:p>
            <a:pPr lvl="2"/>
            <a:r>
              <a:rPr lang="en-US" dirty="0">
                <a:latin typeface="Courier New" panose="02070309020205020404" pitchFamily="49" charset="0"/>
              </a:rPr>
              <a:t>l1=['</a:t>
            </a:r>
            <a:r>
              <a:rPr lang="en-US" dirty="0" err="1">
                <a:latin typeface="Courier New" panose="02070309020205020404" pitchFamily="49" charset="0"/>
              </a:rPr>
              <a:t>aaa</a:t>
            </a:r>
            <a:r>
              <a:rPr lang="en-US" dirty="0">
                <a:latin typeface="Courier New" panose="02070309020205020404" pitchFamily="49" charset="0"/>
              </a:rPr>
              <a:t>', 'c', '</a:t>
            </a:r>
            <a:r>
              <a:rPr lang="en-US" dirty="0" err="1">
                <a:latin typeface="Courier New" panose="02070309020205020404" pitchFamily="49" charset="0"/>
              </a:rPr>
              <a:t>baab</a:t>
            </a:r>
            <a:r>
              <a:rPr lang="en-US" dirty="0">
                <a:latin typeface="Courier New" panose="02070309020205020404" pitchFamily="49" charset="0"/>
              </a:rPr>
              <a:t>'] </a:t>
            </a:r>
            <a:br>
              <a:rPr lang="en-US" dirty="0">
                <a:latin typeface="Courier New" panose="02070309020205020404" pitchFamily="49" charset="0"/>
              </a:rPr>
            </a:br>
            <a:r>
              <a:rPr lang="en-US" dirty="0">
                <a:latin typeface="Courier New" panose="02070309020205020404" pitchFamily="49" charset="0"/>
              </a:rPr>
              <a:t>print</a:t>
            </a:r>
            <a:r>
              <a:rPr lang="en-US" noProof="0" dirty="0">
                <a:latin typeface="Courier New" panose="02070309020205020404" pitchFamily="49" charset="0"/>
              </a:rPr>
              <a:t>(sorted(l1)) </a:t>
            </a:r>
            <a:br>
              <a:rPr lang="en-US" noProof="0" dirty="0">
                <a:latin typeface="Courier New" panose="02070309020205020404" pitchFamily="49" charset="0"/>
              </a:rPr>
            </a:br>
            <a:r>
              <a:rPr lang="en-US" noProof="0" dirty="0">
                <a:latin typeface="Courier New" panose="02070309020205020404" pitchFamily="49" charset="0"/>
              </a:rPr>
              <a:t>		# Onscreen: ['</a:t>
            </a:r>
            <a:r>
              <a:rPr lang="en-US" noProof="0" dirty="0" err="1">
                <a:latin typeface="Courier New" panose="02070309020205020404" pitchFamily="49" charset="0"/>
              </a:rPr>
              <a:t>aaa</a:t>
            </a:r>
            <a:r>
              <a:rPr lang="en-US" noProof="0" dirty="0">
                <a:latin typeface="Courier New" panose="02070309020205020404" pitchFamily="49" charset="0"/>
              </a:rPr>
              <a:t>', '</a:t>
            </a:r>
            <a:r>
              <a:rPr lang="en-US" noProof="0" dirty="0" err="1">
                <a:latin typeface="Courier New" panose="02070309020205020404" pitchFamily="49" charset="0"/>
              </a:rPr>
              <a:t>baab</a:t>
            </a:r>
            <a:r>
              <a:rPr lang="en-US" noProof="0" dirty="0">
                <a:latin typeface="Courier New" panose="02070309020205020404" pitchFamily="49" charset="0"/>
              </a:rPr>
              <a:t>', 'c']</a:t>
            </a:r>
          </a:p>
          <a:p>
            <a:pPr lvl="1"/>
            <a:r>
              <a:rPr lang="en-US" sz="2000" noProof="0" dirty="0"/>
              <a:t>Sorted function with using the key parameter:  </a:t>
            </a:r>
          </a:p>
          <a:p>
            <a:pPr lvl="2"/>
            <a:r>
              <a:rPr lang="en-US" noProof="0" dirty="0">
                <a:latin typeface="Courier New" panose="02070309020205020404" pitchFamily="49" charset="0"/>
              </a:rPr>
              <a:t>print(sorted(l1, key = lambda x: </a:t>
            </a:r>
            <a:r>
              <a:rPr lang="en-US" noProof="0" dirty="0" err="1">
                <a:latin typeface="Courier New" panose="02070309020205020404" pitchFamily="49" charset="0"/>
              </a:rPr>
              <a:t>x.count</a:t>
            </a:r>
            <a:r>
              <a:rPr lang="en-US" noProof="0" dirty="0">
                <a:latin typeface="Courier New" panose="02070309020205020404" pitchFamily="49" charset="0"/>
              </a:rPr>
              <a:t>('a')))</a:t>
            </a:r>
            <a:br>
              <a:rPr lang="en-US" noProof="0" dirty="0">
                <a:latin typeface="Courier New" panose="02070309020205020404" pitchFamily="49" charset="0"/>
              </a:rPr>
            </a:br>
            <a:r>
              <a:rPr lang="en-US" noProof="0" dirty="0">
                <a:latin typeface="Courier New" panose="02070309020205020404" pitchFamily="49" charset="0"/>
              </a:rPr>
              <a:t>		# Onscreen: ['c', '</a:t>
            </a:r>
            <a:r>
              <a:rPr lang="en-US" noProof="0" dirty="0" err="1">
                <a:latin typeface="Courier New" panose="02070309020205020404" pitchFamily="49" charset="0"/>
              </a:rPr>
              <a:t>baab</a:t>
            </a:r>
            <a:r>
              <a:rPr lang="en-US" noProof="0" dirty="0">
                <a:latin typeface="Courier New" panose="02070309020205020404" pitchFamily="49" charset="0"/>
              </a:rPr>
              <a:t>', '</a:t>
            </a:r>
            <a:r>
              <a:rPr lang="en-US" noProof="0" dirty="0" err="1">
                <a:latin typeface="Courier New" panose="02070309020205020404" pitchFamily="49" charset="0"/>
              </a:rPr>
              <a:t>aaa</a:t>
            </a:r>
            <a:r>
              <a:rPr lang="en-US" noProof="0" dirty="0">
                <a:latin typeface="Courier New" panose="02070309020205020404" pitchFamily="49" charset="0"/>
              </a:rPr>
              <a:t>']</a:t>
            </a:r>
          </a:p>
          <a:p>
            <a:r>
              <a:rPr lang="en-US" sz="2000" noProof="0" dirty="0"/>
              <a:t>Normal functions can also be used with the key parameter:</a:t>
            </a:r>
          </a:p>
          <a:p>
            <a:pPr lvl="1"/>
            <a:r>
              <a:rPr lang="en-US" sz="2000" noProof="0" dirty="0">
                <a:latin typeface="Courier New" panose="02070309020205020404" pitchFamily="49" charset="0"/>
              </a:rPr>
              <a:t>print(sorted(l1, key = </a:t>
            </a:r>
            <a:r>
              <a:rPr lang="en-US" sz="2000" noProof="0" dirty="0" err="1">
                <a:latin typeface="Courier New" panose="02070309020205020404" pitchFamily="49" charset="0"/>
              </a:rPr>
              <a:t>len</a:t>
            </a:r>
            <a:r>
              <a:rPr lang="en-US" sz="2000" noProof="0" dirty="0">
                <a:latin typeface="Courier New" panose="02070309020205020404" pitchFamily="49" charset="0"/>
              </a:rPr>
              <a:t>)) # Onscreen: ['c', '</a:t>
            </a:r>
            <a:r>
              <a:rPr lang="en-US" sz="2000" noProof="0" dirty="0" err="1">
                <a:latin typeface="Courier New" panose="02070309020205020404" pitchFamily="49" charset="0"/>
              </a:rPr>
              <a:t>aaa</a:t>
            </a:r>
            <a:r>
              <a:rPr lang="en-US" sz="2000" noProof="0" dirty="0">
                <a:latin typeface="Courier New" panose="02070309020205020404" pitchFamily="49" charset="0"/>
              </a:rPr>
              <a:t>', '</a:t>
            </a:r>
            <a:r>
              <a:rPr lang="en-US" sz="2000" noProof="0" dirty="0" err="1">
                <a:latin typeface="Courier New" panose="02070309020205020404" pitchFamily="49" charset="0"/>
              </a:rPr>
              <a:t>baab</a:t>
            </a:r>
            <a:r>
              <a:rPr lang="en-US" sz="2000" noProof="0" dirty="0">
                <a:latin typeface="Courier New" panose="02070309020205020404" pitchFamily="49" charset="0"/>
              </a:rPr>
              <a:t>']</a:t>
            </a:r>
          </a:p>
          <a:p>
            <a:r>
              <a:rPr lang="en-US" sz="2000" dirty="0"/>
              <a:t>The max function has also an optional key parameter, that works the same:</a:t>
            </a:r>
          </a:p>
          <a:p>
            <a:pPr lvl="1"/>
            <a:r>
              <a:rPr lang="en-US" sz="2000" dirty="0">
                <a:latin typeface="Courier New" panose="02070309020205020404" pitchFamily="49" charset="0"/>
              </a:rPr>
              <a:t>d = {'a': 2, 'b': 1}</a:t>
            </a:r>
            <a:br>
              <a:rPr lang="en-US" sz="2000" dirty="0">
                <a:latin typeface="Courier New" panose="02070309020205020404" pitchFamily="49" charset="0"/>
              </a:rPr>
            </a:br>
            <a:r>
              <a:rPr lang="en-US" sz="2000" dirty="0">
                <a:latin typeface="Courier New" panose="02070309020205020404" pitchFamily="49" charset="0"/>
              </a:rPr>
              <a:t>print(max(</a:t>
            </a:r>
            <a:r>
              <a:rPr lang="en-US" sz="2000" dirty="0" err="1">
                <a:latin typeface="Courier New" panose="02070309020205020404" pitchFamily="49" charset="0"/>
              </a:rPr>
              <a:t>d.items</a:t>
            </a:r>
            <a:r>
              <a:rPr lang="en-US" sz="2000" dirty="0">
                <a:latin typeface="Courier New" panose="02070309020205020404" pitchFamily="49" charset="0"/>
              </a:rPr>
              <a:t>()))				# Onscreen: ('b', 1)</a:t>
            </a:r>
          </a:p>
          <a:p>
            <a:pPr lvl="1"/>
            <a:r>
              <a:rPr lang="en-US" sz="2000" dirty="0">
                <a:latin typeface="Courier New" panose="02070309020205020404" pitchFamily="49" charset="0"/>
              </a:rPr>
              <a:t>print(max(</a:t>
            </a:r>
            <a:r>
              <a:rPr lang="en-US" sz="2000" dirty="0" err="1">
                <a:latin typeface="Courier New" panose="02070309020205020404" pitchFamily="49" charset="0"/>
              </a:rPr>
              <a:t>d.items</a:t>
            </a:r>
            <a:r>
              <a:rPr lang="en-US" sz="2000" dirty="0">
                <a:latin typeface="Courier New" panose="02070309020205020404" pitchFamily="49" charset="0"/>
              </a:rPr>
              <a:t>(), key = lambda x: x[1]))	# Onscreen: ('a', 2)   </a:t>
            </a:r>
          </a:p>
          <a:p>
            <a:pPr lvl="1"/>
            <a:endParaRPr lang="en-US" sz="2000" noProof="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41</a:t>
            </a:fld>
            <a:endParaRPr lang="nl-NL"/>
          </a:p>
        </p:txBody>
      </p:sp>
    </p:spTree>
    <p:extLst>
      <p:ext uri="{BB962C8B-B14F-4D97-AF65-F5344CB8AC3E}">
        <p14:creationId xmlns:p14="http://schemas.microsoft.com/office/powerpoint/2010/main" val="348056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Programming Notes: different type of loops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000" noProof="0" dirty="0"/>
              <a:t>You have a list with integers called </a:t>
            </a:r>
            <a:r>
              <a:rPr lang="en-US" sz="2000" noProof="0" dirty="0">
                <a:latin typeface="Courier New" panose="02070309020205020404" pitchFamily="49" charset="0"/>
                <a:cs typeface="Courier New" panose="02070309020205020404" pitchFamily="49" charset="0"/>
              </a:rPr>
              <a:t>x, </a:t>
            </a:r>
            <a:r>
              <a:rPr lang="en-US" sz="2000" noProof="0" dirty="0"/>
              <a:t>If an integer &lt;  10 double it, &gt; 10 halve it, and if == 10 you ignore it   </a:t>
            </a:r>
          </a:p>
          <a:p>
            <a:pPr marL="457200" indent="-457200">
              <a:buFont typeface="+mj-lt"/>
              <a:buAutoNum type="arabicPeriod"/>
            </a:pPr>
            <a:r>
              <a:rPr lang="en-US" sz="2000" dirty="0"/>
              <a:t>For-loop:</a:t>
            </a:r>
          </a:p>
          <a:p>
            <a:pPr marL="457200" lvl="1" indent="0">
              <a:buNone/>
            </a:pPr>
            <a:r>
              <a:rPr lang="en-US" sz="2000" dirty="0">
                <a:latin typeface="Courier New" panose="02070309020205020404" pitchFamily="49" charset="0"/>
              </a:rPr>
              <a:t>result = []</a:t>
            </a:r>
          </a:p>
          <a:p>
            <a:pPr marL="457200" lvl="1" indent="0">
              <a:buNone/>
            </a:pPr>
            <a:r>
              <a:rPr lang="en-US" sz="2000" dirty="0">
                <a:latin typeface="Courier New" panose="02070309020205020404" pitchFamily="49" charset="0"/>
              </a:rPr>
              <a:t>for </a:t>
            </a:r>
            <a:r>
              <a:rPr lang="en-US" sz="2000" dirty="0" err="1">
                <a:latin typeface="Courier New" panose="02070309020205020404" pitchFamily="49" charset="0"/>
              </a:rPr>
              <a:t>el</a:t>
            </a:r>
            <a:r>
              <a:rPr lang="en-US" sz="2000" dirty="0">
                <a:latin typeface="Courier New" panose="02070309020205020404" pitchFamily="49" charset="0"/>
              </a:rPr>
              <a:t> in x:</a:t>
            </a:r>
          </a:p>
          <a:p>
            <a:pPr marL="457200" lvl="1" indent="0">
              <a:buNone/>
            </a:pPr>
            <a:r>
              <a:rPr lang="en-US" sz="2000" dirty="0">
                <a:latin typeface="Courier New" panose="02070309020205020404" pitchFamily="49" charset="0"/>
              </a:rPr>
              <a:t>    if </a:t>
            </a:r>
            <a:r>
              <a:rPr lang="en-US" sz="2000" dirty="0" err="1">
                <a:latin typeface="Courier New" panose="02070309020205020404" pitchFamily="49" charset="0"/>
              </a:rPr>
              <a:t>el</a:t>
            </a:r>
            <a:r>
              <a:rPr lang="en-US" sz="2000" dirty="0">
                <a:latin typeface="Courier New" panose="02070309020205020404" pitchFamily="49" charset="0"/>
              </a:rPr>
              <a:t> != 10:</a:t>
            </a:r>
          </a:p>
          <a:p>
            <a:pPr marL="457200" lvl="1" indent="0">
              <a:buNone/>
            </a:pPr>
            <a:r>
              <a:rPr lang="en-US" sz="2000" dirty="0">
                <a:latin typeface="Courier New" panose="02070309020205020404" pitchFamily="49" charset="0"/>
              </a:rPr>
              <a:t>        </a:t>
            </a:r>
            <a:r>
              <a:rPr lang="en-US" sz="2000" dirty="0" err="1">
                <a:latin typeface="Courier New" panose="02070309020205020404" pitchFamily="49" charset="0"/>
              </a:rPr>
              <a:t>result.append</a:t>
            </a:r>
            <a:r>
              <a:rPr lang="en-US" sz="2000" dirty="0">
                <a:latin typeface="Courier New" panose="02070309020205020404" pitchFamily="49" charset="0"/>
              </a:rPr>
              <a:t>(</a:t>
            </a:r>
            <a:r>
              <a:rPr lang="en-US" sz="2000" dirty="0" err="1">
                <a:latin typeface="Courier New" panose="02070309020205020404" pitchFamily="49" charset="0"/>
              </a:rPr>
              <a:t>el</a:t>
            </a:r>
            <a:r>
              <a:rPr lang="en-US" sz="2000" dirty="0">
                <a:latin typeface="Courier New" panose="02070309020205020404" pitchFamily="49" charset="0"/>
              </a:rPr>
              <a:t> * 2 if </a:t>
            </a:r>
            <a:r>
              <a:rPr lang="en-US" sz="2000" dirty="0" err="1">
                <a:latin typeface="Courier New" panose="02070309020205020404" pitchFamily="49" charset="0"/>
              </a:rPr>
              <a:t>el</a:t>
            </a:r>
            <a:r>
              <a:rPr lang="en-US" sz="2000" dirty="0">
                <a:latin typeface="Courier New" panose="02070309020205020404" pitchFamily="49" charset="0"/>
              </a:rPr>
              <a:t> &lt; 10 else </a:t>
            </a:r>
            <a:r>
              <a:rPr lang="en-US" sz="2000" dirty="0" err="1">
                <a:latin typeface="Courier New" panose="02070309020205020404" pitchFamily="49" charset="0"/>
              </a:rPr>
              <a:t>el</a:t>
            </a:r>
            <a:r>
              <a:rPr lang="en-US" sz="2000" dirty="0">
                <a:latin typeface="Courier New" panose="02070309020205020404" pitchFamily="49" charset="0"/>
              </a:rPr>
              <a:t> // 2)</a:t>
            </a:r>
          </a:p>
          <a:p>
            <a:pPr marL="457200" lvl="1" indent="0">
              <a:buNone/>
            </a:pPr>
            <a:r>
              <a:rPr lang="en-US" sz="2000" dirty="0">
                <a:latin typeface="Courier New" panose="02070309020205020404" pitchFamily="49" charset="0"/>
              </a:rPr>
              <a:t>print(result)</a:t>
            </a:r>
          </a:p>
          <a:p>
            <a:pPr marL="457200" indent="-457200">
              <a:buFont typeface="+mj-lt"/>
              <a:buAutoNum type="arabicPeriod" startAt="2"/>
            </a:pPr>
            <a:r>
              <a:rPr lang="en-US" sz="2000" dirty="0"/>
              <a:t>While loop:</a:t>
            </a:r>
          </a:p>
          <a:p>
            <a:pPr marL="457200" lvl="1" indent="0">
              <a:buNone/>
            </a:pPr>
            <a:r>
              <a:rPr lang="en-US" sz="2000" dirty="0">
                <a:latin typeface="Courier New" panose="02070309020205020404" pitchFamily="49" charset="0"/>
              </a:rPr>
              <a:t>result = []</a:t>
            </a:r>
          </a:p>
          <a:p>
            <a:pPr marL="457200" lvl="1" indent="0">
              <a:buNone/>
            </a:pPr>
            <a:r>
              <a:rPr lang="en-US" sz="2000" dirty="0">
                <a:latin typeface="Courier New" panose="02070309020205020404" pitchFamily="49" charset="0"/>
              </a:rPr>
              <a:t>index = 0</a:t>
            </a:r>
          </a:p>
          <a:p>
            <a:pPr marL="457200" lvl="1" indent="0">
              <a:buNone/>
            </a:pPr>
            <a:r>
              <a:rPr lang="en-US" sz="2000" dirty="0">
                <a:latin typeface="Courier New" panose="02070309020205020404" pitchFamily="49" charset="0"/>
              </a:rPr>
              <a:t>while index &lt; </a:t>
            </a:r>
            <a:r>
              <a:rPr lang="en-US" sz="2000" dirty="0" err="1">
                <a:latin typeface="Courier New" panose="02070309020205020404" pitchFamily="49" charset="0"/>
              </a:rPr>
              <a:t>len</a:t>
            </a:r>
            <a:r>
              <a:rPr lang="en-US" sz="2000" dirty="0">
                <a:latin typeface="Courier New" panose="02070309020205020404" pitchFamily="49" charset="0"/>
              </a:rPr>
              <a:t>(x):</a:t>
            </a:r>
          </a:p>
          <a:p>
            <a:pPr marL="457200" lvl="1" indent="0">
              <a:buNone/>
            </a:pPr>
            <a:r>
              <a:rPr lang="en-US" sz="2000" dirty="0">
                <a:latin typeface="Courier New" panose="02070309020205020404" pitchFamily="49" charset="0"/>
              </a:rPr>
              <a:t>    </a:t>
            </a:r>
            <a:r>
              <a:rPr lang="en-US" sz="2000" dirty="0" err="1">
                <a:latin typeface="Courier New" panose="02070309020205020404" pitchFamily="49" charset="0"/>
              </a:rPr>
              <a:t>el</a:t>
            </a:r>
            <a:r>
              <a:rPr lang="en-US" sz="2000" dirty="0">
                <a:latin typeface="Courier New" panose="02070309020205020404" pitchFamily="49" charset="0"/>
              </a:rPr>
              <a:t> = x[index]</a:t>
            </a:r>
          </a:p>
          <a:p>
            <a:pPr marL="457200" lvl="1" indent="0">
              <a:buNone/>
            </a:pPr>
            <a:r>
              <a:rPr lang="en-US" sz="2000" dirty="0">
                <a:latin typeface="Courier New" panose="02070309020205020404" pitchFamily="49" charset="0"/>
              </a:rPr>
              <a:t>    if </a:t>
            </a:r>
            <a:r>
              <a:rPr lang="en-US" sz="2000" dirty="0" err="1">
                <a:latin typeface="Courier New" panose="02070309020205020404" pitchFamily="49" charset="0"/>
              </a:rPr>
              <a:t>el</a:t>
            </a:r>
            <a:r>
              <a:rPr lang="en-US" sz="2000" dirty="0">
                <a:latin typeface="Courier New" panose="02070309020205020404" pitchFamily="49" charset="0"/>
              </a:rPr>
              <a:t> != 10:</a:t>
            </a:r>
          </a:p>
          <a:p>
            <a:pPr marL="457200" lvl="1" indent="0">
              <a:buNone/>
            </a:pPr>
            <a:r>
              <a:rPr lang="en-US" sz="2000" dirty="0">
                <a:latin typeface="Courier New" panose="02070309020205020404" pitchFamily="49" charset="0"/>
              </a:rPr>
              <a:t>        result += [</a:t>
            </a:r>
            <a:r>
              <a:rPr lang="en-US" sz="2000" dirty="0" err="1">
                <a:latin typeface="Courier New" panose="02070309020205020404" pitchFamily="49" charset="0"/>
              </a:rPr>
              <a:t>el</a:t>
            </a:r>
            <a:r>
              <a:rPr lang="en-US" sz="2000" dirty="0">
                <a:latin typeface="Courier New" panose="02070309020205020404" pitchFamily="49" charset="0"/>
              </a:rPr>
              <a:t> * 2 if </a:t>
            </a:r>
            <a:r>
              <a:rPr lang="en-US" sz="2000" dirty="0" err="1">
                <a:latin typeface="Courier New" panose="02070309020205020404" pitchFamily="49" charset="0"/>
              </a:rPr>
              <a:t>el</a:t>
            </a:r>
            <a:r>
              <a:rPr lang="en-US" sz="2000" dirty="0">
                <a:latin typeface="Courier New" panose="02070309020205020404" pitchFamily="49" charset="0"/>
              </a:rPr>
              <a:t> &lt; 10 else </a:t>
            </a:r>
            <a:r>
              <a:rPr lang="en-US" sz="2000" dirty="0" err="1">
                <a:latin typeface="Courier New" panose="02070309020205020404" pitchFamily="49" charset="0"/>
              </a:rPr>
              <a:t>el</a:t>
            </a:r>
            <a:r>
              <a:rPr lang="en-US" sz="2000" dirty="0">
                <a:latin typeface="Courier New" panose="02070309020205020404" pitchFamily="49" charset="0"/>
              </a:rPr>
              <a:t> // 2]</a:t>
            </a:r>
          </a:p>
          <a:p>
            <a:pPr marL="457200" lvl="1" indent="0">
              <a:buNone/>
            </a:pPr>
            <a:r>
              <a:rPr lang="en-US" sz="2000" dirty="0">
                <a:latin typeface="Courier New" panose="02070309020205020404" pitchFamily="49" charset="0"/>
              </a:rPr>
              <a:t>    index += 1</a:t>
            </a:r>
          </a:p>
          <a:p>
            <a:pPr marL="457200" lvl="1" indent="0">
              <a:buNone/>
            </a:pPr>
            <a:r>
              <a:rPr lang="en-US" sz="2000" dirty="0">
                <a:latin typeface="Courier New" panose="02070309020205020404" pitchFamily="49" charset="0"/>
              </a:rPr>
              <a:t>print(result)</a:t>
            </a:r>
          </a:p>
          <a:p>
            <a:pPr marL="457200" lvl="1" indent="0">
              <a:buNone/>
            </a:pPr>
            <a:endParaRPr lang="en-US" sz="2000" dirty="0">
              <a:latin typeface="Courier New" panose="02070309020205020404" pitchFamily="49" charset="0"/>
            </a:endParaRPr>
          </a:p>
          <a:p>
            <a:pPr marL="457200" lvl="1" indent="0">
              <a:buNone/>
            </a:pPr>
            <a:endParaRPr lang="en-US" noProof="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42</a:t>
            </a:fld>
            <a:endParaRPr lang="nl-NL"/>
          </a:p>
        </p:txBody>
      </p:sp>
    </p:spTree>
    <p:extLst>
      <p:ext uri="{BB962C8B-B14F-4D97-AF65-F5344CB8AC3E}">
        <p14:creationId xmlns:p14="http://schemas.microsoft.com/office/powerpoint/2010/main" val="322910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Programming Notes: nested for-loops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Say, you want to write a program that prints a list with all combinations of one of the elements of </a:t>
            </a:r>
            <a:r>
              <a:rPr lang="en-US" sz="2000" noProof="0" dirty="0">
                <a:latin typeface="Courier New" panose="02070309020205020404" pitchFamily="49" charset="0"/>
              </a:rPr>
              <a:t>x = ['a', 'b', 'c', 'd']</a:t>
            </a:r>
            <a:r>
              <a:rPr lang="en-US" sz="2000" noProof="0" dirty="0"/>
              <a:t>, </a:t>
            </a:r>
            <a:r>
              <a:rPr lang="en-US" sz="2400" noProof="0" dirty="0"/>
              <a:t>one of the elements of </a:t>
            </a:r>
            <a:r>
              <a:rPr lang="en-US" sz="2000" noProof="0" dirty="0">
                <a:latin typeface="Courier New" panose="02070309020205020404" pitchFamily="49" charset="0"/>
              </a:rPr>
              <a:t>y = ['e', 'f'] </a:t>
            </a:r>
            <a:r>
              <a:rPr lang="en-US" sz="2400" noProof="0" dirty="0"/>
              <a:t>and one of the elements of </a:t>
            </a:r>
            <a:r>
              <a:rPr lang="en-US" sz="2000" noProof="0" dirty="0">
                <a:latin typeface="Courier New" panose="02070309020205020404" pitchFamily="49" charset="0"/>
              </a:rPr>
              <a:t>z = ['g', 'h']</a:t>
            </a:r>
            <a:r>
              <a:rPr lang="en-US" sz="2000" noProof="0" dirty="0"/>
              <a:t>, </a:t>
            </a:r>
            <a:r>
              <a:rPr lang="en-US" sz="2400" noProof="0" dirty="0"/>
              <a:t>and you want the printed result to look like: </a:t>
            </a:r>
            <a:br>
              <a:rPr lang="en-US" sz="2400" noProof="0" dirty="0"/>
            </a:br>
            <a:r>
              <a:rPr lang="en-US" sz="2000" noProof="0" dirty="0">
                <a:latin typeface="Courier New" panose="02070309020205020404" pitchFamily="49" charset="0"/>
              </a:rPr>
              <a:t>['</a:t>
            </a:r>
            <a:r>
              <a:rPr lang="en-US" sz="2000" noProof="0" dirty="0" err="1">
                <a:latin typeface="Courier New" panose="02070309020205020404" pitchFamily="49" charset="0"/>
              </a:rPr>
              <a:t>aeg</a:t>
            </a:r>
            <a:r>
              <a:rPr lang="en-US" sz="2000" noProof="0" dirty="0">
                <a:latin typeface="Courier New" panose="02070309020205020404" pitchFamily="49" charset="0"/>
              </a:rPr>
              <a:t>', '</a:t>
            </a:r>
            <a:r>
              <a:rPr lang="en-US" sz="2000" noProof="0" dirty="0" err="1">
                <a:latin typeface="Courier New" panose="02070309020205020404" pitchFamily="49" charset="0"/>
              </a:rPr>
              <a:t>aeh</a:t>
            </a:r>
            <a:r>
              <a:rPr lang="en-US" sz="2000" noProof="0" dirty="0">
                <a:latin typeface="Courier New" panose="02070309020205020404" pitchFamily="49" charset="0"/>
              </a:rPr>
              <a:t>', '</a:t>
            </a:r>
            <a:r>
              <a:rPr lang="en-US" sz="2000" noProof="0" dirty="0" err="1">
                <a:latin typeface="Courier New" panose="02070309020205020404" pitchFamily="49" charset="0"/>
              </a:rPr>
              <a:t>afg</a:t>
            </a:r>
            <a:r>
              <a:rPr lang="en-US" sz="2000" noProof="0" dirty="0">
                <a:latin typeface="Courier New" panose="02070309020205020404" pitchFamily="49" charset="0"/>
              </a:rPr>
              <a:t>', '</a:t>
            </a:r>
            <a:r>
              <a:rPr lang="en-US" sz="2000" noProof="0" dirty="0" err="1">
                <a:latin typeface="Courier New" panose="02070309020205020404" pitchFamily="49" charset="0"/>
              </a:rPr>
              <a:t>afh</a:t>
            </a:r>
            <a:r>
              <a:rPr lang="en-US" sz="2000" noProof="0" dirty="0">
                <a:latin typeface="Courier New" panose="02070309020205020404" pitchFamily="49" charset="0"/>
              </a:rPr>
              <a:t>', 'beg', etc.] </a:t>
            </a:r>
            <a:endParaRPr lang="en-US" sz="2400" noProof="0" dirty="0">
              <a:latin typeface="Courier New" panose="02070309020205020404" pitchFamily="49" charset="0"/>
            </a:endParaRPr>
          </a:p>
          <a:p>
            <a:r>
              <a:rPr lang="en-US" sz="2400" noProof="0" dirty="0"/>
              <a:t>It seems a good idea to use for loops, as we have proper sequences to loop over</a:t>
            </a:r>
          </a:p>
          <a:p>
            <a:r>
              <a:rPr lang="en-US" sz="2400" noProof="0" dirty="0"/>
              <a:t>What you must realize is that if you look at the result from right to left, the first letter in the output changes </a:t>
            </a:r>
            <a:r>
              <a:rPr lang="en-US" sz="2000" noProof="0" dirty="0" err="1">
                <a:latin typeface="Courier New" panose="02070309020205020404" pitchFamily="49" charset="0"/>
              </a:rPr>
              <a:t>len</a:t>
            </a:r>
            <a:r>
              <a:rPr lang="en-US" sz="2000" noProof="0" dirty="0">
                <a:latin typeface="Courier New" panose="02070309020205020404" pitchFamily="49" charset="0"/>
              </a:rPr>
              <a:t>(x)</a:t>
            </a:r>
            <a:r>
              <a:rPr lang="en-US" sz="2400" noProof="0" dirty="0"/>
              <a:t>= 4 times, the second letter changes </a:t>
            </a:r>
            <a:r>
              <a:rPr lang="en-US" sz="2000" noProof="0" dirty="0" err="1">
                <a:latin typeface="Courier New" panose="02070309020205020404" pitchFamily="49" charset="0"/>
              </a:rPr>
              <a:t>len</a:t>
            </a:r>
            <a:r>
              <a:rPr lang="en-US" sz="2000" noProof="0" dirty="0">
                <a:latin typeface="Courier New" panose="02070309020205020404" pitchFamily="49" charset="0"/>
              </a:rPr>
              <a:t>(x) * </a:t>
            </a:r>
            <a:r>
              <a:rPr lang="en-US" sz="2000" noProof="0" dirty="0" err="1">
                <a:latin typeface="Courier New" panose="02070309020205020404" pitchFamily="49" charset="0"/>
              </a:rPr>
              <a:t>len</a:t>
            </a:r>
            <a:r>
              <a:rPr lang="en-US" sz="2000" noProof="0" dirty="0">
                <a:latin typeface="Courier New" panose="02070309020205020404" pitchFamily="49" charset="0"/>
              </a:rPr>
              <a:t>(y)</a:t>
            </a:r>
            <a:r>
              <a:rPr lang="en-US" sz="2400" noProof="0" dirty="0"/>
              <a:t>= 8 times and the third letter changes </a:t>
            </a:r>
            <a:r>
              <a:rPr lang="en-US" sz="2000" noProof="0" dirty="0" err="1">
                <a:latin typeface="Courier New" panose="02070309020205020404" pitchFamily="49" charset="0"/>
              </a:rPr>
              <a:t>len</a:t>
            </a:r>
            <a:r>
              <a:rPr lang="en-US" sz="2000" noProof="0" dirty="0">
                <a:latin typeface="Courier New" panose="02070309020205020404" pitchFamily="49" charset="0"/>
              </a:rPr>
              <a:t>(x) * </a:t>
            </a:r>
            <a:r>
              <a:rPr lang="en-US" sz="2000" noProof="0" dirty="0" err="1">
                <a:latin typeface="Courier New" panose="02070309020205020404" pitchFamily="49" charset="0"/>
              </a:rPr>
              <a:t>len</a:t>
            </a:r>
            <a:r>
              <a:rPr lang="en-US" sz="2000" noProof="0" dirty="0">
                <a:latin typeface="Courier New" panose="02070309020205020404" pitchFamily="49" charset="0"/>
              </a:rPr>
              <a:t>(y) * </a:t>
            </a:r>
            <a:r>
              <a:rPr lang="en-US" sz="2000" noProof="0" dirty="0" err="1">
                <a:latin typeface="Courier New" panose="02070309020205020404" pitchFamily="49" charset="0"/>
              </a:rPr>
              <a:t>len</a:t>
            </a:r>
            <a:r>
              <a:rPr lang="en-US" sz="2000" noProof="0" dirty="0">
                <a:latin typeface="Courier New" panose="02070309020205020404" pitchFamily="49" charset="0"/>
              </a:rPr>
              <a:t>(z)</a:t>
            </a:r>
            <a:r>
              <a:rPr lang="en-US" sz="2400" noProof="0" dirty="0"/>
              <a:t>= 16 times</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43</a:t>
            </a:fld>
            <a:endParaRPr lang="nl-NL"/>
          </a:p>
        </p:txBody>
      </p:sp>
    </p:spTree>
    <p:extLst>
      <p:ext uri="{BB962C8B-B14F-4D97-AF65-F5344CB8AC3E}">
        <p14:creationId xmlns:p14="http://schemas.microsoft.com/office/powerpoint/2010/main" val="65745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A6F735-90FA-B850-D149-3C27314CC39F}"/>
              </a:ext>
            </a:extLst>
          </p:cNvPr>
          <p:cNvSpPr>
            <a:spLocks noGrp="1"/>
          </p:cNvSpPr>
          <p:nvPr>
            <p:ph type="title"/>
          </p:nvPr>
        </p:nvSpPr>
        <p:spPr>
          <a:xfrm>
            <a:off x="342900" y="136525"/>
            <a:ext cx="10515600" cy="1325563"/>
          </a:xfrm>
        </p:spPr>
        <p:txBody>
          <a:bodyPr/>
          <a:lstStyle/>
          <a:p>
            <a:r>
              <a:rPr lang="en-US" noProof="0" dirty="0"/>
              <a:t>Programming Notes: nested for-loops</a:t>
            </a:r>
            <a:endParaRPr lang="en-US" noProof="0" dirty="0">
              <a:latin typeface="Calibri Light (Koppen)"/>
            </a:endParaRPr>
          </a:p>
        </p:txBody>
      </p:sp>
      <p:sp>
        <p:nvSpPr>
          <p:cNvPr id="3" name="Tijdelijke aanduiding voor inhoud 2">
            <a:extLst>
              <a:ext uri="{FF2B5EF4-FFF2-40B4-BE49-F238E27FC236}">
                <a16:creationId xmlns:a16="http://schemas.microsoft.com/office/drawing/2014/main" id="{45FD20EC-0702-AB37-AE38-B6C28EFCFFAE}"/>
              </a:ext>
            </a:extLst>
          </p:cNvPr>
          <p:cNvSpPr>
            <a:spLocks noGrp="1"/>
          </p:cNvSpPr>
          <p:nvPr>
            <p:ph idx="1"/>
          </p:nvPr>
        </p:nvSpPr>
        <p:spPr>
          <a:xfrm>
            <a:off x="342900" y="1186658"/>
            <a:ext cx="11849100" cy="5276849"/>
          </a:xfrm>
        </p:spPr>
        <p:txBody>
          <a:bodyPr>
            <a:noAutofit/>
          </a:bodyPr>
          <a:lstStyle/>
          <a:p>
            <a:r>
              <a:rPr lang="en-US" sz="2400" noProof="0" dirty="0"/>
              <a:t>When writing the for loops, it is important that you start with the for loop of the list of which the element changes the least, and end with the for-loop of the list of which the element changes the most:</a:t>
            </a:r>
          </a:p>
          <a:p>
            <a:pPr lvl="1"/>
            <a:r>
              <a:rPr lang="en-US" sz="2000" noProof="0" dirty="0">
                <a:latin typeface="Courier New" panose="02070309020205020404" pitchFamily="49" charset="0"/>
              </a:rPr>
              <a:t>result = []</a:t>
            </a:r>
            <a:br>
              <a:rPr lang="en-US" sz="2000" noProof="0" dirty="0">
                <a:latin typeface="Courier New" panose="02070309020205020404" pitchFamily="49" charset="0"/>
              </a:rPr>
            </a:br>
            <a:r>
              <a:rPr lang="en-US" sz="2000" noProof="0" dirty="0">
                <a:latin typeface="Courier New" panose="02070309020205020404" pitchFamily="49" charset="0"/>
              </a:rPr>
              <a:t>for </a:t>
            </a:r>
            <a:r>
              <a:rPr lang="en-US" sz="2000" noProof="0" dirty="0" err="1">
                <a:latin typeface="Courier New" panose="02070309020205020404" pitchFamily="49" charset="0"/>
              </a:rPr>
              <a:t>elx</a:t>
            </a:r>
            <a:r>
              <a:rPr lang="en-US" sz="2000" noProof="0" dirty="0">
                <a:latin typeface="Courier New" panose="02070309020205020404" pitchFamily="49" charset="0"/>
              </a:rPr>
              <a:t> in x:</a:t>
            </a:r>
            <a:br>
              <a:rPr lang="en-US" sz="2000" noProof="0" dirty="0">
                <a:latin typeface="Courier New" panose="02070309020205020404" pitchFamily="49" charset="0"/>
              </a:rPr>
            </a:br>
            <a:r>
              <a:rPr lang="en-US" sz="2000" noProof="0" dirty="0">
                <a:latin typeface="Courier New" panose="02070309020205020404" pitchFamily="49" charset="0"/>
              </a:rPr>
              <a:t>    for </a:t>
            </a:r>
            <a:r>
              <a:rPr lang="en-US" sz="2000" noProof="0" dirty="0" err="1">
                <a:latin typeface="Courier New" panose="02070309020205020404" pitchFamily="49" charset="0"/>
              </a:rPr>
              <a:t>ely</a:t>
            </a:r>
            <a:r>
              <a:rPr lang="en-US" sz="2000" noProof="0" dirty="0">
                <a:latin typeface="Courier New" panose="02070309020205020404" pitchFamily="49" charset="0"/>
              </a:rPr>
              <a:t> in y:</a:t>
            </a:r>
            <a:br>
              <a:rPr lang="en-US" sz="2000" noProof="0" dirty="0">
                <a:latin typeface="Courier New" panose="02070309020205020404" pitchFamily="49" charset="0"/>
              </a:rPr>
            </a:br>
            <a:r>
              <a:rPr lang="en-US" sz="2000" noProof="0" dirty="0">
                <a:latin typeface="Courier New" panose="02070309020205020404" pitchFamily="49" charset="0"/>
              </a:rPr>
              <a:t>         for </a:t>
            </a:r>
            <a:r>
              <a:rPr lang="en-US" sz="2000" noProof="0" dirty="0" err="1">
                <a:latin typeface="Courier New" panose="02070309020205020404" pitchFamily="49" charset="0"/>
              </a:rPr>
              <a:t>elz</a:t>
            </a:r>
            <a:r>
              <a:rPr lang="en-US" sz="2000" noProof="0" dirty="0">
                <a:latin typeface="Courier New" panose="02070309020205020404" pitchFamily="49" charset="0"/>
              </a:rPr>
              <a:t> in z:</a:t>
            </a:r>
            <a:br>
              <a:rPr lang="en-US" sz="2000" noProof="0" dirty="0">
                <a:latin typeface="Courier New" panose="02070309020205020404" pitchFamily="49" charset="0"/>
              </a:rPr>
            </a:br>
            <a:r>
              <a:rPr lang="en-US" sz="2000" noProof="0" dirty="0">
                <a:latin typeface="Courier New" panose="02070309020205020404" pitchFamily="49" charset="0"/>
              </a:rPr>
              <a:t>               result += [</a:t>
            </a:r>
            <a:r>
              <a:rPr lang="en-US" sz="2000" noProof="0" dirty="0" err="1">
                <a:latin typeface="Courier New" panose="02070309020205020404" pitchFamily="49" charset="0"/>
              </a:rPr>
              <a:t>elx</a:t>
            </a:r>
            <a:r>
              <a:rPr lang="en-US" sz="2000" noProof="0" dirty="0">
                <a:latin typeface="Courier New" panose="02070309020205020404" pitchFamily="49" charset="0"/>
              </a:rPr>
              <a:t> + </a:t>
            </a:r>
            <a:r>
              <a:rPr lang="en-US" sz="2000" noProof="0" dirty="0" err="1">
                <a:latin typeface="Courier New" panose="02070309020205020404" pitchFamily="49" charset="0"/>
              </a:rPr>
              <a:t>ely</a:t>
            </a:r>
            <a:r>
              <a:rPr lang="en-US" sz="2000" noProof="0" dirty="0">
                <a:latin typeface="Courier New" panose="02070309020205020404" pitchFamily="49" charset="0"/>
              </a:rPr>
              <a:t> + </a:t>
            </a:r>
            <a:r>
              <a:rPr lang="en-US" sz="2000" noProof="0" dirty="0" err="1">
                <a:latin typeface="Courier New" panose="02070309020205020404" pitchFamily="49" charset="0"/>
              </a:rPr>
              <a:t>elz</a:t>
            </a:r>
            <a:r>
              <a:rPr lang="en-US" sz="2000" noProof="0" dirty="0">
                <a:latin typeface="Courier New" panose="02070309020205020404" pitchFamily="49" charset="0"/>
              </a:rPr>
              <a:t>]</a:t>
            </a:r>
            <a:br>
              <a:rPr lang="en-US" sz="2000" noProof="0" dirty="0">
                <a:latin typeface="Courier New" panose="02070309020205020404" pitchFamily="49" charset="0"/>
              </a:rPr>
            </a:br>
            <a:r>
              <a:rPr lang="en-US" sz="2000" noProof="0" dirty="0">
                <a:latin typeface="Courier New" panose="02070309020205020404" pitchFamily="49" charset="0"/>
              </a:rPr>
              <a:t>print(result)</a:t>
            </a:r>
          </a:p>
          <a:p>
            <a:r>
              <a:rPr lang="en-US" sz="2400" noProof="0" dirty="0"/>
              <a:t>So, remember the code inside the most inner loop is executed the most often </a:t>
            </a:r>
          </a:p>
        </p:txBody>
      </p:sp>
      <p:sp>
        <p:nvSpPr>
          <p:cNvPr id="4" name="Slide Number Placeholder 3">
            <a:extLst>
              <a:ext uri="{FF2B5EF4-FFF2-40B4-BE49-F238E27FC236}">
                <a16:creationId xmlns:a16="http://schemas.microsoft.com/office/drawing/2014/main" id="{AD3A01C5-2896-D1E0-2E17-412022130856}"/>
              </a:ext>
            </a:extLst>
          </p:cNvPr>
          <p:cNvSpPr>
            <a:spLocks noGrp="1"/>
          </p:cNvSpPr>
          <p:nvPr>
            <p:ph type="sldNum" sz="quarter" idx="12"/>
          </p:nvPr>
        </p:nvSpPr>
        <p:spPr/>
        <p:txBody>
          <a:bodyPr/>
          <a:lstStyle/>
          <a:p>
            <a:fld id="{937257EE-0CEF-4D7E-9E69-5277D6172560}" type="slidenum">
              <a:rPr lang="nl-NL" smtClean="0"/>
              <a:t>44</a:t>
            </a:fld>
            <a:endParaRPr lang="nl-NL"/>
          </a:p>
        </p:txBody>
      </p:sp>
    </p:spTree>
    <p:extLst>
      <p:ext uri="{BB962C8B-B14F-4D97-AF65-F5344CB8AC3E}">
        <p14:creationId xmlns:p14="http://schemas.microsoft.com/office/powerpoint/2010/main" val="275984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3</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0000" lnSpcReduction="20000"/>
          </a:bodyPr>
          <a:lstStyle/>
          <a:p>
            <a:r>
              <a:rPr lang="en-US" dirty="0"/>
              <a:t>Assume that you already have a variable called 'x', which contains a dictionary. Modify 'x' with the dictionary </a:t>
            </a:r>
            <a:r>
              <a:rPr lang="en-US" sz="2900" dirty="0">
                <a:latin typeface="Courier New" panose="02070309020205020404" pitchFamily="49" charset="0"/>
                <a:cs typeface="Courier New" panose="02070309020205020404" pitchFamily="49" charset="0"/>
              </a:rPr>
              <a:t>y = {'c': 3, 'd': 3} </a:t>
            </a:r>
            <a:r>
              <a:rPr lang="en-US" dirty="0"/>
              <a:t>in the following way: - add to 'x' all key-value pairs of 'y' for which the key is not also present in 'x' - delete from 'x' all key-value pairs for which the key is also present in 'y'</a:t>
            </a:r>
          </a:p>
          <a:p>
            <a:r>
              <a:rPr lang="en-US" dirty="0">
                <a:latin typeface="Courier New" panose="02070309020205020404" pitchFamily="49" charset="0"/>
                <a:cs typeface="Courier New" panose="02070309020205020404" pitchFamily="49" charset="0"/>
              </a:rPr>
              <a:t>x = {'b': 2, 'c':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y = {'c': 3, 'd': 3}</a:t>
            </a:r>
          </a:p>
          <a:p>
            <a:r>
              <a:rPr lang="en-US" dirty="0">
                <a:latin typeface="Courier New" panose="02070309020205020404" pitchFamily="49" charset="0"/>
                <a:cs typeface="Courier New" panose="02070309020205020404" pitchFamily="49" charset="0"/>
              </a:rPr>
              <a:t>for key, value in </a:t>
            </a:r>
            <a:r>
              <a:rPr lang="en-US" dirty="0" err="1">
                <a:latin typeface="Courier New" panose="02070309020205020404" pitchFamily="49" charset="0"/>
                <a:cs typeface="Courier New" panose="02070309020205020404" pitchFamily="49" charset="0"/>
              </a:rPr>
              <a:t>y.items</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key not in 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x[key] = value</a:t>
            </a:r>
          </a:p>
          <a:p>
            <a:r>
              <a:rPr lang="en-US" dirty="0">
                <a:latin typeface="Courier New" panose="02070309020205020404" pitchFamily="49" charset="0"/>
                <a:cs typeface="Courier New" panose="02070309020205020404" pitchFamily="49" charset="0"/>
              </a:rPr>
              <a:t>for key, value in </a:t>
            </a:r>
            <a:r>
              <a:rPr lang="en-US" dirty="0" err="1">
                <a:latin typeface="Courier New" panose="02070309020205020404" pitchFamily="49" charset="0"/>
                <a:cs typeface="Courier New" panose="02070309020205020404" pitchFamily="49" charset="0"/>
              </a:rPr>
              <a:t>y.items</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key in 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del x[key]</a:t>
            </a:r>
          </a:p>
          <a:p>
            <a:r>
              <a:rPr lang="en-US" dirty="0">
                <a:latin typeface="Courier New" panose="02070309020205020404" pitchFamily="49" charset="0"/>
                <a:cs typeface="Courier New" panose="02070309020205020404" pitchFamily="49" charset="0"/>
              </a:rPr>
              <a:t>print(x)</a:t>
            </a:r>
          </a:p>
          <a:p>
            <a:r>
              <a:rPr lang="en-US" dirty="0">
                <a:latin typeface="Courier New" panose="02070309020205020404" pitchFamily="49" charset="0"/>
                <a:cs typeface="Courier New" panose="02070309020205020404" pitchFamily="49" charset="0"/>
              </a:rPr>
              <a:t>What will be printed?</a:t>
            </a:r>
          </a:p>
          <a:p>
            <a:r>
              <a:rPr lang="en-US" dirty="0">
                <a:latin typeface="Courier New" panose="02070309020205020404" pitchFamily="49" charset="0"/>
                <a:cs typeface="Courier New" panose="02070309020205020404" pitchFamily="49" charset="0"/>
              </a:rPr>
              <a:t># Onscreen: </a:t>
            </a:r>
            <a:r>
              <a:rPr kumimoji="0" lang="en-US" altLang="en-US" sz="2800" b="0" i="0" u="none" strike="noStrike" cap="none" normalizeH="0" baseline="0" dirty="0">
                <a:ln>
                  <a:noFill/>
                </a:ln>
                <a:solidFill>
                  <a:srgbClr val="000000"/>
                </a:solidFill>
                <a:effectLst/>
                <a:latin typeface="Courier New" panose="02070309020205020404" pitchFamily="49" charset="0"/>
              </a:rPr>
              <a:t>{'b': 2}</a:t>
            </a:r>
            <a:r>
              <a:rPr kumimoji="0" lang="en-US" altLang="en-US" sz="2000" b="0" i="0" u="none" strike="noStrike" cap="none" normalizeH="0" baseline="0" dirty="0">
                <a:ln>
                  <a:noFill/>
                </a:ln>
                <a:solidFill>
                  <a:schemeClr val="tx1"/>
                </a:solidFill>
                <a:effectLst/>
              </a:rPr>
              <a:t> </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45</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52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3</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0000" lnSpcReduction="20000"/>
          </a:bodyPr>
          <a:lstStyle/>
          <a:p>
            <a:r>
              <a:rPr lang="en-US" dirty="0"/>
              <a:t>Assume that you already have a variable called 'x', which contains a dictionary. Modify 'x' with the dictionary </a:t>
            </a:r>
            <a:r>
              <a:rPr lang="en-US" sz="2900" dirty="0">
                <a:latin typeface="Courier New" panose="02070309020205020404" pitchFamily="49" charset="0"/>
                <a:cs typeface="Courier New" panose="02070309020205020404" pitchFamily="49" charset="0"/>
              </a:rPr>
              <a:t>y = {'c': 3, 'd': 3} </a:t>
            </a:r>
            <a:r>
              <a:rPr lang="en-US" dirty="0"/>
              <a:t>in the following way: - add to 'x' all key-value pairs of 'y' for which the key is not also present in 'x' - delete from 'x' all key-value pairs for which the key is also present in 'y'</a:t>
            </a:r>
          </a:p>
          <a:p>
            <a:r>
              <a:rPr lang="en-US" dirty="0">
                <a:latin typeface="Courier New" panose="02070309020205020404" pitchFamily="49" charset="0"/>
                <a:cs typeface="Courier New" panose="02070309020205020404" pitchFamily="49" charset="0"/>
              </a:rPr>
              <a:t>x = {'b': 2, 'c':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y = {'c': 3, 'd': 3}</a:t>
            </a:r>
          </a:p>
          <a:p>
            <a:r>
              <a:rPr lang="en-US" dirty="0">
                <a:latin typeface="Courier New" panose="02070309020205020404" pitchFamily="49" charset="0"/>
                <a:cs typeface="Courier New" panose="02070309020205020404" pitchFamily="49" charset="0"/>
              </a:rPr>
              <a:t>for key, value in </a:t>
            </a:r>
            <a:r>
              <a:rPr lang="en-US" dirty="0" err="1">
                <a:latin typeface="Courier New" panose="02070309020205020404" pitchFamily="49" charset="0"/>
                <a:cs typeface="Courier New" panose="02070309020205020404" pitchFamily="49" charset="0"/>
              </a:rPr>
              <a:t>y.items</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key not in 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x[key] = 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del (y[key])</a:t>
            </a:r>
          </a:p>
          <a:p>
            <a:r>
              <a:rPr lang="en-US" dirty="0">
                <a:latin typeface="Courier New" panose="02070309020205020404" pitchFamily="49" charset="0"/>
                <a:cs typeface="Courier New" panose="02070309020205020404" pitchFamily="49" charset="0"/>
              </a:rPr>
              <a:t>for key, value in </a:t>
            </a:r>
            <a:r>
              <a:rPr lang="en-US" dirty="0" err="1">
                <a:latin typeface="Courier New" panose="02070309020205020404" pitchFamily="49" charset="0"/>
                <a:cs typeface="Courier New" panose="02070309020205020404" pitchFamily="49" charset="0"/>
              </a:rPr>
              <a:t>y.items</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key in 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del x[key]</a:t>
            </a:r>
          </a:p>
          <a:p>
            <a:r>
              <a:rPr lang="en-US" dirty="0">
                <a:latin typeface="Courier New" panose="02070309020205020404" pitchFamily="49" charset="0"/>
                <a:cs typeface="Courier New" panose="02070309020205020404" pitchFamily="49" charset="0"/>
              </a:rPr>
              <a:t>print(x)</a:t>
            </a:r>
          </a:p>
          <a:p>
            <a:r>
              <a:rPr lang="en-US" dirty="0">
                <a:latin typeface="Courier New" panose="02070309020205020404" pitchFamily="49" charset="0"/>
                <a:cs typeface="Courier New" panose="02070309020205020404" pitchFamily="49" charset="0"/>
              </a:rPr>
              <a:t>What will be printed?</a:t>
            </a:r>
          </a:p>
          <a:p>
            <a:r>
              <a:rPr lang="en-US" dirty="0">
                <a:latin typeface="Courier New" panose="02070309020205020404" pitchFamily="49" charset="0"/>
                <a:cs typeface="Courier New" panose="02070309020205020404" pitchFamily="49" charset="0"/>
              </a:rPr>
              <a:t># Onscreen: </a:t>
            </a:r>
            <a:r>
              <a:rPr kumimoji="0" lang="en-US" altLang="en-US" sz="2800" b="0" i="0" u="none" strike="noStrike" cap="none" normalizeH="0" baseline="0" dirty="0" err="1">
                <a:ln>
                  <a:noFill/>
                </a:ln>
                <a:solidFill>
                  <a:srgbClr val="000000"/>
                </a:solidFill>
                <a:effectLst/>
                <a:latin typeface="Courier New" panose="02070309020205020404" pitchFamily="49" charset="0"/>
              </a:rPr>
              <a:t>RuntimeError</a:t>
            </a:r>
            <a:r>
              <a:rPr kumimoji="0" lang="en-US" altLang="en-US" sz="2800" b="0" i="0" u="none" strike="noStrike" cap="none" normalizeH="0" baseline="0" dirty="0">
                <a:ln>
                  <a:noFill/>
                </a:ln>
                <a:solidFill>
                  <a:srgbClr val="000000"/>
                </a:solidFill>
                <a:effectLst/>
                <a:latin typeface="Courier New" panose="02070309020205020404" pitchFamily="49" charset="0"/>
              </a:rPr>
              <a:t>: dictionary changed size during iteration</a:t>
            </a:r>
            <a:r>
              <a:rPr kumimoji="0" lang="en-US" altLang="en-US" sz="2000" b="0" i="0" u="none" strike="noStrike" cap="none" normalizeH="0" baseline="0" dirty="0">
                <a:ln>
                  <a:noFill/>
                </a:ln>
                <a:solidFill>
                  <a:schemeClr val="tx1"/>
                </a:solidFill>
                <a:effectLst/>
              </a:rPr>
              <a:t> </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46</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142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3</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85000" lnSpcReduction="20000"/>
          </a:bodyPr>
          <a:lstStyle/>
          <a:p>
            <a:r>
              <a:rPr lang="en-US" dirty="0"/>
              <a:t>Assume that you already have a variable called 'x', which contains a dictionary. Modify 'x' with the dictionary </a:t>
            </a:r>
            <a:r>
              <a:rPr lang="en-US" sz="2900" dirty="0">
                <a:latin typeface="Courier New" panose="02070309020205020404" pitchFamily="49" charset="0"/>
                <a:cs typeface="Courier New" panose="02070309020205020404" pitchFamily="49" charset="0"/>
              </a:rPr>
              <a:t>y = {'c': 3, 'd': 3} </a:t>
            </a:r>
            <a:r>
              <a:rPr lang="en-US" dirty="0"/>
              <a:t>in the following way: - add to 'x' all key-value pairs of 'y' for which the key is not also present in 'x' - delete from 'x' all key-value pairs for which the key is also present in 'y'</a:t>
            </a:r>
          </a:p>
          <a:p>
            <a:r>
              <a:rPr lang="en-US" dirty="0">
                <a:latin typeface="Courier New" panose="02070309020205020404" pitchFamily="49" charset="0"/>
                <a:cs typeface="Courier New" panose="02070309020205020404" pitchFamily="49" charset="0"/>
              </a:rPr>
              <a:t>x = {'b': 2, 'c':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y = {'c': 3, 'd': 3}</a:t>
            </a:r>
          </a:p>
          <a:p>
            <a:r>
              <a:rPr lang="en-US" dirty="0">
                <a:latin typeface="Courier New" panose="02070309020205020404" pitchFamily="49" charset="0"/>
                <a:cs typeface="Courier New" panose="02070309020205020404" pitchFamily="49" charset="0"/>
              </a:rPr>
              <a:t>for key, value in </a:t>
            </a:r>
            <a:r>
              <a:rPr lang="en-US" dirty="0" err="1">
                <a:latin typeface="Courier New" panose="02070309020205020404" pitchFamily="49" charset="0"/>
                <a:cs typeface="Courier New" panose="02070309020205020404" pitchFamily="49" charset="0"/>
              </a:rPr>
              <a:t>y.items</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key not in 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x[key] = 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del x[key]</a:t>
            </a:r>
          </a:p>
          <a:p>
            <a:r>
              <a:rPr lang="en-US" dirty="0">
                <a:latin typeface="Courier New" panose="02070309020205020404" pitchFamily="49" charset="0"/>
                <a:cs typeface="Courier New" panose="02070309020205020404" pitchFamily="49" charset="0"/>
              </a:rPr>
              <a:t>print(x)</a:t>
            </a:r>
          </a:p>
          <a:p>
            <a:r>
              <a:rPr lang="en-US" dirty="0">
                <a:latin typeface="Courier New" panose="02070309020205020404" pitchFamily="49" charset="0"/>
                <a:cs typeface="Courier New" panose="02070309020205020404" pitchFamily="49" charset="0"/>
              </a:rPr>
              <a:t># Onscreen: {'b': 2, 'd': 3}</a:t>
            </a:r>
            <a:r>
              <a:rPr kumimoji="0" lang="en-US" altLang="en-US" sz="2000" b="0" i="0" u="none" strike="noStrike" cap="none" normalizeH="0" baseline="0" dirty="0">
                <a:ln>
                  <a:noFill/>
                </a:ln>
                <a:solidFill>
                  <a:schemeClr val="tx1"/>
                </a:solidFill>
                <a:effectLst/>
              </a:rPr>
              <a:t> </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47</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137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5</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7500" lnSpcReduction="20000"/>
          </a:bodyPr>
          <a:lstStyle/>
          <a:p>
            <a:r>
              <a:rPr lang="en-US" dirty="0"/>
              <a:t>Assume you have two lists: called 'keys' and 'values'. Same length. Both containing integers. The 'keys' list contains only unique numbers.</a:t>
            </a:r>
            <a:br>
              <a:rPr lang="en-US" dirty="0"/>
            </a:br>
            <a:r>
              <a:rPr lang="en-US" dirty="0"/>
              <a:t>Create a dictionary 'x', keys taken from 'keys', values from 'values', with the same index. </a:t>
            </a:r>
            <a:br>
              <a:rPr lang="en-US" dirty="0"/>
            </a:br>
            <a:r>
              <a:rPr lang="en-US" dirty="0"/>
              <a:t>Exceptions: values divisible by 5, the key and the value equal.</a:t>
            </a:r>
          </a:p>
          <a:p>
            <a:r>
              <a:rPr lang="en-US" dirty="0">
                <a:latin typeface="Courier New" panose="02070309020205020404" pitchFamily="49" charset="0"/>
                <a:cs typeface="Courier New" panose="02070309020205020404" pitchFamily="49" charset="0"/>
              </a:rPr>
              <a:t>keys = [3, 2, 1,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values = [3, 37, 60, 79]</a:t>
            </a:r>
          </a:p>
          <a:p>
            <a:r>
              <a:rPr lang="en-US" dirty="0">
                <a:latin typeface="Courier New" panose="02070309020205020404" pitchFamily="49" charset="0"/>
                <a:cs typeface="Courier New" panose="02070309020205020404" pitchFamily="49" charset="0"/>
              </a:rPr>
              <a:t>x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key, value in zip(keys, values):</a:t>
            </a:r>
          </a:p>
          <a:p>
            <a:r>
              <a:rPr lang="en-US" dirty="0">
                <a:latin typeface="Courier New" panose="02070309020205020404" pitchFamily="49" charset="0"/>
                <a:cs typeface="Courier New" panose="02070309020205020404" pitchFamily="49" charset="0"/>
              </a:rPr>
              <a:t>    if key == value: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continue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value % 5 == 0:</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continue</a:t>
            </a:r>
          </a:p>
          <a:p>
            <a:r>
              <a:rPr lang="en-US" dirty="0">
                <a:latin typeface="Courier New" panose="02070309020205020404" pitchFamily="49" charset="0"/>
                <a:cs typeface="Courier New" panose="02070309020205020404" pitchFamily="49" charset="0"/>
              </a:rPr>
              <a:t>    x[key] = value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print(x)</a:t>
            </a:r>
            <a:r>
              <a:rPr lang="en-US" dirty="0"/>
              <a:t> </a:t>
            </a:r>
          </a:p>
          <a:p>
            <a:r>
              <a:rPr lang="en-US" dirty="0">
                <a:latin typeface="Courier New" panose="02070309020205020404" pitchFamily="49" charset="0"/>
                <a:cs typeface="Courier New" panose="02070309020205020404" pitchFamily="49" charset="0"/>
              </a:rPr>
              <a:t># On screen: {2: 37, 4: 79}</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48</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7485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5</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85000" lnSpcReduction="20000"/>
          </a:bodyPr>
          <a:lstStyle/>
          <a:p>
            <a:r>
              <a:rPr lang="en-US" dirty="0"/>
              <a:t>Assume you have two lists: called 'keys' and 'values'. Same length. Both containing integers. The 'keys' list contains only unique numbers.</a:t>
            </a:r>
            <a:br>
              <a:rPr lang="en-US" dirty="0"/>
            </a:br>
            <a:r>
              <a:rPr lang="en-US" dirty="0"/>
              <a:t>Create a dictionary 'x', keys taken from 'keys', values from 'values', with the same index. </a:t>
            </a:r>
            <a:br>
              <a:rPr lang="en-US" dirty="0"/>
            </a:br>
            <a:r>
              <a:rPr lang="en-US" dirty="0"/>
              <a:t>Exceptions: values divisible by 5, the key and the value equal.</a:t>
            </a:r>
          </a:p>
          <a:p>
            <a:r>
              <a:rPr lang="en-US" dirty="0">
                <a:latin typeface="Courier New" panose="02070309020205020404" pitchFamily="49" charset="0"/>
                <a:cs typeface="Courier New" panose="02070309020205020404" pitchFamily="49" charset="0"/>
              </a:rPr>
              <a:t>keys = [3, 2, 1,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values = [3, 37, 60, 79]</a:t>
            </a:r>
          </a:p>
          <a:p>
            <a:r>
              <a:rPr lang="en-US" dirty="0">
                <a:latin typeface="Courier New" panose="02070309020205020404" pitchFamily="49" charset="0"/>
                <a:cs typeface="Courier New" panose="02070309020205020404" pitchFamily="49" charset="0"/>
              </a:rPr>
              <a:t>x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key, value in zip(keys, values):</a:t>
            </a:r>
          </a:p>
          <a:p>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if key == value or value % 5 == 0:</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continue</a:t>
            </a:r>
          </a:p>
          <a:p>
            <a:r>
              <a:rPr lang="en-US" dirty="0">
                <a:latin typeface="Courier New" panose="02070309020205020404" pitchFamily="49" charset="0"/>
                <a:cs typeface="Courier New" panose="02070309020205020404" pitchFamily="49" charset="0"/>
              </a:rPr>
              <a:t>    x[key] = value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print(x)</a:t>
            </a:r>
            <a:r>
              <a:rPr lang="en-US" dirty="0"/>
              <a:t> </a:t>
            </a:r>
          </a:p>
          <a:p>
            <a:r>
              <a:rPr lang="en-US" dirty="0">
                <a:latin typeface="Courier New" panose="02070309020205020404" pitchFamily="49" charset="0"/>
                <a:cs typeface="Courier New" panose="02070309020205020404" pitchFamily="49" charset="0"/>
              </a:rPr>
              <a:t># On screen: {2: 37, 4: 79}</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49</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71765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5</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85000" lnSpcReduction="20000"/>
          </a:bodyPr>
          <a:lstStyle/>
          <a:p>
            <a:r>
              <a:rPr lang="en-US" dirty="0"/>
              <a:t>Assume you have two lists: called 'keys' and 'values'. Same length. Both containing integers. The 'keys' list contains only unique numbers.</a:t>
            </a:r>
            <a:br>
              <a:rPr lang="en-US" dirty="0"/>
            </a:br>
            <a:r>
              <a:rPr lang="en-US" dirty="0"/>
              <a:t>Create a dictionary 'x', keys taken from 'keys', values from 'values', with the same index. </a:t>
            </a:r>
            <a:br>
              <a:rPr lang="en-US" dirty="0"/>
            </a:br>
            <a:r>
              <a:rPr lang="en-US" dirty="0"/>
              <a:t>Exceptions: values divisible by 5, the key and the value equal.</a:t>
            </a:r>
          </a:p>
          <a:p>
            <a:r>
              <a:rPr lang="en-US" dirty="0">
                <a:latin typeface="Courier New" panose="02070309020205020404" pitchFamily="49" charset="0"/>
                <a:cs typeface="Courier New" panose="02070309020205020404" pitchFamily="49" charset="0"/>
              </a:rPr>
              <a:t>keys = [3, 2, 1,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values = [3, 37, 60, 79]</a:t>
            </a:r>
          </a:p>
          <a:p>
            <a:r>
              <a:rPr lang="en-US" dirty="0">
                <a:latin typeface="Courier New" panose="02070309020205020404" pitchFamily="49" charset="0"/>
                <a:cs typeface="Courier New" panose="02070309020205020404" pitchFamily="49" charset="0"/>
              </a:rPr>
              <a:t>x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key, value in zip(keys, values):</a:t>
            </a:r>
          </a:p>
          <a:p>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if not (key == value or value % 5 == 0):</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x[key] = value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print(x)</a:t>
            </a:r>
            <a:r>
              <a:rPr lang="en-US" dirty="0"/>
              <a:t> </a:t>
            </a:r>
          </a:p>
          <a:p>
            <a:r>
              <a:rPr lang="en-US" dirty="0">
                <a:latin typeface="Courier New" panose="02070309020205020404" pitchFamily="49" charset="0"/>
                <a:cs typeface="Courier New" panose="02070309020205020404" pitchFamily="49" charset="0"/>
              </a:rPr>
              <a:t># On screen: {2: 37, 4: 79}</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50</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60772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5</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85000" lnSpcReduction="20000"/>
          </a:bodyPr>
          <a:lstStyle/>
          <a:p>
            <a:r>
              <a:rPr lang="en-US" dirty="0"/>
              <a:t>Assume you have two lists: called 'keys' and 'values'. Same length. Both containing integers. The 'keys' list contains only unique numbers.</a:t>
            </a:r>
            <a:br>
              <a:rPr lang="en-US" dirty="0"/>
            </a:br>
            <a:r>
              <a:rPr lang="en-US" dirty="0"/>
              <a:t>Create a dictionary 'x', keys taken from 'keys', values from 'values', with the same index. </a:t>
            </a:r>
            <a:br>
              <a:rPr lang="en-US" dirty="0"/>
            </a:br>
            <a:r>
              <a:rPr lang="en-US" dirty="0"/>
              <a:t>Exceptions: values divisible by 5, the key and the value equal.</a:t>
            </a:r>
          </a:p>
          <a:p>
            <a:r>
              <a:rPr lang="en-US" dirty="0">
                <a:latin typeface="Courier New" panose="02070309020205020404" pitchFamily="49" charset="0"/>
                <a:cs typeface="Courier New" panose="02070309020205020404" pitchFamily="49" charset="0"/>
              </a:rPr>
              <a:t>keys = [3, 2, 1,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values = [3, 37, 60, 79]</a:t>
            </a:r>
          </a:p>
          <a:p>
            <a:r>
              <a:rPr lang="en-US" dirty="0">
                <a:latin typeface="Courier New" panose="02070309020205020404" pitchFamily="49" charset="0"/>
                <a:cs typeface="Courier New" panose="02070309020205020404" pitchFamily="49" charset="0"/>
              </a:rPr>
              <a:t>x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key, value in zip(keys, values):</a:t>
            </a:r>
          </a:p>
          <a:p>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if key != value and value % 5 != 0):</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x[key] = value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print(x)</a:t>
            </a:r>
            <a:r>
              <a:rPr lang="en-US" dirty="0"/>
              <a:t> </a:t>
            </a:r>
          </a:p>
          <a:p>
            <a:r>
              <a:rPr lang="en-US" dirty="0">
                <a:latin typeface="Courier New" panose="02070309020205020404" pitchFamily="49" charset="0"/>
                <a:cs typeface="Courier New" panose="02070309020205020404" pitchFamily="49" charset="0"/>
              </a:rPr>
              <a:t># On screen: {2: 37, 4: 79}</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51</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49697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9</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a:bodyPr>
          <a:lstStyle/>
          <a:p>
            <a:r>
              <a:rPr lang="en-US" dirty="0"/>
              <a:t>'x'  is a list containing integer values. 4 variables 'a', 'b', 'c', 'd', containing integers. Print a list containing strings that describe the elements of 'x' as follows:</a:t>
            </a:r>
          </a:p>
          <a:p>
            <a:r>
              <a:rPr lang="en-US" dirty="0"/>
              <a:t>If greater than 'a', use "cat1", If less than 'b', use "cat2", If less than or equal to the value of 'c', use "cat3", If the element is greater than or equal to the value of 'd', use "cat4". </a:t>
            </a:r>
          </a:p>
          <a:p>
            <a:r>
              <a:rPr lang="en-US" dirty="0"/>
              <a:t>If the element fits into more than one category, use the highest category. </a:t>
            </a:r>
          </a:p>
          <a:p>
            <a:r>
              <a:rPr lang="en-US" dirty="0"/>
              <a:t>If the integer doesn't fall into any of the 4 categories, use "</a:t>
            </a:r>
            <a:r>
              <a:rPr lang="en-US" dirty="0" err="1"/>
              <a:t>catunknown</a:t>
            </a:r>
            <a:r>
              <a:rPr lang="en-US" dirty="0"/>
              <a:t>". </a:t>
            </a: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52</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285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9</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7500" lnSpcReduction="20000"/>
          </a:bodyPr>
          <a:lstStyle/>
          <a:p>
            <a:r>
              <a:rPr lang="en-US" dirty="0">
                <a:latin typeface="Courier New" panose="02070309020205020404" pitchFamily="49" charset="0"/>
                <a:cs typeface="Courier New" panose="02070309020205020404" pitchFamily="49" charset="0"/>
              </a:rPr>
              <a:t>x = [5, 10, 15, 20]; a = 4; b = 9; c = 13; d = 15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cats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element in x:</a:t>
            </a:r>
          </a:p>
          <a:p>
            <a:r>
              <a:rPr lang="en-US" dirty="0">
                <a:latin typeface="Courier New" panose="02070309020205020404" pitchFamily="49" charset="0"/>
                <a:cs typeface="Courier New" panose="02070309020205020404" pitchFamily="49" charset="0"/>
              </a:rPr>
              <a:t>    if element &gt; a:</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cats.append</a:t>
            </a:r>
            <a:r>
              <a:rPr lang="en-US" dirty="0">
                <a:latin typeface="Courier New" panose="02070309020205020404" pitchFamily="49" charset="0"/>
                <a:cs typeface="Courier New" panose="02070309020205020404" pitchFamily="49" charset="0"/>
              </a:rPr>
              <a:t>("cat1")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elif element &lt; 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cats.append</a:t>
            </a:r>
            <a:r>
              <a:rPr lang="en-US" dirty="0">
                <a:latin typeface="Courier New" panose="02070309020205020404" pitchFamily="49" charset="0"/>
                <a:cs typeface="Courier New" panose="02070309020205020404" pitchFamily="49" charset="0"/>
              </a:rPr>
              <a:t>("cat2")</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elif element &lt;= c:</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cats.append</a:t>
            </a:r>
            <a:r>
              <a:rPr lang="en-US" dirty="0">
                <a:latin typeface="Courier New" panose="02070309020205020404" pitchFamily="49" charset="0"/>
                <a:cs typeface="Courier New" panose="02070309020205020404" pitchFamily="49" charset="0"/>
              </a:rPr>
              <a:t>("cat3")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elif element &gt;= d:</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cats.append</a:t>
            </a:r>
            <a:r>
              <a:rPr lang="en-US" dirty="0">
                <a:latin typeface="Courier New" panose="02070309020205020404" pitchFamily="49" charset="0"/>
                <a:cs typeface="Courier New" panose="02070309020205020404" pitchFamily="49" charset="0"/>
              </a:rPr>
              <a:t>("cat4")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cats.append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catunknown</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print(cats)</a:t>
            </a:r>
          </a:p>
          <a:p>
            <a:r>
              <a:rPr lang="en-US" dirty="0">
                <a:latin typeface="Courier New" panose="02070309020205020404" pitchFamily="49" charset="0"/>
                <a:cs typeface="Courier New" panose="02070309020205020404" pitchFamily="49" charset="0"/>
              </a:rPr>
              <a:t># Onscreen: ['cat1', 'cat1', 'cat1', 'cat1']</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53</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37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9</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7500" lnSpcReduction="20000"/>
          </a:bodyPr>
          <a:lstStyle/>
          <a:p>
            <a:r>
              <a:rPr lang="en-US" dirty="0">
                <a:latin typeface="Courier New" panose="02070309020205020404" pitchFamily="49" charset="0"/>
                <a:cs typeface="Courier New" panose="02070309020205020404" pitchFamily="49" charset="0"/>
              </a:rPr>
              <a:t>x = [5, 10, 15, 20]; a = 4; b = 9; c = 13; d = 15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cats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element in x:</a:t>
            </a:r>
          </a:p>
          <a:p>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if element &gt;= d:</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("cat4")</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elif element &lt;= c:</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("cat3")</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elif element &lt; b:</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("cat2")</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elif element &gt; a:</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("cat1")</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else:</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catunknown</a:t>
            </a:r>
            <a:r>
              <a:rPr lang="en-US" dirty="0">
                <a:solidFill>
                  <a:srgbClr val="FF0000"/>
                </a:solidFill>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print(cats)</a:t>
            </a:r>
          </a:p>
          <a:p>
            <a:r>
              <a:rPr lang="en-US" dirty="0">
                <a:latin typeface="Courier New" panose="02070309020205020404" pitchFamily="49" charset="0"/>
                <a:cs typeface="Courier New" panose="02070309020205020404" pitchFamily="49" charset="0"/>
              </a:rPr>
              <a:t># Onscreen: ['cat3', 'cat3', 'cat4', 'cat4']</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54</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6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F4BF5-3B3F-2655-9BBE-72779BA3CA08}"/>
              </a:ext>
            </a:extLst>
          </p:cNvPr>
          <p:cNvSpPr>
            <a:spLocks noGrp="1"/>
          </p:cNvSpPr>
          <p:nvPr>
            <p:ph type="title"/>
          </p:nvPr>
        </p:nvSpPr>
        <p:spPr/>
        <p:txBody>
          <a:bodyPr/>
          <a:lstStyle/>
          <a:p>
            <a:r>
              <a:rPr lang="nl-NL" dirty="0"/>
              <a:t>Question 9</a:t>
            </a:r>
            <a:endParaRPr lang="en-US" dirty="0"/>
          </a:p>
        </p:txBody>
      </p:sp>
      <p:sp>
        <p:nvSpPr>
          <p:cNvPr id="3" name="Content Placeholder 2">
            <a:extLst>
              <a:ext uri="{FF2B5EF4-FFF2-40B4-BE49-F238E27FC236}">
                <a16:creationId xmlns:a16="http://schemas.microsoft.com/office/drawing/2014/main" id="{8BBE5A86-0830-060C-81E4-4CB5189A3E9E}"/>
              </a:ext>
            </a:extLst>
          </p:cNvPr>
          <p:cNvSpPr>
            <a:spLocks noGrp="1"/>
          </p:cNvSpPr>
          <p:nvPr>
            <p:ph idx="1"/>
          </p:nvPr>
        </p:nvSpPr>
        <p:spPr/>
        <p:txBody>
          <a:bodyPr>
            <a:normAutofit fontScale="77500" lnSpcReduction="20000"/>
          </a:bodyPr>
          <a:lstStyle/>
          <a:p>
            <a:r>
              <a:rPr lang="en-US" dirty="0">
                <a:latin typeface="Courier New" panose="02070309020205020404" pitchFamily="49" charset="0"/>
                <a:cs typeface="Courier New" panose="02070309020205020404" pitchFamily="49" charset="0"/>
              </a:rPr>
              <a:t>x = [5, 10, 15, 20]; a = 4; b = 9; c = 13; d = 15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cats =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for element in x:</a:t>
            </a:r>
          </a:p>
          <a:p>
            <a:r>
              <a:rPr lang="en-US" dirty="0">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rPr>
              <a:t>result = "</a:t>
            </a:r>
            <a:r>
              <a:rPr lang="en-US" dirty="0" err="1">
                <a:solidFill>
                  <a:srgbClr val="FF0000"/>
                </a:solidFill>
                <a:latin typeface="Courier New" panose="02070309020205020404" pitchFamily="49" charset="0"/>
                <a:cs typeface="Courier New" panose="02070309020205020404" pitchFamily="49" charset="0"/>
              </a:rPr>
              <a:t>catunknown</a:t>
            </a:r>
            <a:r>
              <a:rPr lang="en-US" dirty="0">
                <a:solidFill>
                  <a:srgbClr val="FF0000"/>
                </a:solidFill>
                <a:latin typeface="Courier New" panose="02070309020205020404" pitchFamily="49" charset="0"/>
                <a:cs typeface="Courier New" panose="02070309020205020404" pitchFamily="49" charset="0"/>
              </a:rPr>
              <a:t>"</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if element &gt; a:</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 = "cat1"</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if element &lt; b:</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 = "cat2"</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if element &lt;= c:</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 = "cat3"</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if element &gt;= d:</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 = "cat4"</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cats.append</a:t>
            </a:r>
            <a:r>
              <a:rPr lang="en-US" dirty="0">
                <a:solidFill>
                  <a:srgbClr val="FF0000"/>
                </a:solidFill>
                <a:latin typeface="Courier New" panose="02070309020205020404" pitchFamily="49" charset="0"/>
                <a:cs typeface="Courier New" panose="02070309020205020404" pitchFamily="49" charset="0"/>
              </a:rPr>
              <a:t>(result)</a:t>
            </a:r>
          </a:p>
          <a:p>
            <a:r>
              <a:rPr lang="en-US" dirty="0">
                <a:latin typeface="Courier New" panose="02070309020205020404" pitchFamily="49" charset="0"/>
                <a:cs typeface="Courier New" panose="02070309020205020404" pitchFamily="49" charset="0"/>
              </a:rPr>
              <a:t>print(cats)</a:t>
            </a:r>
          </a:p>
          <a:p>
            <a:r>
              <a:rPr lang="en-US" dirty="0">
                <a:latin typeface="Courier New" panose="02070309020205020404" pitchFamily="49" charset="0"/>
                <a:cs typeface="Courier New" panose="02070309020205020404" pitchFamily="49" charset="0"/>
              </a:rPr>
              <a:t># Onscreen: ['cat3', 'cat3', 'cat4', 'cat4']</a:t>
            </a:r>
            <a:br>
              <a:rPr lang="en-US" dirty="0">
                <a:latin typeface="Courier New" panose="02070309020205020404" pitchFamily="49" charset="0"/>
                <a:cs typeface="Courier New" panose="02070309020205020404" pitchFamily="49" charset="0"/>
              </a:rPr>
            </a:b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6E712397-C333-6B71-C881-CA6EF917E9D2}"/>
              </a:ext>
            </a:extLst>
          </p:cNvPr>
          <p:cNvSpPr>
            <a:spLocks noGrp="1"/>
          </p:cNvSpPr>
          <p:nvPr>
            <p:ph type="sldNum" sz="quarter" idx="12"/>
          </p:nvPr>
        </p:nvSpPr>
        <p:spPr/>
        <p:txBody>
          <a:bodyPr/>
          <a:lstStyle/>
          <a:p>
            <a:fld id="{937257EE-0CEF-4D7E-9E69-5277D6172560}" type="slidenum">
              <a:rPr lang="nl-NL" smtClean="0"/>
              <a:t>55</a:t>
            </a:fld>
            <a:endParaRPr lang="nl-NL"/>
          </a:p>
        </p:txBody>
      </p:sp>
      <p:sp>
        <p:nvSpPr>
          <p:cNvPr id="5" name="Rectangle 1">
            <a:extLst>
              <a:ext uri="{FF2B5EF4-FFF2-40B4-BE49-F238E27FC236}">
                <a16:creationId xmlns:a16="http://schemas.microsoft.com/office/drawing/2014/main" id="{C46A6979-9AEA-7A28-5368-C0F5775D24A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902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79120</TotalTime>
  <Words>6670</Words>
  <Application>Microsoft Office PowerPoint</Application>
  <PresentationFormat>Widescreen</PresentationFormat>
  <Paragraphs>465</Paragraphs>
  <Slides>55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Calibri Light (Koppen)</vt:lpstr>
      <vt:lpstr>Courier New</vt:lpstr>
      <vt:lpstr>Office Theme</vt:lpstr>
      <vt:lpstr>Introduction to Python</vt:lpstr>
      <vt:lpstr>Program for Today: all about functions</vt:lpstr>
      <vt:lpstr>How to define a function</vt:lpstr>
      <vt:lpstr>How to call a function</vt:lpstr>
      <vt:lpstr>How to call a function</vt:lpstr>
      <vt:lpstr>How to call a function</vt:lpstr>
      <vt:lpstr>Return statement</vt:lpstr>
      <vt:lpstr>Return statement</vt:lpstr>
      <vt:lpstr>Return statement</vt:lpstr>
      <vt:lpstr>Intermezzo 1: defining a tuple with one element and a nice trick</vt:lpstr>
      <vt:lpstr>Implicit return statement</vt:lpstr>
      <vt:lpstr>Multiple return statements</vt:lpstr>
      <vt:lpstr>Intermezzo 2: pass</vt:lpstr>
      <vt:lpstr>Global and local names</vt:lpstr>
      <vt:lpstr>Global and local names</vt:lpstr>
      <vt:lpstr>Global and local names</vt:lpstr>
      <vt:lpstr>Global and local names</vt:lpstr>
      <vt:lpstr>Global and local names</vt:lpstr>
      <vt:lpstr>Global and local names</vt:lpstr>
      <vt:lpstr>Global and local names</vt:lpstr>
      <vt:lpstr>Arguments</vt:lpstr>
      <vt:lpstr>Accepting positional arguments </vt:lpstr>
      <vt:lpstr>Accepting an undefined number of positional arguments </vt:lpstr>
      <vt:lpstr>Alternative way to deal with an undefined number of 'arguments' </vt:lpstr>
      <vt:lpstr>Mix of accepting defined and undefined arguments</vt:lpstr>
      <vt:lpstr>A problem with mutable arguments</vt:lpstr>
      <vt:lpstr>A problem with mutable arguments</vt:lpstr>
      <vt:lpstr>Nested functions</vt:lpstr>
      <vt:lpstr>Function factories</vt:lpstr>
      <vt:lpstr>Accepting keyword arguments</vt:lpstr>
      <vt:lpstr>Accepting undefined keyword arguments</vt:lpstr>
      <vt:lpstr>You can mix positional and keyword arguments</vt:lpstr>
      <vt:lpstr>The argument list of the call decides whether an argument is positional or keyword</vt:lpstr>
      <vt:lpstr>Defining defaults for missing arguments</vt:lpstr>
      <vt:lpstr>Defining defaults for missing arguments</vt:lpstr>
      <vt:lpstr>A problem with mutable defaults</vt:lpstr>
      <vt:lpstr>A problem with mutable defaults</vt:lpstr>
      <vt:lpstr>Methods without arguments?</vt:lpstr>
      <vt:lpstr>Lambda functions </vt:lpstr>
      <vt:lpstr>Lambda functions </vt:lpstr>
      <vt:lpstr>Lambda functions </vt:lpstr>
      <vt:lpstr>Programming Notes: different type of loops</vt:lpstr>
      <vt:lpstr>Programming Notes: nested for-loops</vt:lpstr>
      <vt:lpstr>Programming Notes: nested for-loops</vt:lpstr>
      <vt:lpstr>Question 3</vt:lpstr>
      <vt:lpstr>Question 3</vt:lpstr>
      <vt:lpstr>Question 3</vt:lpstr>
      <vt:lpstr>Question 5</vt:lpstr>
      <vt:lpstr>Question 5</vt:lpstr>
      <vt:lpstr>Question 5</vt:lpstr>
      <vt:lpstr>Question 5</vt:lpstr>
      <vt:lpstr>Question 9</vt:lpstr>
      <vt:lpstr>Question 9</vt:lpstr>
      <vt:lpstr>Question 9</vt:lpstr>
      <vt:lpstr>Question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Intruction to Python</dc:title>
  <dc:creator>Ailko van der Veen</dc:creator>
  <cp:lastModifiedBy>Mathijs Janssen</cp:lastModifiedBy>
  <cp:revision>80</cp:revision>
  <cp:lastPrinted>2023-04-19T18:26:05Z</cp:lastPrinted>
  <dcterms:created xsi:type="dcterms:W3CDTF">2023-02-02T16:35:46Z</dcterms:created>
  <dcterms:modified xsi:type="dcterms:W3CDTF">2026-02-14T12:42:05Z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e6dba3-42c1-475e-beed-5d52002941fd_Enabled">
    <vt:lpwstr>true</vt:lpwstr>
  </property>
  <property fmtid="{D5CDD505-2E9C-101B-9397-08002B2CF9AE}" pid="3" name="MSIP_Label_f3e6dba3-42c1-475e-beed-5d52002941fd_SetDate">
    <vt:lpwstr>2023-05-02T07:46:35Z</vt:lpwstr>
  </property>
  <property fmtid="{D5CDD505-2E9C-101B-9397-08002B2CF9AE}" pid="4" name="MSIP_Label_f3e6dba3-42c1-475e-beed-5d52002941fd_Method">
    <vt:lpwstr>Standard</vt:lpwstr>
  </property>
  <property fmtid="{D5CDD505-2E9C-101B-9397-08002B2CF9AE}" pid="5" name="MSIP_Label_f3e6dba3-42c1-475e-beed-5d52002941fd_Name">
    <vt:lpwstr>Openbaar</vt:lpwstr>
  </property>
  <property fmtid="{D5CDD505-2E9C-101B-9397-08002B2CF9AE}" pid="6" name="MSIP_Label_f3e6dba3-42c1-475e-beed-5d52002941fd_SiteId">
    <vt:lpwstr>5b83389b-52c3-41b5-a90c-45ceabd80c71</vt:lpwstr>
  </property>
  <property fmtid="{D5CDD505-2E9C-101B-9397-08002B2CF9AE}" pid="7" name="MSIP_Label_f3e6dba3-42c1-475e-beed-5d52002941fd_ActionId">
    <vt:lpwstr>d7d4e083-8577-430c-b4c8-33f34bae808f</vt:lpwstr>
  </property>
  <property fmtid="{D5CDD505-2E9C-101B-9397-08002B2CF9AE}" pid="8" name="MSIP_Label_f3e6dba3-42c1-475e-beed-5d52002941fd_ContentBits">
    <vt:lpwstr>0</vt:lpwstr>
  </property>
</Properties>
</file>