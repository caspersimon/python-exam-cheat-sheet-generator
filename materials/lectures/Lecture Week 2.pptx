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72" r:id="rId3"/>
    <p:sldId id="370" r:id="rId4"/>
    <p:sldId id="367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66" r:id="rId19"/>
    <p:sldId id="336" r:id="rId20"/>
    <p:sldId id="337" r:id="rId21"/>
    <p:sldId id="339" r:id="rId22"/>
    <p:sldId id="371" r:id="rId23"/>
    <p:sldId id="340" r:id="rId24"/>
    <p:sldId id="341" r:id="rId25"/>
    <p:sldId id="342" r:id="rId26"/>
    <p:sldId id="343" r:id="rId27"/>
    <p:sldId id="344" r:id="rId28"/>
    <p:sldId id="346" r:id="rId29"/>
    <p:sldId id="347" r:id="rId30"/>
    <p:sldId id="372" r:id="rId31"/>
    <p:sldId id="348" r:id="rId32"/>
    <p:sldId id="349" r:id="rId33"/>
    <p:sldId id="350" r:id="rId34"/>
    <p:sldId id="351" r:id="rId35"/>
    <p:sldId id="352" r:id="rId36"/>
    <p:sldId id="355" r:id="rId37"/>
    <p:sldId id="356" r:id="rId38"/>
    <p:sldId id="357" r:id="rId39"/>
    <p:sldId id="358" r:id="rId40"/>
    <p:sldId id="359" r:id="rId41"/>
    <p:sldId id="361" r:id="rId42"/>
    <p:sldId id="362" r:id="rId43"/>
    <p:sldId id="363" r:id="rId44"/>
    <p:sldId id="364" r:id="rId45"/>
    <p:sldId id="365" r:id="rId46"/>
    <p:sldId id="369" r:id="rId4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3EC82-A6D9-4395-879E-48C45FEFD99A}" v="175" dt="2026-02-10T14:50:38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072" autoAdjust="0"/>
  </p:normalViewPr>
  <p:slideViewPr>
    <p:cSldViewPr snapToGrid="0">
      <p:cViewPr varScale="1">
        <p:scale>
          <a:sx n="73" d="100"/>
          <a:sy n="73" d="100"/>
        </p:scale>
        <p:origin x="10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js Janssen" userId="e1c712ed-fa05-4b32-a6ac-d3bcfe11202a" providerId="ADAL" clId="{8FD1F137-BF03-485D-B0D1-ED5AC4324200}"/>
    <pc:docChg chg="custSel modSld">
      <pc:chgData name="Mathijs Janssen" userId="e1c712ed-fa05-4b32-a6ac-d3bcfe11202a" providerId="ADAL" clId="{8FD1F137-BF03-485D-B0D1-ED5AC4324200}" dt="2026-02-10T15:37:30.513" v="180" actId="20577"/>
      <pc:docMkLst>
        <pc:docMk/>
      </pc:docMkLst>
      <pc:sldChg chg="modSp mod">
        <pc:chgData name="Mathijs Janssen" userId="e1c712ed-fa05-4b32-a6ac-d3bcfe11202a" providerId="ADAL" clId="{8FD1F137-BF03-485D-B0D1-ED5AC4324200}" dt="2026-02-10T15:37:30.513" v="180" actId="20577"/>
        <pc:sldMkLst>
          <pc:docMk/>
          <pc:sldMk cId="890737958" sldId="272"/>
        </pc:sldMkLst>
        <pc:spChg chg="mod">
          <ac:chgData name="Mathijs Janssen" userId="e1c712ed-fa05-4b32-a6ac-d3bcfe11202a" providerId="ADAL" clId="{8FD1F137-BF03-485D-B0D1-ED5AC4324200}" dt="2026-02-10T15:37:30.513" v="180" actId="20577"/>
          <ac:spMkLst>
            <pc:docMk/>
            <pc:sldMk cId="890737958" sldId="272"/>
            <ac:spMk id="2" creationId="{4812F33F-A141-0F90-6E0C-B391F2959544}"/>
          </ac:spMkLst>
        </pc:spChg>
        <pc:spChg chg="mod">
          <ac:chgData name="Mathijs Janssen" userId="e1c712ed-fa05-4b32-a6ac-d3bcfe11202a" providerId="ADAL" clId="{8FD1F137-BF03-485D-B0D1-ED5AC4324200}" dt="2026-02-10T12:49:16.286" v="39" actId="20577"/>
          <ac:spMkLst>
            <pc:docMk/>
            <pc:sldMk cId="890737958" sldId="272"/>
            <ac:spMk id="3" creationId="{987FFBB7-D392-3BB1-6E4C-8815E69999CF}"/>
          </ac:spMkLst>
        </pc:spChg>
      </pc:sldChg>
      <pc:sldChg chg="modSp">
        <pc:chgData name="Mathijs Janssen" userId="e1c712ed-fa05-4b32-a6ac-d3bcfe11202a" providerId="ADAL" clId="{8FD1F137-BF03-485D-B0D1-ED5AC4324200}" dt="2026-02-10T13:30:12.642" v="42" actId="313"/>
        <pc:sldMkLst>
          <pc:docMk/>
          <pc:sldMk cId="4234414364" sldId="323"/>
        </pc:sldMkLst>
        <pc:spChg chg="mod">
          <ac:chgData name="Mathijs Janssen" userId="e1c712ed-fa05-4b32-a6ac-d3bcfe11202a" providerId="ADAL" clId="{8FD1F137-BF03-485D-B0D1-ED5AC4324200}" dt="2026-02-10T13:30:12.642" v="42" actId="313"/>
          <ac:spMkLst>
            <pc:docMk/>
            <pc:sldMk cId="4234414364" sldId="323"/>
            <ac:spMk id="3" creationId="{987FFBB7-D392-3BB1-6E4C-8815E69999CF}"/>
          </ac:spMkLst>
        </pc:spChg>
      </pc:sldChg>
      <pc:sldChg chg="modSp modAnim">
        <pc:chgData name="Mathijs Janssen" userId="e1c712ed-fa05-4b32-a6ac-d3bcfe11202a" providerId="ADAL" clId="{8FD1F137-BF03-485D-B0D1-ED5AC4324200}" dt="2026-02-10T14:16:14.647" v="44" actId="5793"/>
        <pc:sldMkLst>
          <pc:docMk/>
          <pc:sldMk cId="2728327804" sldId="325"/>
        </pc:sldMkLst>
        <pc:spChg chg="mod">
          <ac:chgData name="Mathijs Janssen" userId="e1c712ed-fa05-4b32-a6ac-d3bcfe11202a" providerId="ADAL" clId="{8FD1F137-BF03-485D-B0D1-ED5AC4324200}" dt="2026-02-10T14:16:14.647" v="44" actId="5793"/>
          <ac:spMkLst>
            <pc:docMk/>
            <pc:sldMk cId="2728327804" sldId="325"/>
            <ac:spMk id="3" creationId="{987FFBB7-D392-3BB1-6E4C-8815E69999CF}"/>
          </ac:spMkLst>
        </pc:spChg>
      </pc:sldChg>
      <pc:sldChg chg="modSp">
        <pc:chgData name="Mathijs Janssen" userId="e1c712ed-fa05-4b32-a6ac-d3bcfe11202a" providerId="ADAL" clId="{8FD1F137-BF03-485D-B0D1-ED5AC4324200}" dt="2026-02-10T14:50:38.053" v="178" actId="313"/>
        <pc:sldMkLst>
          <pc:docMk/>
          <pc:sldMk cId="2929225267" sldId="328"/>
        </pc:sldMkLst>
        <pc:spChg chg="mod">
          <ac:chgData name="Mathijs Janssen" userId="e1c712ed-fa05-4b32-a6ac-d3bcfe11202a" providerId="ADAL" clId="{8FD1F137-BF03-485D-B0D1-ED5AC4324200}" dt="2026-02-10T14:50:38.053" v="178" actId="313"/>
          <ac:spMkLst>
            <pc:docMk/>
            <pc:sldMk cId="2929225267" sldId="328"/>
            <ac:spMk id="3" creationId="{987FFBB7-D392-3BB1-6E4C-8815E69999CF}"/>
          </ac:spMkLst>
        </pc:spChg>
      </pc:sldChg>
      <pc:sldChg chg="modSp modAnim">
        <pc:chgData name="Mathijs Janssen" userId="e1c712ed-fa05-4b32-a6ac-d3bcfe11202a" providerId="ADAL" clId="{8FD1F137-BF03-485D-B0D1-ED5AC4324200}" dt="2026-02-10T14:25:03.267" v="110" actId="20577"/>
        <pc:sldMkLst>
          <pc:docMk/>
          <pc:sldMk cId="3497452101" sldId="329"/>
        </pc:sldMkLst>
        <pc:spChg chg="mod">
          <ac:chgData name="Mathijs Janssen" userId="e1c712ed-fa05-4b32-a6ac-d3bcfe11202a" providerId="ADAL" clId="{8FD1F137-BF03-485D-B0D1-ED5AC4324200}" dt="2026-02-10T14:25:03.267" v="110" actId="20577"/>
          <ac:spMkLst>
            <pc:docMk/>
            <pc:sldMk cId="3497452101" sldId="329"/>
            <ac:spMk id="3" creationId="{987FFBB7-D392-3BB1-6E4C-8815E69999CF}"/>
          </ac:spMkLst>
        </pc:spChg>
      </pc:sldChg>
      <pc:sldChg chg="modSp">
        <pc:chgData name="Mathijs Janssen" userId="e1c712ed-fa05-4b32-a6ac-d3bcfe11202a" providerId="ADAL" clId="{8FD1F137-BF03-485D-B0D1-ED5AC4324200}" dt="2026-02-10T14:27:17.653" v="115" actId="20577"/>
        <pc:sldMkLst>
          <pc:docMk/>
          <pc:sldMk cId="1509409672" sldId="331"/>
        </pc:sldMkLst>
        <pc:spChg chg="mod">
          <ac:chgData name="Mathijs Janssen" userId="e1c712ed-fa05-4b32-a6ac-d3bcfe11202a" providerId="ADAL" clId="{8FD1F137-BF03-485D-B0D1-ED5AC4324200}" dt="2026-02-10T14:27:17.653" v="115" actId="20577"/>
          <ac:spMkLst>
            <pc:docMk/>
            <pc:sldMk cId="1509409672" sldId="331"/>
            <ac:spMk id="3" creationId="{987FFBB7-D392-3BB1-6E4C-8815E69999CF}"/>
          </ac:spMkLst>
        </pc:spChg>
      </pc:sldChg>
      <pc:sldChg chg="modSp">
        <pc:chgData name="Mathijs Janssen" userId="e1c712ed-fa05-4b32-a6ac-d3bcfe11202a" providerId="ADAL" clId="{8FD1F137-BF03-485D-B0D1-ED5AC4324200}" dt="2026-02-07T10:50:53.691" v="10" actId="20577"/>
        <pc:sldMkLst>
          <pc:docMk/>
          <pc:sldMk cId="4238863304" sldId="355"/>
        </pc:sldMkLst>
        <pc:spChg chg="mod">
          <ac:chgData name="Mathijs Janssen" userId="e1c712ed-fa05-4b32-a6ac-d3bcfe11202a" providerId="ADAL" clId="{8FD1F137-BF03-485D-B0D1-ED5AC4324200}" dt="2026-02-07T10:50:53.691" v="10" actId="20577"/>
          <ac:spMkLst>
            <pc:docMk/>
            <pc:sldMk cId="4238863304" sldId="355"/>
            <ac:spMk id="3" creationId="{987FFBB7-D392-3BB1-6E4C-8815E69999CF}"/>
          </ac:spMkLst>
        </pc:spChg>
      </pc:sldChg>
      <pc:sldChg chg="mod modShow">
        <pc:chgData name="Mathijs Janssen" userId="e1c712ed-fa05-4b32-a6ac-d3bcfe11202a" providerId="ADAL" clId="{8FD1F137-BF03-485D-B0D1-ED5AC4324200}" dt="2026-02-07T10:51:27.202" v="11" actId="729"/>
        <pc:sldMkLst>
          <pc:docMk/>
          <pc:sldMk cId="3748960093" sldId="356"/>
        </pc:sldMkLst>
      </pc:sldChg>
      <pc:sldChg chg="mod modShow">
        <pc:chgData name="Mathijs Janssen" userId="e1c712ed-fa05-4b32-a6ac-d3bcfe11202a" providerId="ADAL" clId="{8FD1F137-BF03-485D-B0D1-ED5AC4324200}" dt="2026-02-07T10:51:52.002" v="12" actId="729"/>
        <pc:sldMkLst>
          <pc:docMk/>
          <pc:sldMk cId="3287594290" sldId="358"/>
        </pc:sldMkLst>
      </pc:sldChg>
      <pc:sldChg chg="mod modShow">
        <pc:chgData name="Mathijs Janssen" userId="e1c712ed-fa05-4b32-a6ac-d3bcfe11202a" providerId="ADAL" clId="{8FD1F137-BF03-485D-B0D1-ED5AC4324200}" dt="2026-02-07T10:52:02.365" v="13" actId="729"/>
        <pc:sldMkLst>
          <pc:docMk/>
          <pc:sldMk cId="4252114385" sldId="359"/>
        </pc:sldMkLst>
      </pc:sldChg>
      <pc:sldChg chg="modSp mod modAnim">
        <pc:chgData name="Mathijs Janssen" userId="e1c712ed-fa05-4b32-a6ac-d3bcfe11202a" providerId="ADAL" clId="{8FD1F137-BF03-485D-B0D1-ED5AC4324200}" dt="2026-02-10T14:32:55.480" v="158" actId="2711"/>
        <pc:sldMkLst>
          <pc:docMk/>
          <pc:sldMk cId="3120596583" sldId="366"/>
        </pc:sldMkLst>
        <pc:spChg chg="mod">
          <ac:chgData name="Mathijs Janssen" userId="e1c712ed-fa05-4b32-a6ac-d3bcfe11202a" providerId="ADAL" clId="{8FD1F137-BF03-485D-B0D1-ED5AC4324200}" dt="2026-02-10T14:32:55.480" v="158" actId="2711"/>
          <ac:spMkLst>
            <pc:docMk/>
            <pc:sldMk cId="3120596583" sldId="366"/>
            <ac:spMk id="3" creationId="{987FFBB7-D392-3BB1-6E4C-8815E69999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56494-9652-4C35-99CC-CD6290EED9C9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AD505-357B-4703-B7C8-66719F90EC1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491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88A8-8C05-F949-A3B5-D999903B4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A0611-8B3C-636E-D05A-0D407B4CB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77F61-ACE5-72DA-FB61-D83FE708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9156-502C-4E44-A8F3-449C44A99A35}" type="datetime1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989B3-9635-38C7-3F0F-095E765E3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2124D-CF80-7A52-7A0F-C5B0A27B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452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FB7F-1E42-E6FC-9584-3281E9D31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1B8A7-7924-2CB3-1987-573374026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C0E4A-CAD0-68AA-8799-69E81F0A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AD6D3-2C0E-4458-8F98-12CC0D0E8F73}" type="datetime1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F55AA-665E-7AA1-7349-2F106AD1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912EC-135E-67FA-7E58-ED710406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50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79971-8BDC-936B-2CD8-524EDBD0F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82443-9395-7F68-276C-D8B7586A0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C9DE8-667D-5EAB-0A60-7DBAA23A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EA20C-18C3-45D6-BC38-58F68D61687F}" type="datetime1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AA8FC-A3DD-E65F-1389-C98503D2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DA893-DF01-76F7-37DB-B1972B46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967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B509-8F5B-89D3-D61E-D594A08B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5F12-99E2-4304-B9C2-6CE674CD6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88F09-0559-726D-6AEA-C13C7C492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1C8AF-7198-4B88-E8F4-5F8FB7017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329A-7345-4C87-98F0-E62379BA69FA}" type="datetime1">
              <a:rPr lang="nl-NL" smtClean="0"/>
              <a:t>10-2-2026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D7BF7-A756-61F2-ADEB-0F8E19413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48370-19D4-0C25-8A94-C3074DED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5571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D90AE-DAA2-46CE-20F5-11FBE930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959DF-8B47-2581-A229-01D604D5C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881A0-F621-F3FC-AD26-FB04D6A7E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20DBE-0B45-72CC-2E1F-DB73E0B01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30688-EA72-DB1C-47BA-DE0306BC9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C5AE4-528F-D8CA-0D7D-EB7AC54A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A022-B988-4403-BECC-AD7FB7786157}" type="datetime1">
              <a:rPr lang="nl-NL" smtClean="0"/>
              <a:t>10-2-2026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4CE958-A4BB-1DD0-FDAA-1277A9B6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B48D2-431C-73CD-E3D8-8D0BD416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755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C7D9-AB32-EBDC-D83D-910DC1D4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5E39E1-C9FD-B23F-93BB-16292FDA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4C2F-4525-46D0-AC1F-FA61D0C6D4E6}" type="datetime1">
              <a:rPr lang="nl-NL" smtClean="0"/>
              <a:t>10-2-2026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A10E7-F0D1-C059-4E0E-982FBB2F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340A7-2FCA-33A5-5020-90F6FC30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972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77AE5-10B9-2184-5C36-0E69CCE8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E508-C58C-45C8-A844-4C8EC4BC6F0F}" type="datetime1">
              <a:rPr lang="nl-NL" smtClean="0"/>
              <a:t>10-2-2026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E625B-DBB2-1B94-35E2-4DE3A161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AD80B-1D0F-C7C1-1098-949C07B5C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99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E405-D932-4356-1804-989E4CDD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DD79-A635-6C0C-77FE-22722537F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A58B2-BF86-327B-EEA7-245AFC328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978E3-5475-BFD0-7D55-51123354C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BC8A-0C04-4B4C-84DF-7079E7A5EA57}" type="datetime1">
              <a:rPr lang="nl-NL" smtClean="0"/>
              <a:t>10-2-2026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AA283-0066-85C7-35AF-4FE8D971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8D4CC-09AD-BB38-BD5F-52E0E60D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210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D974-3EFF-6D20-111A-EFBD7086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4BF45-865A-BEF4-7BFF-84FD7767F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12C10-AD8C-1CC1-B50B-8C7EE6CCC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7350B-B870-9E42-D7CD-8EAA38173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4F65-629A-4609-BFA2-31E99977851A}" type="datetime1">
              <a:rPr lang="nl-NL" smtClean="0"/>
              <a:t>10-2-2026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B5C27-DD08-3586-F1C1-64EB4F67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61CD1-AC21-B8F4-237E-5484757D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030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84F3B-E455-410B-F930-5F40187D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43454-7FE8-69B5-2338-5EA46D674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2C776-A0A0-3798-679C-6BCD4F4D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767A-0918-4E86-9797-7297ED964E0F}" type="datetime1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64D2D-7CE5-1327-49B5-D0F25ADD3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FC27B-244D-437D-5DE3-6B9CB8BBE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302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2130B6-C164-8EF0-774F-DBC6D5767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D7AAF-2482-6979-87AA-BF001B40E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3CFCC-2008-4B15-FD8E-8BB7C348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DB13B-3D03-4D41-B063-2F2E79FA968A}" type="datetime1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F7187-7A9F-22D8-EE26-F55B351B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01A5B-5CAE-9C7B-E730-72AA8BD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774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8D0953-0162-9E55-EEF8-4C0D25A9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E67A3-665A-54FC-E782-F8572962B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6617-FFD2-6739-790E-371D7AC5C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02052-1C33-4BA0-820F-F6B792B11061}" type="datetime1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8479-F3C5-3A7F-437D-5C0FEF0E1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43497-1FD2-8D46-0743-B9CBAED0D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257EE-0CEF-4D7E-9E69-5277D617256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224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9E373-03F6-7C2F-CE4E-0CC678205B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 </a:t>
            </a:r>
            <a:r>
              <a:rPr lang="en-US" dirty="0"/>
              <a:t>to Python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943DD-A8C7-8C87-9D15-2979A51BFD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2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2AF60-AE70-9C20-71EC-1C7A33DB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2227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 err="1"/>
              <a:t>Programme</a:t>
            </a:r>
            <a:r>
              <a:rPr lang="nl-NL" dirty="0"/>
              <a:t>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libri (Hoofdtekst)"/>
              </a:rPr>
              <a:t>Augmented Assignment Operators</a:t>
            </a:r>
            <a:endParaRPr lang="en-US" sz="2400" dirty="0">
              <a:effectLst/>
              <a:latin typeface="Calibri (Hoofdtekst)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effectLst/>
                <a:latin typeface="Calibri (Hoofdtekst)"/>
              </a:rPr>
              <a:t>Dictionaries</a:t>
            </a:r>
            <a:r>
              <a:rPr lang="en-US" sz="2400" dirty="0">
                <a:latin typeface="Calibri (Hoofdtekst)"/>
              </a:rPr>
              <a:t>, </a:t>
            </a:r>
            <a:r>
              <a:rPr lang="en-US" sz="2400" dirty="0">
                <a:effectLst/>
                <a:latin typeface="Calibri (Hoofdtekst)"/>
              </a:rPr>
              <a:t>lists and sets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effectLst/>
                <a:latin typeface="Calibri (Hoofdtekst)"/>
              </a:rPr>
              <a:t>Conditions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libri (Hoofdtekst)"/>
              </a:rPr>
              <a:t>Control structures</a:t>
            </a:r>
            <a:endParaRPr lang="en-US" sz="2400" dirty="0">
              <a:effectLst/>
              <a:latin typeface="Calibri (Hoofdtekst)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effectLst/>
                <a:latin typeface="Calibri (Hoofdtekst)"/>
              </a:rPr>
              <a:t>Conditional statements and expressions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alibri (Hoofdtekst)"/>
              </a:rPr>
              <a:t>F</a:t>
            </a:r>
            <a:r>
              <a:rPr lang="en-US" dirty="0">
                <a:effectLst/>
                <a:latin typeface="Calibri (Hoofdtekst)"/>
              </a:rPr>
              <a:t>or-loops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effectLst/>
                <a:latin typeface="Calibri (Hoofdtekst)"/>
              </a:rPr>
              <a:t>Looping over collections of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alibri (Hoofdtekst)"/>
              </a:rPr>
              <a:t>W</a:t>
            </a:r>
            <a:r>
              <a:rPr lang="en-US" dirty="0">
                <a:effectLst/>
                <a:latin typeface="Calibri (Hoofdtekst)"/>
              </a:rPr>
              <a:t>hile-loops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libri (Hoofdtekst)"/>
              </a:rPr>
              <a:t>Other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alibri (Hoofdtekst)"/>
              </a:rPr>
              <a:t>Conversion of data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alibri (Hoofdtekst)"/>
              </a:rPr>
              <a:t>Truthy and </a:t>
            </a:r>
            <a:r>
              <a:rPr lang="en-US" dirty="0" err="1">
                <a:latin typeface="Calibri (Hoofdtekst)"/>
              </a:rPr>
              <a:t>Falsy</a:t>
            </a:r>
            <a:endParaRPr lang="en-US" dirty="0">
              <a:latin typeface="Calibri (Hoofdtekst)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>
                <a:latin typeface="Calibri (Hoofdtekst)"/>
              </a:rPr>
              <a:t>Common homework </a:t>
            </a:r>
            <a:r>
              <a:rPr lang="en-US" dirty="0">
                <a:latin typeface="Calibri (Hoofdtekst)"/>
              </a:rPr>
              <a:t>difficulties</a:t>
            </a:r>
            <a:endParaRPr lang="en-US" sz="2400" dirty="0">
              <a:latin typeface="Calibri (Hoofdtekst)"/>
            </a:endParaRPr>
          </a:p>
          <a:p>
            <a:pPr marL="457200" lvl="1" indent="0">
              <a:buNone/>
            </a:pPr>
            <a:endParaRPr lang="en-US" dirty="0">
              <a:latin typeface="Calibri (Hoofdtekst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073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1312554" cy="1325563"/>
          </a:xfrm>
        </p:spPr>
        <p:txBody>
          <a:bodyPr/>
          <a:lstStyle/>
          <a:p>
            <a:r>
              <a:rPr lang="en-US" dirty="0"/>
              <a:t>The Augmented Assignment Operators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4985"/>
            <a:ext cx="10515600" cy="4619297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</a:rPr>
              <a:t>a = a + 1</a:t>
            </a:r>
            <a:br>
              <a:rPr lang="en-US" sz="2400" dirty="0">
                <a:latin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</a:rPr>
              <a:t>a += 1</a:t>
            </a:r>
          </a:p>
          <a:p>
            <a:r>
              <a:rPr lang="en-US" sz="2400" dirty="0">
                <a:latin typeface="Arial" panose="020B0604020202020204" pitchFamily="34" charset="0"/>
              </a:rPr>
              <a:t>a = a - 2</a:t>
            </a:r>
            <a:br>
              <a:rPr lang="en-US" sz="2400" dirty="0">
                <a:latin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</a:rPr>
              <a:t>a -= 2</a:t>
            </a:r>
            <a:endParaRPr lang="en-US" sz="2400" dirty="0">
              <a:latin typeface="Courier New" panose="02070309020205020404" pitchFamily="49" charset="0"/>
            </a:endParaRPr>
          </a:p>
          <a:p>
            <a:r>
              <a:rPr lang="en-US" sz="2400" dirty="0">
                <a:latin typeface="Arial" panose="020B0604020202020204" pitchFamily="34" charset="0"/>
              </a:rPr>
              <a:t>a = a * 3</a:t>
            </a:r>
            <a:br>
              <a:rPr lang="en-US" sz="2400" dirty="0">
                <a:latin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</a:rPr>
              <a:t>a *= 3</a:t>
            </a:r>
            <a:endParaRPr lang="en-US" sz="2400" dirty="0">
              <a:latin typeface="Courier New" panose="02070309020205020404" pitchFamily="49" charset="0"/>
            </a:endParaRPr>
          </a:p>
          <a:p>
            <a:r>
              <a:rPr lang="en-US" sz="2400" dirty="0">
                <a:latin typeface="Arial" panose="020B0604020202020204" pitchFamily="34" charset="0"/>
              </a:rPr>
              <a:t>a = a / 4</a:t>
            </a:r>
            <a:br>
              <a:rPr lang="en-US" sz="2400" dirty="0">
                <a:latin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</a:rPr>
              <a:t>a /= 4</a:t>
            </a:r>
            <a:endParaRPr lang="en-US" sz="2400" dirty="0">
              <a:latin typeface="Courier New" panose="02070309020205020404" pitchFamily="49" charset="0"/>
            </a:endParaRPr>
          </a:p>
          <a:p>
            <a:r>
              <a:rPr lang="en-US" sz="2400" dirty="0">
                <a:latin typeface="Arial" panose="020B0604020202020204" pitchFamily="34" charset="0"/>
              </a:rPr>
              <a:t>a = a // 5</a:t>
            </a:r>
            <a:br>
              <a:rPr lang="en-US" sz="2400" dirty="0">
                <a:latin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</a:rPr>
              <a:t>a //= 5</a:t>
            </a:r>
          </a:p>
          <a:p>
            <a:r>
              <a:rPr lang="en-US" sz="2400" dirty="0">
                <a:latin typeface="Arial" panose="020B0604020202020204" pitchFamily="34" charset="0"/>
              </a:rPr>
              <a:t>a = a%6</a:t>
            </a:r>
            <a:br>
              <a:rPr lang="en-US" sz="2400" dirty="0">
                <a:latin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</a:rPr>
              <a:t>a %= 6 </a:t>
            </a:r>
            <a:endParaRPr lang="en-US" sz="2400" dirty="0">
              <a:latin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174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Dictionaries</a:t>
            </a:r>
            <a:r>
              <a:rPr lang="nl-NL" dirty="0"/>
              <a:t>: </a:t>
            </a:r>
            <a:r>
              <a:rPr lang="nl-NL" dirty="0" err="1"/>
              <a:t>Introduction</a:t>
            </a:r>
            <a:r>
              <a:rPr lang="nl-N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1907"/>
            <a:ext cx="11734801" cy="5032375"/>
          </a:xfrm>
        </p:spPr>
        <p:txBody>
          <a:bodyPr>
            <a:noAutofit/>
          </a:bodyPr>
          <a:lstStyle/>
          <a:p>
            <a:r>
              <a:rPr lang="nl-NL" dirty="0" err="1"/>
              <a:t>Recall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en-US" dirty="0"/>
              <a:t>last week: dictionaries are sets of key: value pairs: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{key1: value1, key2: value2,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US" dirty="0"/>
              <a:t>Why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en-US" dirty="0"/>
              <a:t>dictionaries</a:t>
            </a:r>
            <a:r>
              <a:rPr lang="nl-NL" dirty="0"/>
              <a:t>?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dictionaries, makes your program more readable</a:t>
            </a:r>
          </a:p>
          <a:p>
            <a:pPr lvl="1"/>
            <a:r>
              <a:rPr lang="en-US" dirty="0"/>
              <a:t>Compare: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{'Estonia': 'Tallinn', 'Belgium': 'Brussels', 'France', 'Paris'}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print(capitals['Belgium'])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= ['Estonia', 'Belgium', 'France']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['</a:t>
            </a:r>
            <a:r>
              <a:rPr lang="nl-NL" i="1" dirty="0">
                <a:latin typeface="Courier New" panose="02070309020205020404" pitchFamily="49" charset="0"/>
                <a:cs typeface="Courier New" panose="02070309020205020404" pitchFamily="49" charset="0"/>
              </a:rPr>
              <a:t>Tallinn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', 'Brussels', 'Paris']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print(capitals[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countries.index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('Belgium')])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['Estonia', 'Tallin', 'Belgium', 'Brussels', 'France', 'Paris']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print(capitals[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('Belgium') + 1])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146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Dictionaries</a:t>
            </a:r>
            <a:r>
              <a:rPr lang="nl-NL" dirty="0"/>
              <a:t>: </a:t>
            </a:r>
            <a:r>
              <a:rPr lang="nl-NL" dirty="0" err="1"/>
              <a:t>Introduction</a:t>
            </a:r>
            <a:r>
              <a:rPr lang="nl-N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1907"/>
            <a:ext cx="11344275" cy="5032375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200" dirty="0"/>
              <a:t>Dictionaries are fast</a:t>
            </a:r>
            <a:endParaRPr lang="en-US" dirty="0"/>
          </a:p>
          <a:p>
            <a:pPr lvl="1"/>
            <a:r>
              <a:rPr lang="nl-NL" sz="2800" dirty="0"/>
              <a:t>In Python </a:t>
            </a:r>
            <a:r>
              <a:rPr lang="nl-NL" sz="2800" dirty="0" err="1"/>
              <a:t>there</a:t>
            </a:r>
            <a:r>
              <a:rPr lang="nl-NL" sz="2800" dirty="0"/>
              <a:t> </a:t>
            </a:r>
            <a:r>
              <a:rPr lang="nl-NL" sz="2800" dirty="0" err="1"/>
              <a:t>often</a:t>
            </a:r>
            <a:r>
              <a:rPr lang="nl-NL" sz="2800" dirty="0"/>
              <a:t> is </a:t>
            </a:r>
            <a:r>
              <a:rPr lang="en-US" sz="2800" dirty="0"/>
              <a:t> trade-off between speed and flexibility</a:t>
            </a:r>
            <a:endParaRPr lang="nl-NL" sz="2800" dirty="0"/>
          </a:p>
          <a:p>
            <a:pPr lvl="1"/>
            <a:r>
              <a:rPr lang="en-US" sz="2800" dirty="0"/>
              <a:t>To make dictionaries fast</a:t>
            </a:r>
            <a:r>
              <a:rPr lang="nl-NL" sz="2800" dirty="0"/>
              <a:t>, </a:t>
            </a:r>
            <a:r>
              <a:rPr lang="nl-NL" sz="2800" dirty="0" err="1"/>
              <a:t>keys</a:t>
            </a:r>
            <a:r>
              <a:rPr lang="nl-NL" sz="2800" dirty="0"/>
              <a:t> in a </a:t>
            </a:r>
            <a:r>
              <a:rPr lang="nl-NL" sz="2800" dirty="0" err="1"/>
              <a:t>dictionary</a:t>
            </a:r>
            <a:r>
              <a:rPr lang="nl-NL" sz="2800" dirty="0"/>
              <a:t> must </a:t>
            </a:r>
            <a:r>
              <a:rPr lang="nl-NL" sz="2800" dirty="0" err="1"/>
              <a:t>be</a:t>
            </a:r>
            <a:r>
              <a:rPr lang="nl-NL" sz="2800" dirty="0"/>
              <a:t> </a:t>
            </a:r>
            <a:r>
              <a:rPr lang="nl-NL" sz="2800" dirty="0" err="1"/>
              <a:t>unique</a:t>
            </a:r>
            <a:r>
              <a:rPr lang="nl-NL" sz="2800" dirty="0"/>
              <a:t> </a:t>
            </a:r>
            <a:r>
              <a:rPr lang="nl-NL" sz="2800" dirty="0" err="1"/>
              <a:t>and</a:t>
            </a:r>
            <a:r>
              <a:rPr lang="nl-NL" sz="2800" dirty="0"/>
              <a:t> </a:t>
            </a:r>
            <a:r>
              <a:rPr lang="nl-NL" sz="2800" dirty="0" err="1"/>
              <a:t>immutable</a:t>
            </a:r>
            <a:endParaRPr lang="nl-NL" sz="2800" dirty="0"/>
          </a:p>
          <a:p>
            <a:pPr lvl="1"/>
            <a:r>
              <a:rPr lang="nl-NL" sz="2800" dirty="0"/>
              <a:t>#</a:t>
            </a:r>
            <a:br>
              <a:rPr lang="nl-NL" sz="2800" dirty="0"/>
            </a:br>
            <a:r>
              <a:rPr lang="nl-NL" sz="2800" dirty="0"/>
              <a:t>Python </a:t>
            </a:r>
            <a:r>
              <a:rPr lang="nl-NL" sz="2800" dirty="0" err="1"/>
              <a:t>actually</a:t>
            </a:r>
            <a:r>
              <a:rPr lang="nl-NL" sz="2800" dirty="0"/>
              <a:t> wants a </a:t>
            </a:r>
            <a:r>
              <a:rPr lang="nl-NL" sz="2800" dirty="0" err="1"/>
              <a:t>key</a:t>
            </a:r>
            <a:r>
              <a:rPr lang="nl-NL" sz="2800" dirty="0"/>
              <a:t> </a:t>
            </a:r>
            <a:r>
              <a:rPr lang="nl-NL" sz="2800" dirty="0" err="1"/>
              <a:t>to</a:t>
            </a:r>
            <a:r>
              <a:rPr lang="nl-NL" sz="2800" dirty="0"/>
              <a:t> </a:t>
            </a:r>
            <a:r>
              <a:rPr lang="nl-NL" sz="2800" dirty="0" err="1"/>
              <a:t>be</a:t>
            </a:r>
            <a:r>
              <a:rPr lang="nl-NL" sz="2800" dirty="0"/>
              <a:t> </a:t>
            </a:r>
            <a:r>
              <a:rPr lang="nl-NL" sz="2800" dirty="0" err="1"/>
              <a:t>hashable</a:t>
            </a:r>
            <a:r>
              <a:rPr lang="nl-NL" sz="2800" dirty="0"/>
              <a:t>, </a:t>
            </a:r>
            <a:r>
              <a:rPr lang="nl-NL" sz="2800" dirty="0" err="1"/>
              <a:t>and</a:t>
            </a:r>
            <a:r>
              <a:rPr lang="nl-NL" sz="2800" dirty="0"/>
              <a:t> </a:t>
            </a:r>
            <a:r>
              <a:rPr lang="nl-NL" sz="2800" dirty="0" err="1"/>
              <a:t>while</a:t>
            </a:r>
            <a:r>
              <a:rPr lang="nl-NL" sz="2800" dirty="0"/>
              <a:t> </a:t>
            </a:r>
            <a:r>
              <a:rPr lang="nl-NL" sz="2800" dirty="0" err="1"/>
              <a:t>there</a:t>
            </a:r>
            <a:r>
              <a:rPr lang="nl-NL" sz="2800" dirty="0"/>
              <a:t> is a </a:t>
            </a:r>
            <a:r>
              <a:rPr lang="nl-NL" sz="2800" dirty="0" err="1"/>
              <a:t>difference</a:t>
            </a:r>
            <a:r>
              <a:rPr lang="nl-NL" sz="2800" dirty="0"/>
              <a:t> </a:t>
            </a:r>
            <a:r>
              <a:rPr lang="nl-NL" sz="2800" dirty="0" err="1"/>
              <a:t>between</a:t>
            </a:r>
            <a:r>
              <a:rPr lang="nl-NL" sz="2800" dirty="0"/>
              <a:t> </a:t>
            </a:r>
            <a:r>
              <a:rPr lang="nl-NL" sz="2800" dirty="0" err="1"/>
              <a:t>hashable</a:t>
            </a:r>
            <a:r>
              <a:rPr lang="nl-NL" sz="2800" dirty="0"/>
              <a:t> </a:t>
            </a:r>
            <a:r>
              <a:rPr lang="nl-NL" sz="2800" dirty="0" err="1"/>
              <a:t>and</a:t>
            </a:r>
            <a:r>
              <a:rPr lang="nl-NL" sz="2800" dirty="0"/>
              <a:t> </a:t>
            </a:r>
            <a:r>
              <a:rPr lang="nl-NL" sz="2800" dirty="0" err="1"/>
              <a:t>immutable</a:t>
            </a:r>
            <a:r>
              <a:rPr lang="nl-NL" sz="2800" dirty="0"/>
              <a:t>, </a:t>
            </a:r>
            <a:r>
              <a:rPr lang="nl-NL" sz="2800" dirty="0" err="1"/>
              <a:t>it</a:t>
            </a:r>
            <a:r>
              <a:rPr lang="nl-NL" sz="2800" dirty="0"/>
              <a:t> is </a:t>
            </a:r>
            <a:r>
              <a:rPr lang="nl-NL" sz="2800" dirty="0" err="1"/>
              <a:t>enough</a:t>
            </a:r>
            <a:r>
              <a:rPr lang="nl-NL" sz="2800" dirty="0"/>
              <a:t> </a:t>
            </a:r>
            <a:r>
              <a:rPr lang="nl-NL" sz="2800" dirty="0" err="1"/>
              <a:t>for</a:t>
            </a:r>
            <a:r>
              <a:rPr lang="nl-NL" sz="2800" dirty="0"/>
              <a:t> </a:t>
            </a:r>
            <a:r>
              <a:rPr lang="nl-NL" sz="2800" dirty="0" err="1"/>
              <a:t>this</a:t>
            </a:r>
            <a:r>
              <a:rPr lang="nl-NL" sz="2800" dirty="0"/>
              <a:t> course </a:t>
            </a:r>
            <a:r>
              <a:rPr lang="nl-NL" sz="2800" dirty="0" err="1"/>
              <a:t>to</a:t>
            </a:r>
            <a:r>
              <a:rPr lang="nl-NL" sz="2800" dirty="0"/>
              <a:t> </a:t>
            </a:r>
            <a:r>
              <a:rPr lang="nl-NL" sz="2800" dirty="0" err="1"/>
              <a:t>assume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r>
              <a:rPr lang="nl-NL" sz="2800" dirty="0"/>
              <a:t> is the </a:t>
            </a:r>
            <a:r>
              <a:rPr lang="nl-NL" sz="2800" dirty="0" err="1"/>
              <a:t>same</a:t>
            </a:r>
            <a:r>
              <a:rPr lang="nl-NL" sz="2800" dirty="0"/>
              <a:t>. </a:t>
            </a:r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are </a:t>
            </a:r>
            <a:r>
              <a:rPr lang="nl-NL" sz="2800" dirty="0" err="1"/>
              <a:t>interested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can</a:t>
            </a:r>
            <a:r>
              <a:rPr lang="nl-NL" sz="2800" dirty="0"/>
              <a:t> google </a:t>
            </a:r>
            <a:r>
              <a:rPr lang="nl-NL" sz="2800" dirty="0" err="1"/>
              <a:t>to</a:t>
            </a:r>
            <a:r>
              <a:rPr lang="nl-NL" sz="2800" dirty="0"/>
              <a:t> </a:t>
            </a:r>
            <a:r>
              <a:rPr lang="nl-NL" sz="2800" dirty="0" err="1"/>
              <a:t>find</a:t>
            </a:r>
            <a:r>
              <a:rPr lang="nl-NL" sz="2800" dirty="0"/>
              <a:t> out more  </a:t>
            </a:r>
          </a:p>
          <a:p>
            <a:pPr lvl="1"/>
            <a:r>
              <a:rPr lang="en-US" sz="2800" dirty="0"/>
              <a:t>Dictionaries have no order while lists for example have</a:t>
            </a:r>
          </a:p>
          <a:p>
            <a:pPr lvl="2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 ({1:1, 2:2} == {2:2, 1:1})</a:t>
            </a:r>
            <a:endParaRPr lang="en-US" sz="2400" dirty="0"/>
          </a:p>
          <a:p>
            <a:pPr lvl="2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 ([1,2] == [2,1])</a:t>
            </a:r>
          </a:p>
          <a:p>
            <a:pPr lvl="1"/>
            <a:r>
              <a:rPr lang="en-US" sz="2800" dirty="0"/>
              <a:t>This also means that you cannot sort dictionaries</a:t>
            </a:r>
            <a:endParaRPr lang="nl-NL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62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/>
              <a:t>Using </a:t>
            </a:r>
            <a:r>
              <a:rPr lang="nl-NL" dirty="0" err="1"/>
              <a:t>dic</a:t>
            </a:r>
            <a:r>
              <a:rPr lang="en-US" dirty="0" err="1"/>
              <a:t>tionaries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Autofit/>
          </a:bodyPr>
          <a:lstStyle/>
          <a:p>
            <a:r>
              <a:rPr lang="en-US" sz="2400" dirty="0"/>
              <a:t>How to create an empty dictionary: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{}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400" dirty="0"/>
              <a:t>How to create a filled dictionary: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{'Andorra': 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Andorra la Vella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'Belgium': 'Brussels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l1 = ['Andorra', 'Belgium']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l2 = ['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Andorra la Vella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'Brussels']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(zip(countries, capitals))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tekst)"/>
              </a:rPr>
              <a:t>How to select by key: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print(capitals['Belgium’])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tekst)"/>
              </a:rPr>
              <a:t>How to delete a </a:t>
            </a:r>
            <a:r>
              <a:rPr lang="en-US" sz="2400" dirty="0" err="1">
                <a:latin typeface="Calibri (Hoofdtekst)"/>
              </a:rPr>
              <a:t>key:value</a:t>
            </a:r>
            <a:r>
              <a:rPr lang="en-US" sz="2400" dirty="0">
                <a:latin typeface="Calibri (Hoofdtekst)"/>
              </a:rPr>
              <a:t> pair: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del(capitals['Belgium'])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441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/>
              <a:t>Using </a:t>
            </a:r>
            <a:r>
              <a:rPr lang="nl-NL" dirty="0" err="1"/>
              <a:t>dic</a:t>
            </a:r>
            <a:r>
              <a:rPr lang="en-US" dirty="0" err="1"/>
              <a:t>tionaries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Calibri (Hoofdtekst)"/>
              </a:rPr>
              <a:t>How to insert new </a:t>
            </a:r>
            <a:r>
              <a:rPr lang="en-US" sz="2400" dirty="0" err="1">
                <a:latin typeface="Calibri (Hoofdtekst)"/>
              </a:rPr>
              <a:t>key:value</a:t>
            </a:r>
            <a:r>
              <a:rPr lang="en-US" sz="2400" dirty="0">
                <a:latin typeface="Calibri (Hoofdtekst)"/>
              </a:rPr>
              <a:t> pairs: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capitals['Netherlands'] = 'The Hague'</a:t>
            </a:r>
          </a:p>
          <a:p>
            <a:pPr lvl="1">
              <a:lnSpc>
                <a:spcPct val="11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capitals.update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({'Netherlands' : 'The Hague', 'Belgium': 'Brussels'})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tekst)"/>
              </a:rPr>
              <a:t>How to update your dictionary: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capitals['Netherlands'] = 'Amsterdam'</a:t>
            </a:r>
          </a:p>
          <a:p>
            <a:pPr lvl="1">
              <a:lnSpc>
                <a:spcPct val="11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capitals.update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({'Netherlands' : 'Amsterdam', 'Belgium': 'Brussels'})</a:t>
            </a:r>
            <a:endParaRPr lang="en-US" sz="2500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tekst)"/>
              </a:rPr>
              <a:t>Updating/inserting is a bit tricky</a:t>
            </a:r>
            <a:r>
              <a:rPr lang="nl-NL" sz="2400" dirty="0">
                <a:latin typeface="Calibri (Hoofdtekst)"/>
              </a:rPr>
              <a:t>:</a:t>
            </a:r>
            <a:r>
              <a:rPr lang="en-US" sz="2400" dirty="0">
                <a:latin typeface="Calibri (Hoofdtekst)"/>
              </a:rPr>
              <a:t> sometimes you must be sure that you are updating an existing key/value pair, and not inserting a new one, so: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'Netherlands' in capitals: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capitals['Netherlands'] = 'The Hague'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print("Country doesn't exist")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722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 err="1"/>
              <a:t>Lists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dictio</a:t>
            </a:r>
            <a:r>
              <a:rPr lang="en-US" dirty="0" err="1"/>
              <a:t>naries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896600" cy="5032375"/>
          </a:xfrm>
        </p:spPr>
        <p:txBody>
          <a:bodyPr>
            <a:noAutofit/>
          </a:bodyPr>
          <a:lstStyle/>
          <a:p>
            <a:r>
              <a:rPr lang="en-US" dirty="0"/>
              <a:t>Lists are sequences of values [value1, value2, </a:t>
            </a:r>
            <a:r>
              <a:rPr lang="en-US" dirty="0" err="1"/>
              <a:t>etc</a:t>
            </a:r>
            <a:r>
              <a:rPr lang="en-US" dirty="0"/>
              <a:t>]</a:t>
            </a:r>
          </a:p>
          <a:p>
            <a:pPr lvl="1"/>
            <a:r>
              <a:rPr lang="en-US" i="1" dirty="0"/>
              <a:t>Sequences</a:t>
            </a:r>
            <a:r>
              <a:rPr lang="en-US" dirty="0"/>
              <a:t> are collections that are ordered</a:t>
            </a:r>
          </a:p>
          <a:p>
            <a:r>
              <a:rPr lang="en-US" dirty="0"/>
              <a:t>Lists, tuples, and strings are sequences</a:t>
            </a:r>
          </a:p>
          <a:p>
            <a:r>
              <a:rPr lang="en-US" dirty="0"/>
              <a:t>Dictionaries and sets are not sequences</a:t>
            </a:r>
          </a:p>
          <a:p>
            <a:r>
              <a:rPr lang="en-US" dirty="0"/>
              <a:t>These sequences and not</a:t>
            </a:r>
            <a:r>
              <a:rPr lang="nl-NL" dirty="0"/>
              <a:t>-</a:t>
            </a:r>
            <a:r>
              <a:rPr lang="en-US" dirty="0"/>
              <a:t>sequences are both called </a:t>
            </a:r>
            <a:r>
              <a:rPr lang="en-US" i="1" dirty="0"/>
              <a:t>collections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 ([1,2] == [2,1])	     		# Onscreen: False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 ((1,2) == (2,1))	     		# Onscreen: False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 ('12' == '21')	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		#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Onscreen: False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 ({1,2} == {2,1})	     		# Onscreen: True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 ({1:1, 2:2} == {2:2, 1:1}) 	# Onscreen: True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832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/>
              <a:t>Using </a:t>
            </a:r>
            <a:r>
              <a:rPr lang="nl-NL" dirty="0" err="1"/>
              <a:t>lists</a:t>
            </a:r>
            <a:r>
              <a:rPr lang="nl-N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/>
              <a:t>How to create an empty list: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= []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= list()</a:t>
            </a:r>
          </a:p>
          <a:p>
            <a:r>
              <a:rPr lang="en-US" sz="2400" dirty="0"/>
              <a:t>How to create a filled list: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= ['Andorra', 'Belgium']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tekst)"/>
              </a:rPr>
              <a:t>How to select by index: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print(countries[1]))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tekst)"/>
              </a:rPr>
              <a:t>How to delete a value: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del(countries[1])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481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/>
              <a:t>Using </a:t>
            </a:r>
            <a:r>
              <a:rPr lang="nl-NL" dirty="0" err="1"/>
              <a:t>lists</a:t>
            </a:r>
            <a:r>
              <a:rPr lang="nl-N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Calibri (Hoofdstekst)"/>
              </a:rPr>
              <a:t>Inserting new value: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+= ['Netherlands', 'Belgium'] </a:t>
            </a:r>
          </a:p>
          <a:p>
            <a:pPr lvl="1">
              <a:lnSpc>
                <a:spcPct val="11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countries.append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('Netherlands')</a:t>
            </a:r>
            <a:endParaRPr lang="en-US" sz="2500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stekst)"/>
              </a:rPr>
              <a:t>Inserting can be a bit tricky</a:t>
            </a:r>
            <a:r>
              <a:rPr lang="nl-NL" sz="2400" dirty="0">
                <a:latin typeface="Calibri (Hoofdstekst)"/>
              </a:rPr>
              <a:t>: s</a:t>
            </a:r>
            <a:r>
              <a:rPr lang="en-US" sz="2400" dirty="0" err="1">
                <a:latin typeface="Calibri (Hoofdstekst)"/>
              </a:rPr>
              <a:t>ometimes</a:t>
            </a:r>
            <a:r>
              <a:rPr lang="en-US" sz="2400" dirty="0">
                <a:latin typeface="Calibri (Hoofdstekst)"/>
              </a:rPr>
              <a:t> you want to be sure that a certain value is not already in the list, so: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'Netherlands' not in countries: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countries += ['Netherlands']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print('Country already in list')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stekst)"/>
              </a:rPr>
              <a:t>How to update your list: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countries[-1] = 'Holland'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09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/>
              <a:t>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6"/>
            <a:ext cx="10515600" cy="557609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Sets are collections with values {value1, value2, </a:t>
            </a:r>
            <a:r>
              <a:rPr lang="en-US" sz="2400" dirty="0" err="1"/>
              <a:t>etc</a:t>
            </a:r>
            <a:r>
              <a:rPr lang="en-US" sz="2400" dirty="0"/>
              <a:t>} , where each values is unique</a:t>
            </a:r>
            <a:endParaRPr lang="nl-NL" sz="2400" dirty="0"/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print ({1, 2, 2} == {2,1})		# Onscreen: True</a:t>
            </a:r>
            <a:endParaRPr lang="nl-NL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print 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({1, 2, 2}) == 2)		# Onscreen: True</a:t>
            </a:r>
          </a:p>
          <a:p>
            <a:r>
              <a:rPr lang="en-US" sz="2400" dirty="0"/>
              <a:t>How to create an empty set:</a:t>
            </a:r>
            <a:endParaRPr lang="nl-NL" sz="2400" dirty="0"/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= set()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= {} Would this work?</a:t>
            </a:r>
          </a:p>
          <a:p>
            <a:r>
              <a:rPr lang="en-US" sz="2400" dirty="0"/>
              <a:t>How to create a filled set: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= {'Andorra', 'Belgium’}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tekst)"/>
              </a:rPr>
              <a:t>How to select by index:</a:t>
            </a:r>
          </a:p>
          <a:p>
            <a:pPr lvl="1">
              <a:lnSpc>
                <a:spcPct val="110000"/>
              </a:lnSpc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Not possible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tekst)"/>
              </a:rPr>
              <a:t>How to delete a value:</a:t>
            </a:r>
          </a:p>
          <a:p>
            <a:pPr lvl="1">
              <a:lnSpc>
                <a:spcPct val="110000"/>
              </a:lnSpc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countries.remove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('Andorra')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 (Hoofdstekst)"/>
              </a:rPr>
              <a:t>Inserting a new value:</a:t>
            </a:r>
          </a:p>
          <a:p>
            <a:pPr lvl="1">
              <a:lnSpc>
                <a:spcPct val="110000"/>
              </a:lnSpc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countries.add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('Andorra')</a:t>
            </a:r>
            <a:endParaRPr lang="en-US" sz="2200" dirty="0">
              <a:latin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countries.update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({'Andorra', 'Greece'})</a:t>
            </a:r>
            <a:endParaRPr lang="en-US" sz="22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922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 err="1"/>
              <a:t>Conditions</a:t>
            </a:r>
            <a:r>
              <a:rPr lang="nl-NL" dirty="0"/>
              <a:t>: </a:t>
            </a:r>
            <a:r>
              <a:rPr lang="nl-NL" dirty="0" err="1"/>
              <a:t>Introduction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 (Hoofdstekst)"/>
              </a:rPr>
              <a:t>Conditions are expressions that lead to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400" dirty="0">
                <a:latin typeface="Arial" panose="020B0604020202020204" pitchFamily="34" charset="0"/>
              </a:rPr>
              <a:t> </a:t>
            </a:r>
            <a:r>
              <a:rPr lang="en-US" sz="2400" dirty="0">
                <a:latin typeface="Calibri (Hoofdstekst)"/>
              </a:rPr>
              <a:t>or</a:t>
            </a:r>
            <a:r>
              <a:rPr lang="en-US" sz="2400" dirty="0">
                <a:latin typeface="Arial" panose="020B0604020202020204" pitchFamily="34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alibri (Hoofdstekst)"/>
              </a:rPr>
              <a:t>Comparison operators</a:t>
            </a:r>
            <a:r>
              <a:rPr lang="nl-NL" sz="2400" dirty="0">
                <a:latin typeface="Calibri (Hoofdstekst)"/>
              </a:rPr>
              <a:t> (</a:t>
            </a:r>
            <a:r>
              <a:rPr lang="en-US" sz="2000" dirty="0">
                <a:latin typeface="Courier New" panose="02070309020205020404" pitchFamily="49" charset="0"/>
              </a:rPr>
              <a:t>&lt;, &lt;=, &gt;, &gt;=, ==, !=</a:t>
            </a:r>
            <a:r>
              <a:rPr lang="nl-NL" sz="2400" dirty="0">
                <a:latin typeface="Calibri (Hoofdstekst)"/>
              </a:rPr>
              <a:t>)</a:t>
            </a:r>
            <a:r>
              <a:rPr lang="en-US" sz="2400" dirty="0">
                <a:latin typeface="Calibri (Hoofdstekst)"/>
              </a:rPr>
              <a:t>: compare two values, the result is either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400" dirty="0">
                <a:latin typeface="Arial" panose="020B0604020202020204" pitchFamily="34" charset="0"/>
              </a:rPr>
              <a:t> </a:t>
            </a:r>
            <a:r>
              <a:rPr lang="en-US" sz="2400" dirty="0">
                <a:latin typeface="Calibri (Hoofdstekst)"/>
              </a:rPr>
              <a:t>or</a:t>
            </a:r>
            <a:r>
              <a:rPr lang="en-US" sz="2400" dirty="0">
                <a:latin typeface="Arial" panose="020B0604020202020204" pitchFamily="34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r>
              <a:rPr lang="en-US" sz="2400" dirty="0">
                <a:latin typeface="Calibri (Hoofdstekst)"/>
              </a:rPr>
              <a:t>Inclusion check </a:t>
            </a:r>
            <a:r>
              <a:rPr lang="nl-NL" sz="2400" dirty="0">
                <a:latin typeface="Calibri (Hoofdstekst)"/>
              </a:rPr>
              <a:t>(</a:t>
            </a:r>
            <a:r>
              <a:rPr lang="en-US" sz="2400" dirty="0">
                <a:latin typeface="Courier New" panose="02070309020205020404" pitchFamily="49" charset="0"/>
              </a:rPr>
              <a:t>in</a:t>
            </a:r>
            <a:r>
              <a:rPr lang="nl-NL" sz="2400" dirty="0">
                <a:latin typeface="Calibri (Hoofdstekst)"/>
              </a:rPr>
              <a:t>):</a:t>
            </a:r>
            <a:r>
              <a:rPr lang="en-US" sz="2400" dirty="0">
                <a:latin typeface="Calibri (Hoofdstekst)"/>
              </a:rPr>
              <a:t> check whether a value is in a collection. In case of a dictionary the inclusion checks</a:t>
            </a:r>
            <a:r>
              <a:rPr lang="nl-NL" sz="2400" dirty="0">
                <a:latin typeface="Calibri (Hoofdstekst)"/>
              </a:rPr>
              <a:t> </a:t>
            </a:r>
            <a:r>
              <a:rPr lang="en-US" sz="2400" dirty="0">
                <a:latin typeface="Calibri (Hoofdstekst)"/>
              </a:rPr>
              <a:t>whether the value is one of the keys.</a:t>
            </a:r>
            <a:endParaRPr lang="en-US" sz="2400" dirty="0">
              <a:latin typeface="Arial" panose="020B0604020202020204" pitchFamily="34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print(1 in [1,2,3])		# Onscreen: True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print(1 in (1,2,3))		# Onscreen: True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print('1' in '123')		# Onscreen: True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print(1 in '123’)		# Onscreen: </a:t>
            </a:r>
            <a:r>
              <a:rPr lang="en-US" sz="1800" dirty="0" err="1">
                <a:latin typeface="Courier New" panose="02070309020205020404" pitchFamily="49" charset="0"/>
              </a:rPr>
              <a:t>TypeError</a:t>
            </a:r>
            <a:endParaRPr lang="en-US" sz="1800" dirty="0">
              <a:latin typeface="Courier New" panose="02070309020205020404" pitchFamily="49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print(1 in {1: 4,2: 3})	# Onscreen: True 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print(4 in {1: 4,2: 3})	# Onscreen: False 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print(1 in {1,2,3})		# Onscreen: True  </a:t>
            </a:r>
            <a:br>
              <a:rPr lang="en-US" sz="2000" dirty="0">
                <a:latin typeface="Courier New" panose="02070309020205020404" pitchFamily="49" charset="0"/>
              </a:rPr>
            </a:br>
            <a:endParaRPr lang="en-US" sz="2000" dirty="0">
              <a:latin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745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 err="1"/>
              <a:t>Conditions</a:t>
            </a:r>
            <a:r>
              <a:rPr lang="nl-NL" dirty="0"/>
              <a:t>: </a:t>
            </a:r>
            <a:r>
              <a:rPr lang="nl-NL" dirty="0" err="1"/>
              <a:t>boolean</a:t>
            </a:r>
            <a:r>
              <a:rPr lang="nl-NL" dirty="0"/>
              <a:t>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nl-NL" sz="2400" dirty="0" err="1">
                <a:latin typeface="Calibri (Hoofdstekst)"/>
              </a:rPr>
              <a:t>Use</a:t>
            </a:r>
            <a:r>
              <a:rPr lang="nl-NL" sz="2400" dirty="0">
                <a:latin typeface="Calibri (Hoofdstekst)"/>
              </a:rPr>
              <a:t> </a:t>
            </a:r>
            <a:r>
              <a:rPr lang="nl-NL" sz="2400" dirty="0" err="1">
                <a:latin typeface="Calibri (Hoofdstekst)"/>
              </a:rPr>
              <a:t>Boolean</a:t>
            </a:r>
            <a:r>
              <a:rPr lang="nl-NL" sz="2400" dirty="0">
                <a:latin typeface="Calibri (Hoofdstekst)"/>
              </a:rPr>
              <a:t> operators </a:t>
            </a:r>
            <a:r>
              <a:rPr lang="nl-NL" sz="2400" dirty="0" err="1">
                <a:latin typeface="Calibri (Hoofdstekst)"/>
              </a:rPr>
              <a:t>to</a:t>
            </a:r>
            <a:r>
              <a:rPr lang="nl-NL" sz="2400" dirty="0">
                <a:latin typeface="Calibri (Hoofdstekst)"/>
              </a:rPr>
              <a:t> </a:t>
            </a:r>
            <a:r>
              <a:rPr lang="nl-NL" sz="2400" dirty="0" err="1">
                <a:latin typeface="Calibri (Hoofdstekst)"/>
              </a:rPr>
              <a:t>create</a:t>
            </a:r>
            <a:r>
              <a:rPr lang="nl-NL" sz="2400" dirty="0">
                <a:latin typeface="Calibri (Hoofdstekst)"/>
              </a:rPr>
              <a:t> more complex </a:t>
            </a:r>
            <a:r>
              <a:rPr lang="nl-NL" sz="2400" dirty="0" err="1">
                <a:latin typeface="Calibri (Hoofdstekst)"/>
              </a:rPr>
              <a:t>conditions</a:t>
            </a:r>
            <a:endParaRPr lang="nl-NL" sz="2400" dirty="0">
              <a:latin typeface="Calibri (Hoofdstekst)"/>
            </a:endParaRPr>
          </a:p>
          <a:p>
            <a:r>
              <a:rPr lang="en-US" sz="2400" dirty="0">
                <a:latin typeface="Calibri (Hoofdstekst)"/>
              </a:rPr>
              <a:t>Boolean operators can be used to connect comparisons: </a:t>
            </a:r>
            <a:r>
              <a:rPr lang="en-US" sz="2200" dirty="0">
                <a:latin typeface="Courier New" panose="02070309020205020404" pitchFamily="49" charset="0"/>
              </a:rPr>
              <a:t>and</a:t>
            </a:r>
            <a:r>
              <a:rPr lang="en-US" sz="2200" dirty="0">
                <a:latin typeface="Arial" panose="020B0604020202020204" pitchFamily="34" charset="0"/>
              </a:rPr>
              <a:t>, </a:t>
            </a:r>
            <a:r>
              <a:rPr lang="en-US" sz="2200" dirty="0">
                <a:latin typeface="Courier New" panose="02070309020205020404" pitchFamily="49" charset="0"/>
              </a:rPr>
              <a:t>or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print(True and True,   True or True)	# Onscreen: True </a:t>
            </a:r>
            <a:r>
              <a:rPr lang="en-US" sz="1800" dirty="0" err="1">
                <a:latin typeface="Courier New" panose="02070309020205020404" pitchFamily="49" charset="0"/>
              </a:rPr>
              <a:t>True</a:t>
            </a:r>
            <a:br>
              <a:rPr lang="en-US" sz="1800" dirty="0">
                <a:latin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</a:rPr>
              <a:t>print(True and False,  True or False)	# Onscreen: False True</a:t>
            </a:r>
            <a:br>
              <a:rPr lang="en-US" sz="1800" dirty="0">
                <a:latin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</a:rPr>
              <a:t>print(False and True,  False or True)	# Onscreen: False True</a:t>
            </a:r>
            <a:br>
              <a:rPr lang="en-US" sz="1800" dirty="0">
                <a:latin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</a:rPr>
              <a:t>print(False and False, False or False)	# Onscreen: False, False</a:t>
            </a:r>
            <a:endParaRPr lang="en-US" dirty="0">
              <a:latin typeface="Courier New" panose="02070309020205020404" pitchFamily="49" charset="0"/>
            </a:endParaRPr>
          </a:p>
          <a:p>
            <a:r>
              <a:rPr lang="en-US" sz="2400" dirty="0">
                <a:latin typeface="Calibri (Hoofdstekst)"/>
              </a:rPr>
              <a:t>Boolean operators can be used to negate a Boolean value: </a:t>
            </a:r>
            <a:r>
              <a:rPr lang="en-US" sz="2000" dirty="0">
                <a:latin typeface="Courier New" panose="02070309020205020404" pitchFamily="49" charset="0"/>
              </a:rPr>
              <a:t>not</a:t>
            </a:r>
            <a:endParaRPr lang="en-US" sz="2400" dirty="0">
              <a:latin typeface="Courier New" panose="02070309020205020404" pitchFamily="49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print(not True)	       # Onscreen: False</a:t>
            </a:r>
            <a:br>
              <a:rPr lang="en-US" sz="1800" dirty="0">
                <a:latin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</a:rPr>
              <a:t>print(not False)	# Onscreen: True</a:t>
            </a:r>
          </a:p>
          <a:p>
            <a:r>
              <a:rPr lang="en-US" sz="2400" dirty="0">
                <a:latin typeface="Calibri (Hoofdstekst)"/>
              </a:rPr>
              <a:t>With this small set of building blocks, you can construct very complex conditions</a:t>
            </a:r>
          </a:p>
          <a:p>
            <a:endParaRPr lang="nl-NL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295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 err="1"/>
              <a:t>Conditions</a:t>
            </a:r>
            <a:r>
              <a:rPr lang="nl-NL" dirty="0"/>
              <a:t>: tricky </a:t>
            </a:r>
            <a:r>
              <a:rPr lang="nl-NL" dirty="0" err="1"/>
              <a:t>example</a:t>
            </a:r>
            <a:r>
              <a:rPr lang="nl-N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nl-NL" sz="2600" dirty="0">
                <a:latin typeface="Calibri (Hoofdstekst)"/>
              </a:rPr>
              <a:t>Using </a:t>
            </a:r>
            <a:r>
              <a:rPr lang="nl-NL" sz="2600" dirty="0" err="1">
                <a:latin typeface="Calibri (Hoofdstekst)"/>
              </a:rPr>
              <a:t>conditions</a:t>
            </a:r>
            <a:r>
              <a:rPr lang="nl-NL" sz="2600" dirty="0">
                <a:latin typeface="Calibri (Hoofdstekst)"/>
              </a:rPr>
              <a:t> </a:t>
            </a:r>
            <a:r>
              <a:rPr lang="nl-NL" sz="2600" dirty="0" err="1">
                <a:latin typeface="Calibri (Hoofdstekst)"/>
              </a:rPr>
              <a:t>can</a:t>
            </a:r>
            <a:r>
              <a:rPr lang="nl-NL" sz="2600" dirty="0">
                <a:latin typeface="Calibri (Hoofdstekst)"/>
              </a:rPr>
              <a:t> </a:t>
            </a:r>
            <a:r>
              <a:rPr lang="nl-NL" sz="2600" dirty="0" err="1">
                <a:latin typeface="Calibri (Hoofdstekst)"/>
              </a:rPr>
              <a:t>be</a:t>
            </a:r>
            <a:r>
              <a:rPr lang="nl-NL" sz="2600" dirty="0">
                <a:latin typeface="Calibri (Hoofdstekst)"/>
              </a:rPr>
              <a:t> tricky</a:t>
            </a:r>
          </a:p>
          <a:p>
            <a:r>
              <a:rPr lang="nl-NL" sz="2600" dirty="0">
                <a:latin typeface="Calibri (Hoofdstekst)"/>
              </a:rPr>
              <a:t>For </a:t>
            </a:r>
            <a:r>
              <a:rPr lang="nl-NL" sz="2600" dirty="0" err="1">
                <a:latin typeface="Calibri (Hoofdstekst)"/>
              </a:rPr>
              <a:t>example</a:t>
            </a:r>
            <a:r>
              <a:rPr lang="nl-NL" sz="2600" dirty="0">
                <a:latin typeface="Calibri (Hoofdstekst)"/>
              </a:rPr>
              <a:t>, say </a:t>
            </a:r>
            <a:r>
              <a:rPr lang="nl-NL" sz="2600" dirty="0" err="1">
                <a:latin typeface="Calibri (Hoofdstekst)"/>
              </a:rPr>
              <a:t>you</a:t>
            </a:r>
            <a:r>
              <a:rPr lang="nl-NL" sz="2600" dirty="0">
                <a:latin typeface="Calibri (Hoofdstekst)"/>
              </a:rPr>
              <a:t> </a:t>
            </a:r>
            <a:r>
              <a:rPr lang="en-US" sz="2600" dirty="0">
                <a:latin typeface="Calibri (Hoofdstekst)"/>
              </a:rPr>
              <a:t>want</a:t>
            </a:r>
            <a:r>
              <a:rPr lang="nl-NL" sz="2600" dirty="0">
                <a:latin typeface="Calibri (Hoofdstekst)"/>
              </a:rPr>
              <a:t> </a:t>
            </a:r>
            <a:r>
              <a:rPr lang="en-US" sz="2600" dirty="0">
                <a:latin typeface="Calibri (Hoofdstekst)"/>
              </a:rPr>
              <a:t>to get True only if both variables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600" dirty="0">
                <a:latin typeface="Calibri (Hoofdstekst)"/>
              </a:rPr>
              <a:t> and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2600" dirty="0">
                <a:latin typeface="Calibri (Hoofdstekst)"/>
              </a:rPr>
              <a:t> are either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600" dirty="0">
                <a:latin typeface="Calibri (Hoofdstekst)"/>
              </a:rPr>
              <a:t> or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600" dirty="0">
                <a:latin typeface="Calibri (Hoofdstekst)"/>
              </a:rPr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a=1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b=3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print(a==1 or a==2 and b==1 or b==2)</a:t>
            </a:r>
          </a:p>
          <a:p>
            <a:pPr lvl="1"/>
            <a:r>
              <a:rPr lang="nl-NL" dirty="0">
                <a:latin typeface="Calibri (Hoofdstekst)"/>
              </a:rPr>
              <a:t>Does </a:t>
            </a:r>
            <a:r>
              <a:rPr lang="nl-NL" dirty="0" err="1">
                <a:latin typeface="Calibri (Hoofdstekst)"/>
              </a:rPr>
              <a:t>it</a:t>
            </a:r>
            <a:r>
              <a:rPr lang="nl-NL" dirty="0">
                <a:latin typeface="Calibri (Hoofdstekst)"/>
              </a:rPr>
              <a:t> make</a:t>
            </a:r>
            <a:r>
              <a:rPr lang="en-US" dirty="0">
                <a:latin typeface="Calibri (Hoofdstekst)"/>
              </a:rPr>
              <a:t> sense? To a human</a:t>
            </a:r>
            <a:r>
              <a:rPr lang="nl-NL" dirty="0">
                <a:latin typeface="Calibri (Hoofdstekst)"/>
              </a:rPr>
              <a:t> </a:t>
            </a:r>
            <a:r>
              <a:rPr lang="nl-NL" dirty="0" err="1">
                <a:latin typeface="Calibri (Hoofdstekst)"/>
              </a:rPr>
              <a:t>it</a:t>
            </a:r>
            <a:r>
              <a:rPr lang="nl-NL" dirty="0">
                <a:latin typeface="Calibri (Hoofdstekst)"/>
              </a:rPr>
              <a:t> does</a:t>
            </a:r>
            <a:r>
              <a:rPr lang="en-US" dirty="0">
                <a:latin typeface="Calibri (Hoofdstekst)"/>
              </a:rPr>
              <a:t>, but not to Python</a:t>
            </a:r>
            <a:endParaRPr lang="nl-NL" dirty="0">
              <a:latin typeface="Calibri (Hoofdstekst)"/>
            </a:endParaRPr>
          </a:p>
          <a:p>
            <a:r>
              <a:rPr lang="nl-NL" sz="2600" dirty="0" err="1">
                <a:latin typeface="Calibri (Hoofdstekst)"/>
              </a:rPr>
              <a:t>What</a:t>
            </a:r>
            <a:r>
              <a:rPr lang="nl-NL" sz="2600" dirty="0">
                <a:latin typeface="Calibri (Hoofdstekst)"/>
              </a:rPr>
              <a:t> </a:t>
            </a:r>
            <a:r>
              <a:rPr lang="nl-NL" sz="2600" dirty="0" err="1">
                <a:latin typeface="Calibri (Hoofdstekst)"/>
              </a:rPr>
              <a:t>will</a:t>
            </a:r>
            <a:r>
              <a:rPr lang="nl-NL" sz="2600" dirty="0">
                <a:latin typeface="Calibri (Hoofdstekst)"/>
              </a:rPr>
              <a:t> </a:t>
            </a:r>
            <a:r>
              <a:rPr lang="en-US" sz="2600" dirty="0">
                <a:latin typeface="Calibri (Hoofdstekst)"/>
              </a:rPr>
              <a:t>Python</a:t>
            </a:r>
            <a:r>
              <a:rPr lang="nl-NL" sz="2600" dirty="0">
                <a:latin typeface="Calibri (Hoofdstekst)"/>
              </a:rPr>
              <a:t> </a:t>
            </a:r>
            <a:r>
              <a:rPr lang="en-US" sz="2600" dirty="0">
                <a:latin typeface="Calibri (Hoofdstekst)"/>
              </a:rPr>
              <a:t>make of </a:t>
            </a:r>
            <a:r>
              <a:rPr lang="nl-NL" sz="2600" dirty="0" err="1">
                <a:latin typeface="Calibri (Hoofdstekst)"/>
              </a:rPr>
              <a:t>the</a:t>
            </a:r>
            <a:r>
              <a:rPr lang="nl-NL" sz="2600" dirty="0">
                <a:latin typeface="Calibri (Hoofdstekst)"/>
              </a:rPr>
              <a:t> </a:t>
            </a:r>
            <a:r>
              <a:rPr lang="nl-NL" sz="2600" dirty="0" err="1">
                <a:latin typeface="Calibri (Hoofdstekst)"/>
              </a:rPr>
              <a:t>above</a:t>
            </a:r>
            <a:r>
              <a:rPr lang="nl-NL" sz="2600" dirty="0">
                <a:latin typeface="Calibri (Hoofdstekst)"/>
              </a:rPr>
              <a:t> code</a:t>
            </a:r>
            <a:r>
              <a:rPr lang="en-US" sz="2600" dirty="0">
                <a:latin typeface="Calibri (Hoofdstekst)"/>
              </a:rPr>
              <a:t> (</a:t>
            </a:r>
            <a:r>
              <a:rPr lang="nl-NL" sz="2600" dirty="0">
                <a:latin typeface="Calibri (Hoofdstekst)"/>
              </a:rPr>
              <a:t>in</a:t>
            </a:r>
            <a:r>
              <a:rPr lang="en-US" sz="2600" dirty="0">
                <a:latin typeface="Calibri (Hoofdstekst)"/>
              </a:rPr>
              <a:t> nerdy language</a:t>
            </a:r>
            <a:r>
              <a:rPr lang="nl-NL" sz="2600" dirty="0">
                <a:latin typeface="Calibri (Hoofdstekst)"/>
              </a:rPr>
              <a:t>:</a:t>
            </a:r>
            <a:r>
              <a:rPr lang="en-US" sz="2600" dirty="0">
                <a:latin typeface="Calibri (Hoofdstekst)"/>
              </a:rPr>
              <a:t> how does Python evaluate this code)?</a:t>
            </a:r>
          </a:p>
          <a:p>
            <a:pPr lvl="1"/>
            <a:r>
              <a:rPr lang="en-US" dirty="0">
                <a:latin typeface="Calibri (Hoofdstekst)"/>
              </a:rPr>
              <a:t>Step 1: Python replaces the comparisons by their Boolean values</a:t>
            </a:r>
          </a:p>
          <a:p>
            <a:pPr lvl="1"/>
            <a:r>
              <a:rPr lang="en-US" dirty="0">
                <a:latin typeface="Calibri (Hoofdstekst)"/>
              </a:rPr>
              <a:t>Result</a:t>
            </a:r>
            <a:r>
              <a:rPr lang="en-US" sz="2200" dirty="0">
                <a:latin typeface="Calibri (Hoofdstekst)"/>
              </a:rPr>
              <a:t>: </a:t>
            </a:r>
            <a:r>
              <a:rPr lang="en-US" sz="2200" dirty="0">
                <a:latin typeface="Courier New" panose="02070309020205020404" pitchFamily="49" charset="0"/>
              </a:rPr>
              <a:t>print(True or False and False or False)</a:t>
            </a:r>
            <a:endParaRPr lang="en-US" dirty="0">
              <a:latin typeface="Courier New" panose="02070309020205020404" pitchFamily="49" charset="0"/>
            </a:endParaRPr>
          </a:p>
          <a:p>
            <a:pPr lvl="1"/>
            <a:r>
              <a:rPr lang="en-US" dirty="0">
                <a:latin typeface="Calibri (Hoofdstekst)"/>
              </a:rPr>
              <a:t>Step 2: Python executes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alibri (Hoofdstekst)"/>
              </a:rPr>
              <a:t>Result: </a:t>
            </a:r>
            <a:r>
              <a:rPr lang="en-US" sz="2200" dirty="0">
                <a:latin typeface="Courier New" panose="02070309020205020404" pitchFamily="49" charset="0"/>
              </a:rPr>
              <a:t>print(True or False or False)</a:t>
            </a:r>
          </a:p>
          <a:p>
            <a:pPr lvl="1"/>
            <a:r>
              <a:rPr lang="en-US" dirty="0">
                <a:latin typeface="Calibri (Hoofdstekst)"/>
              </a:rPr>
              <a:t>Step 3: Python executes the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dirty="0" err="1">
                <a:latin typeface="Calibri (Hoofdstekst)"/>
              </a:rPr>
              <a:t>'s</a:t>
            </a:r>
            <a:r>
              <a:rPr lang="en-US" dirty="0">
                <a:latin typeface="Calibri (Hoofdstekst)"/>
              </a:rPr>
              <a:t> from left to right</a:t>
            </a:r>
          </a:p>
          <a:p>
            <a:pPr lvl="1"/>
            <a:r>
              <a:rPr lang="en-US" dirty="0">
                <a:latin typeface="Calibri (Hoofdstekst)"/>
              </a:rPr>
              <a:t>Result: </a:t>
            </a:r>
            <a:r>
              <a:rPr lang="en-US" sz="2200" dirty="0">
                <a:latin typeface="Courier New" panose="02070309020205020404" pitchFamily="49" charset="0"/>
              </a:rPr>
              <a:t>print(True) #Onscreen: True </a:t>
            </a:r>
            <a:endParaRPr lang="en-US" dirty="0">
              <a:latin typeface="Courier New" panose="02070309020205020404" pitchFamily="49" charset="0"/>
            </a:endParaRPr>
          </a:p>
          <a:p>
            <a:endParaRPr lang="nl-NL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940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 err="1"/>
              <a:t>Conditions</a:t>
            </a:r>
            <a:r>
              <a:rPr lang="nl-NL" dirty="0"/>
              <a:t>: tricky </a:t>
            </a:r>
            <a:r>
              <a:rPr lang="nl-NL" dirty="0" err="1"/>
              <a:t>example</a:t>
            </a:r>
            <a:r>
              <a:rPr lang="nl-N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 (Hoofdstekst)"/>
              </a:rPr>
              <a:t>This is clearly not what you want</a:t>
            </a:r>
            <a:r>
              <a:rPr lang="nl-NL" sz="2400" dirty="0">
                <a:latin typeface="Calibri (Hoofdstekst)"/>
              </a:rPr>
              <a:t> -&gt; solution: </a:t>
            </a:r>
            <a:r>
              <a:rPr lang="en-US" sz="2400" dirty="0">
                <a:latin typeface="Calibri (Hoofdstekst)"/>
              </a:rPr>
              <a:t>in case of doubt</a:t>
            </a:r>
            <a:r>
              <a:rPr lang="nl-NL" sz="2400" dirty="0">
                <a:latin typeface="Calibri (Hoofdstekst)"/>
              </a:rPr>
              <a:t>, u</a:t>
            </a:r>
            <a:r>
              <a:rPr lang="en-US" sz="2400" dirty="0">
                <a:latin typeface="Calibri (Hoofdstekst)"/>
              </a:rPr>
              <a:t>se round brackets: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a=1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b=3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print((a==1 or a==2) and (b==1 or b==2))	#Onscreen: False</a:t>
            </a:r>
          </a:p>
          <a:p>
            <a:r>
              <a:rPr lang="en-US" sz="2400" dirty="0">
                <a:latin typeface="Calibri (Hoofdstekst)"/>
              </a:rPr>
              <a:t>An even nicer solution (applicable in this case) is using the inclusion operator: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a=1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b=3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print(a in [1,2] and b in [1,2])	      #Onscreen: False</a:t>
            </a:r>
          </a:p>
          <a:p>
            <a:r>
              <a:rPr lang="nl-NL" sz="2400" dirty="0">
                <a:latin typeface="Calibri (Hoofdstekst)"/>
              </a:rPr>
              <a:t>The </a:t>
            </a:r>
            <a:r>
              <a:rPr lang="nl-NL" sz="2400" dirty="0" err="1">
                <a:latin typeface="Calibri (Hoofdstekst)"/>
              </a:rPr>
              <a:t>whole</a:t>
            </a:r>
            <a:r>
              <a:rPr lang="nl-NL" sz="2400" dirty="0">
                <a:latin typeface="Calibri (Hoofdstekst)"/>
              </a:rPr>
              <a:t> </a:t>
            </a:r>
            <a:r>
              <a:rPr lang="nl-NL" sz="2400" dirty="0" err="1">
                <a:latin typeface="Calibri (Hoofdstekst)"/>
              </a:rPr>
              <a:t>problem</a:t>
            </a:r>
            <a:r>
              <a:rPr lang="nl-NL" sz="2400" dirty="0">
                <a:latin typeface="Calibri (Hoofdstekst)"/>
              </a:rPr>
              <a:t> </a:t>
            </a:r>
            <a:r>
              <a:rPr lang="nl-NL" sz="2400" dirty="0" err="1">
                <a:latin typeface="Calibri (Hoofdstekst)"/>
              </a:rPr>
              <a:t>about</a:t>
            </a:r>
            <a:r>
              <a:rPr lang="nl-NL" sz="2400" dirty="0">
                <a:latin typeface="Calibri (Hoofdstekst)"/>
              </a:rPr>
              <a:t> </a:t>
            </a:r>
            <a:r>
              <a:rPr lang="nl-NL" sz="2400" dirty="0" err="1">
                <a:latin typeface="Calibri (Hoofdstekst)"/>
              </a:rPr>
              <a:t>what</a:t>
            </a:r>
            <a:r>
              <a:rPr lang="nl-NL" sz="2400" dirty="0">
                <a:latin typeface="Calibri (Hoofdstekst)"/>
              </a:rPr>
              <a:t> Python does first, </a:t>
            </a:r>
            <a:r>
              <a:rPr lang="nl-NL" sz="2400" dirty="0" err="1">
                <a:latin typeface="Calibri (Hoofdstekst)"/>
              </a:rPr>
              <a:t>and</a:t>
            </a:r>
            <a:r>
              <a:rPr lang="nl-NL" sz="2400" dirty="0">
                <a:latin typeface="Calibri (Hoofdstekst)"/>
              </a:rPr>
              <a:t> </a:t>
            </a:r>
            <a:r>
              <a:rPr lang="nl-NL" sz="2400" dirty="0" err="1">
                <a:latin typeface="Calibri (Hoofdstekst)"/>
              </a:rPr>
              <a:t>what</a:t>
            </a:r>
            <a:r>
              <a:rPr lang="nl-NL" sz="2400" dirty="0">
                <a:latin typeface="Calibri (Hoofdstekst)"/>
              </a:rPr>
              <a:t> </a:t>
            </a:r>
            <a:r>
              <a:rPr lang="nl-NL" sz="2400" dirty="0" err="1">
                <a:latin typeface="Calibri (Hoofdstekst)"/>
              </a:rPr>
              <a:t>it</a:t>
            </a:r>
            <a:r>
              <a:rPr lang="nl-NL" sz="2400" dirty="0">
                <a:latin typeface="Calibri (Hoofdstekst)"/>
              </a:rPr>
              <a:t> does second </a:t>
            </a:r>
            <a:r>
              <a:rPr lang="nl-NL" sz="2400" dirty="0" err="1">
                <a:latin typeface="Calibri (Hoofdstekst)"/>
              </a:rPr>
              <a:t>etc</a:t>
            </a:r>
            <a:r>
              <a:rPr lang="nl-NL" sz="2400" dirty="0">
                <a:latin typeface="Calibri (Hoofdstekst)"/>
              </a:rPr>
              <a:t>, is </a:t>
            </a:r>
            <a:r>
              <a:rPr lang="nl-NL" sz="2400" dirty="0" err="1">
                <a:latin typeface="Calibri (Hoofdstekst)"/>
              </a:rPr>
              <a:t>called</a:t>
            </a:r>
            <a:r>
              <a:rPr lang="nl-NL" sz="2400" dirty="0">
                <a:latin typeface="Calibri (Hoofdstekst)"/>
              </a:rPr>
              <a:t> </a:t>
            </a:r>
            <a:r>
              <a:rPr lang="nl-NL" sz="2400" dirty="0" err="1">
                <a:latin typeface="Calibri (Hoofdstekst)"/>
              </a:rPr>
              <a:t>the</a:t>
            </a:r>
            <a:r>
              <a:rPr lang="nl-NL" sz="2400" i="1" dirty="0">
                <a:latin typeface="Calibri (Hoofdstekst)"/>
              </a:rPr>
              <a:t> </a:t>
            </a:r>
            <a:r>
              <a:rPr lang="nl-NL" sz="2400" i="1" dirty="0" err="1">
                <a:latin typeface="Calibri (Hoofdstekst)"/>
              </a:rPr>
              <a:t>problem</a:t>
            </a:r>
            <a:r>
              <a:rPr lang="nl-NL" sz="2400" i="1" dirty="0">
                <a:latin typeface="Calibri (Hoofdstekst)"/>
              </a:rPr>
              <a:t> of </a:t>
            </a:r>
            <a:r>
              <a:rPr lang="nl-NL" sz="2400" i="1" dirty="0" err="1">
                <a:latin typeface="Calibri (Hoofdstekst)"/>
              </a:rPr>
              <a:t>precedence</a:t>
            </a:r>
            <a:endParaRPr lang="nl-NL" sz="2400" dirty="0">
              <a:latin typeface="Calibri (Hoofdstekst)"/>
            </a:endParaRPr>
          </a:p>
          <a:p>
            <a:pPr lvl="1"/>
            <a:r>
              <a:rPr lang="nl-NL" sz="2000" dirty="0">
                <a:latin typeface="Calibri (Hoofdstekst)"/>
              </a:rPr>
              <a:t>As in the </a:t>
            </a:r>
            <a:r>
              <a:rPr lang="nl-NL" sz="2000" dirty="0" err="1">
                <a:latin typeface="Calibri (Hoofdstekst)"/>
              </a:rPr>
              <a:t>above</a:t>
            </a:r>
            <a:r>
              <a:rPr lang="nl-NL" sz="2000" dirty="0">
                <a:latin typeface="Calibri (Hoofdstekst)"/>
              </a:rPr>
              <a:t> </a:t>
            </a:r>
            <a:r>
              <a:rPr lang="nl-NL" sz="2000" dirty="0" err="1">
                <a:latin typeface="Calibri (Hoofdstekst)"/>
              </a:rPr>
              <a:t>example</a:t>
            </a:r>
            <a:r>
              <a:rPr lang="nl-NL" sz="2000" dirty="0">
                <a:latin typeface="Calibri (Hoofdstekst)"/>
              </a:rPr>
              <a:t>, </a:t>
            </a:r>
            <a:r>
              <a:rPr lang="nl-NL" sz="2000" dirty="0" err="1">
                <a:latin typeface="Calibri (Hoofdstekst)"/>
              </a:rPr>
              <a:t>you</a:t>
            </a:r>
            <a:r>
              <a:rPr lang="nl-NL" sz="2000" dirty="0">
                <a:latin typeface="Calibri (Hoofdstekst)"/>
              </a:rPr>
              <a:t> </a:t>
            </a:r>
            <a:r>
              <a:rPr lang="nl-NL" sz="2000" dirty="0" err="1">
                <a:latin typeface="Calibri (Hoofdstekst)"/>
              </a:rPr>
              <a:t>can</a:t>
            </a:r>
            <a:r>
              <a:rPr lang="nl-NL" sz="2000" dirty="0">
                <a:latin typeface="Calibri (Hoofdstekst)"/>
              </a:rPr>
              <a:t> </a:t>
            </a:r>
            <a:r>
              <a:rPr lang="nl-NL" sz="2000" dirty="0" err="1">
                <a:latin typeface="Calibri (Hoofdstekst)"/>
              </a:rPr>
              <a:t>often</a:t>
            </a:r>
            <a:r>
              <a:rPr lang="nl-NL" sz="2000" dirty="0">
                <a:latin typeface="Calibri (Hoofdstekst)"/>
              </a:rPr>
              <a:t> </a:t>
            </a:r>
            <a:r>
              <a:rPr lang="nl-NL" sz="2000" dirty="0" err="1">
                <a:latin typeface="Calibri (Hoofdstekst)"/>
              </a:rPr>
              <a:t>avoid</a:t>
            </a:r>
            <a:r>
              <a:rPr lang="nl-NL" sz="2000" dirty="0">
                <a:latin typeface="Calibri (Hoofdstekst)"/>
              </a:rPr>
              <a:t> the </a:t>
            </a:r>
            <a:r>
              <a:rPr lang="nl-NL" sz="2000" dirty="0" err="1">
                <a:latin typeface="Calibri (Hoofdstekst)"/>
              </a:rPr>
              <a:t>problem</a:t>
            </a:r>
            <a:r>
              <a:rPr lang="nl-NL" sz="2000" dirty="0">
                <a:latin typeface="Calibri (Hoofdstekst)"/>
              </a:rPr>
              <a:t>, but in case </a:t>
            </a:r>
            <a:r>
              <a:rPr lang="nl-NL" sz="2000" dirty="0" err="1">
                <a:latin typeface="Calibri (Hoofdstekst)"/>
              </a:rPr>
              <a:t>you</a:t>
            </a:r>
            <a:r>
              <a:rPr lang="nl-NL" sz="2000" dirty="0">
                <a:latin typeface="Calibri (Hoofdstekst)"/>
              </a:rPr>
              <a:t> are </a:t>
            </a:r>
            <a:r>
              <a:rPr lang="nl-NL" sz="2000" dirty="0" err="1">
                <a:latin typeface="Calibri (Hoofdstekst)"/>
              </a:rPr>
              <a:t>interested</a:t>
            </a:r>
            <a:r>
              <a:rPr lang="nl-NL" sz="2000" dirty="0">
                <a:latin typeface="Calibri (Hoofdstekst)"/>
              </a:rPr>
              <a:t> </a:t>
            </a:r>
            <a:r>
              <a:rPr lang="nl-NL" sz="2000" dirty="0" err="1">
                <a:latin typeface="Calibri (Hoofdstekst)"/>
              </a:rPr>
              <a:t>there's</a:t>
            </a:r>
            <a:r>
              <a:rPr lang="nl-NL" sz="2000" dirty="0">
                <a:latin typeface="Calibri (Hoofdstekst)"/>
              </a:rPr>
              <a:t> a </a:t>
            </a:r>
            <a:r>
              <a:rPr lang="nl-NL" sz="2000" dirty="0" err="1">
                <a:latin typeface="Calibri (Hoofdstekst)"/>
              </a:rPr>
              <a:t>detailed</a:t>
            </a:r>
            <a:r>
              <a:rPr lang="nl-NL" sz="2000" dirty="0">
                <a:latin typeface="Calibri (Hoofdstekst)"/>
              </a:rPr>
              <a:t> </a:t>
            </a:r>
            <a:r>
              <a:rPr lang="nl-NL" sz="2000" dirty="0" err="1">
                <a:latin typeface="Calibri (Hoofdstekst)"/>
              </a:rPr>
              <a:t>overview</a:t>
            </a:r>
            <a:r>
              <a:rPr lang="nl-NL" sz="2000" dirty="0">
                <a:latin typeface="Calibri (Hoofdstekst)"/>
              </a:rPr>
              <a:t> of </a:t>
            </a:r>
            <a:r>
              <a:rPr lang="nl-NL" sz="2000" dirty="0" err="1">
                <a:latin typeface="Calibri (Hoofdstekst)"/>
              </a:rPr>
              <a:t>precedense</a:t>
            </a:r>
            <a:r>
              <a:rPr lang="nl-NL" sz="2000" dirty="0">
                <a:latin typeface="Calibri (Hoofdstekst)"/>
              </a:rPr>
              <a:t> in the </a:t>
            </a:r>
            <a:r>
              <a:rPr lang="nl-NL" sz="2000" dirty="0" err="1">
                <a:latin typeface="Calibri (Hoofdstekst)"/>
              </a:rPr>
              <a:t>offical</a:t>
            </a:r>
            <a:r>
              <a:rPr lang="nl-NL" sz="2000" dirty="0">
                <a:latin typeface="Calibri (Hoofdstekst)"/>
              </a:rPr>
              <a:t> Python manual:</a:t>
            </a:r>
            <a:br>
              <a:rPr lang="nl-NL" sz="2000" dirty="0">
                <a:latin typeface="Calibri (Hoofdstekst)"/>
              </a:rPr>
            </a:br>
            <a:r>
              <a:rPr lang="nl-NL" sz="2000" dirty="0">
                <a:latin typeface="Calibri (Hoofdstekst)"/>
              </a:rPr>
              <a:t>https://docs.python.org/3/reference/expressions.html#operator-precedence</a:t>
            </a:r>
            <a:endParaRPr lang="en-US" sz="2000" dirty="0">
              <a:latin typeface="Calibri (Hoofdstekst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956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/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conditions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 (Hoofdtekst)"/>
              </a:rPr>
              <a:t>Now we know how to create conditions (expressions that evaluate into True or False), what are we going to do with them? </a:t>
            </a:r>
          </a:p>
          <a:p>
            <a:pPr lvl="1"/>
            <a:r>
              <a:rPr lang="nl-NL" sz="2200" dirty="0" err="1">
                <a:latin typeface="Calibri (Hoofdtekst)"/>
              </a:rPr>
              <a:t>Use</a:t>
            </a:r>
            <a:r>
              <a:rPr lang="nl-NL" sz="2200" dirty="0">
                <a:latin typeface="Calibri (Hoofdtekst)"/>
              </a:rPr>
              <a:t> in </a:t>
            </a:r>
            <a:r>
              <a:rPr lang="nl-NL" sz="2200" dirty="0" err="1">
                <a:latin typeface="Calibri (Hoofdtekst)"/>
              </a:rPr>
              <a:t>conditional</a:t>
            </a:r>
            <a:r>
              <a:rPr lang="nl-NL" sz="2200" dirty="0">
                <a:latin typeface="Calibri (Hoofdtekst)"/>
              </a:rPr>
              <a:t> statements</a:t>
            </a:r>
          </a:p>
          <a:p>
            <a:pPr lvl="1"/>
            <a:r>
              <a:rPr lang="nl-NL" sz="2200" dirty="0" err="1">
                <a:latin typeface="Calibri (Hoofdtekst)"/>
              </a:rPr>
              <a:t>Use</a:t>
            </a:r>
            <a:r>
              <a:rPr lang="nl-NL" sz="2200" dirty="0">
                <a:latin typeface="Calibri (Hoofdtekst)"/>
              </a:rPr>
              <a:t> in loops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045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C</a:t>
            </a:r>
            <a:r>
              <a:rPr lang="nl-NL" dirty="0" err="1"/>
              <a:t>onditions</a:t>
            </a:r>
            <a:r>
              <a:rPr lang="nl-NL" dirty="0"/>
              <a:t> in c</a:t>
            </a:r>
            <a:r>
              <a:rPr lang="en-US" dirty="0" err="1"/>
              <a:t>onditional</a:t>
            </a:r>
            <a:r>
              <a:rPr lang="en-US" dirty="0"/>
              <a:t> statements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nl-NL" sz="2400" dirty="0" err="1"/>
              <a:t>Conditional</a:t>
            </a:r>
            <a:r>
              <a:rPr lang="nl-NL" sz="2400" dirty="0"/>
              <a:t> statements check </a:t>
            </a:r>
            <a:r>
              <a:rPr lang="en-US" sz="2400" dirty="0"/>
              <a:t>for a given condition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conditionally</a:t>
            </a:r>
            <a:r>
              <a:rPr lang="nl-NL" sz="2400" dirty="0"/>
              <a:t> on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outcome</a:t>
            </a:r>
            <a:r>
              <a:rPr lang="nl-NL" sz="2400" dirty="0"/>
              <a:t>, </a:t>
            </a:r>
            <a:r>
              <a:rPr lang="nl-NL" sz="2400" dirty="0" err="1"/>
              <a:t>certain</a:t>
            </a:r>
            <a:r>
              <a:rPr lang="nl-NL" sz="2400" dirty="0"/>
              <a:t> </a:t>
            </a:r>
            <a:r>
              <a:rPr lang="nl-NL" sz="2400" dirty="0" err="1"/>
              <a:t>blocks</a:t>
            </a:r>
            <a:r>
              <a:rPr lang="nl-NL" sz="2400" dirty="0"/>
              <a:t> of code </a:t>
            </a:r>
            <a:r>
              <a:rPr lang="nl-NL" sz="2400" dirty="0" err="1"/>
              <a:t>will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executed</a:t>
            </a:r>
            <a:r>
              <a:rPr lang="nl-NL" sz="2400" dirty="0"/>
              <a:t> </a:t>
            </a:r>
          </a:p>
          <a:p>
            <a:r>
              <a:rPr lang="nl-NL" sz="2400" dirty="0" err="1">
                <a:latin typeface="Calibri (Hoofdtekst)"/>
              </a:rPr>
              <a:t>Example</a:t>
            </a:r>
            <a:r>
              <a:rPr lang="nl-NL" sz="2400" dirty="0">
                <a:latin typeface="Calibri (Hoofdtekst)"/>
              </a:rPr>
              <a:t>: </a:t>
            </a:r>
          </a:p>
          <a:p>
            <a:pPr lvl="1"/>
            <a:r>
              <a:rPr lang="nl-NL" sz="2000" dirty="0" err="1">
                <a:latin typeface="Courier New" panose="02070309020205020404" pitchFamily="49" charset="0"/>
              </a:rPr>
              <a:t>if</a:t>
            </a:r>
            <a:r>
              <a:rPr lang="nl-NL" sz="2000" dirty="0">
                <a:latin typeface="Courier New" panose="02070309020205020404" pitchFamily="49" charset="0"/>
              </a:rPr>
              <a:t> condition_1:</a:t>
            </a:r>
            <a:br>
              <a:rPr lang="nl-NL" sz="2000" dirty="0">
                <a:latin typeface="Courier New" panose="02070309020205020404" pitchFamily="49" charset="0"/>
              </a:rPr>
            </a:br>
            <a:r>
              <a:rPr lang="nl-NL" sz="2000" dirty="0">
                <a:latin typeface="Courier New" panose="02070309020205020404" pitchFamily="49" charset="0"/>
              </a:rPr>
              <a:t>    expression_1</a:t>
            </a:r>
            <a:br>
              <a:rPr lang="nl-NL" sz="2000" dirty="0">
                <a:latin typeface="Courier New" panose="02070309020205020404" pitchFamily="49" charset="0"/>
              </a:rPr>
            </a:br>
            <a:r>
              <a:rPr lang="nl-NL" sz="2000" dirty="0" err="1">
                <a:latin typeface="Courier New" panose="02070309020205020404" pitchFamily="49" charset="0"/>
              </a:rPr>
              <a:t>elif</a:t>
            </a:r>
            <a:r>
              <a:rPr lang="nl-NL" sz="2000" dirty="0">
                <a:latin typeface="Courier New" panose="02070309020205020404" pitchFamily="49" charset="0"/>
              </a:rPr>
              <a:t> condition_2:</a:t>
            </a:r>
            <a:br>
              <a:rPr lang="nl-NL" sz="2000" dirty="0">
                <a:latin typeface="Courier New" panose="02070309020205020404" pitchFamily="49" charset="0"/>
              </a:rPr>
            </a:br>
            <a:r>
              <a:rPr lang="nl-NL" sz="2000" dirty="0">
                <a:latin typeface="Courier New" panose="02070309020205020404" pitchFamily="49" charset="0"/>
              </a:rPr>
              <a:t>    expression_2</a:t>
            </a:r>
            <a:br>
              <a:rPr lang="nl-NL" sz="2000" dirty="0">
                <a:latin typeface="Courier New" panose="02070309020205020404" pitchFamily="49" charset="0"/>
              </a:rPr>
            </a:br>
            <a:r>
              <a:rPr lang="nl-NL" sz="2000" dirty="0">
                <a:latin typeface="Courier New" panose="02070309020205020404" pitchFamily="49" charset="0"/>
              </a:rPr>
              <a:t>    expression_3</a:t>
            </a:r>
            <a:br>
              <a:rPr lang="nl-NL" sz="2000" dirty="0">
                <a:latin typeface="Courier New" panose="02070309020205020404" pitchFamily="49" charset="0"/>
              </a:rPr>
            </a:br>
            <a:r>
              <a:rPr lang="nl-NL" sz="2000" dirty="0" err="1">
                <a:latin typeface="Courier New" panose="02070309020205020404" pitchFamily="49" charset="0"/>
              </a:rPr>
              <a:t>else</a:t>
            </a:r>
            <a:r>
              <a:rPr lang="nl-NL" sz="2000" dirty="0">
                <a:latin typeface="Courier New" panose="02070309020205020404" pitchFamily="49" charset="0"/>
              </a:rPr>
              <a:t>:</a:t>
            </a:r>
            <a:br>
              <a:rPr lang="nl-NL" sz="2000" dirty="0">
                <a:latin typeface="Courier New" panose="02070309020205020404" pitchFamily="49" charset="0"/>
              </a:rPr>
            </a:br>
            <a:r>
              <a:rPr lang="nl-NL" sz="2000" dirty="0">
                <a:latin typeface="Courier New" panose="02070309020205020404" pitchFamily="49" charset="0"/>
              </a:rPr>
              <a:t>    expression_4</a:t>
            </a:r>
          </a:p>
          <a:p>
            <a:r>
              <a:rPr lang="nl-NL" sz="2400" dirty="0" err="1">
                <a:latin typeface="Calibri (Hoofdtekst)"/>
              </a:rPr>
              <a:t>You</a:t>
            </a:r>
            <a:r>
              <a:rPr lang="nl-NL" sz="2400" dirty="0">
                <a:latin typeface="Calibri (Hoofdtekst)"/>
              </a:rPr>
              <a:t> </a:t>
            </a:r>
            <a:r>
              <a:rPr lang="nl-NL" sz="2400" dirty="0" err="1">
                <a:latin typeface="Calibri (Hoofdtekst)"/>
              </a:rPr>
              <a:t>always</a:t>
            </a:r>
            <a:r>
              <a:rPr lang="nl-NL" sz="2400" dirty="0">
                <a:latin typeface="Calibri (Hoofdtekst)"/>
              </a:rPr>
              <a:t> have </a:t>
            </a:r>
            <a:r>
              <a:rPr lang="nl-NL" sz="2400" dirty="0" err="1">
                <a:latin typeface="Calibri (Hoofdtekst)"/>
              </a:rPr>
              <a:t>one</a:t>
            </a:r>
            <a:r>
              <a:rPr lang="nl-NL" sz="2400" dirty="0">
                <a:latin typeface="Calibri (Hoofdtekst)"/>
              </a:rPr>
              <a:t> </a:t>
            </a:r>
            <a:r>
              <a:rPr lang="nl-NL" sz="2400" dirty="0" err="1">
                <a:latin typeface="Calibri (Hoofdtekst)"/>
              </a:rPr>
              <a:t>if</a:t>
            </a:r>
            <a:r>
              <a:rPr lang="nl-NL" sz="2400" dirty="0">
                <a:latin typeface="Calibri (Hoofdtekst)"/>
              </a:rPr>
              <a:t> (</a:t>
            </a:r>
            <a:r>
              <a:rPr lang="nl-NL" sz="2400" dirty="0" err="1">
                <a:latin typeface="Calibri (Hoofdtekst)"/>
              </a:rPr>
              <a:t>always</a:t>
            </a:r>
            <a:r>
              <a:rPr lang="nl-NL" sz="2400" dirty="0">
                <a:latin typeface="Calibri (Hoofdtekst)"/>
              </a:rPr>
              <a:t> at the start), at most </a:t>
            </a:r>
            <a:r>
              <a:rPr lang="nl-NL" sz="2400" dirty="0" err="1">
                <a:latin typeface="Calibri (Hoofdtekst)"/>
              </a:rPr>
              <a:t>one</a:t>
            </a:r>
            <a:r>
              <a:rPr lang="nl-NL" sz="2400" dirty="0">
                <a:latin typeface="Calibri (Hoofdtekst)"/>
              </a:rPr>
              <a:t> </a:t>
            </a:r>
            <a:r>
              <a:rPr lang="nl-NL" sz="2400" dirty="0" err="1">
                <a:latin typeface="Calibri (Hoofdtekst)"/>
              </a:rPr>
              <a:t>else</a:t>
            </a:r>
            <a:r>
              <a:rPr lang="nl-NL" sz="2400" dirty="0">
                <a:latin typeface="Calibri (Hoofdtekst)"/>
              </a:rPr>
              <a:t> (</a:t>
            </a:r>
            <a:r>
              <a:rPr lang="nl-NL" sz="2400" dirty="0" err="1">
                <a:latin typeface="Calibri (Hoofdtekst)"/>
              </a:rPr>
              <a:t>always</a:t>
            </a:r>
            <a:r>
              <a:rPr lang="nl-NL" sz="2400" dirty="0">
                <a:latin typeface="Calibri (Hoofdtekst)"/>
              </a:rPr>
              <a:t> at the end), </a:t>
            </a:r>
            <a:r>
              <a:rPr lang="nl-NL" sz="2400" dirty="0" err="1">
                <a:latin typeface="Calibri (Hoofdtekst)"/>
              </a:rPr>
              <a:t>and</a:t>
            </a:r>
            <a:r>
              <a:rPr lang="nl-NL" sz="2400" dirty="0">
                <a:latin typeface="Calibri (Hoofdtekst)"/>
              </a:rPr>
              <a:t> as </a:t>
            </a:r>
            <a:r>
              <a:rPr lang="nl-NL" sz="2400" dirty="0" err="1">
                <a:latin typeface="Calibri (Hoofdtekst)"/>
              </a:rPr>
              <a:t>many</a:t>
            </a:r>
            <a:r>
              <a:rPr lang="nl-NL" sz="2400" dirty="0">
                <a:latin typeface="Calibri (Hoofdtekst)"/>
              </a:rPr>
              <a:t> </a:t>
            </a:r>
            <a:r>
              <a:rPr lang="nl-NL" sz="2400" dirty="0" err="1">
                <a:latin typeface="Calibri (Hoofdtekst)"/>
              </a:rPr>
              <a:t>elif's</a:t>
            </a:r>
            <a:r>
              <a:rPr lang="nl-NL" sz="2400" dirty="0">
                <a:latin typeface="Calibri (Hoofdtekst)"/>
              </a:rPr>
              <a:t> in </a:t>
            </a:r>
            <a:r>
              <a:rPr lang="nl-NL" sz="2400" dirty="0" err="1">
                <a:latin typeface="Calibri (Hoofdtekst)"/>
              </a:rPr>
              <a:t>between</a:t>
            </a:r>
            <a:r>
              <a:rPr lang="nl-NL" sz="2400" dirty="0">
                <a:latin typeface="Calibri (Hoofdtekst)"/>
              </a:rPr>
              <a:t> as </a:t>
            </a:r>
            <a:r>
              <a:rPr lang="nl-NL" sz="2400" dirty="0" err="1">
                <a:latin typeface="Calibri (Hoofdtekst)"/>
              </a:rPr>
              <a:t>you</a:t>
            </a:r>
            <a:r>
              <a:rPr lang="nl-NL" sz="2400" dirty="0">
                <a:latin typeface="Calibri (Hoofdtekst)"/>
              </a:rPr>
              <a:t> want</a:t>
            </a:r>
          </a:p>
          <a:p>
            <a:r>
              <a:rPr lang="nl-NL" sz="2400" dirty="0"/>
              <a:t>It's important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sz="2400" dirty="0" err="1"/>
              <a:t>note</a:t>
            </a:r>
            <a:r>
              <a:rPr lang="nl-NL" sz="2400" dirty="0"/>
              <a:t> the </a:t>
            </a:r>
            <a:r>
              <a:rPr lang="nl-NL" sz="2400" dirty="0" err="1"/>
              <a:t>indentation</a:t>
            </a:r>
            <a:endParaRPr lang="nl-NL" sz="2600" dirty="0"/>
          </a:p>
          <a:p>
            <a:pPr lvl="1"/>
            <a:r>
              <a:rPr lang="nl-NL" sz="2000" dirty="0" err="1"/>
              <a:t>After</a:t>
            </a:r>
            <a:r>
              <a:rPr lang="nl-NL" sz="2000" dirty="0"/>
              <a:t> a colon </a:t>
            </a:r>
            <a:r>
              <a:rPr lang="nl-NL" sz="2000" dirty="0" err="1"/>
              <a:t>you</a:t>
            </a:r>
            <a:r>
              <a:rPr lang="nl-NL" sz="2000" dirty="0"/>
              <a:t> </a:t>
            </a:r>
            <a:r>
              <a:rPr lang="nl-NL" sz="2000" dirty="0" err="1"/>
              <a:t>always</a:t>
            </a:r>
            <a:r>
              <a:rPr lang="nl-NL" sz="2000" dirty="0"/>
              <a:t> have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indent</a:t>
            </a:r>
            <a:r>
              <a:rPr lang="nl-NL" sz="2000" dirty="0"/>
              <a:t> </a:t>
            </a:r>
            <a:r>
              <a:rPr lang="nl-NL" sz="2000" dirty="0" err="1"/>
              <a:t>your</a:t>
            </a:r>
            <a:r>
              <a:rPr lang="nl-NL" sz="2000" dirty="0"/>
              <a:t> code</a:t>
            </a:r>
          </a:p>
          <a:p>
            <a:pPr lvl="1"/>
            <a:r>
              <a:rPr lang="nl-NL" sz="2000" dirty="0" err="1"/>
              <a:t>All</a:t>
            </a:r>
            <a:r>
              <a:rPr lang="nl-NL" sz="2000" dirty="0"/>
              <a:t> code </a:t>
            </a: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belongs</a:t>
            </a:r>
            <a:r>
              <a:rPr lang="nl-NL" sz="2000" dirty="0"/>
              <a:t> </a:t>
            </a:r>
            <a:r>
              <a:rPr lang="nl-NL" sz="2000" dirty="0" err="1"/>
              <a:t>together</a:t>
            </a:r>
            <a:r>
              <a:rPr lang="nl-NL" sz="2000" dirty="0"/>
              <a:t> </a:t>
            </a:r>
            <a:r>
              <a:rPr lang="nl-NL" sz="2000" dirty="0" err="1"/>
              <a:t>should</a:t>
            </a:r>
            <a:r>
              <a:rPr lang="nl-NL" sz="2000" dirty="0"/>
              <a:t> get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same</a:t>
            </a:r>
            <a:r>
              <a:rPr lang="nl-NL" sz="2000" dirty="0"/>
              <a:t> </a:t>
            </a:r>
            <a:r>
              <a:rPr lang="nl-NL" sz="2000" dirty="0" err="1"/>
              <a:t>indention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994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Conditional expressions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nl-NL" sz="2400" dirty="0" err="1"/>
              <a:t>Conditional</a:t>
            </a:r>
            <a:r>
              <a:rPr lang="nl-NL" sz="2400" dirty="0"/>
              <a:t> </a:t>
            </a:r>
            <a:r>
              <a:rPr lang="nl-NL" sz="2400" dirty="0" err="1"/>
              <a:t>expressions</a:t>
            </a:r>
            <a:r>
              <a:rPr lang="nl-NL" sz="2400" dirty="0"/>
              <a:t> are </a:t>
            </a:r>
            <a:r>
              <a:rPr lang="nl-NL" sz="2400" dirty="0" err="1"/>
              <a:t>useful</a:t>
            </a:r>
            <a:r>
              <a:rPr lang="nl-NL" sz="2400" dirty="0"/>
              <a:t> short-cuts, but </a:t>
            </a:r>
            <a:r>
              <a:rPr lang="nl-NL" sz="2400" dirty="0" err="1"/>
              <a:t>they</a:t>
            </a:r>
            <a:r>
              <a:rPr lang="nl-NL" sz="2400" dirty="0"/>
              <a:t> </a:t>
            </a:r>
            <a:r>
              <a:rPr lang="nl-NL" sz="2400" dirty="0" err="1"/>
              <a:t>come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a </a:t>
            </a:r>
            <a:r>
              <a:rPr lang="nl-NL" sz="2400" dirty="0" err="1"/>
              <a:t>trade</a:t>
            </a:r>
            <a:r>
              <a:rPr lang="nl-NL" sz="2400" dirty="0"/>
              <a:t>-off</a:t>
            </a:r>
          </a:p>
          <a:p>
            <a:pPr marL="685800" lvl="2">
              <a:spcBef>
                <a:spcPts val="1000"/>
              </a:spcBef>
            </a:pPr>
            <a:r>
              <a:rPr lang="nl-NL" dirty="0" err="1"/>
              <a:t>They</a:t>
            </a:r>
            <a:r>
              <a:rPr lang="nl-NL" dirty="0"/>
              <a:t> </a:t>
            </a:r>
            <a:r>
              <a:rPr lang="nl-NL" dirty="0" err="1"/>
              <a:t>enhance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overview</a:t>
            </a:r>
            <a:r>
              <a:rPr lang="nl-NL" dirty="0"/>
              <a:t> (make </a:t>
            </a:r>
            <a:r>
              <a:rPr lang="nl-NL" dirty="0" err="1"/>
              <a:t>your</a:t>
            </a:r>
            <a:r>
              <a:rPr lang="nl-NL" dirty="0"/>
              <a:t> code more </a:t>
            </a:r>
            <a:r>
              <a:rPr lang="nl-NL" dirty="0" err="1"/>
              <a:t>concise</a:t>
            </a:r>
            <a:r>
              <a:rPr lang="nl-NL" dirty="0"/>
              <a:t>)</a:t>
            </a:r>
          </a:p>
          <a:p>
            <a:pPr marL="685800" lvl="2">
              <a:spcBef>
                <a:spcPts val="1000"/>
              </a:spcBef>
            </a:pPr>
            <a:r>
              <a:rPr lang="nl-NL" dirty="0"/>
              <a:t>But </a:t>
            </a:r>
            <a:r>
              <a:rPr lang="nl-NL" dirty="0" err="1"/>
              <a:t>they</a:t>
            </a:r>
            <a:r>
              <a:rPr lang="nl-NL" dirty="0"/>
              <a:t> make </a:t>
            </a:r>
            <a:r>
              <a:rPr lang="nl-NL" dirty="0" err="1"/>
              <a:t>your</a:t>
            </a:r>
            <a:r>
              <a:rPr lang="nl-NL" dirty="0"/>
              <a:t> code </a:t>
            </a:r>
            <a:r>
              <a:rPr lang="nl-NL" dirty="0" err="1"/>
              <a:t>also</a:t>
            </a:r>
            <a:r>
              <a:rPr lang="nl-NL" dirty="0"/>
              <a:t> a bit more complex</a:t>
            </a:r>
          </a:p>
          <a:p>
            <a:r>
              <a:rPr lang="nl-NL" sz="2400" dirty="0" err="1"/>
              <a:t>Compare</a:t>
            </a:r>
            <a:r>
              <a:rPr lang="nl-NL" sz="2400" dirty="0"/>
              <a:t>:</a:t>
            </a:r>
          </a:p>
          <a:p>
            <a:pPr marL="685800" lvl="2">
              <a:spcBef>
                <a:spcPts val="1000"/>
              </a:spcBef>
            </a:pPr>
            <a:r>
              <a:rPr lang="nl-NL" dirty="0" err="1"/>
              <a:t>Conditional</a:t>
            </a:r>
            <a:r>
              <a:rPr lang="nl-NL" dirty="0"/>
              <a:t> statement:</a:t>
            </a:r>
          </a:p>
          <a:p>
            <a:pPr lvl="2"/>
            <a:r>
              <a:rPr lang="nl-NL" sz="1800" dirty="0" err="1">
                <a:latin typeface="Courier New" panose="02070309020205020404" pitchFamily="49" charset="0"/>
              </a:rPr>
              <a:t>if</a:t>
            </a:r>
            <a:r>
              <a:rPr lang="nl-NL" sz="1800" dirty="0">
                <a:latin typeface="Courier New" panose="02070309020205020404" pitchFamily="49" charset="0"/>
              </a:rPr>
              <a:t> a &gt; 0:</a:t>
            </a:r>
            <a:br>
              <a:rPr lang="nl-NL" sz="1800" dirty="0">
                <a:latin typeface="Courier New" panose="02070309020205020404" pitchFamily="49" charset="0"/>
              </a:rPr>
            </a:br>
            <a:r>
              <a:rPr lang="nl-NL" sz="1800" dirty="0">
                <a:latin typeface="Courier New" panose="02070309020205020404" pitchFamily="49" charset="0"/>
              </a:rPr>
              <a:t>    b = a</a:t>
            </a:r>
            <a:br>
              <a:rPr lang="nl-NL" sz="1800" dirty="0">
                <a:latin typeface="Courier New" panose="02070309020205020404" pitchFamily="49" charset="0"/>
              </a:rPr>
            </a:br>
            <a:r>
              <a:rPr lang="nl-NL" sz="1800" dirty="0" err="1">
                <a:latin typeface="Courier New" panose="02070309020205020404" pitchFamily="49" charset="0"/>
              </a:rPr>
              <a:t>else</a:t>
            </a:r>
            <a:r>
              <a:rPr lang="nl-NL" sz="1800" dirty="0">
                <a:latin typeface="Courier New" panose="02070309020205020404" pitchFamily="49" charset="0"/>
              </a:rPr>
              <a:t>:</a:t>
            </a:r>
            <a:br>
              <a:rPr lang="nl-NL" sz="1800" dirty="0">
                <a:latin typeface="Courier New" panose="02070309020205020404" pitchFamily="49" charset="0"/>
              </a:rPr>
            </a:br>
            <a:r>
              <a:rPr lang="nl-NL" sz="1800" dirty="0">
                <a:latin typeface="Courier New" panose="02070309020205020404" pitchFamily="49" charset="0"/>
              </a:rPr>
              <a:t>    b = 0</a:t>
            </a:r>
          </a:p>
          <a:p>
            <a:pPr lvl="1"/>
            <a:r>
              <a:rPr lang="nl-NL" sz="2000" dirty="0" err="1"/>
              <a:t>Conditional</a:t>
            </a:r>
            <a:r>
              <a:rPr lang="nl-NL" sz="2000" dirty="0"/>
              <a:t> </a:t>
            </a:r>
            <a:r>
              <a:rPr lang="nl-NL" sz="2000" dirty="0" err="1"/>
              <a:t>expression</a:t>
            </a:r>
            <a:r>
              <a:rPr lang="nl-NL" sz="2000" dirty="0"/>
              <a:t>: </a:t>
            </a:r>
            <a:r>
              <a:rPr lang="nl-NL" sz="1800" dirty="0">
                <a:latin typeface="Courier New" panose="02070309020205020404" pitchFamily="49" charset="0"/>
              </a:rPr>
              <a:t>b = a </a:t>
            </a:r>
            <a:r>
              <a:rPr lang="nl-NL" sz="1800" dirty="0" err="1">
                <a:latin typeface="Courier New" panose="02070309020205020404" pitchFamily="49" charset="0"/>
              </a:rPr>
              <a:t>if</a:t>
            </a:r>
            <a:r>
              <a:rPr lang="nl-NL" sz="1800" dirty="0">
                <a:latin typeface="Courier New" panose="02070309020205020404" pitchFamily="49" charset="0"/>
              </a:rPr>
              <a:t> a &gt; 0 </a:t>
            </a:r>
            <a:r>
              <a:rPr lang="nl-NL" sz="1800" dirty="0" err="1">
                <a:latin typeface="Courier New" panose="02070309020205020404" pitchFamily="49" charset="0"/>
              </a:rPr>
              <a:t>else</a:t>
            </a:r>
            <a:r>
              <a:rPr lang="nl-NL" sz="1800" dirty="0">
                <a:latin typeface="Courier New" panose="02070309020205020404" pitchFamily="49" charset="0"/>
              </a:rPr>
              <a:t> 0</a:t>
            </a:r>
          </a:p>
          <a:p>
            <a:pPr lvl="1"/>
            <a:r>
              <a:rPr lang="nl-NL" sz="1800" dirty="0"/>
              <a:t>(</a:t>
            </a:r>
            <a:r>
              <a:rPr lang="nl-NL" sz="1800" dirty="0" err="1"/>
              <a:t>Note</a:t>
            </a:r>
            <a:r>
              <a:rPr lang="nl-NL" sz="1800" dirty="0"/>
              <a:t> </a:t>
            </a:r>
            <a:r>
              <a:rPr lang="nl-NL" sz="1800" dirty="0" err="1"/>
              <a:t>from</a:t>
            </a:r>
            <a:r>
              <a:rPr lang="nl-NL" sz="1800" dirty="0"/>
              <a:t> Mathijs: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 = max(0,a)</a:t>
            </a:r>
          </a:p>
          <a:p>
            <a:r>
              <a:rPr lang="nl-NL" sz="2400" dirty="0"/>
              <a:t>The more </a:t>
            </a:r>
            <a:r>
              <a:rPr lang="nl-NL" sz="2400" dirty="0" err="1"/>
              <a:t>experienced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become</a:t>
            </a:r>
            <a:r>
              <a:rPr lang="nl-NL" sz="2400" dirty="0"/>
              <a:t> in </a:t>
            </a:r>
            <a:r>
              <a:rPr lang="nl-NL" sz="2400" dirty="0" err="1"/>
              <a:t>programming</a:t>
            </a:r>
            <a:r>
              <a:rPr lang="nl-NL" sz="2400" dirty="0"/>
              <a:t>, </a:t>
            </a:r>
            <a:r>
              <a:rPr lang="nl-NL" sz="2400" dirty="0" err="1"/>
              <a:t>the</a:t>
            </a:r>
            <a:r>
              <a:rPr lang="nl-NL" sz="2400" dirty="0"/>
              <a:t> more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will</a:t>
            </a:r>
            <a:r>
              <a:rPr lang="nl-NL" sz="2400" dirty="0"/>
              <a:t> </a:t>
            </a:r>
            <a:r>
              <a:rPr lang="nl-NL" sz="2400" dirty="0" err="1"/>
              <a:t>probably</a:t>
            </a:r>
            <a:r>
              <a:rPr lang="nl-NL" sz="2400" dirty="0"/>
              <a:t> </a:t>
            </a:r>
            <a:r>
              <a:rPr lang="nl-NL" sz="2400" dirty="0" err="1"/>
              <a:t>choose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sz="2400" dirty="0" err="1"/>
              <a:t>use</a:t>
            </a:r>
            <a:r>
              <a:rPr lang="nl-NL" sz="2400" dirty="0"/>
              <a:t> these kind of short-cuts</a:t>
            </a:r>
          </a:p>
          <a:p>
            <a:pPr lvl="1"/>
            <a:r>
              <a:rPr lang="nl-NL" sz="2000" dirty="0"/>
              <a:t>In </a:t>
            </a:r>
            <a:r>
              <a:rPr lang="nl-NL" sz="2000" dirty="0" err="1"/>
              <a:t>future</a:t>
            </a:r>
            <a:r>
              <a:rPr lang="nl-NL" sz="2000" dirty="0"/>
              <a:t> </a:t>
            </a:r>
            <a:r>
              <a:rPr lang="nl-NL" sz="2000" dirty="0" err="1"/>
              <a:t>lectures</a:t>
            </a:r>
            <a:r>
              <a:rPr lang="nl-NL" sz="2000" dirty="0"/>
              <a:t> we </a:t>
            </a:r>
            <a:r>
              <a:rPr lang="nl-NL" sz="2000" dirty="0" err="1"/>
              <a:t>will</a:t>
            </a:r>
            <a:r>
              <a:rPr lang="nl-NL" sz="2000" dirty="0"/>
              <a:t> </a:t>
            </a:r>
            <a:r>
              <a:rPr lang="nl-NL" sz="2000" dirty="0" err="1"/>
              <a:t>discuss</a:t>
            </a:r>
            <a:r>
              <a:rPr lang="nl-NL" sz="2000" dirty="0"/>
              <a:t> </a:t>
            </a:r>
            <a:r>
              <a:rPr lang="nl-NL" sz="2000" dirty="0" err="1"/>
              <a:t>comprehensions</a:t>
            </a:r>
            <a:r>
              <a:rPr lang="nl-NL" sz="2000" dirty="0"/>
              <a:t>,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those</a:t>
            </a:r>
            <a:r>
              <a:rPr lang="nl-NL" sz="2000" dirty="0"/>
              <a:t> </a:t>
            </a:r>
            <a:r>
              <a:rPr lang="nl-NL" sz="2000" dirty="0" err="1"/>
              <a:t>also</a:t>
            </a:r>
            <a:r>
              <a:rPr lang="nl-NL" sz="2000" dirty="0"/>
              <a:t> make </a:t>
            </a:r>
            <a:r>
              <a:rPr lang="nl-NL" sz="2000" dirty="0" err="1"/>
              <a:t>your</a:t>
            </a:r>
            <a:r>
              <a:rPr lang="nl-NL" sz="2000" dirty="0"/>
              <a:t> code more </a:t>
            </a:r>
            <a:r>
              <a:rPr lang="nl-NL" sz="2000" dirty="0" err="1"/>
              <a:t>concise</a:t>
            </a:r>
            <a:endParaRPr lang="nl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059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Loops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 (Hoofdtekst)"/>
              </a:rPr>
              <a:t>for-loops</a:t>
            </a:r>
          </a:p>
          <a:p>
            <a:r>
              <a:rPr lang="en-US" sz="2400" dirty="0">
                <a:latin typeface="Calibri (Hoofdtekst)"/>
              </a:rPr>
              <a:t>while-loops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393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For-loops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nl-NL" sz="2000" dirty="0" err="1">
                <a:effectLst/>
                <a:latin typeface="Courier New" panose="02070309020205020404" pitchFamily="49" charset="0"/>
              </a:rPr>
              <a:t>for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 variable in sequence:</a:t>
            </a:r>
            <a:br>
              <a:rPr lang="en-US" sz="2000" dirty="0">
                <a:effectLst/>
                <a:latin typeface="Courier New" panose="02070309020205020404" pitchFamily="49" charset="0"/>
              </a:rPr>
            </a:br>
            <a:r>
              <a:rPr lang="en-US" sz="2000" dirty="0">
                <a:effectLst/>
                <a:latin typeface="Courier New" panose="02070309020205020404" pitchFamily="49" charset="0"/>
              </a:rPr>
              <a:t>    expression</a:t>
            </a:r>
          </a:p>
          <a:p>
            <a:r>
              <a:rPr lang="en-US" sz="2400" dirty="0">
                <a:latin typeface="Calibri (Hoofdtekst)"/>
              </a:rPr>
              <a:t>Python executes the expression a given number of times or for a given number of elements</a:t>
            </a:r>
          </a:p>
          <a:p>
            <a:pPr lvl="1"/>
            <a:r>
              <a:rPr lang="en-US" sz="2000" dirty="0">
                <a:latin typeface="Calibri (Hoofdtekst)"/>
              </a:rPr>
              <a:t>You can manipulate this default behavior with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alibri (Hoofdtekst)"/>
              </a:rPr>
              <a:t> and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2000" dirty="0">
                <a:latin typeface="Calibri (Hoofdtekst)"/>
              </a:rPr>
              <a:t>: skip to the first statement after the loop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sz="2000" dirty="0">
                <a:latin typeface="Calibri (Hoofdtekst)"/>
              </a:rPr>
              <a:t>: go back to the statement with the </a:t>
            </a:r>
            <a:r>
              <a:rPr lang="en-US" sz="2000" dirty="0">
                <a:latin typeface="Courier New" panose="02070309020205020404" pitchFamily="49" charset="0"/>
              </a:rPr>
              <a:t>for </a:t>
            </a:r>
            <a:r>
              <a:rPr lang="en-US" sz="2000" dirty="0">
                <a:latin typeface="Calibri (Hoofdtekst)"/>
              </a:rPr>
              <a:t>keyword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alibri (Hoofdtekst)"/>
              </a:rPr>
              <a:t>Before each execution of the expression, the variable is filled with one element after the other from the sequence, until the sequence is exhausted</a:t>
            </a:r>
          </a:p>
          <a:p>
            <a:endParaRPr lang="nl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469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For-loops: examples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Autofit/>
          </a:bodyPr>
          <a:lstStyle/>
          <a:p>
            <a:r>
              <a:rPr lang="nl-NL" dirty="0" err="1">
                <a:latin typeface="Calibri (Hoofdtekst)"/>
              </a:rPr>
              <a:t>You</a:t>
            </a:r>
            <a:r>
              <a:rPr lang="en-US" dirty="0">
                <a:latin typeface="Calibri (Hoofdtekst)"/>
              </a:rPr>
              <a:t> want to get the total of a series of numbers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total = 0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number in [1, 2, 3, 3, 5, 7]: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total += number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print (total) # Onscreen: 21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You want to get the total of a series of numbers, but skip potential string values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total = 0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for number in [1, 2, '3', 3, 5, 7]: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if type(number) == str: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    continue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total += number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print (total) #Onscreen: 18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14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For-loops: examples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Autofit/>
          </a:bodyPr>
          <a:lstStyle/>
          <a:p>
            <a:r>
              <a:rPr lang="nl-NL" sz="2400" dirty="0" err="1">
                <a:latin typeface="Arial" panose="020B0604020202020204" pitchFamily="34" charset="0"/>
              </a:rPr>
              <a:t>Note</a:t>
            </a:r>
            <a:r>
              <a:rPr lang="nl-NL" sz="2400" dirty="0">
                <a:latin typeface="Arial" panose="020B0604020202020204" pitchFamily="34" charset="0"/>
              </a:rPr>
              <a:t>: </a:t>
            </a:r>
            <a:r>
              <a:rPr lang="nl-NL" sz="2400" dirty="0" err="1">
                <a:latin typeface="Arial" panose="020B0604020202020204" pitchFamily="34" charset="0"/>
              </a:rPr>
              <a:t>you</a:t>
            </a:r>
            <a:r>
              <a:rPr lang="en-US" sz="2400" dirty="0">
                <a:latin typeface="Arial" panose="020B0604020202020204" pitchFamily="34" charset="0"/>
              </a:rPr>
              <a:t> are not forced to use the variable created by the for-loop :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for number in range(5):</a:t>
            </a:r>
            <a:br>
              <a:rPr lang="en-US" sz="1800" dirty="0">
                <a:latin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</a:rPr>
              <a:t>    print ('Hello') #Onscreen: Hello </a:t>
            </a:r>
            <a:r>
              <a:rPr lang="en-US" sz="1800" dirty="0" err="1">
                <a:latin typeface="Courier New" panose="02070309020205020404" pitchFamily="49" charset="0"/>
              </a:rPr>
              <a:t>Hello</a:t>
            </a:r>
            <a:r>
              <a:rPr lang="en-US" sz="1800" dirty="0"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</a:rPr>
              <a:t>Hello</a:t>
            </a:r>
            <a:r>
              <a:rPr lang="en-US" sz="1800" dirty="0"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</a:rPr>
              <a:t>Hello</a:t>
            </a:r>
            <a:r>
              <a:rPr lang="en-US" sz="1800" dirty="0"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</a:rPr>
              <a:t>Hello</a:t>
            </a:r>
            <a:endParaRPr lang="en-US" sz="1800" dirty="0">
              <a:latin typeface="Courier New" panose="02070309020205020404" pitchFamily="49" charset="0"/>
            </a:endParaRPr>
          </a:p>
          <a:p>
            <a:r>
              <a:rPr lang="en-US" sz="2400" dirty="0">
                <a:latin typeface="Arial" panose="020B0604020202020204" pitchFamily="34" charset="0"/>
              </a:rPr>
              <a:t>If you want to make </a:t>
            </a:r>
            <a:r>
              <a:rPr lang="nl-NL" sz="2400" dirty="0" err="1">
                <a:latin typeface="Arial" panose="020B0604020202020204" pitchFamily="34" charset="0"/>
              </a:rPr>
              <a:t>the</a:t>
            </a:r>
            <a:r>
              <a:rPr lang="nl-NL" sz="2400" dirty="0">
                <a:latin typeface="Arial" panose="020B0604020202020204" pitchFamily="34" charset="0"/>
              </a:rPr>
              <a:t> </a:t>
            </a:r>
            <a:r>
              <a:rPr lang="nl-NL" sz="2400" dirty="0" err="1">
                <a:latin typeface="Arial" panose="020B0604020202020204" pitchFamily="34" charset="0"/>
              </a:rPr>
              <a:t>above</a:t>
            </a:r>
            <a:r>
              <a:rPr lang="nl-NL" sz="2400" dirty="0">
                <a:latin typeface="Arial" panose="020B0604020202020204" pitchFamily="34" charset="0"/>
              </a:rPr>
              <a:t> code</a:t>
            </a:r>
            <a:r>
              <a:rPr lang="en-US" sz="2400" dirty="0">
                <a:latin typeface="Arial" panose="020B0604020202020204" pitchFamily="34" charset="0"/>
              </a:rPr>
              <a:t> more readable, the following is standard practice: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for _ in range(5):</a:t>
            </a:r>
            <a:br>
              <a:rPr lang="en-US" sz="1800" dirty="0">
                <a:latin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</a:rPr>
              <a:t>    print ('Hello') #Onscreen: Hello </a:t>
            </a:r>
            <a:r>
              <a:rPr lang="en-US" sz="1800" dirty="0" err="1">
                <a:latin typeface="Courier New" panose="02070309020205020404" pitchFamily="49" charset="0"/>
              </a:rPr>
              <a:t>Hello</a:t>
            </a:r>
            <a:r>
              <a:rPr lang="en-US" sz="1800" dirty="0"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</a:rPr>
              <a:t>Hello</a:t>
            </a:r>
            <a:r>
              <a:rPr lang="en-US" sz="1800" dirty="0"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</a:rPr>
              <a:t>Hello</a:t>
            </a:r>
            <a:r>
              <a:rPr lang="en-US" sz="1800" dirty="0"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</a:rPr>
              <a:t>Hello</a:t>
            </a:r>
            <a:endParaRPr lang="en-US" sz="1800" dirty="0">
              <a:latin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291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Looping over dictionaries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/>
              <a:t>You can only loop over sequences, but dictionaries are no sequences. So how to loop over dictionaries?</a:t>
            </a:r>
          </a:p>
          <a:p>
            <a:r>
              <a:rPr lang="nl-NL" sz="2400" dirty="0"/>
              <a:t>Y</a:t>
            </a:r>
            <a:r>
              <a:rPr lang="en-US" sz="2400" dirty="0" err="1"/>
              <a:t>ou</a:t>
            </a:r>
            <a:r>
              <a:rPr lang="en-US" sz="2400" dirty="0"/>
              <a:t> can create sequences from dictionaries</a:t>
            </a:r>
          </a:p>
          <a:p>
            <a:r>
              <a:rPr lang="nl-NL" sz="2400" dirty="0" err="1"/>
              <a:t>Consider</a:t>
            </a:r>
            <a:r>
              <a:rPr lang="nl-NL" sz="2400" dirty="0"/>
              <a:t>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example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following</a:t>
            </a:r>
            <a:r>
              <a:rPr lang="nl-NL" sz="2400" dirty="0"/>
              <a:t> </a:t>
            </a:r>
            <a:r>
              <a:rPr lang="nl-NL" sz="2400" dirty="0" err="1"/>
              <a:t>dictionary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{'Andorra': '</a:t>
            </a:r>
            <a:r>
              <a:rPr lang="nl-NL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Andorra la Vella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'Belgium': 'Brussels'}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capitals.keys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gives you a sequence of dictionary keys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capitals.values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gives you a sequence of dictionary values</a:t>
            </a:r>
            <a:endParaRPr lang="nl-NL" sz="2000" dirty="0"/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capitals.items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gives you a sequence of tuples with for each pair the key and the value </a:t>
            </a:r>
            <a:endParaRPr lang="nl-NL" sz="2000" dirty="0"/>
          </a:p>
          <a:p>
            <a:endParaRPr lang="nl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258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Looping over dictionaries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Autofit/>
          </a:bodyPr>
          <a:lstStyle/>
          <a:p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can</a:t>
            </a:r>
            <a:r>
              <a:rPr lang="nl-NL" sz="2400" dirty="0"/>
              <a:t> </a:t>
            </a:r>
            <a:r>
              <a:rPr lang="nl-NL" sz="2400" dirty="0" err="1"/>
              <a:t>use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sequences</a:t>
            </a:r>
            <a:r>
              <a:rPr lang="nl-NL" sz="2400" dirty="0"/>
              <a:t> </a:t>
            </a:r>
            <a:r>
              <a:rPr lang="nl-NL" sz="2400" dirty="0" err="1"/>
              <a:t>mentioned</a:t>
            </a:r>
            <a:r>
              <a:rPr lang="nl-NL" sz="2400" dirty="0"/>
              <a:t> on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previous</a:t>
            </a:r>
            <a:r>
              <a:rPr lang="nl-NL" sz="2400" dirty="0"/>
              <a:t> slide in a </a:t>
            </a:r>
            <a:r>
              <a:rPr lang="nl-NL" sz="2400" dirty="0" err="1"/>
              <a:t>for</a:t>
            </a:r>
            <a:r>
              <a:rPr lang="nl-NL" sz="2400" dirty="0"/>
              <a:t> loop: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{'Andorra': '</a:t>
            </a:r>
            <a:r>
              <a:rPr lang="nl-NL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Andorra la Vella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', 'Belgium': 'Brussels'}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key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capitals.keys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print(key)           # Onscreen:  Andorra Belgium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key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capitals.values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print(key)           # Onscreen: Andorra la Vella Brussels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key, value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capitals.items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print(key, value)    # Onscreen: Andorra A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ndorra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la Vella</a:t>
            </a:r>
            <a:b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#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Belgium Brussels</a:t>
            </a:r>
            <a:endParaRPr lang="nl-NL" sz="1800" dirty="0"/>
          </a:p>
          <a:p>
            <a:r>
              <a:rPr lang="nl-NL" sz="2400" dirty="0"/>
              <a:t>The </a:t>
            </a:r>
            <a:r>
              <a:rPr lang="nl-NL" sz="2400" dirty="0" err="1"/>
              <a:t>following</a:t>
            </a:r>
            <a:r>
              <a:rPr lang="nl-NL" sz="2400" dirty="0"/>
              <a:t> </a:t>
            </a:r>
            <a:r>
              <a:rPr lang="nl-NL" sz="2400" dirty="0" err="1"/>
              <a:t>lines</a:t>
            </a:r>
            <a:r>
              <a:rPr lang="nl-NL" sz="2400" dirty="0"/>
              <a:t> of code do the </a:t>
            </a:r>
            <a:r>
              <a:rPr lang="nl-NL" sz="2400" dirty="0" err="1"/>
              <a:t>same</a:t>
            </a:r>
            <a:r>
              <a:rPr lang="nl-NL" sz="2400" dirty="0"/>
              <a:t>: 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key in capitals: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key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capitals.keys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604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/>
              <a:t>Looping: </a:t>
            </a:r>
            <a:r>
              <a:rPr lang="nl-NL" dirty="0" err="1"/>
              <a:t>enumerate</a:t>
            </a:r>
            <a:r>
              <a:rPr lang="nl-NL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nl-NL" sz="2400" dirty="0" err="1"/>
              <a:t>Consider</a:t>
            </a:r>
            <a:r>
              <a:rPr lang="nl-NL" sz="2400" dirty="0"/>
              <a:t>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example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have the </a:t>
            </a:r>
            <a:r>
              <a:rPr lang="nl-NL" sz="2400" dirty="0" err="1"/>
              <a:t>following</a:t>
            </a:r>
            <a:r>
              <a:rPr lang="nl-NL" sz="2400" dirty="0"/>
              <a:t> list:</a:t>
            </a:r>
            <a:endParaRPr lang="en-US" sz="2400" dirty="0"/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= ['Andorra', 'Belgium']</a:t>
            </a:r>
          </a:p>
          <a:p>
            <a:r>
              <a:rPr lang="en-US" sz="2400" dirty="0"/>
              <a:t>Say you want to loop over this list, but for each of the values you also need its index</a:t>
            </a:r>
            <a:r>
              <a:rPr lang="nl-NL" sz="2400" dirty="0"/>
              <a:t>, </a:t>
            </a:r>
            <a:r>
              <a:rPr lang="nl-NL" sz="2400" dirty="0" err="1"/>
              <a:t>then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should</a:t>
            </a:r>
            <a:r>
              <a:rPr lang="nl-NL" sz="2400" dirty="0"/>
              <a:t> </a:t>
            </a:r>
            <a:r>
              <a:rPr lang="nl-NL" sz="2400" dirty="0" err="1"/>
              <a:t>use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enumerate</a:t>
            </a:r>
            <a:r>
              <a:rPr lang="nl-NL" sz="2400" dirty="0"/>
              <a:t>() </a:t>
            </a:r>
            <a:r>
              <a:rPr lang="nl-NL" sz="2400" dirty="0" err="1"/>
              <a:t>function</a:t>
            </a:r>
            <a:endParaRPr lang="en-US" sz="2400" dirty="0"/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index, country in enumerate(countries, 1):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print('country ' + country + ' has index: ' + str(index))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Onscreen: country Andorra has index: 1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The second parameter of the enumerate function, gives a start value for the index. The default is 0</a:t>
            </a:r>
          </a:p>
          <a:p>
            <a:pPr marL="457200" lvl="1" indent="0"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213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nl-NL" dirty="0"/>
              <a:t>Looping: zip()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Autofit/>
          </a:bodyPr>
          <a:lstStyle/>
          <a:p>
            <a:r>
              <a:rPr lang="nl-NL" sz="2400" dirty="0" err="1"/>
              <a:t>Consider</a:t>
            </a:r>
            <a:r>
              <a:rPr lang="nl-NL" sz="2400" dirty="0"/>
              <a:t>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example</a:t>
            </a:r>
            <a:r>
              <a:rPr lang="en-US" sz="2400" dirty="0"/>
              <a:t> </a:t>
            </a:r>
            <a:r>
              <a:rPr lang="nl-NL" sz="2400" dirty="0" err="1"/>
              <a:t>you</a:t>
            </a:r>
            <a:r>
              <a:rPr lang="en-US" sz="2400" dirty="0"/>
              <a:t> have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following</a:t>
            </a:r>
            <a:r>
              <a:rPr lang="nl-NL" sz="2400" dirty="0"/>
              <a:t> </a:t>
            </a:r>
            <a:r>
              <a:rPr lang="nl-NL" sz="2400" dirty="0" err="1"/>
              <a:t>lists</a:t>
            </a:r>
            <a:r>
              <a:rPr lang="nl-NL" sz="2400" dirty="0"/>
              <a:t>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countries = ['Andorra', 'Belgium', …]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capitals = ['</a:t>
            </a:r>
            <a:r>
              <a:rPr lang="nl-NL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Andorra la Vella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', 'Brussels', …]</a:t>
            </a:r>
          </a:p>
          <a:p>
            <a:r>
              <a:rPr lang="en-US" sz="2400" dirty="0"/>
              <a:t>Say you want to loop over these lists in tandem, so for every country you also need the capital</a:t>
            </a:r>
            <a:r>
              <a:rPr lang="nl-NL" sz="2400" dirty="0"/>
              <a:t>, </a:t>
            </a:r>
            <a:r>
              <a:rPr lang="nl-NL" sz="2400" dirty="0" err="1"/>
              <a:t>then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should</a:t>
            </a:r>
            <a:r>
              <a:rPr lang="nl-NL" sz="2400" dirty="0"/>
              <a:t> </a:t>
            </a:r>
            <a:r>
              <a:rPr lang="nl-NL" sz="2400" dirty="0" err="1"/>
              <a:t>use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zip() </a:t>
            </a:r>
            <a:r>
              <a:rPr lang="nl-NL" sz="2400" dirty="0" err="1"/>
              <a:t>function</a:t>
            </a:r>
            <a:endParaRPr lang="en-US" sz="2400" dirty="0"/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country, capital in zip(countries, capitals):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print('country ' + country + ' has capital: ' + capital)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Onscreen: country Andorra has capital: </a:t>
            </a:r>
            <a:r>
              <a:rPr lang="nl-NL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Andorra la Vella, …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r>
              <a:rPr lang="nl-NL" sz="2400" dirty="0" err="1"/>
              <a:t>Note</a:t>
            </a:r>
            <a:r>
              <a:rPr lang="nl-NL" sz="2400" dirty="0"/>
              <a:t>:</a:t>
            </a:r>
          </a:p>
          <a:p>
            <a:pPr lvl="1"/>
            <a:r>
              <a:rPr lang="en-US" sz="2000" dirty="0"/>
              <a:t>You can zip more than 2 sequences</a:t>
            </a:r>
          </a:p>
          <a:p>
            <a:pPr lvl="1"/>
            <a:r>
              <a:rPr lang="en-US" sz="2000" dirty="0"/>
              <a:t>It is best you zip sequences of equal length; Python has a way to deal with sequences of unequal lengths, but this can be a bit messy</a:t>
            </a:r>
          </a:p>
          <a:p>
            <a:pPr lvl="1"/>
            <a:r>
              <a:rPr lang="en-US" sz="2000" dirty="0"/>
              <a:t>You can zip sequences of different types</a:t>
            </a:r>
            <a:endParaRPr lang="nl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937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While-loop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  <a:latin typeface="Courier New" panose="02070309020205020404" pitchFamily="49" charset="0"/>
              </a:rPr>
              <a:t>while condition:</a:t>
            </a:r>
            <a:br>
              <a:rPr lang="en-US" sz="2400" dirty="0">
                <a:effectLst/>
                <a:latin typeface="Courier New" panose="02070309020205020404" pitchFamily="49" charset="0"/>
              </a:rPr>
            </a:br>
            <a:r>
              <a:rPr lang="en-US" sz="2400" dirty="0">
                <a:effectLst/>
                <a:latin typeface="Courier New" panose="02070309020205020404" pitchFamily="49" charset="0"/>
              </a:rPr>
              <a:t>    expression</a:t>
            </a:r>
          </a:p>
          <a:p>
            <a:r>
              <a:rPr lang="en-US" sz="2400" dirty="0">
                <a:effectLst/>
                <a:latin typeface="Calibri (Hoofdtekst)"/>
              </a:rPr>
              <a:t>Executes the lines in the expression, if the condition is </a:t>
            </a:r>
            <a:r>
              <a:rPr lang="en-US" sz="2400" dirty="0">
                <a:effectLst/>
                <a:latin typeface="Courier New" panose="02070309020205020404" pitchFamily="49" charset="0"/>
              </a:rPr>
              <a:t>True</a:t>
            </a:r>
          </a:p>
          <a:p>
            <a:r>
              <a:rPr lang="en-US" sz="2400" dirty="0">
                <a:latin typeface="Calibri (Hoofdtekst)"/>
              </a:rPr>
              <a:t>Python first checks the condition before the expression is evaluated</a:t>
            </a:r>
          </a:p>
          <a:p>
            <a:r>
              <a:rPr lang="en-US" sz="2400" dirty="0">
                <a:latin typeface="Calibri (Hoofdtekst)"/>
              </a:rPr>
              <a:t>You can also use </a:t>
            </a:r>
            <a:r>
              <a:rPr lang="en-US" sz="2400" dirty="0">
                <a:latin typeface="Courier New" panose="02070309020205020404" pitchFamily="49" charset="0"/>
              </a:rPr>
              <a:t>break</a:t>
            </a:r>
            <a:r>
              <a:rPr lang="en-US" sz="2400" dirty="0">
                <a:latin typeface="Arial" panose="020B0604020202020204" pitchFamily="34" charset="0"/>
              </a:rPr>
              <a:t> </a:t>
            </a:r>
            <a:r>
              <a:rPr lang="en-US" sz="2400" dirty="0">
                <a:latin typeface="Calibri (Hoofdtekst)"/>
              </a:rPr>
              <a:t>and</a:t>
            </a:r>
            <a:r>
              <a:rPr lang="en-US" sz="2400" dirty="0">
                <a:latin typeface="Arial" panose="020B0604020202020204" pitchFamily="34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</a:rPr>
              <a:t>continue</a:t>
            </a:r>
          </a:p>
          <a:p>
            <a:r>
              <a:rPr lang="en-US" dirty="0">
                <a:effectLst/>
                <a:latin typeface="Calibri (Hoofdtekst)"/>
              </a:rPr>
              <a:t>Watch out for infinite loops!</a:t>
            </a:r>
          </a:p>
          <a:p>
            <a:pPr lvl="1"/>
            <a:r>
              <a:rPr lang="en-US" sz="2000" dirty="0">
                <a:effectLst/>
                <a:latin typeface="Calibri (Hoofdtekst)"/>
              </a:rPr>
              <a:t>For example, on a (free) PythonAnywhere account</a:t>
            </a:r>
          </a:p>
          <a:p>
            <a:pPr lvl="1"/>
            <a:r>
              <a:rPr lang="en-US" sz="2000" dirty="0">
                <a:latin typeface="Calibri (Hoofdtekst)"/>
              </a:rPr>
              <a:t>Use </a:t>
            </a:r>
            <a:r>
              <a:rPr lang="en-US" sz="2000" dirty="0">
                <a:effectLst/>
                <a:latin typeface="Calibri (Hoofdtekst)"/>
              </a:rPr>
              <a:t>Ctrl + C, if you accidentally get into one</a:t>
            </a:r>
          </a:p>
          <a:p>
            <a:r>
              <a:rPr lang="en-US" sz="2400" dirty="0">
                <a:effectLst/>
                <a:latin typeface="Calibri (Hoofdtekst)"/>
              </a:rPr>
              <a:t>If it all goes wrong, you must wait 24 hours</a:t>
            </a:r>
          </a:p>
          <a:p>
            <a:r>
              <a:rPr lang="en-US" sz="2400" dirty="0">
                <a:latin typeface="Calibri (Hoofdtekst)"/>
              </a:rPr>
              <a:t>With for-loops you know (most of the time) beforehand how much data you must process at most. Not with a while-loop</a:t>
            </a:r>
            <a:endParaRPr lang="nl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248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"/>
            <a:ext cx="10515600" cy="880843"/>
          </a:xfrm>
        </p:spPr>
        <p:txBody>
          <a:bodyPr/>
          <a:lstStyle/>
          <a:p>
            <a:r>
              <a:rPr lang="en-US" dirty="0"/>
              <a:t>While-loop: example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7477"/>
            <a:ext cx="10515600" cy="5123045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 (Hoofdtekst)"/>
              </a:rPr>
              <a:t>A program asks the user to enter numbers, returns the sum of all odd numbers and stop with 100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total = 0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number = int(input('give a number, or 100 to stop '))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while number != 100: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if number % 2 == 1: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    total += number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</a:rPr>
              <a:t>number</a:t>
            </a:r>
            <a:r>
              <a:rPr lang="en-US" sz="2000" dirty="0">
                <a:latin typeface="Courier New" panose="02070309020205020404" pitchFamily="49" charset="0"/>
              </a:rPr>
              <a:t> = int(input('give number, or 100 to stop '))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print (total)</a:t>
            </a:r>
          </a:p>
          <a:p>
            <a:r>
              <a:rPr lang="en-US" sz="2000" dirty="0">
                <a:latin typeface="Calibri (Hoofdtekst)"/>
              </a:rPr>
              <a:t>Adding </a:t>
            </a:r>
            <a:r>
              <a:rPr lang="en-US" sz="2000" dirty="0">
                <a:latin typeface="Courier New" panose="02070309020205020404" pitchFamily="49" charset="0"/>
              </a:rPr>
              <a:t>break</a:t>
            </a:r>
            <a:r>
              <a:rPr lang="en-US" sz="2000" dirty="0">
                <a:latin typeface="Calibri (Hoofdtekst)"/>
              </a:rPr>
              <a:t> and </a:t>
            </a:r>
            <a:r>
              <a:rPr lang="en-US" sz="2000" dirty="0">
                <a:latin typeface="Courier New" panose="02070309020205020404" pitchFamily="49" charset="0"/>
              </a:rPr>
              <a:t>continue</a:t>
            </a:r>
            <a:r>
              <a:rPr lang="en-US" sz="2000" dirty="0">
                <a:latin typeface="Calibri (Hoofdtekst)"/>
              </a:rPr>
              <a:t>: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total = 0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while True: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number = int(input('give a number, or 100 to stop '))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if number == 100: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    break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if number % 2 == 0: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    continue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total += number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print (total)</a:t>
            </a:r>
          </a:p>
          <a:p>
            <a:r>
              <a:rPr lang="en-US" sz="2000" dirty="0">
                <a:latin typeface="Calibri (Hoofdtekst)"/>
              </a:rPr>
              <a:t>Which style do you prefer?</a:t>
            </a:r>
          </a:p>
          <a:p>
            <a:endParaRPr lang="nl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371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1312554" cy="1325563"/>
          </a:xfrm>
        </p:spPr>
        <p:txBody>
          <a:bodyPr/>
          <a:lstStyle/>
          <a:p>
            <a:r>
              <a:rPr lang="en-US" dirty="0"/>
              <a:t>The walrus operator := (introduced in Python 3.8)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4985"/>
            <a:ext cx="11648114" cy="516301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Arial" panose="020B0604020202020204" pitchFamily="34" charset="0"/>
              </a:rPr>
              <a:t>The standard assignment operator (=) assigns a name to an object, but doesn't evaluate to a value </a:t>
            </a:r>
          </a:p>
          <a:p>
            <a:r>
              <a:rPr lang="en-US" sz="2400" dirty="0">
                <a:latin typeface="Arial" panose="020B0604020202020204" pitchFamily="34" charset="0"/>
              </a:rPr>
              <a:t>The walrus operator does evaluate to a value, and it evaluates to the value of the newly created object</a:t>
            </a:r>
          </a:p>
          <a:p>
            <a:r>
              <a:rPr lang="en-US" sz="2400" dirty="0">
                <a:latin typeface="Arial" panose="020B0604020202020204" pitchFamily="34" charset="0"/>
              </a:rPr>
              <a:t>The following works in some computer languages, but not in Python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total = 0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while (number = int(input('give a number, or 100 to stop '))) != 100 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if number % 2 == 1: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    total += number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print (total)</a:t>
            </a:r>
          </a:p>
          <a:p>
            <a:r>
              <a:rPr lang="en-US" sz="2000" dirty="0">
                <a:latin typeface="Arial" panose="020B0604020202020204" pitchFamily="34" charset="0"/>
              </a:rPr>
              <a:t>But now you can, using the walrus operator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total = 0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while (number := int(input('give a number, or 100 to stop '))) != 100 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if number % 2 == 1: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    total += number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print (total)</a:t>
            </a:r>
          </a:p>
          <a:p>
            <a:r>
              <a:rPr lang="en-US" sz="2400" dirty="0">
                <a:latin typeface="Arial" panose="020B0604020202020204" pitchFamily="34" charset="0"/>
              </a:rPr>
              <a:t>Another useful application, we will see when discussing comprehensions</a:t>
            </a:r>
          </a:p>
          <a:p>
            <a:r>
              <a:rPr lang="en-US" sz="2400" dirty="0">
                <a:latin typeface="Arial" panose="020B0604020202020204" pitchFamily="34" charset="0"/>
              </a:rPr>
              <a:t>NB! </a:t>
            </a:r>
            <a:r>
              <a:rPr lang="en-US" sz="2400" dirty="0" err="1">
                <a:latin typeface="Arial" panose="020B0604020202020204" pitchFamily="34" charset="0"/>
              </a:rPr>
              <a:t>Uitleggen</a:t>
            </a:r>
            <a:r>
              <a:rPr lang="en-US" sz="2400" dirty="0">
                <a:latin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</a:rPr>
              <a:t>verschil</a:t>
            </a:r>
            <a:r>
              <a:rPr lang="en-US" sz="2400" dirty="0">
                <a:latin typeface="Arial" panose="020B0604020202020204" pitchFamily="34" charset="0"/>
              </a:rPr>
              <a:t> statement </a:t>
            </a:r>
            <a:r>
              <a:rPr lang="en-US" sz="2400" dirty="0" err="1">
                <a:latin typeface="Arial" panose="020B0604020202020204" pitchFamily="34" charset="0"/>
              </a:rPr>
              <a:t>en</a:t>
            </a:r>
            <a:r>
              <a:rPr lang="en-US" sz="2400" dirty="0">
                <a:latin typeface="Arial" panose="020B0604020202020204" pitchFamily="34" charset="0"/>
              </a:rPr>
              <a:t> </a:t>
            </a:r>
            <a:r>
              <a:rPr lang="en-US" sz="2400">
                <a:latin typeface="Arial" panose="020B0604020202020204" pitchFamily="34" charset="0"/>
              </a:rPr>
              <a:t>expressie</a:t>
            </a:r>
            <a:endParaRPr lang="en-US" sz="24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748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C8B25-C99F-0FA8-135B-373974D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Solving</a:t>
            </a:r>
            <a:r>
              <a:rPr lang="nl-NL" dirty="0"/>
              <a:t> question 9 </a:t>
            </a:r>
            <a:r>
              <a:rPr lang="nl-NL" dirty="0" err="1"/>
              <a:t>with</a:t>
            </a:r>
            <a:r>
              <a:rPr lang="nl-NL" dirty="0"/>
              <a:t> the Walrus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FB42E-A003-155C-C5A1-67A52CC5B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>
            <a:normAutofit/>
          </a:bodyPr>
          <a:lstStyle/>
          <a:p>
            <a:r>
              <a:rPr lang="en-US" dirty="0"/>
              <a:t>Assume that you already have one variable called 'x', which is a list that contains at least 8 integer elements. Two elements of this list have the value 17.</a:t>
            </a:r>
          </a:p>
          <a:p>
            <a:r>
              <a:rPr lang="en-US" dirty="0"/>
              <a:t>Print a list with all the elements between the two 17’s. Both 17's should not be included. You can assume that there will only be two 17's in the list.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If x = [21, 17, 29, 20, 17, 21, 38, 26], your program should print: [29, 20]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left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(17) + 1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right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(17, left)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print(x[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left:right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print(x[(left:=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(17)+1):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(17,left)])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971A9-496D-B393-8C71-5CEEE7A9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947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For-loop vs while-loop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/>
              <a:t>Anything you can do with a for loop you can also do with a while-loop, but as we saw, you can even do more with a while-loop</a:t>
            </a:r>
          </a:p>
          <a:p>
            <a:r>
              <a:rPr lang="en-US" sz="2400" dirty="0"/>
              <a:t>So, if you really don't know how to solve a looping problem with a for-loop, you can always use a while-loop</a:t>
            </a:r>
            <a:endParaRPr lang="nl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6582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Conversion of datatypes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Autofit/>
          </a:bodyPr>
          <a:lstStyle/>
          <a:p>
            <a:r>
              <a:rPr lang="en-US" sz="2400" dirty="0"/>
              <a:t>Compared with other programming languages, Python is not very generous </a:t>
            </a:r>
            <a:r>
              <a:rPr lang="en-US" sz="2400" dirty="0" err="1"/>
              <a:t>w.r.t.</a:t>
            </a:r>
            <a:r>
              <a:rPr lang="en-US" sz="2400" dirty="0"/>
              <a:t> automatically converting datatypes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print('1' + 1)        # Onscreen: error,</a:t>
            </a:r>
            <a:r>
              <a:rPr lang="en-US" sz="2000" dirty="0"/>
              <a:t> the designers of Python could have chosen automatic conversion of the string '1' into integer 1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print('1.0' + 1)	</a:t>
            </a:r>
            <a:r>
              <a:rPr lang="nl-NL" sz="2000" dirty="0">
                <a:latin typeface="Courier New" panose="02070309020205020404" pitchFamily="49" charset="0"/>
              </a:rPr>
              <a:t>   </a:t>
            </a:r>
            <a:r>
              <a:rPr lang="en-US" sz="2000" dirty="0">
                <a:latin typeface="Courier New" panose="02070309020205020404" pitchFamily="49" charset="0"/>
              </a:rPr>
              <a:t># Onscreen: error</a:t>
            </a:r>
            <a:r>
              <a:rPr lang="en-US" sz="2000" dirty="0"/>
              <a:t>, the designers of Python could have chosen automatic conversion of the string '1.0' into float 1.0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print(1232.count(2)) # Onscreen: error</a:t>
            </a:r>
            <a:r>
              <a:rPr lang="en-US" sz="2000" dirty="0"/>
              <a:t>, the designers of Python could have chosen automatic conversion of the integer 123 into string '123' and answer the question</a:t>
            </a:r>
          </a:p>
          <a:p>
            <a:r>
              <a:rPr lang="en-US" sz="2400" dirty="0"/>
              <a:t>If you want these conversions, you must make those conversions yourself</a:t>
            </a:r>
          </a:p>
          <a:p>
            <a:r>
              <a:rPr lang="en-US" sz="2400" dirty="0"/>
              <a:t>Advantage: more control, less ambiguity</a:t>
            </a:r>
            <a:r>
              <a:rPr lang="en-US" sz="2400"/>
              <a:t>, fewer </a:t>
            </a:r>
            <a:r>
              <a:rPr lang="en-US" sz="2400" dirty="0"/>
              <a:t>surprises</a:t>
            </a:r>
          </a:p>
          <a:p>
            <a:pPr lvl="1"/>
            <a:r>
              <a:rPr lang="en-US" sz="2000" dirty="0"/>
              <a:t>In JavaScript </a:t>
            </a:r>
            <a:r>
              <a:rPr lang="en-US" sz="2000" dirty="0">
                <a:latin typeface="Courier New" panose="02070309020205020404" pitchFamily="49" charset="0"/>
              </a:rPr>
              <a:t>'1' + 2 + 3</a:t>
            </a:r>
            <a:r>
              <a:rPr lang="en-US" sz="2000" dirty="0"/>
              <a:t>, gives you </a:t>
            </a:r>
            <a:r>
              <a:rPr lang="en-US" sz="2000" dirty="0">
                <a:latin typeface="Courier New" panose="02070309020205020404" pitchFamily="49" charset="0"/>
              </a:rPr>
              <a:t>'123' </a:t>
            </a:r>
            <a:r>
              <a:rPr lang="en-US" sz="2000" dirty="0"/>
              <a:t>and not 6, you could be surprised as there is no error</a:t>
            </a:r>
            <a:endParaRPr lang="en-US" dirty="0"/>
          </a:p>
          <a:p>
            <a:r>
              <a:rPr lang="en-US" sz="2400" dirty="0"/>
              <a:t>Disadvantage: more work</a:t>
            </a:r>
          </a:p>
          <a:p>
            <a:pPr lvl="1"/>
            <a:r>
              <a:rPr lang="en-US" sz="2000" dirty="0"/>
              <a:t>Compare </a:t>
            </a:r>
            <a:r>
              <a:rPr lang="en-US" sz="2000" dirty="0">
                <a:latin typeface="Courier New" panose="02070309020205020404" pitchFamily="49" charset="0"/>
              </a:rPr>
              <a:t>'page' + number (</a:t>
            </a:r>
            <a:r>
              <a:rPr lang="en-US" sz="2000" dirty="0"/>
              <a:t>JavaScript) with: </a:t>
            </a:r>
            <a:r>
              <a:rPr lang="en-US" sz="2000" dirty="0">
                <a:latin typeface="Courier New" panose="02070309020205020404" pitchFamily="49" charset="0"/>
              </a:rPr>
              <a:t>'page' + str(number)</a:t>
            </a:r>
            <a:r>
              <a:rPr lang="en-US" sz="2000" dirty="0"/>
              <a:t> (Python)</a:t>
            </a:r>
            <a:endParaRPr lang="nl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599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37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Truthy and </a:t>
            </a:r>
            <a:r>
              <a:rPr lang="en-US" dirty="0" err="1"/>
              <a:t>Falsy</a:t>
            </a:r>
            <a:r>
              <a:rPr lang="en-US" dirty="0"/>
              <a:t>: automatic conversion in conditions</a:t>
            </a:r>
            <a:br>
              <a:rPr lang="en-US" dirty="0"/>
            </a:b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4985"/>
            <a:ext cx="10515600" cy="4619297"/>
          </a:xfrm>
        </p:spPr>
        <p:txBody>
          <a:bodyPr>
            <a:normAutofit/>
          </a:bodyPr>
          <a:lstStyle/>
          <a:p>
            <a:r>
              <a:rPr lang="en-US" sz="2400" dirty="0"/>
              <a:t>We said Python is not very generous </a:t>
            </a:r>
            <a:r>
              <a:rPr lang="en-US" sz="2400" dirty="0" err="1"/>
              <a:t>w.r.t.</a:t>
            </a:r>
            <a:r>
              <a:rPr lang="en-US" sz="2400" dirty="0"/>
              <a:t> automatically converting datatypes, but datatypes of variables used as a condition are the exceptions to the rule</a:t>
            </a:r>
          </a:p>
          <a:p>
            <a:r>
              <a:rPr lang="en-US" sz="2400" dirty="0"/>
              <a:t>When used as a condition the following is seen as True or False:</a:t>
            </a:r>
          </a:p>
          <a:p>
            <a:endParaRPr lang="nl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33</a:t>
            </a:fld>
            <a:endParaRPr lang="nl-NL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C1E63C-0DE1-73E0-14DC-A1687C179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969231"/>
              </p:ext>
            </p:extLst>
          </p:nvPr>
        </p:nvGraphicFramePr>
        <p:xfrm>
          <a:off x="677334" y="3020548"/>
          <a:ext cx="541866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006441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47366723"/>
                    </a:ext>
                  </a:extLst>
                </a:gridCol>
              </a:tblGrid>
              <a:tr h="325878"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434253"/>
                  </a:ext>
                </a:extLst>
              </a:tr>
              <a:tr h="325878">
                <a:tc>
                  <a:txBody>
                    <a:bodyPr/>
                    <a:lstStyle/>
                    <a:p>
                      <a:r>
                        <a:rPr lang="en-US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384178"/>
                  </a:ext>
                </a:extLst>
              </a:tr>
              <a:tr h="325878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(1)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113432"/>
                  </a:ext>
                </a:extLst>
              </a:tr>
              <a:tr h="325878">
                <a:tc>
                  <a:txBody>
                    <a:bodyPr/>
                    <a:lstStyle/>
                    <a:p>
                      <a:r>
                        <a:rPr lang="en-US" dirty="0"/>
                        <a:t>{}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{1:3}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03779"/>
                  </a:ext>
                </a:extLst>
              </a:tr>
              <a:tr h="325878">
                <a:tc>
                  <a:txBody>
                    <a:bodyPr/>
                    <a:lstStyle/>
                    <a:p>
                      <a:r>
                        <a:rPr lang="en-US" dirty="0"/>
                        <a:t>{}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{1}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142468"/>
                  </a:ext>
                </a:extLst>
              </a:tr>
              <a:tr h="325878">
                <a:tc>
                  <a:txBody>
                    <a:bodyPr/>
                    <a:lstStyle/>
                    <a:p>
                      <a:r>
                        <a:rPr lang="en-US" dirty="0"/>
                        <a:t>''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 '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916538"/>
                  </a:ext>
                </a:extLst>
              </a:tr>
              <a:tr h="32587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644476"/>
                  </a:ext>
                </a:extLst>
              </a:tr>
              <a:tr h="325878"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26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26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Truthy and </a:t>
            </a:r>
            <a:r>
              <a:rPr lang="en-US" dirty="0" err="1"/>
              <a:t>Falsy</a:t>
            </a:r>
            <a:r>
              <a:rPr lang="en-US" dirty="0"/>
              <a:t>: example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ourier New" panose="02070309020205020404" pitchFamily="49" charset="0"/>
              </a:rPr>
              <a:t>l1 = [1, 2, 3, 4, 5, 6]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total = 0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while l1: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total += l1[0]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del l1[0]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print(total) # Onscreen: 21</a:t>
            </a:r>
          </a:p>
          <a:p>
            <a:r>
              <a:rPr lang="en-US" sz="2400" dirty="0"/>
              <a:t>Looks very similar to using a for-loop, where you run over a collection until it is exhausted: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l1 = [1, 2, 3, 4, 5, 6]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total = 0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for number in l1: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     total += number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print(total) # Onscreen: 21</a:t>
            </a:r>
            <a:endParaRPr lang="nl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355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Examples: explicit conversions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ourier New" panose="02070309020205020404" pitchFamily="49" charset="0"/>
              </a:rPr>
              <a:t>print(str(1) == '1') # Onscreen: True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print(int('1') == 1) # Onscreen: True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print(int('1a') == 1) # Onscreen: error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print(float('1') == 1.0) # Onscreen: True 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print(float('1.0') == 1.0) # Onscreen: True 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print(tuple([1,2,3]) == (1,2,3)) # Onscreen: True 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print(tuple({1:3, 2:4}) == (1,2)) # Onscreen: True print(list(range(1,5,2)) == [1, 3]) # Onscreen: True 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</a:rPr>
              <a:t>dict</a:t>
            </a:r>
            <a:r>
              <a:rPr lang="en-US" sz="2000" dirty="0">
                <a:latin typeface="Courier New" panose="02070309020205020404" pitchFamily="49" charset="0"/>
              </a:rPr>
              <a:t>([1, 2])) # Onscreen: error 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</a:rPr>
              <a:t>dict</a:t>
            </a:r>
            <a:r>
              <a:rPr lang="en-US" sz="2000" dirty="0">
                <a:latin typeface="Courier New" panose="02070309020205020404" pitchFamily="49" charset="0"/>
              </a:rPr>
              <a:t>([(1,3), (2,4)]) == {1: 3, 2:4})</a:t>
            </a:r>
          </a:p>
          <a:p>
            <a:r>
              <a:rPr lang="en-US" sz="2000" dirty="0"/>
              <a:t>Some conversion functions: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dict</a:t>
            </a:r>
            <a:r>
              <a:rPr lang="en-US" sz="2000" dirty="0">
                <a:latin typeface="Courier New" panose="02070309020205020404" pitchFamily="49" charset="0"/>
              </a:rPr>
              <a:t>(), tuple(), list(), set(), int(), bool(), float() </a:t>
            </a:r>
            <a:endParaRPr lang="nl-NL" sz="2000" dirty="0">
              <a:latin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5153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Homework week 1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/>
              <a:t>Try to understand the suggested solutions, that is good preparation for the exam</a:t>
            </a:r>
          </a:p>
          <a:p>
            <a:r>
              <a:rPr lang="en-US" sz="2400" dirty="0"/>
              <a:t>In general, the building blocks from </a:t>
            </a:r>
            <a:r>
              <a:rPr lang="en-US" sz="2400" dirty="0" err="1"/>
              <a:t>DataCamp</a:t>
            </a:r>
            <a:r>
              <a:rPr lang="en-US" sz="2400" dirty="0"/>
              <a:t> should be enough to understand them</a:t>
            </a:r>
          </a:p>
          <a:p>
            <a:r>
              <a:rPr lang="en-US" sz="2400" dirty="0"/>
              <a:t>If it is not clear, play around with the code in </a:t>
            </a:r>
            <a:r>
              <a:rPr lang="en-US" sz="2400" dirty="0" err="1"/>
              <a:t>Pythonanywhere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886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238125"/>
            <a:ext cx="1194435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Homework: overwriting the test-case of the test-server</a:t>
            </a:r>
            <a:endParaRPr lang="nl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281907"/>
            <a:ext cx="8782050" cy="5032375"/>
          </a:xfrm>
        </p:spPr>
        <p:txBody>
          <a:bodyPr>
            <a:noAutofit/>
          </a:bodyPr>
          <a:lstStyle/>
          <a:p>
            <a:r>
              <a:rPr lang="en-US" sz="2400" dirty="0"/>
              <a:t>What test_answer.py wants to test, you find under preconditions</a:t>
            </a:r>
          </a:p>
          <a:p>
            <a:r>
              <a:rPr lang="en-US" sz="2400" dirty="0"/>
              <a:t>But here in your code (under solution being tested)</a:t>
            </a:r>
            <a:r>
              <a:rPr lang="nl-NL" sz="2400" dirty="0"/>
              <a:t>, </a:t>
            </a:r>
            <a:r>
              <a:rPr lang="en-US" sz="2400" dirty="0"/>
              <a:t>you see that the first thing you do is overwrite Bernard with Mary, so your program gives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Good morning Mary!</a:t>
            </a:r>
            <a:r>
              <a:rPr lang="en-US" sz="2400" dirty="0"/>
              <a:t> as output, while </a:t>
            </a:r>
            <a:r>
              <a:rPr lang="en-US" sz="2400" dirty="0" err="1"/>
              <a:t>test_answer</a:t>
            </a:r>
            <a:r>
              <a:rPr lang="en-US" sz="2400" dirty="0"/>
              <a:t> expects 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ood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morning Bernard!</a:t>
            </a:r>
          </a:p>
          <a:p>
            <a:pPr lvl="1"/>
            <a:r>
              <a:rPr lang="en-US" dirty="0"/>
              <a:t>Solution: get rid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'Mary' </a:t>
            </a:r>
            <a:r>
              <a:rPr lang="en-US" dirty="0"/>
              <a:t>by making it into a comment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placing</a:t>
            </a:r>
            <a:r>
              <a:rPr lang="en-US" dirty="0"/>
              <a:t> a hashtag (#)</a:t>
            </a:r>
            <a:r>
              <a:rPr lang="nl-NL" dirty="0"/>
              <a:t> in front of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en-US" dirty="0"/>
              <a:t>or delete the line</a:t>
            </a:r>
          </a:p>
          <a:p>
            <a:pPr lvl="1"/>
            <a:r>
              <a:rPr lang="en-US" dirty="0"/>
              <a:t>Also don't change the first line to different precondition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'Bernard</a:t>
            </a:r>
            <a:r>
              <a:rPr lang="en-US" dirty="0"/>
              <a:t>', because every question is tested for with 20 different cases, so the next case could be: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'Daniel' </a:t>
            </a:r>
          </a:p>
          <a:p>
            <a:r>
              <a:rPr lang="en-US" sz="2400" dirty="0"/>
              <a:t>General solution: do not overwrite in your code the precondition the </a:t>
            </a:r>
            <a:r>
              <a:rPr lang="en-US" sz="2400" dirty="0" err="1"/>
              <a:t>test_answer</a:t>
            </a:r>
            <a:r>
              <a:rPr lang="en-US" sz="2400" dirty="0"/>
              <a:t> script wants to use, because every question is tested with 20 different preconditions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37</a:t>
            </a:fld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A86CB71-5E7E-B15F-6A3F-39403BF6D1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41" t="30234" r="64963" b="38368"/>
          <a:stretch/>
        </p:blipFill>
        <p:spPr>
          <a:xfrm>
            <a:off x="9112250" y="1450083"/>
            <a:ext cx="2832100" cy="420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6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Homework: Forgetting to save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7538224" cy="5032375"/>
          </a:xfrm>
        </p:spPr>
        <p:txBody>
          <a:bodyPr>
            <a:noAutofit/>
          </a:bodyPr>
          <a:lstStyle/>
          <a:p>
            <a:r>
              <a:rPr lang="en-US" sz="2400" dirty="0"/>
              <a:t>Say, you were sure to take the line with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= 'Mary'  </a:t>
            </a:r>
            <a:r>
              <a:rPr lang="en-US" sz="2400" dirty="0"/>
              <a:t>out, but you still fail the test -&gt; the problem could be that you didn't save your new version. Actually, you can see under Solution being tested, what is being tested</a:t>
            </a:r>
          </a:p>
          <a:p>
            <a:r>
              <a:rPr lang="en-US" sz="2400" dirty="0"/>
              <a:t>Not saving is the most common and maybe most annoying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38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DD29219-8A31-CEBB-0B53-F54DE27078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40" t="31861" r="59025" b="27111"/>
          <a:stretch/>
        </p:blipFill>
        <p:spPr>
          <a:xfrm>
            <a:off x="659084" y="3817144"/>
            <a:ext cx="2289717" cy="296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9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1734800" cy="1325563"/>
          </a:xfrm>
        </p:spPr>
        <p:txBody>
          <a:bodyPr>
            <a:normAutofit/>
          </a:bodyPr>
          <a:lstStyle/>
          <a:p>
            <a:r>
              <a:rPr lang="en-US" dirty="0"/>
              <a:t>Homework: </a:t>
            </a:r>
            <a:r>
              <a:rPr lang="en-US" sz="4400" dirty="0"/>
              <a:t>Not comparing expected and actual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1907"/>
            <a:ext cx="7645400" cy="5032375"/>
          </a:xfrm>
        </p:spPr>
        <p:txBody>
          <a:bodyPr>
            <a:noAutofit/>
          </a:bodyPr>
          <a:lstStyle/>
          <a:p>
            <a:r>
              <a:rPr lang="en-US" sz="2400" dirty="0"/>
              <a:t>My impression is that students often when they see failed test!, think </a:t>
            </a:r>
            <a:r>
              <a:rPr lang="nl-NL" sz="2400" dirty="0" err="1"/>
              <a:t>their</a:t>
            </a:r>
            <a:r>
              <a:rPr lang="nl-NL" sz="2400" dirty="0"/>
              <a:t> </a:t>
            </a:r>
            <a:r>
              <a:rPr lang="nl-NL" sz="2400" dirty="0" err="1"/>
              <a:t>answer</a:t>
            </a:r>
            <a:r>
              <a:rPr lang="nl-NL" sz="2400" dirty="0"/>
              <a:t> </a:t>
            </a:r>
            <a:r>
              <a:rPr lang="en-US" sz="2400" dirty="0"/>
              <a:t>is wrong and start from scratch</a:t>
            </a:r>
          </a:p>
          <a:p>
            <a:r>
              <a:rPr lang="en-US" sz="2400" dirty="0"/>
              <a:t>A better approach is to have a good look at the expected and actual printout and maybe you think, </a:t>
            </a:r>
            <a:r>
              <a:rPr lang="nl-NL" sz="2400" dirty="0"/>
              <a:t>"</a:t>
            </a:r>
            <a:r>
              <a:rPr lang="en-US" sz="2400" dirty="0"/>
              <a:t>ha almost correct, I have to alter the code a bit, must have used a wrong index</a:t>
            </a:r>
            <a:r>
              <a:rPr lang="nl-NL" sz="2400" dirty="0"/>
              <a:t>"</a:t>
            </a:r>
            <a:endParaRPr lang="en-US" sz="2400" dirty="0"/>
          </a:p>
          <a:p>
            <a:r>
              <a:rPr lang="en-US" sz="2400" dirty="0"/>
              <a:t>This is maybe/probably a silly example, but in the later weeks it can really help to have a good look at the printouts and have a positive mindset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39</a:t>
            </a:fld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3DD38B7-ECAB-97D7-4880-FCB2C2B2FB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86" t="25028" r="63597" b="37392"/>
          <a:stretch/>
        </p:blipFill>
        <p:spPr>
          <a:xfrm>
            <a:off x="8436362" y="1281907"/>
            <a:ext cx="2743200" cy="391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59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Homework: </a:t>
            </a:r>
            <a:r>
              <a:rPr lang="en-US" sz="4400" dirty="0"/>
              <a:t>the template of 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1907"/>
            <a:ext cx="10415239" cy="5032375"/>
          </a:xfrm>
        </p:spPr>
        <p:txBody>
          <a:bodyPr>
            <a:noAutofit/>
          </a:bodyPr>
          <a:lstStyle/>
          <a:p>
            <a:r>
              <a:rPr lang="en-US" sz="2400" dirty="0"/>
              <a:t>The question will tell you whether you must print something, or fill in a variable, or, as you will see later, you must create a function that returns a value</a:t>
            </a:r>
          </a:p>
          <a:p>
            <a:r>
              <a:rPr lang="en-US" sz="2400" dirty="0"/>
              <a:t>If you give the right answer but in the wrong way, you get no point for that 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40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C7B86DF0-0F5F-E293-3403-AC1131636A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04" t="24671" r="48049" b="57272"/>
          <a:stretch/>
        </p:blipFill>
        <p:spPr>
          <a:xfrm>
            <a:off x="457198" y="4740428"/>
            <a:ext cx="5062656" cy="187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1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Homework: Look at the example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1907"/>
            <a:ext cx="10415239" cy="5032375"/>
          </a:xfrm>
        </p:spPr>
        <p:txBody>
          <a:bodyPr>
            <a:noAutofit/>
          </a:bodyPr>
          <a:lstStyle/>
          <a:p>
            <a:r>
              <a:rPr lang="en-US" sz="2400" dirty="0"/>
              <a:t>Last part before """ is the example</a:t>
            </a:r>
          </a:p>
          <a:p>
            <a:pPr lvl="1"/>
            <a:r>
              <a:rPr lang="en-US" sz="2000" dirty="0"/>
              <a:t>The example can be very useful to understand the question. Sometimes you will understand the question fully after reading the example and/or after some runs of </a:t>
            </a:r>
            <a:r>
              <a:rPr lang="en-US" sz="2000" dirty="0" err="1"/>
              <a:t>test_answer</a:t>
            </a:r>
            <a:r>
              <a:rPr lang="en-US" sz="2000" dirty="0"/>
              <a:t>. So don't be worried if you don't understand the question at once, use all these </a:t>
            </a:r>
            <a:r>
              <a:rPr lang="nl-NL" sz="2000" dirty="0"/>
              <a:t>tools</a:t>
            </a:r>
            <a:r>
              <a:rPr lang="en-US" sz="2000" dirty="0"/>
              <a:t> to get a grip</a:t>
            </a:r>
          </a:p>
          <a:p>
            <a:pPr lvl="1"/>
            <a:r>
              <a:rPr lang="en-US" sz="2000" dirty="0"/>
              <a:t>You can try to replicate the example. In that case you must fill the variables like is done in the example and run your script outside the </a:t>
            </a:r>
            <a:r>
              <a:rPr lang="en-US" sz="2000" dirty="0" err="1"/>
              <a:t>test_answer</a:t>
            </a:r>
            <a:r>
              <a:rPr lang="en-US" sz="2000" dirty="0"/>
              <a:t> system. If you can replicate the example, you're likely to have solved it</a:t>
            </a:r>
          </a:p>
          <a:p>
            <a:r>
              <a:rPr lang="en-US" sz="2400" dirty="0"/>
              <a:t>Below this part, you can find hints</a:t>
            </a:r>
          </a:p>
          <a:p>
            <a:pPr lvl="1"/>
            <a:r>
              <a:rPr lang="en-US" sz="2000" dirty="0"/>
              <a:t>Sometimes they tell you step-by-step what to do</a:t>
            </a:r>
            <a:endParaRPr lang="en-US" dirty="0"/>
          </a:p>
          <a:p>
            <a:pPr lvl="1"/>
            <a:r>
              <a:rPr lang="en-US" sz="2000" dirty="0"/>
              <a:t>Sometimes they give you just a clue about a part of the answer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41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C7B86DF0-0F5F-E293-3403-AC1131636A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04" t="24671" r="48049" b="57272"/>
          <a:stretch/>
        </p:blipFill>
        <p:spPr>
          <a:xfrm>
            <a:off x="356837" y="4766621"/>
            <a:ext cx="5062656" cy="187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0515600" cy="1325563"/>
          </a:xfrm>
        </p:spPr>
        <p:txBody>
          <a:bodyPr/>
          <a:lstStyle/>
          <a:p>
            <a:r>
              <a:rPr lang="en-US" dirty="0"/>
              <a:t>Homework: Be careful with names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1907"/>
            <a:ext cx="10415239" cy="5032375"/>
          </a:xfrm>
        </p:spPr>
        <p:txBody>
          <a:bodyPr>
            <a:noAutofit/>
          </a:bodyPr>
          <a:lstStyle/>
          <a:p>
            <a:pPr lvl="1"/>
            <a:r>
              <a:rPr lang="en-US" sz="2000" dirty="0">
                <a:latin typeface="Courier New" panose="02070309020205020404" pitchFamily="49" charset="0"/>
              </a:rPr>
              <a:t>n1 = 100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n2 = x/100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n3 = n2 + 1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n4 = n1*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n2</a:t>
            </a:r>
            <a:r>
              <a:rPr lang="en-US" sz="2000" dirty="0">
                <a:latin typeface="Courier New" panose="02070309020205020404" pitchFamily="49" charset="0"/>
              </a:rPr>
              <a:t>**7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n5 = round(n4, 2) </a:t>
            </a:r>
          </a:p>
          <a:p>
            <a:r>
              <a:rPr lang="en-US" sz="2400" dirty="0"/>
              <a:t>This is a silly example, but a lot of errors occur because programmers forget which object was referred to by a certain name</a:t>
            </a:r>
          </a:p>
          <a:p>
            <a:pPr lvl="1"/>
            <a:r>
              <a:rPr lang="en-US" sz="2000" dirty="0"/>
              <a:t>These errors can be very difficult to find, as Python doesn't throw an error</a:t>
            </a:r>
          </a:p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881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8125"/>
            <a:ext cx="11473544" cy="1325563"/>
          </a:xfrm>
        </p:spPr>
        <p:txBody>
          <a:bodyPr/>
          <a:lstStyle/>
          <a:p>
            <a:r>
              <a:rPr lang="en-US" dirty="0"/>
              <a:t>Homework: Avoid using Python’s reserved  words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1907"/>
            <a:ext cx="10415239" cy="5032375"/>
          </a:xfrm>
        </p:spPr>
        <p:txBody>
          <a:bodyPr>
            <a:noAutofit/>
          </a:bodyPr>
          <a:lstStyle/>
          <a:p>
            <a:pPr lvl="1"/>
            <a:r>
              <a:rPr lang="en-US" sz="2000" dirty="0">
                <a:latin typeface="Courier New" panose="02070309020205020404" pitchFamily="49" charset="0"/>
              </a:rPr>
              <a:t>countries = ['Netherlands', 'Belgium'] 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capitals = ['Amsterdam', 'Brussels']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sorted = sorted(countries)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sorted2 = sorted(capitals)      # Onscreen: </a:t>
            </a:r>
            <a:r>
              <a:rPr lang="en-US" sz="2000" dirty="0" err="1">
                <a:latin typeface="Courier New" panose="02070309020205020404" pitchFamily="49" charset="0"/>
              </a:rPr>
              <a:t>TypeError</a:t>
            </a:r>
            <a:r>
              <a:rPr lang="en-US" sz="2000" dirty="0">
                <a:latin typeface="Courier New" panose="02070309020205020404" pitchFamily="49" charset="0"/>
              </a:rPr>
              <a:t>: 'list' object is not callable</a:t>
            </a:r>
          </a:p>
          <a:p>
            <a:r>
              <a:rPr lang="en-US" sz="2400" dirty="0"/>
              <a:t>If you use more meaningful names like </a:t>
            </a:r>
            <a:r>
              <a:rPr lang="en-US" sz="2400" dirty="0" err="1"/>
              <a:t>sorted_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countries</a:t>
            </a:r>
            <a:r>
              <a:rPr lang="en-US" sz="2400" dirty="0"/>
              <a:t> or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sorted_capitals</a:t>
            </a:r>
            <a:r>
              <a:rPr lang="en-US" sz="2400" dirty="0"/>
              <a:t> you will be safe, or if you go in the other direction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l1, l2 </a:t>
            </a:r>
            <a:r>
              <a:rPr lang="en-US" sz="2400" dirty="0" err="1"/>
              <a:t>etc</a:t>
            </a:r>
            <a:r>
              <a:rPr lang="nl-NL" sz="2400" dirty="0"/>
              <a:t>. </a:t>
            </a:r>
            <a:r>
              <a:rPr lang="en-US" sz="2400" dirty="0"/>
              <a:t>also</a:t>
            </a:r>
          </a:p>
          <a:p>
            <a:r>
              <a:rPr lang="en-US" sz="2400" dirty="0"/>
              <a:t>Remember that in Python built-in functions etc. are just objects with a name and you can </a:t>
            </a:r>
            <a:r>
              <a:rPr lang="en-US" altLang="nl-NL" sz="2400" dirty="0"/>
              <a:t>accidentally</a:t>
            </a:r>
            <a:r>
              <a:rPr lang="nl-NL" altLang="nl-NL" sz="2400" dirty="0"/>
              <a:t> </a:t>
            </a:r>
            <a:r>
              <a:rPr lang="en-US" sz="2400" dirty="0"/>
              <a:t>attach that name to another object</a:t>
            </a:r>
            <a:endParaRPr lang="nl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935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8666"/>
          </a:xfrm>
        </p:spPr>
        <p:txBody>
          <a:bodyPr/>
          <a:lstStyle/>
          <a:p>
            <a:r>
              <a:rPr lang="en-US" dirty="0"/>
              <a:t>Question 2: working step-by-step versus inside out 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B2655-D11E-C8FB-FDFB-6DCEF460C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06407"/>
            <a:ext cx="11352212" cy="143128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Assume that you already have a variable called 'x', which contains the percentage annual interest rate paid by a bank account as a nonnegative integer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Suppose that the balance of the bank account is now 100.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Print out what the balance of the bank account will be in 8 years.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Before you print the new balance, use the round function to round it to 2 digits.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2855869"/>
            <a:ext cx="6981825" cy="2913453"/>
          </a:xfrm>
        </p:spPr>
        <p:txBody>
          <a:bodyPr>
            <a:noAutofit/>
          </a:bodyPr>
          <a:lstStyle/>
          <a:p>
            <a:r>
              <a:rPr lang="en-US" sz="2000" dirty="0"/>
              <a:t>Step-by-step: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interest = x / 100 + 1</a:t>
            </a:r>
          </a:p>
          <a:p>
            <a:r>
              <a:rPr lang="en-US" sz="2000" dirty="0" err="1">
                <a:latin typeface="Courier New" panose="02070309020205020404" pitchFamily="49" charset="0"/>
              </a:rPr>
              <a:t>compounded_interest</a:t>
            </a:r>
            <a:r>
              <a:rPr lang="en-US" sz="2000" dirty="0">
                <a:latin typeface="Courier New" panose="02070309020205020404" pitchFamily="49" charset="0"/>
              </a:rPr>
              <a:t> = interest ** 8</a:t>
            </a:r>
          </a:p>
          <a:p>
            <a:r>
              <a:rPr lang="en-US" sz="2000" dirty="0" err="1">
                <a:latin typeface="Courier New" panose="02070309020205020404" pitchFamily="49" charset="0"/>
              </a:rPr>
              <a:t>new_balance</a:t>
            </a:r>
            <a:r>
              <a:rPr lang="en-US" sz="2000" dirty="0">
                <a:latin typeface="Courier New" panose="02070309020205020404" pitchFamily="49" charset="0"/>
              </a:rPr>
              <a:t> = 100 * </a:t>
            </a:r>
            <a:r>
              <a:rPr lang="en-US" sz="2000" dirty="0" err="1">
                <a:latin typeface="Courier New" panose="02070309020205020404" pitchFamily="49" charset="0"/>
              </a:rPr>
              <a:t>compounded_interest</a:t>
            </a:r>
            <a:endParaRPr lang="en-US" sz="2000" dirty="0">
              <a:latin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</a:rPr>
              <a:t>new_balance_rounded</a:t>
            </a:r>
            <a:r>
              <a:rPr lang="en-US" sz="2000" dirty="0">
                <a:latin typeface="Courier New" panose="02070309020205020404" pitchFamily="49" charset="0"/>
              </a:rPr>
              <a:t> = round(new_balance,2)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</a:rPr>
              <a:t>new_balance_rounded</a:t>
            </a:r>
            <a:r>
              <a:rPr lang="en-US" sz="2000" dirty="0">
                <a:latin typeface="Courier New" panose="02070309020205020404" pitchFamily="49" charset="0"/>
              </a:rPr>
              <a:t>)</a:t>
            </a:r>
            <a:endParaRPr lang="en-US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860EAD-9517-7A23-1329-C225BEF87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79933" y="2837690"/>
            <a:ext cx="5512067" cy="2913453"/>
          </a:xfrm>
        </p:spPr>
        <p:txBody>
          <a:bodyPr/>
          <a:lstStyle/>
          <a:p>
            <a:r>
              <a:rPr lang="en-US" sz="2000" dirty="0"/>
              <a:t>Inside out:</a:t>
            </a:r>
          </a:p>
          <a:p>
            <a:pPr marL="228600" lvl="1">
              <a:spcBef>
                <a:spcPts val="1000"/>
              </a:spcBef>
            </a:pPr>
            <a:r>
              <a:rPr lang="en-US" sz="2000" dirty="0">
                <a:latin typeface="Courier New" panose="02070309020205020404" pitchFamily="49" charset="0"/>
              </a:rPr>
              <a:t>x/100+1</a:t>
            </a:r>
          </a:p>
          <a:p>
            <a:pPr marL="228600" lvl="1">
              <a:spcBef>
                <a:spcPts val="1000"/>
              </a:spcBef>
            </a:pPr>
            <a:r>
              <a:rPr lang="en-US" sz="2000" dirty="0">
                <a:latin typeface="Courier New" panose="02070309020205020404" pitchFamily="49" charset="0"/>
              </a:rPr>
              <a:t>(x/100+1)**8</a:t>
            </a:r>
          </a:p>
          <a:p>
            <a:pPr marL="228600" lvl="1">
              <a:spcBef>
                <a:spcPts val="1000"/>
              </a:spcBef>
            </a:pPr>
            <a:r>
              <a:rPr lang="en-US" sz="2000" dirty="0">
                <a:latin typeface="Courier New" panose="02070309020205020404" pitchFamily="49" charset="0"/>
              </a:rPr>
              <a:t>100*(x/100+1)**8</a:t>
            </a:r>
          </a:p>
          <a:p>
            <a:pPr marL="228600" lvl="1">
              <a:spcBef>
                <a:spcPts val="1000"/>
              </a:spcBef>
            </a:pPr>
            <a:r>
              <a:rPr lang="en-US" sz="2000" dirty="0">
                <a:latin typeface="Courier New" panose="02070309020205020404" pitchFamily="49" charset="0"/>
              </a:rPr>
              <a:t>round(100*(x/100+1)**8, 2)</a:t>
            </a:r>
          </a:p>
          <a:p>
            <a:pPr marL="228600" lvl="1">
              <a:spcBef>
                <a:spcPts val="1000"/>
              </a:spcBef>
            </a:pPr>
            <a:r>
              <a:rPr lang="en-US" sz="2000" dirty="0">
                <a:latin typeface="Courier New" panose="02070309020205020404" pitchFamily="49" charset="0"/>
              </a:rPr>
              <a:t>print(round(100*(x/100+1)**8, 2))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44</a:t>
            </a:fld>
            <a:endParaRPr lang="nl-NL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BF54A09-3928-C278-BE7C-F711DADFEF37}"/>
              </a:ext>
            </a:extLst>
          </p:cNvPr>
          <p:cNvSpPr txBox="1">
            <a:spLocks/>
          </p:cNvSpPr>
          <p:nvPr/>
        </p:nvSpPr>
        <p:spPr>
          <a:xfrm>
            <a:off x="0" y="5623708"/>
            <a:ext cx="6519512" cy="845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Trade-off</a:t>
            </a:r>
          </a:p>
          <a:p>
            <a:pPr lvl="1"/>
            <a:r>
              <a:rPr lang="en-US" sz="2000" dirty="0"/>
              <a:t>Less complex, but creating a lot of names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822435-85DD-B592-F505-37F74184A705}"/>
              </a:ext>
            </a:extLst>
          </p:cNvPr>
          <p:cNvSpPr txBox="1">
            <a:spLocks/>
          </p:cNvSpPr>
          <p:nvPr/>
        </p:nvSpPr>
        <p:spPr>
          <a:xfrm>
            <a:off x="6873380" y="5608822"/>
            <a:ext cx="5300313" cy="845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Trade-off</a:t>
            </a:r>
          </a:p>
          <a:p>
            <a:pPr lvl="1"/>
            <a:r>
              <a:rPr lang="en-US" sz="2000" dirty="0"/>
              <a:t>May-be more complex, better overview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A7EF607-5438-AF92-11F1-9134C2A595B3}"/>
              </a:ext>
            </a:extLst>
          </p:cNvPr>
          <p:cNvSpPr txBox="1">
            <a:spLocks/>
          </p:cNvSpPr>
          <p:nvPr/>
        </p:nvSpPr>
        <p:spPr>
          <a:xfrm>
            <a:off x="6679933" y="3221317"/>
            <a:ext cx="5300312" cy="16718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>
              <a:spcBef>
                <a:spcPts val="1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6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8125"/>
            <a:ext cx="11169941" cy="1325563"/>
          </a:xfrm>
        </p:spPr>
        <p:txBody>
          <a:bodyPr/>
          <a:lstStyle/>
          <a:p>
            <a:r>
              <a:rPr lang="en-US" dirty="0"/>
              <a:t>Question: What does the following program do?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1907"/>
            <a:ext cx="10415239" cy="5032375"/>
          </a:xfrm>
        </p:spPr>
        <p:txBody>
          <a:bodyPr>
            <a:noAutofit/>
          </a:bodyPr>
          <a:lstStyle/>
          <a:p>
            <a:r>
              <a:rPr lang="en-US" sz="2400" dirty="0"/>
              <a:t>X and Y are both integers what does the following program do?</a:t>
            </a:r>
            <a:br>
              <a:rPr lang="en-US" sz="2400" dirty="0"/>
            </a:br>
            <a:r>
              <a:rPr lang="en-US" sz="2000" dirty="0">
                <a:latin typeface="Courier New" panose="02070309020205020404" pitchFamily="49" charset="0"/>
              </a:rPr>
              <a:t>X = X + Y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Y = X – Y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X = X - Y</a:t>
            </a:r>
          </a:p>
          <a:p>
            <a:pPr marL="0" indent="0">
              <a:buNone/>
            </a:pPr>
            <a:endParaRPr lang="nl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72798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33F-A141-0F90-6E0C-B391F29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11094440" cy="1325563"/>
          </a:xfrm>
        </p:spPr>
        <p:txBody>
          <a:bodyPr/>
          <a:lstStyle/>
          <a:p>
            <a:r>
              <a:rPr lang="en-US" dirty="0"/>
              <a:t>Answer: What does the following program do?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FBB7-D392-3BB1-6E4C-8815E69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1907"/>
            <a:ext cx="10415239" cy="5032375"/>
          </a:xfrm>
        </p:spPr>
        <p:txBody>
          <a:bodyPr>
            <a:noAutofit/>
          </a:bodyPr>
          <a:lstStyle/>
          <a:p>
            <a:r>
              <a:rPr lang="en-US" sz="2400" dirty="0"/>
              <a:t>X and Y are both integers what does the following program do?</a:t>
            </a:r>
            <a:br>
              <a:rPr lang="en-US" sz="2400" dirty="0"/>
            </a:br>
            <a:r>
              <a:rPr lang="en-US" sz="2000" dirty="0">
                <a:latin typeface="Courier New" panose="02070309020205020404" pitchFamily="49" charset="0"/>
              </a:rPr>
              <a:t>X = X + Y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Y = X – Y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X = X - Y</a:t>
            </a:r>
          </a:p>
          <a:p>
            <a:r>
              <a:rPr lang="en-US" sz="2400" dirty="0"/>
              <a:t>This is a very abstract question</a:t>
            </a:r>
          </a:p>
          <a:p>
            <a:r>
              <a:rPr lang="en-US" sz="2400" dirty="0"/>
              <a:t>Tip: sometimes it helps to just say what happens if X=1 and Y=2</a:t>
            </a:r>
          </a:p>
          <a:p>
            <a:r>
              <a:rPr lang="en-US" sz="2400" dirty="0"/>
              <a:t>This can be a very good strategy to help you understand code</a:t>
            </a:r>
          </a:p>
          <a:p>
            <a:pPr marL="0" indent="0">
              <a:buNone/>
            </a:pPr>
            <a:endParaRPr lang="nl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CEC2-2DB9-4502-FB04-80CE41FE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57EE-0CEF-4D7E-9E69-5277D6172560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268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81844</TotalTime>
  <Words>4865</Words>
  <Application>Microsoft Office PowerPoint</Application>
  <PresentationFormat>Widescreen</PresentationFormat>
  <Paragraphs>405</Paragraphs>
  <Slides>46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(Hoofdstekst)</vt:lpstr>
      <vt:lpstr>Calibri (Hoofdtekst)</vt:lpstr>
      <vt:lpstr>Calibri Light</vt:lpstr>
      <vt:lpstr>Courier New</vt:lpstr>
      <vt:lpstr>Office Theme</vt:lpstr>
      <vt:lpstr>Introduction to Python</vt:lpstr>
      <vt:lpstr>Programme for Today</vt:lpstr>
      <vt:lpstr>The Augmented Assignment Operators</vt:lpstr>
      <vt:lpstr>Dictionaries: Introduction </vt:lpstr>
      <vt:lpstr>Dictionaries: Introduction </vt:lpstr>
      <vt:lpstr>Using dictionaries</vt:lpstr>
      <vt:lpstr>Using dictionaries</vt:lpstr>
      <vt:lpstr>Lists vs dictionaries</vt:lpstr>
      <vt:lpstr>Using lists </vt:lpstr>
      <vt:lpstr>Using lists </vt:lpstr>
      <vt:lpstr>Sets</vt:lpstr>
      <vt:lpstr>Conditions: Introduction</vt:lpstr>
      <vt:lpstr>Conditions: boolean operators</vt:lpstr>
      <vt:lpstr>Conditions: tricky example </vt:lpstr>
      <vt:lpstr>Conditions: tricky example </vt:lpstr>
      <vt:lpstr>Why/when to use conditions</vt:lpstr>
      <vt:lpstr>Conditions in conditional statements</vt:lpstr>
      <vt:lpstr>Conditional expressions</vt:lpstr>
      <vt:lpstr>Loops</vt:lpstr>
      <vt:lpstr>For-loops</vt:lpstr>
      <vt:lpstr>For-loops: examples</vt:lpstr>
      <vt:lpstr>For-loops: examples</vt:lpstr>
      <vt:lpstr>Looping over dictionaries</vt:lpstr>
      <vt:lpstr>Looping over dictionaries</vt:lpstr>
      <vt:lpstr>Looping: enumerate()</vt:lpstr>
      <vt:lpstr>Looping: zip()</vt:lpstr>
      <vt:lpstr>While-loop</vt:lpstr>
      <vt:lpstr>While-loop: example</vt:lpstr>
      <vt:lpstr>The walrus operator := (introduced in Python 3.8)</vt:lpstr>
      <vt:lpstr>Solving question 9 with the Walrus</vt:lpstr>
      <vt:lpstr>For-loop vs while-loop</vt:lpstr>
      <vt:lpstr>Conversion of datatypes</vt:lpstr>
      <vt:lpstr>Truthy and Falsy: automatic conversion in conditions </vt:lpstr>
      <vt:lpstr>Truthy and Falsy: example</vt:lpstr>
      <vt:lpstr>Examples: explicit conversions</vt:lpstr>
      <vt:lpstr>Homework week 1</vt:lpstr>
      <vt:lpstr>Homework: overwriting the test-case of the test-server</vt:lpstr>
      <vt:lpstr>Homework: Forgetting to save</vt:lpstr>
      <vt:lpstr>Homework: Not comparing expected and actual</vt:lpstr>
      <vt:lpstr>Homework: the template of the question</vt:lpstr>
      <vt:lpstr>Homework: Look at the example</vt:lpstr>
      <vt:lpstr>Homework: Be careful with names</vt:lpstr>
      <vt:lpstr>Homework: Avoid using Python’s reserved  words</vt:lpstr>
      <vt:lpstr>Question 2: working step-by-step versus inside out </vt:lpstr>
      <vt:lpstr>Question: What does the following program do?</vt:lpstr>
      <vt:lpstr>Answer: What does the following program do?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Intruction to Python</dc:title>
  <dc:creator>Ailko van der Veen</dc:creator>
  <cp:lastModifiedBy>Mathijs Janssen</cp:lastModifiedBy>
  <cp:revision>82</cp:revision>
  <dcterms:created xsi:type="dcterms:W3CDTF">2023-02-02T16:35:46Z</dcterms:created>
  <dcterms:modified xsi:type="dcterms:W3CDTF">2026-02-10T15:37:34Z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e6dba3-42c1-475e-beed-5d52002941fd_Enabled">
    <vt:lpwstr>true</vt:lpwstr>
  </property>
  <property fmtid="{D5CDD505-2E9C-101B-9397-08002B2CF9AE}" pid="3" name="MSIP_Label_f3e6dba3-42c1-475e-beed-5d52002941fd_SetDate">
    <vt:lpwstr>2023-04-30T11:59:44Z</vt:lpwstr>
  </property>
  <property fmtid="{D5CDD505-2E9C-101B-9397-08002B2CF9AE}" pid="4" name="MSIP_Label_f3e6dba3-42c1-475e-beed-5d52002941fd_Method">
    <vt:lpwstr>Standard</vt:lpwstr>
  </property>
  <property fmtid="{D5CDD505-2E9C-101B-9397-08002B2CF9AE}" pid="5" name="MSIP_Label_f3e6dba3-42c1-475e-beed-5d52002941fd_Name">
    <vt:lpwstr>Openbaar</vt:lpwstr>
  </property>
  <property fmtid="{D5CDD505-2E9C-101B-9397-08002B2CF9AE}" pid="6" name="MSIP_Label_f3e6dba3-42c1-475e-beed-5d52002941fd_SiteId">
    <vt:lpwstr>5b83389b-52c3-41b5-a90c-45ceabd80c71</vt:lpwstr>
  </property>
  <property fmtid="{D5CDD505-2E9C-101B-9397-08002B2CF9AE}" pid="7" name="MSIP_Label_f3e6dba3-42c1-475e-beed-5d52002941fd_ActionId">
    <vt:lpwstr>f4f8a58e-30d4-4852-ae47-743ef48e5be4</vt:lpwstr>
  </property>
  <property fmtid="{D5CDD505-2E9C-101B-9397-08002B2CF9AE}" pid="8" name="MSIP_Label_f3e6dba3-42c1-475e-beed-5d52002941fd_ContentBits">
    <vt:lpwstr>0</vt:lpwstr>
  </property>
</Properties>
</file>