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41"/>
  </p:notesMasterIdLst>
  <p:sldIdLst>
    <p:sldId id="256" r:id="rId2"/>
    <p:sldId id="368" r:id="rId3"/>
    <p:sldId id="345" r:id="rId4"/>
    <p:sldId id="346" r:id="rId5"/>
    <p:sldId id="354" r:id="rId6"/>
    <p:sldId id="347" r:id="rId7"/>
    <p:sldId id="348" r:id="rId8"/>
    <p:sldId id="349" r:id="rId9"/>
    <p:sldId id="350" r:id="rId10"/>
    <p:sldId id="351" r:id="rId11"/>
    <p:sldId id="352" r:id="rId12"/>
    <p:sldId id="353" r:id="rId13"/>
    <p:sldId id="360" r:id="rId14"/>
    <p:sldId id="359" r:id="rId15"/>
    <p:sldId id="299" r:id="rId16"/>
    <p:sldId id="356" r:id="rId17"/>
    <p:sldId id="301" r:id="rId18"/>
    <p:sldId id="302" r:id="rId19"/>
    <p:sldId id="310" r:id="rId20"/>
    <p:sldId id="304" r:id="rId21"/>
    <p:sldId id="362" r:id="rId22"/>
    <p:sldId id="308" r:id="rId23"/>
    <p:sldId id="363" r:id="rId24"/>
    <p:sldId id="309" r:id="rId25"/>
    <p:sldId id="303" r:id="rId26"/>
    <p:sldId id="312" r:id="rId27"/>
    <p:sldId id="313" r:id="rId28"/>
    <p:sldId id="314" r:id="rId29"/>
    <p:sldId id="358" r:id="rId30"/>
    <p:sldId id="315" r:id="rId31"/>
    <p:sldId id="316" r:id="rId32"/>
    <p:sldId id="317" r:id="rId33"/>
    <p:sldId id="367" r:id="rId34"/>
    <p:sldId id="319" r:id="rId35"/>
    <p:sldId id="366" r:id="rId36"/>
    <p:sldId id="321" r:id="rId37"/>
    <p:sldId id="365" r:id="rId38"/>
    <p:sldId id="369" r:id="rId39"/>
    <p:sldId id="364" r:id="rId40"/>
  </p:sldIdLst>
  <p:sldSz cx="12192000" cy="6858000"/>
  <p:notesSz cx="6858000" cy="9144000"/>
  <p:defaultText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E6FB0692-A64C-4E25-B7F1-3C306BA07F24}" v="10" dt="2026-03-17T15:22:54.974"/>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93792" autoAdjust="0"/>
  </p:normalViewPr>
  <p:slideViewPr>
    <p:cSldViewPr snapToGrid="0">
      <p:cViewPr varScale="1">
        <p:scale>
          <a:sx n="77" d="100"/>
          <a:sy n="77" d="100"/>
        </p:scale>
        <p:origin x="912" y="67"/>
      </p:cViewPr>
      <p:guideLst/>
    </p:cSldViewPr>
  </p:slideViewPr>
  <p:outlineViewPr>
    <p:cViewPr>
      <p:scale>
        <a:sx n="33" d="100"/>
        <a:sy n="33" d="100"/>
      </p:scale>
      <p:origin x="0" y="-66708"/>
    </p:cViewPr>
  </p:outlin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presProps" Target="presProps.xml"/><Relationship Id="rId47"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microsoft.com/office/2016/11/relationships/changesInfo" Target="changesInfos/changesInfo1.xml"/><Relationship Id="rId20" Type="http://schemas.openxmlformats.org/officeDocument/2006/relationships/slide" Target="slides/slide19.xml"/><Relationship Id="rId41"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athijs Janssen" userId="e1c712ed-fa05-4b32-a6ac-d3bcfe11202a" providerId="ADAL" clId="{8FD1F137-BF03-485D-B0D1-ED5AC4324200}"/>
    <pc:docChg chg="custSel addSld delSld modSld">
      <pc:chgData name="Mathijs Janssen" userId="e1c712ed-fa05-4b32-a6ac-d3bcfe11202a" providerId="ADAL" clId="{8FD1F137-BF03-485D-B0D1-ED5AC4324200}" dt="2026-03-17T15:22:54.974" v="14"/>
      <pc:docMkLst>
        <pc:docMk/>
      </pc:docMkLst>
      <pc:sldChg chg="modSp">
        <pc:chgData name="Mathijs Janssen" userId="e1c712ed-fa05-4b32-a6ac-d3bcfe11202a" providerId="ADAL" clId="{8FD1F137-BF03-485D-B0D1-ED5AC4324200}" dt="2026-03-17T15:11:16.669" v="9" actId="20577"/>
        <pc:sldMkLst>
          <pc:docMk/>
          <pc:sldMk cId="2231901856" sldId="312"/>
        </pc:sldMkLst>
        <pc:spChg chg="mod">
          <ac:chgData name="Mathijs Janssen" userId="e1c712ed-fa05-4b32-a6ac-d3bcfe11202a" providerId="ADAL" clId="{8FD1F137-BF03-485D-B0D1-ED5AC4324200}" dt="2026-03-17T15:11:16.669" v="9" actId="20577"/>
          <ac:spMkLst>
            <pc:docMk/>
            <pc:sldMk cId="2231901856" sldId="312"/>
            <ac:spMk id="3" creationId="{CCE16E8F-A6CD-41EF-7D4D-3D845E3E36C0}"/>
          </ac:spMkLst>
        </pc:spChg>
      </pc:sldChg>
      <pc:sldChg chg="modSp mod">
        <pc:chgData name="Mathijs Janssen" userId="e1c712ed-fa05-4b32-a6ac-d3bcfe11202a" providerId="ADAL" clId="{8FD1F137-BF03-485D-B0D1-ED5AC4324200}" dt="2026-03-17T15:22:36.887" v="10" actId="21"/>
        <pc:sldMkLst>
          <pc:docMk/>
          <pc:sldMk cId="1695191248" sldId="365"/>
        </pc:sldMkLst>
        <pc:spChg chg="mod">
          <ac:chgData name="Mathijs Janssen" userId="e1c712ed-fa05-4b32-a6ac-d3bcfe11202a" providerId="ADAL" clId="{8FD1F137-BF03-485D-B0D1-ED5AC4324200}" dt="2026-03-17T15:22:36.887" v="10" actId="21"/>
          <ac:spMkLst>
            <pc:docMk/>
            <pc:sldMk cId="1695191248" sldId="365"/>
            <ac:spMk id="3" creationId="{055274EB-0991-6D53-0A0A-AED41EBAE2D2}"/>
          </ac:spMkLst>
        </pc:spChg>
      </pc:sldChg>
      <pc:sldChg chg="mod modShow">
        <pc:chgData name="Mathijs Janssen" userId="e1c712ed-fa05-4b32-a6ac-d3bcfe11202a" providerId="ADAL" clId="{8FD1F137-BF03-485D-B0D1-ED5AC4324200}" dt="2026-03-17T00:18:33.085" v="1" actId="729"/>
        <pc:sldMkLst>
          <pc:docMk/>
          <pc:sldMk cId="3871343732" sldId="368"/>
        </pc:sldMkLst>
      </pc:sldChg>
      <pc:sldChg chg="modSp new mod">
        <pc:chgData name="Mathijs Janssen" userId="e1c712ed-fa05-4b32-a6ac-d3bcfe11202a" providerId="ADAL" clId="{8FD1F137-BF03-485D-B0D1-ED5AC4324200}" dt="2026-03-17T15:22:54.974" v="14"/>
        <pc:sldMkLst>
          <pc:docMk/>
          <pc:sldMk cId="3702527182" sldId="369"/>
        </pc:sldMkLst>
        <pc:spChg chg="mod">
          <ac:chgData name="Mathijs Janssen" userId="e1c712ed-fa05-4b32-a6ac-d3bcfe11202a" providerId="ADAL" clId="{8FD1F137-BF03-485D-B0D1-ED5AC4324200}" dt="2026-03-17T15:22:54.974" v="14"/>
          <ac:spMkLst>
            <pc:docMk/>
            <pc:sldMk cId="3702527182" sldId="369"/>
            <ac:spMk id="2" creationId="{C55BFC5D-B4FF-694B-F6AA-8B4EEEF91791}"/>
          </ac:spMkLst>
        </pc:spChg>
        <pc:spChg chg="mod">
          <ac:chgData name="Mathijs Janssen" userId="e1c712ed-fa05-4b32-a6ac-d3bcfe11202a" providerId="ADAL" clId="{8FD1F137-BF03-485D-B0D1-ED5AC4324200}" dt="2026-03-17T15:22:46.296" v="13" actId="27636"/>
          <ac:spMkLst>
            <pc:docMk/>
            <pc:sldMk cId="3702527182" sldId="369"/>
            <ac:spMk id="3" creationId="{1E75BA16-C919-3DD4-0D82-38F9AEAB3DE2}"/>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Arial" panose="020B0604020202020204" pitchFamily="34" charset="0"/>
              </a:defRPr>
            </a:lvl1pPr>
          </a:lstStyle>
          <a:p>
            <a:endParaRPr lang="en-US" dirty="0"/>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Arial" panose="020B0604020202020204" pitchFamily="34" charset="0"/>
              </a:defRPr>
            </a:lvl1pPr>
          </a:lstStyle>
          <a:p>
            <a:fld id="{7A0AB9C6-D5AC-49AF-B0AF-5BEC2D1975A4}" type="datetimeFigureOut">
              <a:rPr lang="en-US" smtClean="0"/>
              <a:pPr/>
              <a:t>3/15/2026</a:t>
            </a:fld>
            <a:endParaRPr lang="en-US" dirty="0"/>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Arial" panose="020B0604020202020204" pitchFamily="34" charset="0"/>
              </a:defRPr>
            </a:lvl1pPr>
          </a:lstStyle>
          <a:p>
            <a:endParaRPr lang="en-US" dirty="0"/>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Arial" panose="020B0604020202020204" pitchFamily="34" charset="0"/>
              </a:defRPr>
            </a:lvl1pPr>
          </a:lstStyle>
          <a:p>
            <a:fld id="{D93DEE77-AD7E-4CBE-B03A-DCB65F5C9693}" type="slidenum">
              <a:rPr lang="en-US" smtClean="0"/>
              <a:pPr/>
              <a:t>‹#›</a:t>
            </a:fld>
            <a:endParaRPr lang="en-US" dirty="0"/>
          </a:p>
        </p:txBody>
      </p:sp>
    </p:spTree>
    <p:extLst>
      <p:ext uri="{BB962C8B-B14F-4D97-AF65-F5344CB8AC3E}">
        <p14:creationId xmlns:p14="http://schemas.microsoft.com/office/powerpoint/2010/main" val="73602206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Arial" panose="020B0604020202020204" pitchFamily="34" charset="0"/>
        <a:ea typeface="+mn-ea"/>
        <a:cs typeface="+mn-cs"/>
      </a:defRPr>
    </a:lvl1pPr>
    <a:lvl2pPr marL="457200" algn="l" defTabSz="914400" rtl="0" eaLnBrk="1" latinLnBrk="0" hangingPunct="1">
      <a:defRPr sz="1200" kern="1200">
        <a:solidFill>
          <a:schemeClr val="tx1"/>
        </a:solidFill>
        <a:latin typeface="Arial" panose="020B0604020202020204" pitchFamily="34" charset="0"/>
        <a:ea typeface="+mn-ea"/>
        <a:cs typeface="+mn-cs"/>
      </a:defRPr>
    </a:lvl2pPr>
    <a:lvl3pPr marL="914400" algn="l" defTabSz="914400" rtl="0" eaLnBrk="1" latinLnBrk="0" hangingPunct="1">
      <a:defRPr sz="1200" kern="1200">
        <a:solidFill>
          <a:schemeClr val="tx1"/>
        </a:solidFill>
        <a:latin typeface="Arial" panose="020B0604020202020204" pitchFamily="34" charset="0"/>
        <a:ea typeface="+mn-ea"/>
        <a:cs typeface="+mn-cs"/>
      </a:defRPr>
    </a:lvl3pPr>
    <a:lvl4pPr marL="1371600" algn="l" defTabSz="914400" rtl="0" eaLnBrk="1" latinLnBrk="0" hangingPunct="1">
      <a:defRPr sz="1200" kern="1200">
        <a:solidFill>
          <a:schemeClr val="tx1"/>
        </a:solidFill>
        <a:latin typeface="Arial" panose="020B0604020202020204" pitchFamily="34" charset="0"/>
        <a:ea typeface="+mn-ea"/>
        <a:cs typeface="+mn-cs"/>
      </a:defRPr>
    </a:lvl4pPr>
    <a:lvl5pPr marL="1828800" algn="l" defTabSz="914400" rtl="0" eaLnBrk="1" latinLnBrk="0" hangingPunct="1">
      <a:defRPr sz="1200" kern="1200">
        <a:solidFill>
          <a:schemeClr val="tx1"/>
        </a:solidFill>
        <a:latin typeface="Arial" panose="020B0604020202020204"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882C18-A503-1EFE-0146-4C9F2201D1E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nl-NL"/>
          </a:p>
        </p:txBody>
      </p:sp>
      <p:sp>
        <p:nvSpPr>
          <p:cNvPr id="3" name="Subtitle 2">
            <a:extLst>
              <a:ext uri="{FF2B5EF4-FFF2-40B4-BE49-F238E27FC236}">
                <a16:creationId xmlns:a16="http://schemas.microsoft.com/office/drawing/2014/main" id="{06D49416-528B-13F6-2C0D-BB5E4579C62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nl-NL"/>
          </a:p>
        </p:txBody>
      </p:sp>
      <p:sp>
        <p:nvSpPr>
          <p:cNvPr id="4" name="Date Placeholder 3">
            <a:extLst>
              <a:ext uri="{FF2B5EF4-FFF2-40B4-BE49-F238E27FC236}">
                <a16:creationId xmlns:a16="http://schemas.microsoft.com/office/drawing/2014/main" id="{BB968B63-7CA1-E008-13B6-1801B276A118}"/>
              </a:ext>
            </a:extLst>
          </p:cNvPr>
          <p:cNvSpPr>
            <a:spLocks noGrp="1"/>
          </p:cNvSpPr>
          <p:nvPr>
            <p:ph type="dt" sz="half" idx="10"/>
          </p:nvPr>
        </p:nvSpPr>
        <p:spPr/>
        <p:txBody>
          <a:bodyPr/>
          <a:lstStyle/>
          <a:p>
            <a:fld id="{0843C8B9-33ED-4AA6-AC04-4CF59EF6B83E}" type="datetime1">
              <a:rPr lang="nl-NL" smtClean="0"/>
              <a:t>15-3-2026</a:t>
            </a:fld>
            <a:endParaRPr lang="nl-NL"/>
          </a:p>
        </p:txBody>
      </p:sp>
      <p:sp>
        <p:nvSpPr>
          <p:cNvPr id="5" name="Footer Placeholder 4">
            <a:extLst>
              <a:ext uri="{FF2B5EF4-FFF2-40B4-BE49-F238E27FC236}">
                <a16:creationId xmlns:a16="http://schemas.microsoft.com/office/drawing/2014/main" id="{077CD0B6-A659-29E6-B9CE-DF30E9BBEA91}"/>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BCBBAE83-4B17-FEFD-4C5F-9F640171678A}"/>
              </a:ext>
            </a:extLst>
          </p:cNvPr>
          <p:cNvSpPr>
            <a:spLocks noGrp="1"/>
          </p:cNvSpPr>
          <p:nvPr>
            <p:ph type="sldNum" sz="quarter" idx="12"/>
          </p:nvPr>
        </p:nvSpPr>
        <p:spPr/>
        <p:txBody>
          <a:bodyPr/>
          <a:lstStyle/>
          <a:p>
            <a:fld id="{723B6F6A-0448-4EED-A121-7B4A352F61BD}" type="slidenum">
              <a:rPr lang="nl-NL" smtClean="0"/>
              <a:t>‹#›</a:t>
            </a:fld>
            <a:endParaRPr lang="nl-NL"/>
          </a:p>
        </p:txBody>
      </p:sp>
    </p:spTree>
    <p:extLst>
      <p:ext uri="{BB962C8B-B14F-4D97-AF65-F5344CB8AC3E}">
        <p14:creationId xmlns:p14="http://schemas.microsoft.com/office/powerpoint/2010/main" val="2750026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FF972C-F72A-CB7D-03BF-AF12EC80C4C2}"/>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850458CB-5D38-9D71-9515-F70B46EF784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C13BF662-1A87-B891-3979-30CA0AAF60A4}"/>
              </a:ext>
            </a:extLst>
          </p:cNvPr>
          <p:cNvSpPr>
            <a:spLocks noGrp="1"/>
          </p:cNvSpPr>
          <p:nvPr>
            <p:ph type="dt" sz="half" idx="10"/>
          </p:nvPr>
        </p:nvSpPr>
        <p:spPr/>
        <p:txBody>
          <a:bodyPr/>
          <a:lstStyle/>
          <a:p>
            <a:fld id="{B5116BF9-FE07-4BF4-87B9-95AC4CE634FC}" type="datetime1">
              <a:rPr lang="nl-NL" smtClean="0"/>
              <a:t>15-3-2026</a:t>
            </a:fld>
            <a:endParaRPr lang="nl-NL"/>
          </a:p>
        </p:txBody>
      </p:sp>
      <p:sp>
        <p:nvSpPr>
          <p:cNvPr id="5" name="Footer Placeholder 4">
            <a:extLst>
              <a:ext uri="{FF2B5EF4-FFF2-40B4-BE49-F238E27FC236}">
                <a16:creationId xmlns:a16="http://schemas.microsoft.com/office/drawing/2014/main" id="{D8953B6D-757C-82B2-3B85-E7E56036B0A3}"/>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0DBCD097-5F72-43BD-2F72-333C698E0534}"/>
              </a:ext>
            </a:extLst>
          </p:cNvPr>
          <p:cNvSpPr>
            <a:spLocks noGrp="1"/>
          </p:cNvSpPr>
          <p:nvPr>
            <p:ph type="sldNum" sz="quarter" idx="12"/>
          </p:nvPr>
        </p:nvSpPr>
        <p:spPr/>
        <p:txBody>
          <a:bodyPr/>
          <a:lstStyle/>
          <a:p>
            <a:fld id="{723B6F6A-0448-4EED-A121-7B4A352F61BD}" type="slidenum">
              <a:rPr lang="nl-NL" smtClean="0"/>
              <a:t>‹#›</a:t>
            </a:fld>
            <a:endParaRPr lang="nl-NL"/>
          </a:p>
        </p:txBody>
      </p:sp>
    </p:spTree>
    <p:extLst>
      <p:ext uri="{BB962C8B-B14F-4D97-AF65-F5344CB8AC3E}">
        <p14:creationId xmlns:p14="http://schemas.microsoft.com/office/powerpoint/2010/main" val="130515203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7BC7F9-C6C2-87E3-82B1-0BEB5FCD758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nl-NL"/>
          </a:p>
        </p:txBody>
      </p:sp>
      <p:sp>
        <p:nvSpPr>
          <p:cNvPr id="3" name="Text Placeholder 2">
            <a:extLst>
              <a:ext uri="{FF2B5EF4-FFF2-40B4-BE49-F238E27FC236}">
                <a16:creationId xmlns:a16="http://schemas.microsoft.com/office/drawing/2014/main" id="{38EBF5F8-0CD9-178D-3488-65AA219B94FF}"/>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B47B6EF8-3B35-9CF3-A69B-D68314F1B2B5}"/>
              </a:ext>
            </a:extLst>
          </p:cNvPr>
          <p:cNvSpPr>
            <a:spLocks noGrp="1"/>
          </p:cNvSpPr>
          <p:nvPr>
            <p:ph type="dt" sz="half" idx="10"/>
          </p:nvPr>
        </p:nvSpPr>
        <p:spPr/>
        <p:txBody>
          <a:bodyPr/>
          <a:lstStyle/>
          <a:p>
            <a:fld id="{7842DBCC-5AEB-46E2-A30E-E1E4A7D4EB51}" type="datetime1">
              <a:rPr lang="nl-NL" smtClean="0"/>
              <a:t>15-3-2026</a:t>
            </a:fld>
            <a:endParaRPr lang="nl-NL"/>
          </a:p>
        </p:txBody>
      </p:sp>
      <p:sp>
        <p:nvSpPr>
          <p:cNvPr id="5" name="Footer Placeholder 4">
            <a:extLst>
              <a:ext uri="{FF2B5EF4-FFF2-40B4-BE49-F238E27FC236}">
                <a16:creationId xmlns:a16="http://schemas.microsoft.com/office/drawing/2014/main" id="{08281815-5329-8650-F30B-0DF16EE260B1}"/>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C7C1BDD7-C048-0BF1-18EA-4C426585D5B3}"/>
              </a:ext>
            </a:extLst>
          </p:cNvPr>
          <p:cNvSpPr>
            <a:spLocks noGrp="1"/>
          </p:cNvSpPr>
          <p:nvPr>
            <p:ph type="sldNum" sz="quarter" idx="12"/>
          </p:nvPr>
        </p:nvSpPr>
        <p:spPr/>
        <p:txBody>
          <a:bodyPr/>
          <a:lstStyle/>
          <a:p>
            <a:fld id="{723B6F6A-0448-4EED-A121-7B4A352F61BD}" type="slidenum">
              <a:rPr lang="nl-NL" smtClean="0"/>
              <a:t>‹#›</a:t>
            </a:fld>
            <a:endParaRPr lang="nl-NL"/>
          </a:p>
        </p:txBody>
      </p:sp>
    </p:spTree>
    <p:extLst>
      <p:ext uri="{BB962C8B-B14F-4D97-AF65-F5344CB8AC3E}">
        <p14:creationId xmlns:p14="http://schemas.microsoft.com/office/powerpoint/2010/main" val="314095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1A4DF7-51CD-16E6-77C1-0AD9E79C4DD1}"/>
              </a:ext>
            </a:extLst>
          </p:cNvPr>
          <p:cNvSpPr>
            <a:spLocks noGrp="1"/>
          </p:cNvSpPr>
          <p:nvPr>
            <p:ph type="title"/>
          </p:nvPr>
        </p:nvSpPr>
        <p:spPr/>
        <p:txBody>
          <a:bodyPr/>
          <a:lstStyle/>
          <a:p>
            <a:r>
              <a:rPr lang="en-US"/>
              <a:t>Click to edit Master title style</a:t>
            </a:r>
            <a:endParaRPr lang="nl-NL"/>
          </a:p>
        </p:txBody>
      </p:sp>
      <p:sp>
        <p:nvSpPr>
          <p:cNvPr id="3" name="Content Placeholder 2">
            <a:extLst>
              <a:ext uri="{FF2B5EF4-FFF2-40B4-BE49-F238E27FC236}">
                <a16:creationId xmlns:a16="http://schemas.microsoft.com/office/drawing/2014/main" id="{F3FF034B-D47D-2C18-18CA-584C3BECD87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Content Placeholder 3">
            <a:extLst>
              <a:ext uri="{FF2B5EF4-FFF2-40B4-BE49-F238E27FC236}">
                <a16:creationId xmlns:a16="http://schemas.microsoft.com/office/drawing/2014/main" id="{608FA178-3EB6-78A4-6997-2321C864D878}"/>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Date Placeholder 4">
            <a:extLst>
              <a:ext uri="{FF2B5EF4-FFF2-40B4-BE49-F238E27FC236}">
                <a16:creationId xmlns:a16="http://schemas.microsoft.com/office/drawing/2014/main" id="{2FB0D2B2-5A4D-2CD7-F9C7-DDC582501691}"/>
              </a:ext>
            </a:extLst>
          </p:cNvPr>
          <p:cNvSpPr>
            <a:spLocks noGrp="1"/>
          </p:cNvSpPr>
          <p:nvPr>
            <p:ph type="dt" sz="half" idx="10"/>
          </p:nvPr>
        </p:nvSpPr>
        <p:spPr/>
        <p:txBody>
          <a:bodyPr/>
          <a:lstStyle/>
          <a:p>
            <a:fld id="{04B457EC-3820-4DD5-9711-EF077FDBACF0}" type="datetime1">
              <a:rPr lang="nl-NL" smtClean="0"/>
              <a:t>15-3-2026</a:t>
            </a:fld>
            <a:endParaRPr lang="nl-NL"/>
          </a:p>
        </p:txBody>
      </p:sp>
      <p:sp>
        <p:nvSpPr>
          <p:cNvPr id="6" name="Footer Placeholder 5">
            <a:extLst>
              <a:ext uri="{FF2B5EF4-FFF2-40B4-BE49-F238E27FC236}">
                <a16:creationId xmlns:a16="http://schemas.microsoft.com/office/drawing/2014/main" id="{D6D2A9D4-057D-23F5-30F3-AABD3302B301}"/>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694F9C31-5202-FAE7-2803-73FF53BD846C}"/>
              </a:ext>
            </a:extLst>
          </p:cNvPr>
          <p:cNvSpPr>
            <a:spLocks noGrp="1"/>
          </p:cNvSpPr>
          <p:nvPr>
            <p:ph type="sldNum" sz="quarter" idx="12"/>
          </p:nvPr>
        </p:nvSpPr>
        <p:spPr/>
        <p:txBody>
          <a:bodyPr/>
          <a:lstStyle/>
          <a:p>
            <a:fld id="{723B6F6A-0448-4EED-A121-7B4A352F61BD}" type="slidenum">
              <a:rPr lang="nl-NL" smtClean="0"/>
              <a:t>‹#›</a:t>
            </a:fld>
            <a:endParaRPr lang="nl-NL"/>
          </a:p>
        </p:txBody>
      </p:sp>
    </p:spTree>
    <p:extLst>
      <p:ext uri="{BB962C8B-B14F-4D97-AF65-F5344CB8AC3E}">
        <p14:creationId xmlns:p14="http://schemas.microsoft.com/office/powerpoint/2010/main" val="201018640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40FDC5A-509E-3C4C-69F4-3333F397B9B0}"/>
              </a:ext>
            </a:extLst>
          </p:cNvPr>
          <p:cNvSpPr>
            <a:spLocks noGrp="1"/>
          </p:cNvSpPr>
          <p:nvPr>
            <p:ph type="title"/>
          </p:nvPr>
        </p:nvSpPr>
        <p:spPr>
          <a:xfrm>
            <a:off x="839788" y="365125"/>
            <a:ext cx="10515600" cy="1325563"/>
          </a:xfrm>
        </p:spPr>
        <p:txBody>
          <a:bodyPr/>
          <a:lstStyle/>
          <a:p>
            <a:r>
              <a:rPr lang="en-US"/>
              <a:t>Click to edit Master title style</a:t>
            </a:r>
            <a:endParaRPr lang="nl-NL"/>
          </a:p>
        </p:txBody>
      </p:sp>
      <p:sp>
        <p:nvSpPr>
          <p:cNvPr id="3" name="Text Placeholder 2">
            <a:extLst>
              <a:ext uri="{FF2B5EF4-FFF2-40B4-BE49-F238E27FC236}">
                <a16:creationId xmlns:a16="http://schemas.microsoft.com/office/drawing/2014/main" id="{92CA17E6-D3F9-40BD-C0CF-0C8EAF342CD8}"/>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15D0D349-DC20-83D1-2EA3-B09214EFB58F}"/>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5" name="Text Placeholder 4">
            <a:extLst>
              <a:ext uri="{FF2B5EF4-FFF2-40B4-BE49-F238E27FC236}">
                <a16:creationId xmlns:a16="http://schemas.microsoft.com/office/drawing/2014/main" id="{6E5C6B9B-288C-8176-28EE-AEA11B48736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DD45A4C-414A-B4F3-1083-D2711B3A64F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7" name="Date Placeholder 6">
            <a:extLst>
              <a:ext uri="{FF2B5EF4-FFF2-40B4-BE49-F238E27FC236}">
                <a16:creationId xmlns:a16="http://schemas.microsoft.com/office/drawing/2014/main" id="{9CAA218B-7A31-08EB-864C-29F1038EFE6B}"/>
              </a:ext>
            </a:extLst>
          </p:cNvPr>
          <p:cNvSpPr>
            <a:spLocks noGrp="1"/>
          </p:cNvSpPr>
          <p:nvPr>
            <p:ph type="dt" sz="half" idx="10"/>
          </p:nvPr>
        </p:nvSpPr>
        <p:spPr/>
        <p:txBody>
          <a:bodyPr/>
          <a:lstStyle/>
          <a:p>
            <a:fld id="{B3995257-BBB1-4C4E-9F14-744D8B0096F7}" type="datetime1">
              <a:rPr lang="nl-NL" smtClean="0"/>
              <a:t>15-3-2026</a:t>
            </a:fld>
            <a:endParaRPr lang="nl-NL"/>
          </a:p>
        </p:txBody>
      </p:sp>
      <p:sp>
        <p:nvSpPr>
          <p:cNvPr id="8" name="Footer Placeholder 7">
            <a:extLst>
              <a:ext uri="{FF2B5EF4-FFF2-40B4-BE49-F238E27FC236}">
                <a16:creationId xmlns:a16="http://schemas.microsoft.com/office/drawing/2014/main" id="{9BD810CA-98B6-56EF-64B3-E94A4DD2B575}"/>
              </a:ext>
            </a:extLst>
          </p:cNvPr>
          <p:cNvSpPr>
            <a:spLocks noGrp="1"/>
          </p:cNvSpPr>
          <p:nvPr>
            <p:ph type="ftr" sz="quarter" idx="11"/>
          </p:nvPr>
        </p:nvSpPr>
        <p:spPr/>
        <p:txBody>
          <a:bodyPr/>
          <a:lstStyle/>
          <a:p>
            <a:endParaRPr lang="nl-NL"/>
          </a:p>
        </p:txBody>
      </p:sp>
      <p:sp>
        <p:nvSpPr>
          <p:cNvPr id="9" name="Slide Number Placeholder 8">
            <a:extLst>
              <a:ext uri="{FF2B5EF4-FFF2-40B4-BE49-F238E27FC236}">
                <a16:creationId xmlns:a16="http://schemas.microsoft.com/office/drawing/2014/main" id="{A8DAB596-B1AB-C2E1-EE58-330B68AEE2B3}"/>
              </a:ext>
            </a:extLst>
          </p:cNvPr>
          <p:cNvSpPr>
            <a:spLocks noGrp="1"/>
          </p:cNvSpPr>
          <p:nvPr>
            <p:ph type="sldNum" sz="quarter" idx="12"/>
          </p:nvPr>
        </p:nvSpPr>
        <p:spPr/>
        <p:txBody>
          <a:bodyPr/>
          <a:lstStyle/>
          <a:p>
            <a:fld id="{723B6F6A-0448-4EED-A121-7B4A352F61BD}" type="slidenum">
              <a:rPr lang="nl-NL" smtClean="0"/>
              <a:t>‹#›</a:t>
            </a:fld>
            <a:endParaRPr lang="nl-NL"/>
          </a:p>
        </p:txBody>
      </p:sp>
    </p:spTree>
    <p:extLst>
      <p:ext uri="{BB962C8B-B14F-4D97-AF65-F5344CB8AC3E}">
        <p14:creationId xmlns:p14="http://schemas.microsoft.com/office/powerpoint/2010/main" val="36544743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6472FB8-ECEF-5181-3257-4FB9E78058C9}"/>
              </a:ext>
            </a:extLst>
          </p:cNvPr>
          <p:cNvSpPr>
            <a:spLocks noGrp="1"/>
          </p:cNvSpPr>
          <p:nvPr>
            <p:ph type="title"/>
          </p:nvPr>
        </p:nvSpPr>
        <p:spPr/>
        <p:txBody>
          <a:bodyPr/>
          <a:lstStyle/>
          <a:p>
            <a:r>
              <a:rPr lang="en-US"/>
              <a:t>Click to edit Master title style</a:t>
            </a:r>
            <a:endParaRPr lang="nl-NL"/>
          </a:p>
        </p:txBody>
      </p:sp>
      <p:sp>
        <p:nvSpPr>
          <p:cNvPr id="3" name="Date Placeholder 2">
            <a:extLst>
              <a:ext uri="{FF2B5EF4-FFF2-40B4-BE49-F238E27FC236}">
                <a16:creationId xmlns:a16="http://schemas.microsoft.com/office/drawing/2014/main" id="{3637B889-D4F7-18B3-A2C5-46060B836006}"/>
              </a:ext>
            </a:extLst>
          </p:cNvPr>
          <p:cNvSpPr>
            <a:spLocks noGrp="1"/>
          </p:cNvSpPr>
          <p:nvPr>
            <p:ph type="dt" sz="half" idx="10"/>
          </p:nvPr>
        </p:nvSpPr>
        <p:spPr/>
        <p:txBody>
          <a:bodyPr/>
          <a:lstStyle/>
          <a:p>
            <a:fld id="{33DB4687-182F-491C-AF7A-91A1E5B6943C}" type="datetime1">
              <a:rPr lang="nl-NL" smtClean="0"/>
              <a:t>15-3-2026</a:t>
            </a:fld>
            <a:endParaRPr lang="nl-NL"/>
          </a:p>
        </p:txBody>
      </p:sp>
      <p:sp>
        <p:nvSpPr>
          <p:cNvPr id="4" name="Footer Placeholder 3">
            <a:extLst>
              <a:ext uri="{FF2B5EF4-FFF2-40B4-BE49-F238E27FC236}">
                <a16:creationId xmlns:a16="http://schemas.microsoft.com/office/drawing/2014/main" id="{99E22E12-5503-3477-7CB7-9C3432A61C0E}"/>
              </a:ext>
            </a:extLst>
          </p:cNvPr>
          <p:cNvSpPr>
            <a:spLocks noGrp="1"/>
          </p:cNvSpPr>
          <p:nvPr>
            <p:ph type="ftr" sz="quarter" idx="11"/>
          </p:nvPr>
        </p:nvSpPr>
        <p:spPr/>
        <p:txBody>
          <a:bodyPr/>
          <a:lstStyle/>
          <a:p>
            <a:endParaRPr lang="nl-NL"/>
          </a:p>
        </p:txBody>
      </p:sp>
      <p:sp>
        <p:nvSpPr>
          <p:cNvPr id="5" name="Slide Number Placeholder 4">
            <a:extLst>
              <a:ext uri="{FF2B5EF4-FFF2-40B4-BE49-F238E27FC236}">
                <a16:creationId xmlns:a16="http://schemas.microsoft.com/office/drawing/2014/main" id="{C5331E16-B94D-F116-2DAD-D744ED9C212C}"/>
              </a:ext>
            </a:extLst>
          </p:cNvPr>
          <p:cNvSpPr>
            <a:spLocks noGrp="1"/>
          </p:cNvSpPr>
          <p:nvPr>
            <p:ph type="sldNum" sz="quarter" idx="12"/>
          </p:nvPr>
        </p:nvSpPr>
        <p:spPr/>
        <p:txBody>
          <a:bodyPr/>
          <a:lstStyle/>
          <a:p>
            <a:fld id="{723B6F6A-0448-4EED-A121-7B4A352F61BD}" type="slidenum">
              <a:rPr lang="nl-NL" smtClean="0"/>
              <a:t>‹#›</a:t>
            </a:fld>
            <a:endParaRPr lang="nl-NL"/>
          </a:p>
        </p:txBody>
      </p:sp>
    </p:spTree>
    <p:extLst>
      <p:ext uri="{BB962C8B-B14F-4D97-AF65-F5344CB8AC3E}">
        <p14:creationId xmlns:p14="http://schemas.microsoft.com/office/powerpoint/2010/main" val="300838094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7C25AAC-9D86-7F61-0ACD-E2C000DADA92}"/>
              </a:ext>
            </a:extLst>
          </p:cNvPr>
          <p:cNvSpPr>
            <a:spLocks noGrp="1"/>
          </p:cNvSpPr>
          <p:nvPr>
            <p:ph type="dt" sz="half" idx="10"/>
          </p:nvPr>
        </p:nvSpPr>
        <p:spPr/>
        <p:txBody>
          <a:bodyPr/>
          <a:lstStyle/>
          <a:p>
            <a:fld id="{E4B5FA26-7E75-4130-9723-46164DF4BF1C}" type="datetime1">
              <a:rPr lang="nl-NL" smtClean="0"/>
              <a:t>15-3-2026</a:t>
            </a:fld>
            <a:endParaRPr lang="nl-NL"/>
          </a:p>
        </p:txBody>
      </p:sp>
      <p:sp>
        <p:nvSpPr>
          <p:cNvPr id="3" name="Footer Placeholder 2">
            <a:extLst>
              <a:ext uri="{FF2B5EF4-FFF2-40B4-BE49-F238E27FC236}">
                <a16:creationId xmlns:a16="http://schemas.microsoft.com/office/drawing/2014/main" id="{3A2FD551-1EEF-D8C6-42E9-D4F9B8BD2776}"/>
              </a:ext>
            </a:extLst>
          </p:cNvPr>
          <p:cNvSpPr>
            <a:spLocks noGrp="1"/>
          </p:cNvSpPr>
          <p:nvPr>
            <p:ph type="ftr" sz="quarter" idx="11"/>
          </p:nvPr>
        </p:nvSpPr>
        <p:spPr/>
        <p:txBody>
          <a:bodyPr/>
          <a:lstStyle/>
          <a:p>
            <a:endParaRPr lang="nl-NL"/>
          </a:p>
        </p:txBody>
      </p:sp>
      <p:sp>
        <p:nvSpPr>
          <p:cNvPr id="4" name="Slide Number Placeholder 3">
            <a:extLst>
              <a:ext uri="{FF2B5EF4-FFF2-40B4-BE49-F238E27FC236}">
                <a16:creationId xmlns:a16="http://schemas.microsoft.com/office/drawing/2014/main" id="{9D662C20-1294-9298-5F66-3ADF050C9CD9}"/>
              </a:ext>
            </a:extLst>
          </p:cNvPr>
          <p:cNvSpPr>
            <a:spLocks noGrp="1"/>
          </p:cNvSpPr>
          <p:nvPr>
            <p:ph type="sldNum" sz="quarter" idx="12"/>
          </p:nvPr>
        </p:nvSpPr>
        <p:spPr/>
        <p:txBody>
          <a:bodyPr/>
          <a:lstStyle/>
          <a:p>
            <a:fld id="{723B6F6A-0448-4EED-A121-7B4A352F61BD}" type="slidenum">
              <a:rPr lang="nl-NL" smtClean="0"/>
              <a:t>‹#›</a:t>
            </a:fld>
            <a:endParaRPr lang="nl-NL"/>
          </a:p>
        </p:txBody>
      </p:sp>
    </p:spTree>
    <p:extLst>
      <p:ext uri="{BB962C8B-B14F-4D97-AF65-F5344CB8AC3E}">
        <p14:creationId xmlns:p14="http://schemas.microsoft.com/office/powerpoint/2010/main" val="5947133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5E8D747-400B-4F47-6021-B292BDD6488B}"/>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Content Placeholder 2">
            <a:extLst>
              <a:ext uri="{FF2B5EF4-FFF2-40B4-BE49-F238E27FC236}">
                <a16:creationId xmlns:a16="http://schemas.microsoft.com/office/drawing/2014/main" id="{329D5ACC-42B5-BE16-60B1-ABAAF014DD9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Text Placeholder 3">
            <a:extLst>
              <a:ext uri="{FF2B5EF4-FFF2-40B4-BE49-F238E27FC236}">
                <a16:creationId xmlns:a16="http://schemas.microsoft.com/office/drawing/2014/main" id="{08744C54-93ED-216E-3975-EB48F290E1A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46F42FBC-83A9-12E4-E5C0-A82B5DE6784A}"/>
              </a:ext>
            </a:extLst>
          </p:cNvPr>
          <p:cNvSpPr>
            <a:spLocks noGrp="1"/>
          </p:cNvSpPr>
          <p:nvPr>
            <p:ph type="dt" sz="half" idx="10"/>
          </p:nvPr>
        </p:nvSpPr>
        <p:spPr/>
        <p:txBody>
          <a:bodyPr/>
          <a:lstStyle/>
          <a:p>
            <a:fld id="{19F085C9-5618-4D69-9DBF-6B76E3F69165}" type="datetime1">
              <a:rPr lang="nl-NL" smtClean="0"/>
              <a:t>15-3-2026</a:t>
            </a:fld>
            <a:endParaRPr lang="nl-NL"/>
          </a:p>
        </p:txBody>
      </p:sp>
      <p:sp>
        <p:nvSpPr>
          <p:cNvPr id="6" name="Footer Placeholder 5">
            <a:extLst>
              <a:ext uri="{FF2B5EF4-FFF2-40B4-BE49-F238E27FC236}">
                <a16:creationId xmlns:a16="http://schemas.microsoft.com/office/drawing/2014/main" id="{72AA9697-2BD1-0272-8A7A-32629E1BD27B}"/>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E3AF04A5-094E-D168-6B3E-27CD16BC3399}"/>
              </a:ext>
            </a:extLst>
          </p:cNvPr>
          <p:cNvSpPr>
            <a:spLocks noGrp="1"/>
          </p:cNvSpPr>
          <p:nvPr>
            <p:ph type="sldNum" sz="quarter" idx="12"/>
          </p:nvPr>
        </p:nvSpPr>
        <p:spPr/>
        <p:txBody>
          <a:bodyPr/>
          <a:lstStyle/>
          <a:p>
            <a:fld id="{723B6F6A-0448-4EED-A121-7B4A352F61BD}" type="slidenum">
              <a:rPr lang="nl-NL" smtClean="0"/>
              <a:t>‹#›</a:t>
            </a:fld>
            <a:endParaRPr lang="nl-NL"/>
          </a:p>
        </p:txBody>
      </p:sp>
    </p:spTree>
    <p:extLst>
      <p:ext uri="{BB962C8B-B14F-4D97-AF65-F5344CB8AC3E}">
        <p14:creationId xmlns:p14="http://schemas.microsoft.com/office/powerpoint/2010/main" val="82337108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B06F43A-C839-D00E-0757-F2F72382A880}"/>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nl-NL"/>
          </a:p>
        </p:txBody>
      </p:sp>
      <p:sp>
        <p:nvSpPr>
          <p:cNvPr id="3" name="Picture Placeholder 2">
            <a:extLst>
              <a:ext uri="{FF2B5EF4-FFF2-40B4-BE49-F238E27FC236}">
                <a16:creationId xmlns:a16="http://schemas.microsoft.com/office/drawing/2014/main" id="{28E27548-6E78-E0C5-B0ED-C1C430AB50E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nl-NL"/>
          </a:p>
        </p:txBody>
      </p:sp>
      <p:sp>
        <p:nvSpPr>
          <p:cNvPr id="4" name="Text Placeholder 3">
            <a:extLst>
              <a:ext uri="{FF2B5EF4-FFF2-40B4-BE49-F238E27FC236}">
                <a16:creationId xmlns:a16="http://schemas.microsoft.com/office/drawing/2014/main" id="{4253582C-5781-748C-6A7E-0BA5CF0D13F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131778-C266-FD37-6641-E8709444BD47}"/>
              </a:ext>
            </a:extLst>
          </p:cNvPr>
          <p:cNvSpPr>
            <a:spLocks noGrp="1"/>
          </p:cNvSpPr>
          <p:nvPr>
            <p:ph type="dt" sz="half" idx="10"/>
          </p:nvPr>
        </p:nvSpPr>
        <p:spPr/>
        <p:txBody>
          <a:bodyPr/>
          <a:lstStyle/>
          <a:p>
            <a:fld id="{BDA51669-156C-49F9-8D79-E4190B86A811}" type="datetime1">
              <a:rPr lang="nl-NL" smtClean="0"/>
              <a:t>15-3-2026</a:t>
            </a:fld>
            <a:endParaRPr lang="nl-NL"/>
          </a:p>
        </p:txBody>
      </p:sp>
      <p:sp>
        <p:nvSpPr>
          <p:cNvPr id="6" name="Footer Placeholder 5">
            <a:extLst>
              <a:ext uri="{FF2B5EF4-FFF2-40B4-BE49-F238E27FC236}">
                <a16:creationId xmlns:a16="http://schemas.microsoft.com/office/drawing/2014/main" id="{6BC26EB7-0A5A-2663-C64A-BF74052FC349}"/>
              </a:ext>
            </a:extLst>
          </p:cNvPr>
          <p:cNvSpPr>
            <a:spLocks noGrp="1"/>
          </p:cNvSpPr>
          <p:nvPr>
            <p:ph type="ftr" sz="quarter" idx="11"/>
          </p:nvPr>
        </p:nvSpPr>
        <p:spPr/>
        <p:txBody>
          <a:bodyPr/>
          <a:lstStyle/>
          <a:p>
            <a:endParaRPr lang="nl-NL"/>
          </a:p>
        </p:txBody>
      </p:sp>
      <p:sp>
        <p:nvSpPr>
          <p:cNvPr id="7" name="Slide Number Placeholder 6">
            <a:extLst>
              <a:ext uri="{FF2B5EF4-FFF2-40B4-BE49-F238E27FC236}">
                <a16:creationId xmlns:a16="http://schemas.microsoft.com/office/drawing/2014/main" id="{32BF1A26-74A3-8DFB-858E-DC22A3EACAEC}"/>
              </a:ext>
            </a:extLst>
          </p:cNvPr>
          <p:cNvSpPr>
            <a:spLocks noGrp="1"/>
          </p:cNvSpPr>
          <p:nvPr>
            <p:ph type="sldNum" sz="quarter" idx="12"/>
          </p:nvPr>
        </p:nvSpPr>
        <p:spPr/>
        <p:txBody>
          <a:bodyPr/>
          <a:lstStyle/>
          <a:p>
            <a:fld id="{723B6F6A-0448-4EED-A121-7B4A352F61BD}" type="slidenum">
              <a:rPr lang="nl-NL" smtClean="0"/>
              <a:t>‹#›</a:t>
            </a:fld>
            <a:endParaRPr lang="nl-NL"/>
          </a:p>
        </p:txBody>
      </p:sp>
    </p:spTree>
    <p:extLst>
      <p:ext uri="{BB962C8B-B14F-4D97-AF65-F5344CB8AC3E}">
        <p14:creationId xmlns:p14="http://schemas.microsoft.com/office/powerpoint/2010/main" val="8240763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ABB7C3-19DB-3275-E61F-40B4C076EFB6}"/>
              </a:ext>
            </a:extLst>
          </p:cNvPr>
          <p:cNvSpPr>
            <a:spLocks noGrp="1"/>
          </p:cNvSpPr>
          <p:nvPr>
            <p:ph type="title"/>
          </p:nvPr>
        </p:nvSpPr>
        <p:spPr/>
        <p:txBody>
          <a:bodyPr/>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28863A81-FCD9-A6B8-CB97-C29824F7A6B7}"/>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FE17BF63-A44C-8DBD-1B93-844D5D52BCAF}"/>
              </a:ext>
            </a:extLst>
          </p:cNvPr>
          <p:cNvSpPr>
            <a:spLocks noGrp="1"/>
          </p:cNvSpPr>
          <p:nvPr>
            <p:ph type="dt" sz="half" idx="10"/>
          </p:nvPr>
        </p:nvSpPr>
        <p:spPr/>
        <p:txBody>
          <a:bodyPr/>
          <a:lstStyle/>
          <a:p>
            <a:fld id="{1E43242E-B6E8-4112-93C4-C3C7D0E7D49B}" type="datetime1">
              <a:rPr lang="nl-NL" smtClean="0"/>
              <a:t>15-3-2026</a:t>
            </a:fld>
            <a:endParaRPr lang="nl-NL"/>
          </a:p>
        </p:txBody>
      </p:sp>
      <p:sp>
        <p:nvSpPr>
          <p:cNvPr id="5" name="Footer Placeholder 4">
            <a:extLst>
              <a:ext uri="{FF2B5EF4-FFF2-40B4-BE49-F238E27FC236}">
                <a16:creationId xmlns:a16="http://schemas.microsoft.com/office/drawing/2014/main" id="{1719ABA6-ED0F-DC08-83FA-F824A846EA38}"/>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3336C4E1-51E5-8032-6EA4-136E428A49DE}"/>
              </a:ext>
            </a:extLst>
          </p:cNvPr>
          <p:cNvSpPr>
            <a:spLocks noGrp="1"/>
          </p:cNvSpPr>
          <p:nvPr>
            <p:ph type="sldNum" sz="quarter" idx="12"/>
          </p:nvPr>
        </p:nvSpPr>
        <p:spPr/>
        <p:txBody>
          <a:bodyPr/>
          <a:lstStyle/>
          <a:p>
            <a:fld id="{723B6F6A-0448-4EED-A121-7B4A352F61BD}" type="slidenum">
              <a:rPr lang="nl-NL" smtClean="0"/>
              <a:t>‹#›</a:t>
            </a:fld>
            <a:endParaRPr lang="nl-NL"/>
          </a:p>
        </p:txBody>
      </p:sp>
    </p:spTree>
    <p:extLst>
      <p:ext uri="{BB962C8B-B14F-4D97-AF65-F5344CB8AC3E}">
        <p14:creationId xmlns:p14="http://schemas.microsoft.com/office/powerpoint/2010/main" val="339991386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3F7B03F-71EB-6FF4-9AAC-8137F74DB171}"/>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nl-NL"/>
          </a:p>
        </p:txBody>
      </p:sp>
      <p:sp>
        <p:nvSpPr>
          <p:cNvPr id="3" name="Vertical Text Placeholder 2">
            <a:extLst>
              <a:ext uri="{FF2B5EF4-FFF2-40B4-BE49-F238E27FC236}">
                <a16:creationId xmlns:a16="http://schemas.microsoft.com/office/drawing/2014/main" id="{F182282D-B6A8-83FC-71CB-A7A99B8FB97C}"/>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nl-NL"/>
          </a:p>
        </p:txBody>
      </p:sp>
      <p:sp>
        <p:nvSpPr>
          <p:cNvPr id="4" name="Date Placeholder 3">
            <a:extLst>
              <a:ext uri="{FF2B5EF4-FFF2-40B4-BE49-F238E27FC236}">
                <a16:creationId xmlns:a16="http://schemas.microsoft.com/office/drawing/2014/main" id="{3A44FD3D-E115-9A51-42B5-9AAE7711FA17}"/>
              </a:ext>
            </a:extLst>
          </p:cNvPr>
          <p:cNvSpPr>
            <a:spLocks noGrp="1"/>
          </p:cNvSpPr>
          <p:nvPr>
            <p:ph type="dt" sz="half" idx="10"/>
          </p:nvPr>
        </p:nvSpPr>
        <p:spPr/>
        <p:txBody>
          <a:bodyPr/>
          <a:lstStyle/>
          <a:p>
            <a:fld id="{F770A658-25C0-4932-AE81-730CBD9F87E2}" type="datetime1">
              <a:rPr lang="nl-NL" smtClean="0"/>
              <a:t>15-3-2026</a:t>
            </a:fld>
            <a:endParaRPr lang="nl-NL"/>
          </a:p>
        </p:txBody>
      </p:sp>
      <p:sp>
        <p:nvSpPr>
          <p:cNvPr id="5" name="Footer Placeholder 4">
            <a:extLst>
              <a:ext uri="{FF2B5EF4-FFF2-40B4-BE49-F238E27FC236}">
                <a16:creationId xmlns:a16="http://schemas.microsoft.com/office/drawing/2014/main" id="{285E029D-A8ED-D0A3-E0C7-6AD3F3E1521D}"/>
              </a:ext>
            </a:extLst>
          </p:cNvPr>
          <p:cNvSpPr>
            <a:spLocks noGrp="1"/>
          </p:cNvSpPr>
          <p:nvPr>
            <p:ph type="ftr" sz="quarter" idx="11"/>
          </p:nvPr>
        </p:nvSpPr>
        <p:spPr/>
        <p:txBody>
          <a:bodyPr/>
          <a:lstStyle/>
          <a:p>
            <a:endParaRPr lang="nl-NL"/>
          </a:p>
        </p:txBody>
      </p:sp>
      <p:sp>
        <p:nvSpPr>
          <p:cNvPr id="6" name="Slide Number Placeholder 5">
            <a:extLst>
              <a:ext uri="{FF2B5EF4-FFF2-40B4-BE49-F238E27FC236}">
                <a16:creationId xmlns:a16="http://schemas.microsoft.com/office/drawing/2014/main" id="{4CAF61DF-E00E-8CB2-C275-EF2ABCDA95C1}"/>
              </a:ext>
            </a:extLst>
          </p:cNvPr>
          <p:cNvSpPr>
            <a:spLocks noGrp="1"/>
          </p:cNvSpPr>
          <p:nvPr>
            <p:ph type="sldNum" sz="quarter" idx="12"/>
          </p:nvPr>
        </p:nvSpPr>
        <p:spPr/>
        <p:txBody>
          <a:bodyPr/>
          <a:lstStyle/>
          <a:p>
            <a:fld id="{723B6F6A-0448-4EED-A121-7B4A352F61BD}" type="slidenum">
              <a:rPr lang="nl-NL" smtClean="0"/>
              <a:t>‹#›</a:t>
            </a:fld>
            <a:endParaRPr lang="nl-NL"/>
          </a:p>
        </p:txBody>
      </p:sp>
    </p:spTree>
    <p:extLst>
      <p:ext uri="{BB962C8B-B14F-4D97-AF65-F5344CB8AC3E}">
        <p14:creationId xmlns:p14="http://schemas.microsoft.com/office/powerpoint/2010/main" val="97215734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BB89729-874D-6F0D-4AA2-77443C5FDBA4}"/>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nl-NL"/>
          </a:p>
        </p:txBody>
      </p:sp>
      <p:sp>
        <p:nvSpPr>
          <p:cNvPr id="3" name="Text Placeholder 2">
            <a:extLst>
              <a:ext uri="{FF2B5EF4-FFF2-40B4-BE49-F238E27FC236}">
                <a16:creationId xmlns:a16="http://schemas.microsoft.com/office/drawing/2014/main" id="{59CD22FC-8C75-8F07-08B6-29F3EE2768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nl-NL" dirty="0"/>
          </a:p>
        </p:txBody>
      </p:sp>
      <p:sp>
        <p:nvSpPr>
          <p:cNvPr id="4" name="Date Placeholder 3">
            <a:extLst>
              <a:ext uri="{FF2B5EF4-FFF2-40B4-BE49-F238E27FC236}">
                <a16:creationId xmlns:a16="http://schemas.microsoft.com/office/drawing/2014/main" id="{BB7965AE-F166-5995-21E7-5E29C2AA8FD7}"/>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latin typeface="Arial" panose="020B0604020202020204" pitchFamily="34" charset="0"/>
              </a:defRPr>
            </a:lvl1pPr>
          </a:lstStyle>
          <a:p>
            <a:fld id="{5576C5DF-0C87-40AD-9161-BCCB20ABC435}" type="datetime1">
              <a:rPr lang="nl-NL" smtClean="0"/>
              <a:pPr/>
              <a:t>15-3-2026</a:t>
            </a:fld>
            <a:endParaRPr lang="nl-NL" dirty="0"/>
          </a:p>
        </p:txBody>
      </p:sp>
      <p:sp>
        <p:nvSpPr>
          <p:cNvPr id="5" name="Footer Placeholder 4">
            <a:extLst>
              <a:ext uri="{FF2B5EF4-FFF2-40B4-BE49-F238E27FC236}">
                <a16:creationId xmlns:a16="http://schemas.microsoft.com/office/drawing/2014/main" id="{5B9B08FA-0989-30E9-CCAC-E826AFE1CF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latin typeface="Arial" panose="020B0604020202020204" pitchFamily="34" charset="0"/>
              </a:defRPr>
            </a:lvl1pPr>
          </a:lstStyle>
          <a:p>
            <a:endParaRPr lang="nl-NL" dirty="0"/>
          </a:p>
        </p:txBody>
      </p:sp>
      <p:sp>
        <p:nvSpPr>
          <p:cNvPr id="6" name="Slide Number Placeholder 5">
            <a:extLst>
              <a:ext uri="{FF2B5EF4-FFF2-40B4-BE49-F238E27FC236}">
                <a16:creationId xmlns:a16="http://schemas.microsoft.com/office/drawing/2014/main" id="{94962BB8-B861-FAFF-FA84-FADE132E16F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latin typeface="Arial" panose="020B0604020202020204" pitchFamily="34" charset="0"/>
              </a:defRPr>
            </a:lvl1pPr>
          </a:lstStyle>
          <a:p>
            <a:fld id="{723B6F6A-0448-4EED-A121-7B4A352F61BD}" type="slidenum">
              <a:rPr lang="nl-NL" smtClean="0"/>
              <a:pPr/>
              <a:t>‹#›</a:t>
            </a:fld>
            <a:endParaRPr lang="nl-NL" dirty="0"/>
          </a:p>
        </p:txBody>
      </p:sp>
    </p:spTree>
    <p:extLst>
      <p:ext uri="{BB962C8B-B14F-4D97-AF65-F5344CB8AC3E}">
        <p14:creationId xmlns:p14="http://schemas.microsoft.com/office/powerpoint/2010/main" val="188600163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Arial" panose="020B0604020202020204" pitchFamily="34"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Arial" panose="020B0604020202020204" pitchFamily="34"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Arial" panose="020B0604020202020204" pitchFamily="34"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Arial" panose="020B0604020202020204" pitchFamily="34"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nl-NL"/>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45A91FA-1313-11E2-018E-4967B62B4252}"/>
              </a:ext>
            </a:extLst>
          </p:cNvPr>
          <p:cNvSpPr>
            <a:spLocks noGrp="1"/>
          </p:cNvSpPr>
          <p:nvPr>
            <p:ph type="ctrTitle"/>
          </p:nvPr>
        </p:nvSpPr>
        <p:spPr/>
        <p:txBody>
          <a:bodyPr/>
          <a:lstStyle/>
          <a:p>
            <a:r>
              <a:rPr lang="en-US" noProof="0" dirty="0"/>
              <a:t>Introduction to Python</a:t>
            </a:r>
          </a:p>
        </p:txBody>
      </p:sp>
      <p:sp>
        <p:nvSpPr>
          <p:cNvPr id="3" name="Subtitle 2">
            <a:extLst>
              <a:ext uri="{FF2B5EF4-FFF2-40B4-BE49-F238E27FC236}">
                <a16:creationId xmlns:a16="http://schemas.microsoft.com/office/drawing/2014/main" id="{DA42C341-99CC-9EA7-476B-19DF18973CE4}"/>
              </a:ext>
            </a:extLst>
          </p:cNvPr>
          <p:cNvSpPr>
            <a:spLocks noGrp="1"/>
          </p:cNvSpPr>
          <p:nvPr>
            <p:ph type="subTitle" idx="1"/>
          </p:nvPr>
        </p:nvSpPr>
        <p:spPr/>
        <p:txBody>
          <a:bodyPr/>
          <a:lstStyle/>
          <a:p>
            <a:r>
              <a:rPr lang="en-US" noProof="0" dirty="0"/>
              <a:t>Week 6</a:t>
            </a:r>
          </a:p>
        </p:txBody>
      </p:sp>
      <p:sp>
        <p:nvSpPr>
          <p:cNvPr id="4" name="Slide Number Placeholder 3">
            <a:extLst>
              <a:ext uri="{FF2B5EF4-FFF2-40B4-BE49-F238E27FC236}">
                <a16:creationId xmlns:a16="http://schemas.microsoft.com/office/drawing/2014/main" id="{426F8255-6433-1D99-1C18-B36D03B6510D}"/>
              </a:ext>
            </a:extLst>
          </p:cNvPr>
          <p:cNvSpPr>
            <a:spLocks noGrp="1"/>
          </p:cNvSpPr>
          <p:nvPr>
            <p:ph type="sldNum" sz="quarter" idx="12"/>
          </p:nvPr>
        </p:nvSpPr>
        <p:spPr/>
        <p:txBody>
          <a:bodyPr/>
          <a:lstStyle/>
          <a:p>
            <a:fld id="{723B6F6A-0448-4EED-A121-7B4A352F61BD}" type="slidenum">
              <a:rPr lang="nl-NL" smtClean="0"/>
              <a:t>1</a:t>
            </a:fld>
            <a:endParaRPr lang="nl-NL"/>
          </a:p>
        </p:txBody>
      </p:sp>
    </p:spTree>
    <p:extLst>
      <p:ext uri="{BB962C8B-B14F-4D97-AF65-F5344CB8AC3E}">
        <p14:creationId xmlns:p14="http://schemas.microsoft.com/office/powerpoint/2010/main" val="144083189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0BF0C05-52E9-7D23-346A-A97A48FE4291}"/>
              </a:ext>
            </a:extLst>
          </p:cNvPr>
          <p:cNvSpPr>
            <a:spLocks noGrp="1"/>
          </p:cNvSpPr>
          <p:nvPr>
            <p:ph type="title"/>
          </p:nvPr>
        </p:nvSpPr>
        <p:spPr/>
        <p:txBody>
          <a:bodyPr/>
          <a:lstStyle/>
          <a:p>
            <a:r>
              <a:rPr lang="en-US" dirty="0"/>
              <a:t>Add walrus in comprehension to avoid costly duplicate calculations</a:t>
            </a:r>
          </a:p>
        </p:txBody>
      </p:sp>
      <p:sp>
        <p:nvSpPr>
          <p:cNvPr id="4" name="Slide Number Placeholder 3">
            <a:extLst>
              <a:ext uri="{FF2B5EF4-FFF2-40B4-BE49-F238E27FC236}">
                <a16:creationId xmlns:a16="http://schemas.microsoft.com/office/drawing/2014/main" id="{79AF3F3D-435D-EDDC-9FFB-637A4FC26267}"/>
              </a:ext>
            </a:extLst>
          </p:cNvPr>
          <p:cNvSpPr>
            <a:spLocks noGrp="1"/>
          </p:cNvSpPr>
          <p:nvPr>
            <p:ph type="sldNum" sz="quarter" idx="12"/>
          </p:nvPr>
        </p:nvSpPr>
        <p:spPr/>
        <p:txBody>
          <a:bodyPr/>
          <a:lstStyle/>
          <a:p>
            <a:fld id="{723B6F6A-0448-4EED-A121-7B4A352F61BD}" type="slidenum">
              <a:rPr lang="nl-NL" smtClean="0"/>
              <a:t>2</a:t>
            </a:fld>
            <a:endParaRPr lang="nl-NL"/>
          </a:p>
        </p:txBody>
      </p:sp>
      <p:sp>
        <p:nvSpPr>
          <p:cNvPr id="8" name="Content Placeholder 7">
            <a:extLst>
              <a:ext uri="{FF2B5EF4-FFF2-40B4-BE49-F238E27FC236}">
                <a16:creationId xmlns:a16="http://schemas.microsoft.com/office/drawing/2014/main" id="{C3CC59C6-90C2-4410-6FE6-6C1AFA434DCD}"/>
              </a:ext>
            </a:extLst>
          </p:cNvPr>
          <p:cNvSpPr>
            <a:spLocks noGrp="1"/>
          </p:cNvSpPr>
          <p:nvPr>
            <p:ph idx="1"/>
          </p:nvPr>
        </p:nvSpPr>
        <p:spPr/>
        <p:txBody>
          <a:bodyPr/>
          <a:lstStyle/>
          <a:p>
            <a:r>
              <a:rPr lang="en-US" dirty="0"/>
              <a:t>[(</a:t>
            </a:r>
            <a:r>
              <a:rPr lang="en-US" dirty="0" err="1"/>
              <a:t>x,r</a:t>
            </a:r>
            <a:r>
              <a:rPr lang="en-US" dirty="0"/>
              <a:t>) for x in range(1,10) if 20&gt;(r := x**2) &gt;10]</a:t>
            </a:r>
          </a:p>
        </p:txBody>
      </p:sp>
    </p:spTree>
    <p:extLst>
      <p:ext uri="{BB962C8B-B14F-4D97-AF65-F5344CB8AC3E}">
        <p14:creationId xmlns:p14="http://schemas.microsoft.com/office/powerpoint/2010/main" val="38713437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FC263-11F5-033B-4830-357794866397}"/>
              </a:ext>
            </a:extLst>
          </p:cNvPr>
          <p:cNvSpPr>
            <a:spLocks noGrp="1"/>
          </p:cNvSpPr>
          <p:nvPr>
            <p:ph type="title"/>
          </p:nvPr>
        </p:nvSpPr>
        <p:spPr>
          <a:xfrm>
            <a:off x="269724" y="328841"/>
            <a:ext cx="10515600" cy="744484"/>
          </a:xfrm>
        </p:spPr>
        <p:txBody>
          <a:bodyPr/>
          <a:lstStyle/>
          <a:p>
            <a:r>
              <a:rPr lang="en-US" sz="4400" noProof="0" dirty="0">
                <a:cs typeface="Arial" panose="020B0604020202020204" pitchFamily="34" charset="0"/>
              </a:rPr>
              <a:t>Program for This Week</a:t>
            </a:r>
            <a:endParaRPr lang="en-US" noProof="0" dirty="0"/>
          </a:p>
        </p:txBody>
      </p:sp>
      <p:sp>
        <p:nvSpPr>
          <p:cNvPr id="3" name="Content Placeholder 2">
            <a:extLst>
              <a:ext uri="{FF2B5EF4-FFF2-40B4-BE49-F238E27FC236}">
                <a16:creationId xmlns:a16="http://schemas.microsoft.com/office/drawing/2014/main" id="{CB91C5D6-DFDE-636A-A87A-7035C641F4C7}"/>
              </a:ext>
            </a:extLst>
          </p:cNvPr>
          <p:cNvSpPr>
            <a:spLocks noGrp="1"/>
          </p:cNvSpPr>
          <p:nvPr>
            <p:ph idx="1"/>
          </p:nvPr>
        </p:nvSpPr>
        <p:spPr>
          <a:xfrm>
            <a:off x="269724" y="1146298"/>
            <a:ext cx="10515600" cy="5137079"/>
          </a:xfrm>
        </p:spPr>
        <p:txBody>
          <a:bodyPr>
            <a:noAutofit/>
          </a:bodyPr>
          <a:lstStyle/>
          <a:p>
            <a:pPr marL="342900" indent="-342900">
              <a:buFont typeface="+mj-lt"/>
              <a:buAutoNum type="arabicPeriod"/>
            </a:pPr>
            <a:r>
              <a:rPr lang="en-US" sz="2400" dirty="0">
                <a:effectLst/>
                <a:latin typeface="+mn-lt"/>
              </a:rPr>
              <a:t>Comprehensions</a:t>
            </a:r>
          </a:p>
          <a:p>
            <a:pPr marL="342900" indent="-342900">
              <a:buFont typeface="+mj-lt"/>
              <a:buAutoNum type="arabicPeriod"/>
            </a:pPr>
            <a:r>
              <a:rPr lang="en-US" sz="2400" dirty="0">
                <a:effectLst/>
                <a:latin typeface="+mn-lt"/>
              </a:rPr>
              <a:t>Generators</a:t>
            </a:r>
          </a:p>
          <a:p>
            <a:pPr marL="342900" indent="-342900">
              <a:buFont typeface="+mj-lt"/>
              <a:buAutoNum type="arabicPeriod"/>
            </a:pPr>
            <a:r>
              <a:rPr lang="en-US" sz="2400" dirty="0">
                <a:latin typeface="+mn-lt"/>
              </a:rPr>
              <a:t>Handling dates and times with the datetime module</a:t>
            </a:r>
          </a:p>
          <a:p>
            <a:pPr marL="342900" indent="-342900">
              <a:buFont typeface="+mj-lt"/>
              <a:buAutoNum type="arabicPeriod"/>
            </a:pPr>
            <a:r>
              <a:rPr lang="en-US" sz="2400" noProof="0" dirty="0">
                <a:latin typeface="+mn-lt"/>
              </a:rPr>
              <a:t>On Friday we finish the slides if needed and if we have time left, we can do some questions of the trial exam</a:t>
            </a:r>
          </a:p>
        </p:txBody>
      </p:sp>
      <p:sp>
        <p:nvSpPr>
          <p:cNvPr id="4" name="Slide Number Placeholder 3">
            <a:extLst>
              <a:ext uri="{FF2B5EF4-FFF2-40B4-BE49-F238E27FC236}">
                <a16:creationId xmlns:a16="http://schemas.microsoft.com/office/drawing/2014/main" id="{2BC8E9A7-2231-4348-942B-5381D1F6ED38}"/>
              </a:ext>
            </a:extLst>
          </p:cNvPr>
          <p:cNvSpPr>
            <a:spLocks noGrp="1"/>
          </p:cNvSpPr>
          <p:nvPr>
            <p:ph type="sldNum" sz="quarter" idx="12"/>
          </p:nvPr>
        </p:nvSpPr>
        <p:spPr/>
        <p:txBody>
          <a:bodyPr/>
          <a:lstStyle/>
          <a:p>
            <a:fld id="{723B6F6A-0448-4EED-A121-7B4A352F61BD}" type="slidenum">
              <a:rPr lang="nl-NL" smtClean="0"/>
              <a:t>3</a:t>
            </a:fld>
            <a:endParaRPr lang="nl-NL"/>
          </a:p>
        </p:txBody>
      </p:sp>
    </p:spTree>
    <p:extLst>
      <p:ext uri="{BB962C8B-B14F-4D97-AF65-F5344CB8AC3E}">
        <p14:creationId xmlns:p14="http://schemas.microsoft.com/office/powerpoint/2010/main" val="372159545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FC263-11F5-033B-4830-357794866397}"/>
              </a:ext>
            </a:extLst>
          </p:cNvPr>
          <p:cNvSpPr>
            <a:spLocks noGrp="1"/>
          </p:cNvSpPr>
          <p:nvPr>
            <p:ph type="title"/>
          </p:nvPr>
        </p:nvSpPr>
        <p:spPr>
          <a:xfrm>
            <a:off x="269724" y="328841"/>
            <a:ext cx="10515600" cy="744484"/>
          </a:xfrm>
        </p:spPr>
        <p:txBody>
          <a:bodyPr/>
          <a:lstStyle/>
          <a:p>
            <a:r>
              <a:rPr lang="en-US" dirty="0"/>
              <a:t>Comprehensions</a:t>
            </a:r>
            <a:endParaRPr lang="en-US" noProof="0" dirty="0"/>
          </a:p>
        </p:txBody>
      </p:sp>
      <p:sp>
        <p:nvSpPr>
          <p:cNvPr id="3" name="Content Placeholder 2">
            <a:extLst>
              <a:ext uri="{FF2B5EF4-FFF2-40B4-BE49-F238E27FC236}">
                <a16:creationId xmlns:a16="http://schemas.microsoft.com/office/drawing/2014/main" id="{CB91C5D6-DFDE-636A-A87A-7035C641F4C7}"/>
              </a:ext>
            </a:extLst>
          </p:cNvPr>
          <p:cNvSpPr>
            <a:spLocks noGrp="1"/>
          </p:cNvSpPr>
          <p:nvPr>
            <p:ph idx="1"/>
          </p:nvPr>
        </p:nvSpPr>
        <p:spPr>
          <a:xfrm>
            <a:off x="269724" y="1146298"/>
            <a:ext cx="10515600" cy="5137079"/>
          </a:xfrm>
        </p:spPr>
        <p:txBody>
          <a:bodyPr>
            <a:noAutofit/>
          </a:bodyPr>
          <a:lstStyle/>
          <a:p>
            <a:r>
              <a:rPr lang="en-US" sz="2400" i="1" dirty="0">
                <a:latin typeface="+mn-lt"/>
                <a:cs typeface="Arial" panose="020B0604020202020204" pitchFamily="34" charset="0"/>
              </a:rPr>
              <a:t>Comprehensions</a:t>
            </a:r>
            <a:r>
              <a:rPr lang="en-US" sz="2400" dirty="0">
                <a:latin typeface="+mn-lt"/>
                <a:cs typeface="Arial" panose="020B0604020202020204" pitchFamily="34" charset="0"/>
              </a:rPr>
              <a:t> are just a very concise way to write a for loop</a:t>
            </a:r>
          </a:p>
          <a:p>
            <a:r>
              <a:rPr lang="en-US" sz="2400" dirty="0">
                <a:latin typeface="+mn-lt"/>
                <a:cs typeface="Arial" panose="020B0604020202020204" pitchFamily="34" charset="0"/>
              </a:rPr>
              <a:t>You don't learn new logic here, but you learn a new way to write your loops</a:t>
            </a:r>
          </a:p>
          <a:p>
            <a:r>
              <a:rPr lang="en-US" sz="2400" dirty="0">
                <a:latin typeface="+mn-lt"/>
                <a:cs typeface="Arial" panose="020B0604020202020204" pitchFamily="34" charset="0"/>
              </a:rPr>
              <a:t>Everything you can do with a comprehension you can do with a loop</a:t>
            </a:r>
          </a:p>
          <a:p>
            <a:r>
              <a:rPr lang="en-US" sz="2400" dirty="0">
                <a:latin typeface="+mn-lt"/>
                <a:cs typeface="Arial" panose="020B0604020202020204" pitchFamily="34" charset="0"/>
              </a:rPr>
              <a:t>I also will show two examples of a loop and a comprehension doing the same, and use colors,  so you can see you are passing Python the same information</a:t>
            </a:r>
          </a:p>
        </p:txBody>
      </p:sp>
      <p:sp>
        <p:nvSpPr>
          <p:cNvPr id="4" name="Slide Number Placeholder 3">
            <a:extLst>
              <a:ext uri="{FF2B5EF4-FFF2-40B4-BE49-F238E27FC236}">
                <a16:creationId xmlns:a16="http://schemas.microsoft.com/office/drawing/2014/main" id="{2BC8E9A7-2231-4348-942B-5381D1F6ED38}"/>
              </a:ext>
            </a:extLst>
          </p:cNvPr>
          <p:cNvSpPr>
            <a:spLocks noGrp="1"/>
          </p:cNvSpPr>
          <p:nvPr>
            <p:ph type="sldNum" sz="quarter" idx="12"/>
          </p:nvPr>
        </p:nvSpPr>
        <p:spPr/>
        <p:txBody>
          <a:bodyPr/>
          <a:lstStyle/>
          <a:p>
            <a:fld id="{723B6F6A-0448-4EED-A121-7B4A352F61BD}" type="slidenum">
              <a:rPr lang="nl-NL" smtClean="0"/>
              <a:t>4</a:t>
            </a:fld>
            <a:endParaRPr lang="nl-NL"/>
          </a:p>
        </p:txBody>
      </p:sp>
    </p:spTree>
    <p:extLst>
      <p:ext uri="{BB962C8B-B14F-4D97-AF65-F5344CB8AC3E}">
        <p14:creationId xmlns:p14="http://schemas.microsoft.com/office/powerpoint/2010/main" val="180926438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FC263-11F5-033B-4830-357794866397}"/>
              </a:ext>
            </a:extLst>
          </p:cNvPr>
          <p:cNvSpPr>
            <a:spLocks noGrp="1"/>
          </p:cNvSpPr>
          <p:nvPr>
            <p:ph type="title"/>
          </p:nvPr>
        </p:nvSpPr>
        <p:spPr>
          <a:xfrm>
            <a:off x="269724" y="328841"/>
            <a:ext cx="10515600" cy="744484"/>
          </a:xfrm>
        </p:spPr>
        <p:txBody>
          <a:bodyPr/>
          <a:lstStyle/>
          <a:p>
            <a:r>
              <a:rPr lang="en-US" dirty="0"/>
              <a:t>List comprehensions</a:t>
            </a:r>
            <a:endParaRPr lang="en-US" noProof="0" dirty="0"/>
          </a:p>
        </p:txBody>
      </p:sp>
      <p:sp>
        <p:nvSpPr>
          <p:cNvPr id="3" name="Content Placeholder 2">
            <a:extLst>
              <a:ext uri="{FF2B5EF4-FFF2-40B4-BE49-F238E27FC236}">
                <a16:creationId xmlns:a16="http://schemas.microsoft.com/office/drawing/2014/main" id="{CB91C5D6-DFDE-636A-A87A-7035C641F4C7}"/>
              </a:ext>
            </a:extLst>
          </p:cNvPr>
          <p:cNvSpPr>
            <a:spLocks noGrp="1"/>
          </p:cNvSpPr>
          <p:nvPr>
            <p:ph idx="1"/>
          </p:nvPr>
        </p:nvSpPr>
        <p:spPr>
          <a:xfrm>
            <a:off x="269724" y="1146298"/>
            <a:ext cx="10515600" cy="5137079"/>
          </a:xfrm>
        </p:spPr>
        <p:txBody>
          <a:bodyPr>
            <a:noAutofit/>
          </a:bodyPr>
          <a:lstStyle/>
          <a:p>
            <a:r>
              <a:rPr lang="en-US" sz="2400" dirty="0">
                <a:latin typeface="+mn-lt"/>
                <a:cs typeface="Arial" panose="020B0604020202020204" pitchFamily="34" charset="0"/>
              </a:rPr>
              <a:t>Example: you have a list called </a:t>
            </a:r>
            <a:r>
              <a:rPr lang="en-US" sz="2000" dirty="0">
                <a:latin typeface="Courier New" panose="02070309020205020404" pitchFamily="49" charset="0"/>
                <a:cs typeface="Courier New" panose="02070309020205020404" pitchFamily="49" charset="0"/>
              </a:rPr>
              <a:t>l1</a:t>
            </a:r>
            <a:r>
              <a:rPr lang="en-US" sz="2400" dirty="0">
                <a:latin typeface="+mn-lt"/>
              </a:rPr>
              <a:t> </a:t>
            </a:r>
            <a:r>
              <a:rPr lang="en-US" sz="2400" dirty="0">
                <a:latin typeface="+mn-lt"/>
                <a:cs typeface="Arial" panose="020B0604020202020204" pitchFamily="34" charset="0"/>
              </a:rPr>
              <a:t>with integers and you must write code that creates a new list where all integers are ignored when they are divisible by 3, are doubled when they are odd and not divisible by 3, and halved when they are even and not divisible by 3. </a:t>
            </a:r>
            <a:br>
              <a:rPr lang="en-US" sz="2400" dirty="0">
                <a:latin typeface="+mn-lt"/>
                <a:cs typeface="Arial" panose="020B0604020202020204" pitchFamily="34" charset="0"/>
              </a:rPr>
            </a:br>
            <a:r>
              <a:rPr lang="en-US" sz="2400" dirty="0">
                <a:latin typeface="+mn-lt"/>
                <a:cs typeface="Arial" panose="020B0604020202020204" pitchFamily="34" charset="0"/>
              </a:rPr>
              <a:t>The new list should only contain integers and be called </a:t>
            </a:r>
            <a:r>
              <a:rPr lang="en-US" sz="2000" dirty="0">
                <a:latin typeface="Courier New" panose="02070309020205020404" pitchFamily="49" charset="0"/>
                <a:cs typeface="Courier New" panose="02070309020205020404" pitchFamily="49" charset="0"/>
              </a:rPr>
              <a:t>l2</a:t>
            </a:r>
            <a:r>
              <a:rPr lang="en-US" sz="2400" dirty="0">
                <a:latin typeface="+mn-lt"/>
                <a:cs typeface="Courier New" panose="02070309020205020404" pitchFamily="49" charset="0"/>
              </a:rPr>
              <a:t>.</a:t>
            </a:r>
          </a:p>
          <a:p>
            <a:pPr lvl="1"/>
            <a:r>
              <a:rPr lang="en-US" sz="2000" dirty="0">
                <a:latin typeface="+mn-lt"/>
                <a:cs typeface="Arial" panose="020B0604020202020204" pitchFamily="34" charset="0"/>
              </a:rPr>
              <a:t>For example, </a:t>
            </a:r>
            <a:r>
              <a:rPr lang="en-US" sz="1800" dirty="0">
                <a:latin typeface="Courier New" panose="02070309020205020404" pitchFamily="49" charset="0"/>
                <a:cs typeface="Courier New" panose="02070309020205020404" pitchFamily="49" charset="0"/>
              </a:rPr>
              <a:t>l1 = [1, 3, 2, 4]</a:t>
            </a:r>
            <a:r>
              <a:rPr lang="en-US" sz="2000" dirty="0">
                <a:latin typeface="+mn-lt"/>
                <a:cs typeface="Courier New" panose="02070309020205020404" pitchFamily="49" charset="0"/>
              </a:rPr>
              <a:t> </a:t>
            </a:r>
            <a:r>
              <a:rPr lang="en-US" sz="2000" dirty="0">
                <a:latin typeface="+mn-lt"/>
                <a:cs typeface="Arial" panose="020B0604020202020204" pitchFamily="34" charset="0"/>
              </a:rPr>
              <a:t>should result in </a:t>
            </a:r>
            <a:r>
              <a:rPr lang="en-US" sz="1800" dirty="0">
                <a:latin typeface="Courier New" panose="02070309020205020404" pitchFamily="49" charset="0"/>
                <a:cs typeface="Courier New" panose="02070309020205020404" pitchFamily="49" charset="0"/>
              </a:rPr>
              <a:t>l2 = [2</a:t>
            </a:r>
            <a:r>
              <a:rPr lang="en-US" sz="1800" dirty="0">
                <a:latin typeface="Courier New" panose="02070309020205020404" pitchFamily="49" charset="0"/>
                <a:cs typeface="Courier New" panose="02070309020205020404" pitchFamily="49" charset="0"/>
                <a:sym typeface="Wingdings" panose="05000000000000000000" pitchFamily="2" charset="2"/>
              </a:rPr>
              <a:t>, 1, 2]</a:t>
            </a:r>
            <a:endParaRPr lang="en-US" sz="1800" dirty="0">
              <a:latin typeface="Courier New" panose="02070309020205020404" pitchFamily="49" charset="0"/>
              <a:cs typeface="Courier New" panose="02070309020205020404" pitchFamily="49" charset="0"/>
            </a:endParaRPr>
          </a:p>
          <a:p>
            <a:r>
              <a:rPr lang="en-US" sz="2400" dirty="0">
                <a:latin typeface="+mn-lt"/>
                <a:cs typeface="Arial" panose="020B0604020202020204" pitchFamily="34" charset="0"/>
              </a:rPr>
              <a:t>Based on what you have learned so far, your solution could be:</a:t>
            </a:r>
            <a:br>
              <a:rPr lang="en-US" sz="24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l2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for x in l1: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if x % 3 == 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continue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addition = x * 2 if x%2 == 1 else x // 2</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l2.append(addition)</a:t>
            </a:r>
          </a:p>
          <a:p>
            <a:r>
              <a:rPr lang="en-US" sz="2400" dirty="0">
                <a:latin typeface="+mn-lt"/>
                <a:cs typeface="Arial" panose="020B0604020202020204" pitchFamily="34" charset="0"/>
              </a:rPr>
              <a:t>With a comprehension, the solution could be:</a:t>
            </a:r>
            <a:br>
              <a:rPr lang="en-US" sz="24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l2 = [x * 2 if x%2 == 1 else x // 2 for x in l1 if x % 3 != 0]</a:t>
            </a:r>
            <a:endParaRPr lang="en-US" sz="2000" noProof="0" dirty="0">
              <a:latin typeface="+mn-lt"/>
            </a:endParaRPr>
          </a:p>
        </p:txBody>
      </p:sp>
      <p:sp>
        <p:nvSpPr>
          <p:cNvPr id="4" name="Slide Number Placeholder 3">
            <a:extLst>
              <a:ext uri="{FF2B5EF4-FFF2-40B4-BE49-F238E27FC236}">
                <a16:creationId xmlns:a16="http://schemas.microsoft.com/office/drawing/2014/main" id="{2BC8E9A7-2231-4348-942B-5381D1F6ED38}"/>
              </a:ext>
            </a:extLst>
          </p:cNvPr>
          <p:cNvSpPr>
            <a:spLocks noGrp="1"/>
          </p:cNvSpPr>
          <p:nvPr>
            <p:ph type="sldNum" sz="quarter" idx="12"/>
          </p:nvPr>
        </p:nvSpPr>
        <p:spPr/>
        <p:txBody>
          <a:bodyPr/>
          <a:lstStyle/>
          <a:p>
            <a:fld id="{723B6F6A-0448-4EED-A121-7B4A352F61BD}" type="slidenum">
              <a:rPr lang="nl-NL" smtClean="0"/>
              <a:t>5</a:t>
            </a:fld>
            <a:endParaRPr lang="nl-NL"/>
          </a:p>
        </p:txBody>
      </p:sp>
    </p:spTree>
    <p:extLst>
      <p:ext uri="{BB962C8B-B14F-4D97-AF65-F5344CB8AC3E}">
        <p14:creationId xmlns:p14="http://schemas.microsoft.com/office/powerpoint/2010/main" val="8510604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FC263-11F5-033B-4830-357794866397}"/>
              </a:ext>
            </a:extLst>
          </p:cNvPr>
          <p:cNvSpPr>
            <a:spLocks noGrp="1"/>
          </p:cNvSpPr>
          <p:nvPr>
            <p:ph type="title"/>
          </p:nvPr>
        </p:nvSpPr>
        <p:spPr>
          <a:xfrm>
            <a:off x="269724" y="328841"/>
            <a:ext cx="10515600" cy="744484"/>
          </a:xfrm>
        </p:spPr>
        <p:txBody>
          <a:bodyPr/>
          <a:lstStyle/>
          <a:p>
            <a:r>
              <a:rPr lang="en-US" dirty="0"/>
              <a:t>List comprehensions</a:t>
            </a:r>
            <a:endParaRPr lang="en-US" noProof="0" dirty="0"/>
          </a:p>
        </p:txBody>
      </p:sp>
      <p:sp>
        <p:nvSpPr>
          <p:cNvPr id="3" name="Content Placeholder 2">
            <a:extLst>
              <a:ext uri="{FF2B5EF4-FFF2-40B4-BE49-F238E27FC236}">
                <a16:creationId xmlns:a16="http://schemas.microsoft.com/office/drawing/2014/main" id="{CB91C5D6-DFDE-636A-A87A-7035C641F4C7}"/>
              </a:ext>
            </a:extLst>
          </p:cNvPr>
          <p:cNvSpPr>
            <a:spLocks noGrp="1"/>
          </p:cNvSpPr>
          <p:nvPr>
            <p:ph idx="1"/>
          </p:nvPr>
        </p:nvSpPr>
        <p:spPr>
          <a:xfrm>
            <a:off x="269724" y="1146298"/>
            <a:ext cx="10712752" cy="5137079"/>
          </a:xfrm>
        </p:spPr>
        <p:txBody>
          <a:bodyPr>
            <a:noAutofit/>
          </a:bodyPr>
          <a:lstStyle/>
          <a:p>
            <a:r>
              <a:rPr lang="en-US" sz="2000" dirty="0">
                <a:latin typeface="+mn-lt"/>
                <a:cs typeface="Arial" panose="020B0604020202020204" pitchFamily="34" charset="0"/>
              </a:rPr>
              <a:t>These options look very different, but both code fragments contain the same information for Python</a:t>
            </a:r>
          </a:p>
          <a:p>
            <a:r>
              <a:rPr lang="en-US" sz="2000" dirty="0">
                <a:highlight>
                  <a:srgbClr val="008080"/>
                </a:highlight>
                <a:latin typeface="Courier New" panose="02070309020205020404" pitchFamily="49" charset="0"/>
                <a:cs typeface="Courier New" panose="02070309020205020404" pitchFamily="49" charset="0"/>
              </a:rPr>
              <a:t>l2 = </a:t>
            </a:r>
            <a:r>
              <a:rPr lang="en-US" sz="2000" dirty="0">
                <a:highlight>
                  <a:srgbClr val="00FFFF"/>
                </a:highlight>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highlight>
                  <a:srgbClr val="FF0000"/>
                </a:highlight>
                <a:latin typeface="Courier New" panose="02070309020205020404" pitchFamily="49" charset="0"/>
                <a:cs typeface="Courier New" panose="02070309020205020404" pitchFamily="49" charset="0"/>
              </a:rPr>
              <a:t>for x in l1:</a:t>
            </a:r>
            <a:br>
              <a:rPr lang="en-US" sz="2000" dirty="0">
                <a:highlight>
                  <a:srgbClr val="FF0000"/>
                </a:highlight>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a:highlight>
                  <a:srgbClr val="FFFF00"/>
                </a:highlight>
                <a:latin typeface="Courier New" panose="02070309020205020404" pitchFamily="49" charset="0"/>
                <a:cs typeface="Courier New" panose="02070309020205020404" pitchFamily="49" charset="0"/>
              </a:rPr>
              <a:t>if x % 3 == 0:</a:t>
            </a:r>
            <a:br>
              <a:rPr lang="en-US" sz="2000" dirty="0">
                <a:highlight>
                  <a:srgbClr val="FFFF00"/>
                </a:highlight>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a:highlight>
                  <a:srgbClr val="FFFF00"/>
                </a:highlight>
                <a:latin typeface="Courier New" panose="02070309020205020404" pitchFamily="49" charset="0"/>
                <a:cs typeface="Courier New" panose="02070309020205020404" pitchFamily="49" charset="0"/>
              </a:rPr>
              <a:t>continue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a:highlight>
                  <a:srgbClr val="C0C0C0"/>
                </a:highlight>
                <a:latin typeface="Courier New" panose="02070309020205020404" pitchFamily="49" charset="0"/>
                <a:cs typeface="Courier New" panose="02070309020205020404" pitchFamily="49" charset="0"/>
              </a:rPr>
              <a:t>addition = x * 2 if x%2==1 else x // 2</a:t>
            </a:r>
            <a:br>
              <a:rPr lang="en-US" sz="2000" dirty="0">
                <a:highlight>
                  <a:srgbClr val="C0C0C0"/>
                </a:highlight>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a:highlight>
                  <a:srgbClr val="008080"/>
                </a:highlight>
                <a:latin typeface="Courier New" panose="02070309020205020404" pitchFamily="49" charset="0"/>
                <a:cs typeface="Courier New" panose="02070309020205020404" pitchFamily="49" charset="0"/>
              </a:rPr>
              <a:t>l2</a:t>
            </a:r>
            <a:r>
              <a:rPr lang="en-US" sz="2000" dirty="0">
                <a:highlight>
                  <a:srgbClr val="00FFFF"/>
                </a:highlight>
                <a:latin typeface="Courier New" panose="02070309020205020404" pitchFamily="49" charset="0"/>
                <a:cs typeface="Courier New" panose="02070309020205020404" pitchFamily="49" charset="0"/>
              </a:rPr>
              <a:t>.append(addition)</a:t>
            </a:r>
            <a:endParaRPr lang="en-US" sz="2000" dirty="0">
              <a:highlight>
                <a:srgbClr val="008080"/>
              </a:highlight>
              <a:latin typeface="Courier New" panose="02070309020205020404" pitchFamily="49" charset="0"/>
              <a:cs typeface="Courier New" panose="02070309020205020404" pitchFamily="49" charset="0"/>
            </a:endParaRPr>
          </a:p>
          <a:p>
            <a:r>
              <a:rPr lang="en-US" sz="2000" dirty="0">
                <a:highlight>
                  <a:srgbClr val="008080"/>
                </a:highlight>
                <a:latin typeface="Courier New" panose="02070309020205020404" pitchFamily="49" charset="0"/>
                <a:cs typeface="Courier New" panose="02070309020205020404" pitchFamily="49" charset="0"/>
              </a:rPr>
              <a:t>l2 = </a:t>
            </a:r>
            <a:r>
              <a:rPr lang="en-US" sz="2000" dirty="0">
                <a:highlight>
                  <a:srgbClr val="00FFFF"/>
                </a:highlight>
                <a:latin typeface="Courier New" panose="02070309020205020404" pitchFamily="49" charset="0"/>
                <a:cs typeface="Courier New" panose="02070309020205020404" pitchFamily="49" charset="0"/>
              </a:rPr>
              <a:t>[</a:t>
            </a:r>
            <a:r>
              <a:rPr lang="en-US" sz="2000" dirty="0">
                <a:highlight>
                  <a:srgbClr val="C0C0C0"/>
                </a:highlight>
                <a:latin typeface="Courier New" panose="02070309020205020404" pitchFamily="49" charset="0"/>
                <a:cs typeface="Courier New" panose="02070309020205020404" pitchFamily="49" charset="0"/>
              </a:rPr>
              <a:t>x * 2 if x%2==1 else x // 2 </a:t>
            </a:r>
            <a:r>
              <a:rPr lang="en-US" sz="2000" dirty="0">
                <a:highlight>
                  <a:srgbClr val="FF0000"/>
                </a:highlight>
                <a:latin typeface="Courier New" panose="02070309020205020404" pitchFamily="49" charset="0"/>
                <a:cs typeface="Courier New" panose="02070309020205020404" pitchFamily="49" charset="0"/>
              </a:rPr>
              <a:t>for x in l1 </a:t>
            </a:r>
            <a:r>
              <a:rPr lang="en-US" sz="2000" dirty="0">
                <a:highlight>
                  <a:srgbClr val="FFFF00"/>
                </a:highlight>
                <a:latin typeface="Courier New" panose="02070309020205020404" pitchFamily="49" charset="0"/>
                <a:cs typeface="Courier New" panose="02070309020205020404" pitchFamily="49" charset="0"/>
              </a:rPr>
              <a:t>if x % 3 != 0</a:t>
            </a:r>
            <a:r>
              <a:rPr lang="en-US" sz="2000" dirty="0">
                <a:highlight>
                  <a:srgbClr val="00FFFF"/>
                </a:highlight>
                <a:latin typeface="Courier New" panose="02070309020205020404" pitchFamily="49" charset="0"/>
                <a:cs typeface="Courier New" panose="02070309020205020404" pitchFamily="49" charset="0"/>
              </a:rPr>
              <a:t>]</a:t>
            </a:r>
            <a:endParaRPr lang="en-US" sz="2000" dirty="0">
              <a:highlight>
                <a:srgbClr val="00FFFF"/>
              </a:highlight>
              <a:latin typeface="Arial" panose="020B0604020202020204" pitchFamily="34" charset="0"/>
              <a:cs typeface="Arial" panose="020B0604020202020204" pitchFamily="34" charset="0"/>
            </a:endParaRPr>
          </a:p>
          <a:p>
            <a:r>
              <a:rPr lang="en-US" sz="2000" dirty="0">
                <a:highlight>
                  <a:srgbClr val="008080"/>
                </a:highlight>
                <a:latin typeface="+mn-lt"/>
                <a:cs typeface="Arial" panose="020B0604020202020204" pitchFamily="34" charset="0"/>
              </a:rPr>
              <a:t>This</a:t>
            </a:r>
            <a:r>
              <a:rPr lang="en-US" sz="2000" dirty="0">
                <a:latin typeface="+mn-lt"/>
                <a:cs typeface="Arial" panose="020B0604020202020204" pitchFamily="34" charset="0"/>
              </a:rPr>
              <a:t> tells Python, what the name of the new list should be</a:t>
            </a:r>
          </a:p>
          <a:p>
            <a:r>
              <a:rPr lang="en-US" sz="2000" dirty="0">
                <a:highlight>
                  <a:srgbClr val="00FFFF"/>
                </a:highlight>
                <a:latin typeface="+mn-lt"/>
                <a:cs typeface="Arial" panose="020B0604020202020204" pitchFamily="34" charset="0"/>
              </a:rPr>
              <a:t>This</a:t>
            </a:r>
            <a:r>
              <a:rPr lang="en-US" sz="2000" dirty="0">
                <a:latin typeface="+mn-lt"/>
                <a:cs typeface="Arial" panose="020B0604020202020204" pitchFamily="34" charset="0"/>
              </a:rPr>
              <a:t> tells Python that we want to create a list, and append the results of the processed elements to that list</a:t>
            </a:r>
          </a:p>
          <a:p>
            <a:r>
              <a:rPr lang="en-US" sz="2000" dirty="0">
                <a:highlight>
                  <a:srgbClr val="FF0000"/>
                </a:highlight>
                <a:latin typeface="+mn-lt"/>
                <a:cs typeface="Arial" panose="020B0604020202020204" pitchFamily="34" charset="0"/>
              </a:rPr>
              <a:t>This</a:t>
            </a:r>
            <a:r>
              <a:rPr lang="en-US" sz="2000" dirty="0">
                <a:latin typeface="+mn-lt"/>
                <a:cs typeface="Arial" panose="020B0604020202020204" pitchFamily="34" charset="0"/>
              </a:rPr>
              <a:t> tells Python what the source is of which we want to process the elements </a:t>
            </a:r>
          </a:p>
          <a:p>
            <a:r>
              <a:rPr lang="en-US" sz="2000" dirty="0">
                <a:highlight>
                  <a:srgbClr val="FFFF00"/>
                </a:highlight>
                <a:latin typeface="+mn-lt"/>
                <a:cs typeface="Arial" panose="020B0604020202020204" pitchFamily="34" charset="0"/>
              </a:rPr>
              <a:t>This</a:t>
            </a:r>
            <a:r>
              <a:rPr lang="en-US" sz="2000" dirty="0">
                <a:latin typeface="+mn-lt"/>
                <a:cs typeface="Arial" panose="020B0604020202020204" pitchFamily="34" charset="0"/>
              </a:rPr>
              <a:t> tells Python, which elements to include for processing (be careful in this set-up of the for loop you tell what to exclude but in a comprehension what to include)</a:t>
            </a:r>
          </a:p>
          <a:p>
            <a:r>
              <a:rPr lang="en-US" sz="2000" dirty="0">
                <a:highlight>
                  <a:srgbClr val="C0C0C0"/>
                </a:highlight>
                <a:latin typeface="+mn-lt"/>
                <a:cs typeface="Arial" panose="020B0604020202020204" pitchFamily="34" charset="0"/>
              </a:rPr>
              <a:t>This</a:t>
            </a:r>
            <a:r>
              <a:rPr lang="en-US" sz="2000" dirty="0">
                <a:latin typeface="+mn-lt"/>
                <a:cs typeface="Arial" panose="020B0604020202020204" pitchFamily="34" charset="0"/>
              </a:rPr>
              <a:t> tells Python, what to do with the elements that should be processed</a:t>
            </a:r>
          </a:p>
          <a:p>
            <a:pPr marL="0" indent="0">
              <a:buNone/>
            </a:pPr>
            <a:endParaRPr lang="en-US" sz="2000" noProof="0" dirty="0">
              <a:latin typeface="+mn-lt"/>
            </a:endParaRPr>
          </a:p>
        </p:txBody>
      </p:sp>
      <p:sp>
        <p:nvSpPr>
          <p:cNvPr id="4" name="Slide Number Placeholder 3">
            <a:extLst>
              <a:ext uri="{FF2B5EF4-FFF2-40B4-BE49-F238E27FC236}">
                <a16:creationId xmlns:a16="http://schemas.microsoft.com/office/drawing/2014/main" id="{2BC8E9A7-2231-4348-942B-5381D1F6ED38}"/>
              </a:ext>
            </a:extLst>
          </p:cNvPr>
          <p:cNvSpPr>
            <a:spLocks noGrp="1"/>
          </p:cNvSpPr>
          <p:nvPr>
            <p:ph type="sldNum" sz="quarter" idx="12"/>
          </p:nvPr>
        </p:nvSpPr>
        <p:spPr/>
        <p:txBody>
          <a:bodyPr/>
          <a:lstStyle/>
          <a:p>
            <a:fld id="{723B6F6A-0448-4EED-A121-7B4A352F61BD}" type="slidenum">
              <a:rPr lang="nl-NL" smtClean="0"/>
              <a:t>6</a:t>
            </a:fld>
            <a:endParaRPr lang="nl-NL"/>
          </a:p>
        </p:txBody>
      </p:sp>
    </p:spTree>
    <p:extLst>
      <p:ext uri="{BB962C8B-B14F-4D97-AF65-F5344CB8AC3E}">
        <p14:creationId xmlns:p14="http://schemas.microsoft.com/office/powerpoint/2010/main" val="36670755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FC263-11F5-033B-4830-357794866397}"/>
              </a:ext>
            </a:extLst>
          </p:cNvPr>
          <p:cNvSpPr>
            <a:spLocks noGrp="1"/>
          </p:cNvSpPr>
          <p:nvPr>
            <p:ph type="title"/>
          </p:nvPr>
        </p:nvSpPr>
        <p:spPr>
          <a:xfrm>
            <a:off x="269724" y="328841"/>
            <a:ext cx="10515600" cy="744484"/>
          </a:xfrm>
        </p:spPr>
        <p:txBody>
          <a:bodyPr/>
          <a:lstStyle/>
          <a:p>
            <a:r>
              <a:rPr lang="en-US" dirty="0"/>
              <a:t>Dictionary comprehensions</a:t>
            </a:r>
            <a:endParaRPr lang="en-US" noProof="0" dirty="0"/>
          </a:p>
        </p:txBody>
      </p:sp>
      <p:sp>
        <p:nvSpPr>
          <p:cNvPr id="3" name="Content Placeholder 2">
            <a:extLst>
              <a:ext uri="{FF2B5EF4-FFF2-40B4-BE49-F238E27FC236}">
                <a16:creationId xmlns:a16="http://schemas.microsoft.com/office/drawing/2014/main" id="{CB91C5D6-DFDE-636A-A87A-7035C641F4C7}"/>
              </a:ext>
            </a:extLst>
          </p:cNvPr>
          <p:cNvSpPr>
            <a:spLocks noGrp="1"/>
          </p:cNvSpPr>
          <p:nvPr>
            <p:ph idx="1"/>
          </p:nvPr>
        </p:nvSpPr>
        <p:spPr>
          <a:xfrm>
            <a:off x="269724" y="1146298"/>
            <a:ext cx="10515600" cy="5137079"/>
          </a:xfrm>
        </p:spPr>
        <p:txBody>
          <a:bodyPr>
            <a:noAutofit/>
          </a:bodyPr>
          <a:lstStyle/>
          <a:p>
            <a:r>
              <a:rPr lang="en-US" sz="2000" dirty="0">
                <a:latin typeface="+mn-lt"/>
                <a:cs typeface="Arial" panose="020B0604020202020204" pitchFamily="34" charset="0"/>
              </a:rPr>
              <a:t>Example: you have two lists called</a:t>
            </a:r>
            <a:r>
              <a:rPr lang="en-US" sz="2000" dirty="0">
                <a:latin typeface="Courier New" panose="02070309020205020404" pitchFamily="49" charset="0"/>
                <a:cs typeface="Courier New" panose="02070309020205020404" pitchFamily="49" charset="0"/>
              </a:rPr>
              <a:t> l1, l2 </a:t>
            </a:r>
            <a:r>
              <a:rPr lang="en-US" sz="2000" dirty="0">
                <a:latin typeface="+mn-lt"/>
              </a:rPr>
              <a:t> </a:t>
            </a:r>
            <a:r>
              <a:rPr lang="en-US" sz="2000" dirty="0">
                <a:latin typeface="+mn-lt"/>
                <a:cs typeface="Arial" panose="020B0604020202020204" pitchFamily="34" charset="0"/>
              </a:rPr>
              <a:t>with integers and you must write code that creates a dictionary where the keys come from </a:t>
            </a:r>
            <a:r>
              <a:rPr lang="en-US" sz="2000" dirty="0">
                <a:latin typeface="Courier New" panose="02070309020205020404" pitchFamily="49" charset="0"/>
                <a:cs typeface="Courier New" panose="02070309020205020404" pitchFamily="49" charset="0"/>
              </a:rPr>
              <a:t>l1</a:t>
            </a:r>
            <a:r>
              <a:rPr lang="en-US" sz="2000" dirty="0">
                <a:latin typeface="+mn-lt"/>
                <a:cs typeface="Arial" panose="020B0604020202020204" pitchFamily="34" charset="0"/>
              </a:rPr>
              <a:t> and the values are triple those from </a:t>
            </a:r>
            <a:r>
              <a:rPr lang="en-US" sz="2000" dirty="0">
                <a:latin typeface="Courier New" panose="02070309020205020404" pitchFamily="49" charset="0"/>
                <a:cs typeface="Courier New" panose="02070309020205020404" pitchFamily="49" charset="0"/>
              </a:rPr>
              <a:t>l2</a:t>
            </a:r>
            <a:r>
              <a:rPr lang="en-US" sz="2000" dirty="0">
                <a:latin typeface="+mn-lt"/>
                <a:cs typeface="Arial" panose="020B0604020202020204" pitchFamily="34" charset="0"/>
              </a:rPr>
              <a:t>, except when the key and/or the value can be divided by 2, then these values should be ignored. </a:t>
            </a:r>
            <a:br>
              <a:rPr lang="en-US" sz="2000" dirty="0">
                <a:latin typeface="+mn-lt"/>
                <a:cs typeface="Arial" panose="020B0604020202020204" pitchFamily="34" charset="0"/>
              </a:rPr>
            </a:br>
            <a:r>
              <a:rPr lang="en-US" sz="2000" dirty="0">
                <a:latin typeface="+mn-lt"/>
                <a:cs typeface="Arial" panose="020B0604020202020204" pitchFamily="34" charset="0"/>
              </a:rPr>
              <a:t>The new dictionary should be called </a:t>
            </a:r>
            <a:r>
              <a:rPr lang="en-US" sz="2000" dirty="0">
                <a:latin typeface="Courier New" panose="02070309020205020404" pitchFamily="49" charset="0"/>
                <a:cs typeface="Courier New" panose="02070309020205020404" pitchFamily="49" charset="0"/>
              </a:rPr>
              <a:t>d1.</a:t>
            </a:r>
          </a:p>
          <a:p>
            <a:pPr lvl="1"/>
            <a:r>
              <a:rPr lang="en-US" sz="2000" dirty="0">
                <a:latin typeface="+mn-lt"/>
                <a:cs typeface="Arial" panose="020B0604020202020204" pitchFamily="34" charset="0"/>
              </a:rPr>
              <a:t>For example, </a:t>
            </a:r>
            <a:r>
              <a:rPr lang="en-US" sz="2000" dirty="0">
                <a:latin typeface="Courier New" panose="02070309020205020404" pitchFamily="49" charset="0"/>
                <a:cs typeface="Courier New" panose="02070309020205020404" pitchFamily="49" charset="0"/>
              </a:rPr>
              <a:t>l1 = [1, 3, 2, 5], l2 = [1, 2, 6, 3]  </a:t>
            </a:r>
            <a:r>
              <a:rPr lang="en-US" sz="2000" dirty="0">
                <a:latin typeface="Arial" panose="020B0604020202020204" pitchFamily="34" charset="0"/>
                <a:cs typeface="Arial" panose="020B0604020202020204" pitchFamily="34" charset="0"/>
              </a:rPr>
              <a:t>should result in </a:t>
            </a:r>
            <a:r>
              <a:rPr lang="en-US" sz="2000" dirty="0">
                <a:latin typeface="Courier New" panose="02070309020205020404" pitchFamily="49" charset="0"/>
                <a:cs typeface="Courier New" panose="02070309020205020404" pitchFamily="49" charset="0"/>
              </a:rPr>
              <a:t>d1 = {1:3, 5:9}</a:t>
            </a:r>
          </a:p>
          <a:p>
            <a:r>
              <a:rPr lang="en-US" sz="2000" dirty="0">
                <a:latin typeface="+mn-lt"/>
                <a:cs typeface="Arial" panose="020B0604020202020204" pitchFamily="34" charset="0"/>
              </a:rPr>
              <a:t>Based on what you learned so far, the solution could be:</a:t>
            </a:r>
            <a:br>
              <a:rPr lang="en-US" sz="20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d1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for </a:t>
            </a:r>
            <a:r>
              <a:rPr lang="en-US" sz="2000" dirty="0" err="1">
                <a:latin typeface="Courier New" panose="02070309020205020404" pitchFamily="49" charset="0"/>
                <a:cs typeface="Courier New" panose="02070309020205020404" pitchFamily="49" charset="0"/>
              </a:rPr>
              <a:t>k,v</a:t>
            </a:r>
            <a:r>
              <a:rPr lang="en-US" sz="2000" dirty="0">
                <a:latin typeface="Courier New" panose="02070309020205020404" pitchFamily="49" charset="0"/>
                <a:cs typeface="Courier New" panose="02070309020205020404" pitchFamily="49" charset="0"/>
              </a:rPr>
              <a:t> in zip(l1,l2):</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if k%2 == 0 or v%2 == 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continue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d1[k] = v * 3</a:t>
            </a:r>
          </a:p>
          <a:p>
            <a:r>
              <a:rPr lang="en-US" sz="2000" dirty="0">
                <a:latin typeface="+mn-lt"/>
                <a:cs typeface="Arial" panose="020B0604020202020204" pitchFamily="34" charset="0"/>
              </a:rPr>
              <a:t>With a comprehension, the solution could be:</a:t>
            </a:r>
            <a:br>
              <a:rPr lang="en-US" sz="20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d1 = {k: v*3 for </a:t>
            </a:r>
            <a:r>
              <a:rPr lang="en-US" sz="2000" dirty="0" err="1">
                <a:latin typeface="Courier New" panose="02070309020205020404" pitchFamily="49" charset="0"/>
                <a:cs typeface="Courier New" panose="02070309020205020404" pitchFamily="49" charset="0"/>
              </a:rPr>
              <a:t>k,v</a:t>
            </a:r>
            <a:r>
              <a:rPr lang="en-US" sz="2000" dirty="0">
                <a:latin typeface="Courier New" panose="02070309020205020404" pitchFamily="49" charset="0"/>
                <a:cs typeface="Courier New" panose="02070309020205020404" pitchFamily="49" charset="0"/>
              </a:rPr>
              <a:t> in zip(l1,l2) if not (k%2 == 0 or v%2 == 0)}</a:t>
            </a:r>
            <a:endParaRPr lang="en-US" sz="2000" noProof="0" dirty="0">
              <a:latin typeface="+mn-lt"/>
            </a:endParaRPr>
          </a:p>
        </p:txBody>
      </p:sp>
      <p:sp>
        <p:nvSpPr>
          <p:cNvPr id="4" name="Slide Number Placeholder 3">
            <a:extLst>
              <a:ext uri="{FF2B5EF4-FFF2-40B4-BE49-F238E27FC236}">
                <a16:creationId xmlns:a16="http://schemas.microsoft.com/office/drawing/2014/main" id="{2BC8E9A7-2231-4348-942B-5381D1F6ED38}"/>
              </a:ext>
            </a:extLst>
          </p:cNvPr>
          <p:cNvSpPr>
            <a:spLocks noGrp="1"/>
          </p:cNvSpPr>
          <p:nvPr>
            <p:ph type="sldNum" sz="quarter" idx="12"/>
          </p:nvPr>
        </p:nvSpPr>
        <p:spPr/>
        <p:txBody>
          <a:bodyPr/>
          <a:lstStyle/>
          <a:p>
            <a:fld id="{723B6F6A-0448-4EED-A121-7B4A352F61BD}" type="slidenum">
              <a:rPr lang="nl-NL" smtClean="0"/>
              <a:t>7</a:t>
            </a:fld>
            <a:endParaRPr lang="nl-NL"/>
          </a:p>
        </p:txBody>
      </p:sp>
    </p:spTree>
    <p:extLst>
      <p:ext uri="{BB962C8B-B14F-4D97-AF65-F5344CB8AC3E}">
        <p14:creationId xmlns:p14="http://schemas.microsoft.com/office/powerpoint/2010/main" val="301110999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FC263-11F5-033B-4830-357794866397}"/>
              </a:ext>
            </a:extLst>
          </p:cNvPr>
          <p:cNvSpPr>
            <a:spLocks noGrp="1"/>
          </p:cNvSpPr>
          <p:nvPr>
            <p:ph type="title"/>
          </p:nvPr>
        </p:nvSpPr>
        <p:spPr>
          <a:xfrm>
            <a:off x="269724" y="328841"/>
            <a:ext cx="10515600" cy="744484"/>
          </a:xfrm>
        </p:spPr>
        <p:txBody>
          <a:bodyPr/>
          <a:lstStyle/>
          <a:p>
            <a:r>
              <a:rPr lang="en-US" dirty="0"/>
              <a:t>Dictionary comprehensions</a:t>
            </a:r>
            <a:endParaRPr lang="en-US" noProof="0" dirty="0"/>
          </a:p>
        </p:txBody>
      </p:sp>
      <p:sp>
        <p:nvSpPr>
          <p:cNvPr id="3" name="Content Placeholder 2">
            <a:extLst>
              <a:ext uri="{FF2B5EF4-FFF2-40B4-BE49-F238E27FC236}">
                <a16:creationId xmlns:a16="http://schemas.microsoft.com/office/drawing/2014/main" id="{CB91C5D6-DFDE-636A-A87A-7035C641F4C7}"/>
              </a:ext>
            </a:extLst>
          </p:cNvPr>
          <p:cNvSpPr>
            <a:spLocks noGrp="1"/>
          </p:cNvSpPr>
          <p:nvPr>
            <p:ph idx="1"/>
          </p:nvPr>
        </p:nvSpPr>
        <p:spPr>
          <a:xfrm>
            <a:off x="269724" y="1146298"/>
            <a:ext cx="10515600" cy="5137079"/>
          </a:xfrm>
        </p:spPr>
        <p:txBody>
          <a:bodyPr>
            <a:noAutofit/>
          </a:bodyPr>
          <a:lstStyle/>
          <a:p>
            <a:r>
              <a:rPr lang="en-US" sz="2000" dirty="0">
                <a:highlight>
                  <a:srgbClr val="008080"/>
                </a:highlight>
                <a:latin typeface="Courier New" panose="02070309020205020404" pitchFamily="49" charset="0"/>
                <a:cs typeface="Courier New" panose="02070309020205020404" pitchFamily="49" charset="0"/>
              </a:rPr>
              <a:t>d1 = </a:t>
            </a:r>
            <a:r>
              <a:rPr lang="en-US" sz="2000" dirty="0">
                <a:highlight>
                  <a:srgbClr val="00FFFF"/>
                </a:highlight>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highlight>
                  <a:srgbClr val="FF0000"/>
                </a:highlight>
                <a:latin typeface="Courier New" panose="02070309020205020404" pitchFamily="49" charset="0"/>
                <a:cs typeface="Courier New" panose="02070309020205020404" pitchFamily="49" charset="0"/>
              </a:rPr>
              <a:t>for </a:t>
            </a:r>
            <a:r>
              <a:rPr lang="en-US" sz="2000" dirty="0" err="1">
                <a:highlight>
                  <a:srgbClr val="FF0000"/>
                </a:highlight>
                <a:latin typeface="Courier New" panose="02070309020205020404" pitchFamily="49" charset="0"/>
                <a:cs typeface="Courier New" panose="02070309020205020404" pitchFamily="49" charset="0"/>
              </a:rPr>
              <a:t>k,v</a:t>
            </a:r>
            <a:r>
              <a:rPr lang="en-US" sz="2000" dirty="0">
                <a:highlight>
                  <a:srgbClr val="FF0000"/>
                </a:highlight>
                <a:latin typeface="Courier New" panose="02070309020205020404" pitchFamily="49" charset="0"/>
                <a:cs typeface="Courier New" panose="02070309020205020404" pitchFamily="49" charset="0"/>
              </a:rPr>
              <a:t> in zip(l1,l2):</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a:highlight>
                  <a:srgbClr val="FFFF00"/>
                </a:highlight>
                <a:latin typeface="Courier New" panose="02070309020205020404" pitchFamily="49" charset="0"/>
                <a:cs typeface="Courier New" panose="02070309020205020404" pitchFamily="49" charset="0"/>
              </a:rPr>
              <a:t>if k%2 == 0 or v%2 == 0:</a:t>
            </a:r>
            <a:br>
              <a:rPr lang="en-US" sz="2000" dirty="0">
                <a:highlight>
                  <a:srgbClr val="FFFF00"/>
                </a:highlight>
                <a:latin typeface="Courier New" panose="02070309020205020404" pitchFamily="49" charset="0"/>
                <a:cs typeface="Courier New" panose="02070309020205020404" pitchFamily="49" charset="0"/>
              </a:rPr>
            </a:br>
            <a:r>
              <a:rPr lang="en-US" sz="2000" dirty="0">
                <a:highlight>
                  <a:srgbClr val="FFFF00"/>
                </a:highlight>
                <a:latin typeface="Courier New" panose="02070309020205020404" pitchFamily="49" charset="0"/>
                <a:cs typeface="Courier New" panose="02070309020205020404" pitchFamily="49" charset="0"/>
              </a:rPr>
              <a:t>        continue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a:highlight>
                  <a:srgbClr val="008080"/>
                </a:highlight>
                <a:latin typeface="Courier New" panose="02070309020205020404" pitchFamily="49" charset="0"/>
                <a:cs typeface="Courier New" panose="02070309020205020404" pitchFamily="49" charset="0"/>
              </a:rPr>
              <a:t>d1</a:t>
            </a:r>
            <a:r>
              <a:rPr lang="en-US" sz="2000" dirty="0">
                <a:highlight>
                  <a:srgbClr val="00FFFF"/>
                </a:highlight>
                <a:latin typeface="Courier New" panose="02070309020205020404" pitchFamily="49" charset="0"/>
                <a:cs typeface="Courier New" panose="02070309020205020404" pitchFamily="49" charset="0"/>
              </a:rPr>
              <a:t>[</a:t>
            </a:r>
            <a:r>
              <a:rPr lang="en-US" sz="2000" dirty="0">
                <a:highlight>
                  <a:srgbClr val="C0C0C0"/>
                </a:highlight>
                <a:latin typeface="Courier New" panose="02070309020205020404" pitchFamily="49" charset="0"/>
                <a:cs typeface="Courier New" panose="02070309020205020404" pitchFamily="49" charset="0"/>
              </a:rPr>
              <a:t>k</a:t>
            </a:r>
            <a:r>
              <a:rPr lang="en-US" sz="2000" dirty="0">
                <a:highlight>
                  <a:srgbClr val="00FFFF"/>
                </a:highlight>
                <a:latin typeface="Courier New" panose="02070309020205020404" pitchFamily="49" charset="0"/>
                <a:cs typeface="Courier New" panose="02070309020205020404" pitchFamily="49" charset="0"/>
              </a:rPr>
              <a:t>] = </a:t>
            </a:r>
            <a:r>
              <a:rPr lang="en-US" sz="2000" dirty="0">
                <a:highlight>
                  <a:srgbClr val="C0C0C0"/>
                </a:highlight>
                <a:latin typeface="Courier New" panose="02070309020205020404" pitchFamily="49" charset="0"/>
                <a:cs typeface="Courier New" panose="02070309020205020404" pitchFamily="49" charset="0"/>
              </a:rPr>
              <a:t>v * 3</a:t>
            </a:r>
          </a:p>
          <a:p>
            <a:r>
              <a:rPr lang="en-US" sz="2000" dirty="0">
                <a:highlight>
                  <a:srgbClr val="008080"/>
                </a:highlight>
                <a:latin typeface="Courier New" panose="02070309020205020404" pitchFamily="49" charset="0"/>
                <a:cs typeface="Courier New" panose="02070309020205020404" pitchFamily="49" charset="0"/>
              </a:rPr>
              <a:t>d1 =</a:t>
            </a:r>
            <a:r>
              <a:rPr lang="en-US" sz="2000" dirty="0">
                <a:latin typeface="Courier New" panose="02070309020205020404" pitchFamily="49" charset="0"/>
                <a:cs typeface="Courier New" panose="02070309020205020404" pitchFamily="49" charset="0"/>
              </a:rPr>
              <a:t> </a:t>
            </a:r>
            <a:r>
              <a:rPr lang="en-US" sz="2000" dirty="0">
                <a:highlight>
                  <a:srgbClr val="00FFFF"/>
                </a:highlight>
                <a:latin typeface="Courier New" panose="02070309020205020404" pitchFamily="49" charset="0"/>
                <a:cs typeface="Courier New" panose="02070309020205020404" pitchFamily="49" charset="0"/>
              </a:rPr>
              <a:t>{</a:t>
            </a:r>
            <a:r>
              <a:rPr lang="en-US" sz="2000" dirty="0">
                <a:highlight>
                  <a:srgbClr val="C0C0C0"/>
                </a:highlight>
                <a:latin typeface="Courier New" panose="02070309020205020404" pitchFamily="49" charset="0"/>
                <a:cs typeface="Courier New" panose="02070309020205020404" pitchFamily="49" charset="0"/>
              </a:rPr>
              <a:t>k</a:t>
            </a:r>
            <a:r>
              <a:rPr lang="en-US" sz="2000" dirty="0">
                <a:highlight>
                  <a:srgbClr val="00FFFF"/>
                </a:highlight>
                <a:latin typeface="Courier New" panose="02070309020205020404" pitchFamily="49" charset="0"/>
                <a:cs typeface="Courier New" panose="02070309020205020404" pitchFamily="49" charset="0"/>
              </a:rPr>
              <a:t>:</a:t>
            </a:r>
            <a:r>
              <a:rPr lang="en-US" sz="2000" dirty="0">
                <a:latin typeface="Courier New" panose="02070309020205020404" pitchFamily="49" charset="0"/>
                <a:cs typeface="Courier New" panose="02070309020205020404" pitchFamily="49" charset="0"/>
              </a:rPr>
              <a:t> </a:t>
            </a:r>
            <a:r>
              <a:rPr lang="en-US" sz="2000" dirty="0">
                <a:highlight>
                  <a:srgbClr val="C0C0C0"/>
                </a:highlight>
                <a:latin typeface="Courier New" panose="02070309020205020404" pitchFamily="49" charset="0"/>
                <a:cs typeface="Courier New" panose="02070309020205020404" pitchFamily="49" charset="0"/>
              </a:rPr>
              <a:t>v*3</a:t>
            </a:r>
            <a:r>
              <a:rPr lang="en-US" sz="2000" dirty="0">
                <a:latin typeface="Courier New" panose="02070309020205020404" pitchFamily="49" charset="0"/>
                <a:cs typeface="Courier New" panose="02070309020205020404" pitchFamily="49" charset="0"/>
              </a:rPr>
              <a:t> </a:t>
            </a:r>
            <a:r>
              <a:rPr lang="en-US" sz="2000" dirty="0">
                <a:highlight>
                  <a:srgbClr val="FF0000"/>
                </a:highlight>
                <a:latin typeface="Courier New" panose="02070309020205020404" pitchFamily="49" charset="0"/>
                <a:cs typeface="Courier New" panose="02070309020205020404" pitchFamily="49" charset="0"/>
              </a:rPr>
              <a:t>for </a:t>
            </a:r>
            <a:r>
              <a:rPr lang="en-US" sz="2000" dirty="0" err="1">
                <a:highlight>
                  <a:srgbClr val="FF0000"/>
                </a:highlight>
                <a:latin typeface="Courier New" panose="02070309020205020404" pitchFamily="49" charset="0"/>
                <a:cs typeface="Courier New" panose="02070309020205020404" pitchFamily="49" charset="0"/>
              </a:rPr>
              <a:t>k,v</a:t>
            </a:r>
            <a:r>
              <a:rPr lang="en-US" sz="2000" dirty="0">
                <a:highlight>
                  <a:srgbClr val="FF0000"/>
                </a:highlight>
                <a:latin typeface="Courier New" panose="02070309020205020404" pitchFamily="49" charset="0"/>
                <a:cs typeface="Courier New" panose="02070309020205020404" pitchFamily="49" charset="0"/>
              </a:rPr>
              <a:t> in zip(l1,l2)</a:t>
            </a:r>
            <a:r>
              <a:rPr lang="en-US" sz="2000" dirty="0">
                <a:latin typeface="Courier New" panose="02070309020205020404" pitchFamily="49" charset="0"/>
                <a:cs typeface="Courier New" panose="02070309020205020404" pitchFamily="49" charset="0"/>
              </a:rPr>
              <a:t> </a:t>
            </a:r>
            <a:r>
              <a:rPr lang="en-US" sz="2000" dirty="0">
                <a:highlight>
                  <a:srgbClr val="FFFF00"/>
                </a:highlight>
                <a:latin typeface="Courier New" panose="02070309020205020404" pitchFamily="49" charset="0"/>
                <a:cs typeface="Courier New" panose="02070309020205020404" pitchFamily="49" charset="0"/>
              </a:rPr>
              <a:t>if not (k%2 == 0 or v%2 == 0)</a:t>
            </a:r>
            <a:r>
              <a:rPr lang="en-US" sz="2000" dirty="0">
                <a:highlight>
                  <a:srgbClr val="00FFFF"/>
                </a:highlight>
                <a:latin typeface="Courier New" panose="02070309020205020404" pitchFamily="49" charset="0"/>
                <a:cs typeface="Courier New" panose="02070309020205020404" pitchFamily="49" charset="0"/>
              </a:rPr>
              <a:t>}</a:t>
            </a:r>
            <a:endParaRPr lang="en-US" sz="2000" dirty="0">
              <a:highlight>
                <a:srgbClr val="00FFFF"/>
              </a:highlight>
              <a:latin typeface="Arial" panose="020B0604020202020204" pitchFamily="34" charset="0"/>
              <a:cs typeface="Arial" panose="020B0604020202020204" pitchFamily="34" charset="0"/>
            </a:endParaRPr>
          </a:p>
          <a:p>
            <a:r>
              <a:rPr lang="en-US" sz="2000" dirty="0">
                <a:highlight>
                  <a:srgbClr val="008080"/>
                </a:highlight>
                <a:latin typeface="+mn-lt"/>
                <a:cs typeface="Arial" panose="020B0604020202020204" pitchFamily="34" charset="0"/>
              </a:rPr>
              <a:t>This</a:t>
            </a:r>
            <a:r>
              <a:rPr lang="en-US" sz="2000" dirty="0">
                <a:latin typeface="+mn-lt"/>
                <a:cs typeface="Arial" panose="020B0604020202020204" pitchFamily="34" charset="0"/>
              </a:rPr>
              <a:t> tells Python, what the name of the new list should be</a:t>
            </a:r>
            <a:endParaRPr lang="en-US" sz="2000" dirty="0">
              <a:latin typeface="+mn-lt"/>
            </a:endParaRPr>
          </a:p>
          <a:p>
            <a:r>
              <a:rPr lang="en-US" sz="2000" dirty="0">
                <a:highlight>
                  <a:srgbClr val="00FFFF"/>
                </a:highlight>
                <a:latin typeface="+mn-lt"/>
                <a:cs typeface="Arial" panose="020B0604020202020204" pitchFamily="34" charset="0"/>
              </a:rPr>
              <a:t>This</a:t>
            </a:r>
            <a:r>
              <a:rPr lang="en-US" sz="2000" dirty="0">
                <a:latin typeface="+mn-lt"/>
                <a:cs typeface="Arial" panose="020B0604020202020204" pitchFamily="34" charset="0"/>
              </a:rPr>
              <a:t> tells Python that we want to create a dictionary, and append the results of the processed elements to that dictionary</a:t>
            </a:r>
          </a:p>
          <a:p>
            <a:r>
              <a:rPr lang="en-US" sz="2000" dirty="0">
                <a:highlight>
                  <a:srgbClr val="FF0000"/>
                </a:highlight>
                <a:latin typeface="+mn-lt"/>
                <a:cs typeface="Arial" panose="020B0604020202020204" pitchFamily="34" charset="0"/>
              </a:rPr>
              <a:t>This</a:t>
            </a:r>
            <a:r>
              <a:rPr lang="en-US" sz="2000" dirty="0">
                <a:latin typeface="+mn-lt"/>
                <a:cs typeface="Arial" panose="020B0604020202020204" pitchFamily="34" charset="0"/>
              </a:rPr>
              <a:t> tells Python what the source is of which we want to process the elements </a:t>
            </a:r>
          </a:p>
          <a:p>
            <a:r>
              <a:rPr lang="en-US" sz="2000" dirty="0">
                <a:highlight>
                  <a:srgbClr val="FFFF00"/>
                </a:highlight>
                <a:latin typeface="+mn-lt"/>
                <a:cs typeface="Arial" panose="020B0604020202020204" pitchFamily="34" charset="0"/>
              </a:rPr>
              <a:t>This</a:t>
            </a:r>
            <a:r>
              <a:rPr lang="en-US" sz="2000" dirty="0">
                <a:latin typeface="+mn-lt"/>
                <a:cs typeface="Arial" panose="020B0604020202020204" pitchFamily="34" charset="0"/>
              </a:rPr>
              <a:t> tells Python, which elements to include for processing (be careful in this set-up of the for loop you tell what to exclude but in a comprehension what to include)</a:t>
            </a:r>
          </a:p>
          <a:p>
            <a:r>
              <a:rPr lang="en-US" sz="2000" dirty="0">
                <a:highlight>
                  <a:srgbClr val="C0C0C0"/>
                </a:highlight>
                <a:latin typeface="+mn-lt"/>
                <a:cs typeface="Arial" panose="020B0604020202020204" pitchFamily="34" charset="0"/>
              </a:rPr>
              <a:t>This</a:t>
            </a:r>
            <a:r>
              <a:rPr lang="en-US" sz="2000" dirty="0">
                <a:latin typeface="+mn-lt"/>
                <a:cs typeface="Arial" panose="020B0604020202020204" pitchFamily="34" charset="0"/>
              </a:rPr>
              <a:t> tells Python, what to do with the elements that should be processed</a:t>
            </a:r>
          </a:p>
        </p:txBody>
      </p:sp>
      <p:sp>
        <p:nvSpPr>
          <p:cNvPr id="4" name="Slide Number Placeholder 3">
            <a:extLst>
              <a:ext uri="{FF2B5EF4-FFF2-40B4-BE49-F238E27FC236}">
                <a16:creationId xmlns:a16="http://schemas.microsoft.com/office/drawing/2014/main" id="{2BC8E9A7-2231-4348-942B-5381D1F6ED38}"/>
              </a:ext>
            </a:extLst>
          </p:cNvPr>
          <p:cNvSpPr>
            <a:spLocks noGrp="1"/>
          </p:cNvSpPr>
          <p:nvPr>
            <p:ph type="sldNum" sz="quarter" idx="12"/>
          </p:nvPr>
        </p:nvSpPr>
        <p:spPr/>
        <p:txBody>
          <a:bodyPr/>
          <a:lstStyle/>
          <a:p>
            <a:fld id="{723B6F6A-0448-4EED-A121-7B4A352F61BD}" type="slidenum">
              <a:rPr lang="nl-NL" smtClean="0"/>
              <a:t>8</a:t>
            </a:fld>
            <a:endParaRPr lang="nl-NL"/>
          </a:p>
        </p:txBody>
      </p:sp>
    </p:spTree>
    <p:extLst>
      <p:ext uri="{BB962C8B-B14F-4D97-AF65-F5344CB8AC3E}">
        <p14:creationId xmlns:p14="http://schemas.microsoft.com/office/powerpoint/2010/main" val="130190003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FC263-11F5-033B-4830-357794866397}"/>
              </a:ext>
            </a:extLst>
          </p:cNvPr>
          <p:cNvSpPr>
            <a:spLocks noGrp="1"/>
          </p:cNvSpPr>
          <p:nvPr>
            <p:ph type="title"/>
          </p:nvPr>
        </p:nvSpPr>
        <p:spPr>
          <a:xfrm>
            <a:off x="269724" y="328841"/>
            <a:ext cx="10515600" cy="744484"/>
          </a:xfrm>
        </p:spPr>
        <p:txBody>
          <a:bodyPr/>
          <a:lstStyle/>
          <a:p>
            <a:r>
              <a:rPr lang="en-US" dirty="0"/>
              <a:t>Set comprehensions</a:t>
            </a:r>
            <a:endParaRPr lang="en-US" noProof="0" dirty="0"/>
          </a:p>
        </p:txBody>
      </p:sp>
      <p:sp>
        <p:nvSpPr>
          <p:cNvPr id="3" name="Content Placeholder 2">
            <a:extLst>
              <a:ext uri="{FF2B5EF4-FFF2-40B4-BE49-F238E27FC236}">
                <a16:creationId xmlns:a16="http://schemas.microsoft.com/office/drawing/2014/main" id="{CB91C5D6-DFDE-636A-A87A-7035C641F4C7}"/>
              </a:ext>
            </a:extLst>
          </p:cNvPr>
          <p:cNvSpPr>
            <a:spLocks noGrp="1"/>
          </p:cNvSpPr>
          <p:nvPr>
            <p:ph idx="1"/>
          </p:nvPr>
        </p:nvSpPr>
        <p:spPr>
          <a:xfrm>
            <a:off x="269724" y="1146298"/>
            <a:ext cx="10515600" cy="5137079"/>
          </a:xfrm>
        </p:spPr>
        <p:txBody>
          <a:bodyPr>
            <a:noAutofit/>
          </a:bodyPr>
          <a:lstStyle/>
          <a:p>
            <a:r>
              <a:rPr lang="en-US" sz="2400" dirty="0">
                <a:latin typeface="+mn-lt"/>
                <a:cs typeface="Arial" panose="020B0604020202020204" pitchFamily="34" charset="0"/>
              </a:rPr>
              <a:t>Example: you have a list called </a:t>
            </a:r>
            <a:r>
              <a:rPr lang="en-US" sz="2000" dirty="0">
                <a:latin typeface="Courier New" panose="02070309020205020404" pitchFamily="49" charset="0"/>
                <a:cs typeface="Courier New" panose="02070309020205020404" pitchFamily="49" charset="0"/>
              </a:rPr>
              <a:t>l1</a:t>
            </a:r>
            <a:r>
              <a:rPr lang="en-US" sz="2400" dirty="0">
                <a:latin typeface="+mn-lt"/>
                <a:cs typeface="Courier New" panose="02070309020205020404" pitchFamily="49" charset="0"/>
              </a:rPr>
              <a:t> </a:t>
            </a:r>
            <a:r>
              <a:rPr lang="en-US" sz="2400" dirty="0">
                <a:latin typeface="+mn-lt"/>
              </a:rPr>
              <a:t> </a:t>
            </a:r>
            <a:r>
              <a:rPr lang="en-US" sz="2400" dirty="0">
                <a:latin typeface="+mn-lt"/>
                <a:cs typeface="Arial" panose="020B0604020202020204" pitchFamily="34" charset="0"/>
              </a:rPr>
              <a:t>with integers and you have to write code that creates a set, with all the values from the list doubled, while ignoring values from the list that are even. </a:t>
            </a:r>
            <a:br>
              <a:rPr lang="en-US" sz="2400" dirty="0">
                <a:latin typeface="+mn-lt"/>
                <a:cs typeface="Arial" panose="020B0604020202020204" pitchFamily="34" charset="0"/>
              </a:rPr>
            </a:br>
            <a:r>
              <a:rPr lang="en-US" sz="2400" dirty="0">
                <a:latin typeface="+mn-lt"/>
                <a:cs typeface="Arial" panose="020B0604020202020204" pitchFamily="34" charset="0"/>
              </a:rPr>
              <a:t>The new set should be called </a:t>
            </a:r>
            <a:r>
              <a:rPr lang="en-US" sz="2000" dirty="0">
                <a:latin typeface="Courier New" panose="02070309020205020404" pitchFamily="49" charset="0"/>
                <a:cs typeface="Courier New" panose="02070309020205020404" pitchFamily="49" charset="0"/>
              </a:rPr>
              <a:t>s1</a:t>
            </a:r>
            <a:r>
              <a:rPr lang="en-US" sz="2400" dirty="0">
                <a:latin typeface="+mn-lt"/>
                <a:cs typeface="Courier New" panose="02070309020205020404" pitchFamily="49" charset="0"/>
              </a:rPr>
              <a:t>.</a:t>
            </a:r>
          </a:p>
          <a:p>
            <a:r>
              <a:rPr lang="en-US" sz="2400" dirty="0">
                <a:latin typeface="+mn-lt"/>
                <a:cs typeface="Arial" panose="020B0604020202020204" pitchFamily="34" charset="0"/>
              </a:rPr>
              <a:t>For example, </a:t>
            </a:r>
            <a:r>
              <a:rPr lang="en-US" sz="2000" dirty="0">
                <a:latin typeface="Courier New" panose="02070309020205020404" pitchFamily="49" charset="0"/>
                <a:cs typeface="Courier New" panose="02070309020205020404" pitchFamily="49" charset="0"/>
              </a:rPr>
              <a:t>l1 = [1, 3, 2, 5]</a:t>
            </a:r>
            <a:r>
              <a:rPr lang="en-US" sz="2400" dirty="0">
                <a:latin typeface="+mn-lt"/>
                <a:cs typeface="Courier New" panose="02070309020205020404" pitchFamily="49" charset="0"/>
              </a:rPr>
              <a:t> </a:t>
            </a:r>
            <a:r>
              <a:rPr lang="en-US" sz="2400" dirty="0">
                <a:latin typeface="+mn-lt"/>
                <a:cs typeface="Arial" panose="020B0604020202020204" pitchFamily="34" charset="0"/>
              </a:rPr>
              <a:t>should result in </a:t>
            </a:r>
            <a:r>
              <a:rPr lang="en-US" sz="2000" dirty="0">
                <a:latin typeface="Courier New" panose="02070309020205020404" pitchFamily="49" charset="0"/>
                <a:cs typeface="Courier New" panose="02070309020205020404" pitchFamily="49" charset="0"/>
              </a:rPr>
              <a:t>s1 = {2, 6, 10}</a:t>
            </a:r>
          </a:p>
          <a:p>
            <a:r>
              <a:rPr lang="en-US" sz="2400" dirty="0">
                <a:latin typeface="+mn-lt"/>
                <a:cs typeface="Arial" panose="020B0604020202020204" pitchFamily="34" charset="0"/>
              </a:rPr>
              <a:t>Based on what you learned so far, the solution could be:</a:t>
            </a:r>
            <a:br>
              <a:rPr lang="en-US" sz="20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s1 = set()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for x in l1: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if x%2 == 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continue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s1.add(x * 2)</a:t>
            </a:r>
          </a:p>
          <a:p>
            <a:r>
              <a:rPr lang="en-US" sz="2400" dirty="0">
                <a:latin typeface="+mn-lt"/>
                <a:cs typeface="Arial" panose="020B0604020202020204" pitchFamily="34" charset="0"/>
              </a:rPr>
              <a:t>With a comprehension, the solution could be:</a:t>
            </a:r>
            <a:br>
              <a:rPr lang="en-US" sz="20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s1 = {x * 2 for x in l1 if not (x%2 == 0)}</a:t>
            </a:r>
          </a:p>
          <a:p>
            <a:r>
              <a:rPr lang="en-US" sz="2400" dirty="0">
                <a:latin typeface="+mn-lt"/>
                <a:cs typeface="Arial" panose="020B0604020202020204" pitchFamily="34" charset="0"/>
              </a:rPr>
              <a:t>Question: Why does Python understand you are building a set and not a dictionary?</a:t>
            </a:r>
            <a:endParaRPr lang="en-US" sz="2400" noProof="0" dirty="0">
              <a:latin typeface="+mn-lt"/>
            </a:endParaRPr>
          </a:p>
        </p:txBody>
      </p:sp>
      <p:sp>
        <p:nvSpPr>
          <p:cNvPr id="4" name="Slide Number Placeholder 3">
            <a:extLst>
              <a:ext uri="{FF2B5EF4-FFF2-40B4-BE49-F238E27FC236}">
                <a16:creationId xmlns:a16="http://schemas.microsoft.com/office/drawing/2014/main" id="{2BC8E9A7-2231-4348-942B-5381D1F6ED38}"/>
              </a:ext>
            </a:extLst>
          </p:cNvPr>
          <p:cNvSpPr>
            <a:spLocks noGrp="1"/>
          </p:cNvSpPr>
          <p:nvPr>
            <p:ph type="sldNum" sz="quarter" idx="12"/>
          </p:nvPr>
        </p:nvSpPr>
        <p:spPr/>
        <p:txBody>
          <a:bodyPr/>
          <a:lstStyle/>
          <a:p>
            <a:fld id="{723B6F6A-0448-4EED-A121-7B4A352F61BD}" type="slidenum">
              <a:rPr lang="nl-NL" smtClean="0"/>
              <a:t>9</a:t>
            </a:fld>
            <a:endParaRPr lang="nl-NL"/>
          </a:p>
        </p:txBody>
      </p:sp>
    </p:spTree>
    <p:extLst>
      <p:ext uri="{BB962C8B-B14F-4D97-AF65-F5344CB8AC3E}">
        <p14:creationId xmlns:p14="http://schemas.microsoft.com/office/powerpoint/2010/main" val="330243010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FC263-11F5-033B-4830-357794866397}"/>
              </a:ext>
            </a:extLst>
          </p:cNvPr>
          <p:cNvSpPr>
            <a:spLocks noGrp="1"/>
          </p:cNvSpPr>
          <p:nvPr>
            <p:ph type="title"/>
          </p:nvPr>
        </p:nvSpPr>
        <p:spPr>
          <a:xfrm>
            <a:off x="269724" y="328841"/>
            <a:ext cx="10515600" cy="744484"/>
          </a:xfrm>
        </p:spPr>
        <p:txBody>
          <a:bodyPr/>
          <a:lstStyle/>
          <a:p>
            <a:r>
              <a:rPr lang="en-US" dirty="0"/>
              <a:t>Set comprehensions</a:t>
            </a:r>
            <a:endParaRPr lang="en-US" noProof="0" dirty="0"/>
          </a:p>
        </p:txBody>
      </p:sp>
      <p:sp>
        <p:nvSpPr>
          <p:cNvPr id="3" name="Content Placeholder 2">
            <a:extLst>
              <a:ext uri="{FF2B5EF4-FFF2-40B4-BE49-F238E27FC236}">
                <a16:creationId xmlns:a16="http://schemas.microsoft.com/office/drawing/2014/main" id="{CB91C5D6-DFDE-636A-A87A-7035C641F4C7}"/>
              </a:ext>
            </a:extLst>
          </p:cNvPr>
          <p:cNvSpPr>
            <a:spLocks noGrp="1"/>
          </p:cNvSpPr>
          <p:nvPr>
            <p:ph idx="1"/>
          </p:nvPr>
        </p:nvSpPr>
        <p:spPr>
          <a:xfrm>
            <a:off x="269724" y="1146298"/>
            <a:ext cx="10515600" cy="5137079"/>
          </a:xfrm>
        </p:spPr>
        <p:txBody>
          <a:bodyPr>
            <a:noAutofit/>
          </a:bodyPr>
          <a:lstStyle/>
          <a:p>
            <a:r>
              <a:rPr lang="en-US" sz="2400" dirty="0">
                <a:latin typeface="+mn-lt"/>
                <a:cs typeface="Arial" panose="020B0604020202020204" pitchFamily="34" charset="0"/>
              </a:rPr>
              <a:t>Example: you have a list called </a:t>
            </a:r>
            <a:r>
              <a:rPr lang="en-US" sz="2000" dirty="0">
                <a:latin typeface="Courier New" panose="02070309020205020404" pitchFamily="49" charset="0"/>
                <a:cs typeface="Courier New" panose="02070309020205020404" pitchFamily="49" charset="0"/>
              </a:rPr>
              <a:t>l1</a:t>
            </a:r>
            <a:r>
              <a:rPr lang="en-US" sz="2400" dirty="0">
                <a:latin typeface="+mn-lt"/>
                <a:cs typeface="Courier New" panose="02070309020205020404" pitchFamily="49" charset="0"/>
              </a:rPr>
              <a:t> </a:t>
            </a:r>
            <a:r>
              <a:rPr lang="en-US" sz="2400" dirty="0">
                <a:latin typeface="+mn-lt"/>
              </a:rPr>
              <a:t> </a:t>
            </a:r>
            <a:r>
              <a:rPr lang="en-US" sz="2400" dirty="0">
                <a:latin typeface="+mn-lt"/>
                <a:cs typeface="Arial" panose="020B0604020202020204" pitchFamily="34" charset="0"/>
              </a:rPr>
              <a:t>with integers and you have to write code that creates a set, with all the values from the list doubled, while ignoring values from the list that are even. The new set should be called </a:t>
            </a:r>
            <a:r>
              <a:rPr lang="en-US" sz="2000" dirty="0">
                <a:latin typeface="Courier New" panose="02070309020205020404" pitchFamily="49" charset="0"/>
                <a:cs typeface="Courier New" panose="02070309020205020404" pitchFamily="49" charset="0"/>
              </a:rPr>
              <a:t>s1</a:t>
            </a:r>
            <a:r>
              <a:rPr lang="en-US" sz="2400" dirty="0">
                <a:latin typeface="+mn-lt"/>
                <a:cs typeface="Courier New" panose="02070309020205020404" pitchFamily="49" charset="0"/>
              </a:rPr>
              <a:t>.</a:t>
            </a:r>
          </a:p>
          <a:p>
            <a:r>
              <a:rPr lang="en-US" sz="2400" dirty="0">
                <a:latin typeface="+mn-lt"/>
                <a:cs typeface="Arial" panose="020B0604020202020204" pitchFamily="34" charset="0"/>
              </a:rPr>
              <a:t>For example, </a:t>
            </a:r>
            <a:r>
              <a:rPr lang="en-US" sz="2000" dirty="0">
                <a:latin typeface="Courier New" panose="02070309020205020404" pitchFamily="49" charset="0"/>
                <a:cs typeface="Courier New" panose="02070309020205020404" pitchFamily="49" charset="0"/>
              </a:rPr>
              <a:t>l1 = [1, 3, 2, 5]</a:t>
            </a:r>
            <a:r>
              <a:rPr lang="en-US" sz="2400" dirty="0">
                <a:latin typeface="+mn-lt"/>
                <a:cs typeface="Courier New" panose="02070309020205020404" pitchFamily="49" charset="0"/>
              </a:rPr>
              <a:t> </a:t>
            </a:r>
            <a:r>
              <a:rPr lang="en-US" sz="2400" dirty="0">
                <a:latin typeface="+mn-lt"/>
                <a:cs typeface="Arial" panose="020B0604020202020204" pitchFamily="34" charset="0"/>
              </a:rPr>
              <a:t>should result in </a:t>
            </a:r>
            <a:r>
              <a:rPr lang="en-US" sz="2000" dirty="0">
                <a:latin typeface="Courier New" panose="02070309020205020404" pitchFamily="49" charset="0"/>
                <a:cs typeface="Courier New" panose="02070309020205020404" pitchFamily="49" charset="0"/>
              </a:rPr>
              <a:t>s1 = {2, 6, 10}</a:t>
            </a:r>
          </a:p>
          <a:p>
            <a:r>
              <a:rPr lang="en-US" sz="2400" dirty="0">
                <a:latin typeface="+mn-lt"/>
                <a:cs typeface="Arial" panose="020B0604020202020204" pitchFamily="34" charset="0"/>
              </a:rPr>
              <a:t>Based on what you learned so far, the solution could be:</a:t>
            </a:r>
            <a:br>
              <a:rPr lang="en-US" sz="20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s1 = set()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for x in l1: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if x%2 == 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continue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s1.add(x * 2)</a:t>
            </a:r>
          </a:p>
          <a:p>
            <a:r>
              <a:rPr lang="en-US" sz="2400" dirty="0">
                <a:latin typeface="+mn-lt"/>
                <a:cs typeface="Arial" panose="020B0604020202020204" pitchFamily="34" charset="0"/>
              </a:rPr>
              <a:t>With a comprehension, the solution could be:</a:t>
            </a:r>
            <a:br>
              <a:rPr lang="en-US" sz="20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s1 = {x * 2 for x in l1 if not (x%2 == 0)}</a:t>
            </a:r>
          </a:p>
          <a:p>
            <a:r>
              <a:rPr lang="en-US" sz="2400" dirty="0">
                <a:latin typeface="+mn-lt"/>
                <a:cs typeface="Arial" panose="020B0604020202020204" pitchFamily="34" charset="0"/>
              </a:rPr>
              <a:t>Question: why does Python understand you are building a set and not a dictionary?</a:t>
            </a:r>
          </a:p>
          <a:p>
            <a:r>
              <a:rPr lang="en-US" sz="2400" dirty="0">
                <a:latin typeface="Arial" panose="020B0604020202020204" pitchFamily="34" charset="0"/>
                <a:cs typeface="Arial" panose="020B0604020202020204" pitchFamily="34" charset="0"/>
              </a:rPr>
              <a:t>Answer: because you don't create key: value pairs, but single values</a:t>
            </a:r>
            <a:endParaRPr lang="en-US" sz="2400" noProof="0" dirty="0">
              <a:latin typeface="+mn-lt"/>
            </a:endParaRPr>
          </a:p>
        </p:txBody>
      </p:sp>
      <p:sp>
        <p:nvSpPr>
          <p:cNvPr id="4" name="Slide Number Placeholder 3">
            <a:extLst>
              <a:ext uri="{FF2B5EF4-FFF2-40B4-BE49-F238E27FC236}">
                <a16:creationId xmlns:a16="http://schemas.microsoft.com/office/drawing/2014/main" id="{2BC8E9A7-2231-4348-942B-5381D1F6ED38}"/>
              </a:ext>
            </a:extLst>
          </p:cNvPr>
          <p:cNvSpPr>
            <a:spLocks noGrp="1"/>
          </p:cNvSpPr>
          <p:nvPr>
            <p:ph type="sldNum" sz="quarter" idx="12"/>
          </p:nvPr>
        </p:nvSpPr>
        <p:spPr/>
        <p:txBody>
          <a:bodyPr/>
          <a:lstStyle/>
          <a:p>
            <a:fld id="{723B6F6A-0448-4EED-A121-7B4A352F61BD}" type="slidenum">
              <a:rPr lang="nl-NL" smtClean="0"/>
              <a:t>10</a:t>
            </a:fld>
            <a:endParaRPr lang="nl-NL"/>
          </a:p>
        </p:txBody>
      </p:sp>
    </p:spTree>
    <p:extLst>
      <p:ext uri="{BB962C8B-B14F-4D97-AF65-F5344CB8AC3E}">
        <p14:creationId xmlns:p14="http://schemas.microsoft.com/office/powerpoint/2010/main" val="265642728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FC263-11F5-033B-4830-357794866397}"/>
              </a:ext>
            </a:extLst>
          </p:cNvPr>
          <p:cNvSpPr>
            <a:spLocks noGrp="1"/>
          </p:cNvSpPr>
          <p:nvPr>
            <p:ph type="title"/>
          </p:nvPr>
        </p:nvSpPr>
        <p:spPr>
          <a:xfrm>
            <a:off x="384629" y="328841"/>
            <a:ext cx="10515600" cy="744484"/>
          </a:xfrm>
        </p:spPr>
        <p:txBody>
          <a:bodyPr/>
          <a:lstStyle/>
          <a:p>
            <a:r>
              <a:rPr lang="en-US" dirty="0"/>
              <a:t>'string comprehensions'</a:t>
            </a:r>
            <a:endParaRPr lang="en-US" noProof="0" dirty="0"/>
          </a:p>
        </p:txBody>
      </p:sp>
      <p:sp>
        <p:nvSpPr>
          <p:cNvPr id="3" name="Content Placeholder 2">
            <a:extLst>
              <a:ext uri="{FF2B5EF4-FFF2-40B4-BE49-F238E27FC236}">
                <a16:creationId xmlns:a16="http://schemas.microsoft.com/office/drawing/2014/main" id="{CB91C5D6-DFDE-636A-A87A-7035C641F4C7}"/>
              </a:ext>
            </a:extLst>
          </p:cNvPr>
          <p:cNvSpPr>
            <a:spLocks noGrp="1"/>
          </p:cNvSpPr>
          <p:nvPr>
            <p:ph idx="1"/>
          </p:nvPr>
        </p:nvSpPr>
        <p:spPr>
          <a:xfrm>
            <a:off x="384629" y="1073325"/>
            <a:ext cx="10515600" cy="5137079"/>
          </a:xfrm>
        </p:spPr>
        <p:txBody>
          <a:bodyPr>
            <a:noAutofit/>
          </a:bodyPr>
          <a:lstStyle/>
          <a:p>
            <a:r>
              <a:rPr lang="en-US" sz="2400" dirty="0">
                <a:latin typeface="+mn-lt"/>
                <a:cs typeface="Arial" panose="020B0604020202020204" pitchFamily="34" charset="0"/>
              </a:rPr>
              <a:t>Example: you have a string called </a:t>
            </a:r>
            <a:r>
              <a:rPr lang="en-US" sz="2000" dirty="0">
                <a:latin typeface="Courier New" panose="02070309020205020404" pitchFamily="49" charset="0"/>
                <a:cs typeface="Courier New" panose="02070309020205020404" pitchFamily="49" charset="0"/>
              </a:rPr>
              <a:t>s1</a:t>
            </a:r>
            <a:r>
              <a:rPr lang="en-US" sz="2400" dirty="0">
                <a:latin typeface="+mn-lt"/>
                <a:cs typeface="Courier New" panose="02070309020205020404" pitchFamily="49" charset="0"/>
              </a:rPr>
              <a:t> </a:t>
            </a:r>
            <a:r>
              <a:rPr lang="en-US" sz="2400" dirty="0">
                <a:latin typeface="+mn-lt"/>
              </a:rPr>
              <a:t> </a:t>
            </a:r>
            <a:r>
              <a:rPr lang="en-US" sz="2400" dirty="0">
                <a:latin typeface="+mn-lt"/>
                <a:cs typeface="Arial" panose="020B0604020202020204" pitchFamily="34" charset="0"/>
              </a:rPr>
              <a:t>with only letters and digits and you have to write code that creates a string where all vowels doubled, all consonants tripled, and all digits ignored. The new string should be called </a:t>
            </a:r>
            <a:r>
              <a:rPr lang="en-US" sz="2000" dirty="0">
                <a:latin typeface="Courier New" panose="02070309020205020404" pitchFamily="49" charset="0"/>
                <a:cs typeface="Courier New" panose="02070309020205020404" pitchFamily="49" charset="0"/>
              </a:rPr>
              <a:t>s2</a:t>
            </a:r>
          </a:p>
          <a:p>
            <a:r>
              <a:rPr lang="en-US" sz="2400" dirty="0">
                <a:latin typeface="+mn-lt"/>
                <a:cs typeface="Arial" panose="020B0604020202020204" pitchFamily="34" charset="0"/>
              </a:rPr>
              <a:t>For example,</a:t>
            </a:r>
            <a:r>
              <a:rPr lang="en-US" sz="2400" dirty="0">
                <a:latin typeface="Arial" panose="020B0604020202020204" pitchFamily="34" charset="0"/>
                <a:cs typeface="Arial" panose="020B0604020202020204" pitchFamily="34" charset="0"/>
              </a:rPr>
              <a:t> </a:t>
            </a:r>
            <a:r>
              <a:rPr lang="en-US" sz="2000" dirty="0">
                <a:latin typeface="Courier New" panose="02070309020205020404" pitchFamily="49" charset="0"/>
                <a:cs typeface="Courier New" panose="02070309020205020404" pitchFamily="49" charset="0"/>
              </a:rPr>
              <a:t>s1 = 'a1BcDE2FgH3i'</a:t>
            </a:r>
            <a:r>
              <a:rPr lang="en-US" sz="2400" dirty="0">
                <a:latin typeface="Courier New" panose="02070309020205020404" pitchFamily="49" charset="0"/>
                <a:cs typeface="Courier New" panose="02070309020205020404" pitchFamily="49" charset="0"/>
              </a:rPr>
              <a:t> </a:t>
            </a:r>
            <a:r>
              <a:rPr lang="en-US" sz="2400" dirty="0">
                <a:latin typeface="+mn-lt"/>
                <a:cs typeface="Arial" panose="020B0604020202020204" pitchFamily="34" charset="0"/>
              </a:rPr>
              <a:t>should result in </a:t>
            </a:r>
            <a:br>
              <a:rPr lang="en-US" sz="2400" dirty="0">
                <a:latin typeface="+mn-lt"/>
                <a:cs typeface="Arial" panose="020B0604020202020204" pitchFamily="34" charset="0"/>
              </a:rPr>
            </a:br>
            <a:r>
              <a:rPr lang="en-US" sz="2000" dirty="0">
                <a:latin typeface="Courier New" panose="02070309020205020404" pitchFamily="49" charset="0"/>
                <a:cs typeface="Courier New" panose="02070309020205020404" pitchFamily="49" charset="0"/>
              </a:rPr>
              <a:t>s2 = '</a:t>
            </a:r>
            <a:r>
              <a:rPr lang="en-US" sz="2000" dirty="0" err="1">
                <a:latin typeface="Courier New" panose="02070309020205020404" pitchFamily="49" charset="0"/>
                <a:cs typeface="Courier New" panose="02070309020205020404" pitchFamily="49" charset="0"/>
              </a:rPr>
              <a:t>aaBBBcccDDDEEFFFgggHHHii</a:t>
            </a:r>
            <a:r>
              <a:rPr lang="en-US" sz="2000" dirty="0">
                <a:latin typeface="Courier New" panose="02070309020205020404" pitchFamily="49" charset="0"/>
                <a:cs typeface="Courier New" panose="02070309020205020404" pitchFamily="49" charset="0"/>
              </a:rPr>
              <a:t>'</a:t>
            </a:r>
          </a:p>
          <a:p>
            <a:r>
              <a:rPr lang="en-US" sz="2400" dirty="0">
                <a:latin typeface="+mn-lt"/>
                <a:cs typeface="Arial" panose="020B0604020202020204" pitchFamily="34" charset="0"/>
              </a:rPr>
              <a:t>Based on what you learned so far, the solution could be:</a:t>
            </a:r>
            <a:br>
              <a:rPr lang="en-US" sz="24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import string</a:t>
            </a:r>
            <a:br>
              <a:rPr lang="en-US" sz="20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s2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for x in s1: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if x in </a:t>
            </a:r>
            <a:r>
              <a:rPr lang="en-US" sz="2000" dirty="0" err="1">
                <a:latin typeface="Courier New" panose="02070309020205020404" pitchFamily="49" charset="0"/>
                <a:cs typeface="Courier New" panose="02070309020205020404" pitchFamily="49" charset="0"/>
              </a:rPr>
              <a:t>string.digits</a:t>
            </a:r>
            <a:r>
              <a:rPr lang="en-US" sz="2000" dirty="0">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continue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s2 += x*2 if </a:t>
            </a:r>
            <a:r>
              <a:rPr lang="en-US" sz="2000" dirty="0" err="1">
                <a:latin typeface="Courier New" panose="02070309020205020404" pitchFamily="49" charset="0"/>
                <a:cs typeface="Courier New" panose="02070309020205020404" pitchFamily="49" charset="0"/>
              </a:rPr>
              <a:t>x.lower</a:t>
            </a:r>
            <a:r>
              <a:rPr lang="en-US" sz="2000" dirty="0">
                <a:latin typeface="Courier New" panose="02070309020205020404" pitchFamily="49" charset="0"/>
                <a:cs typeface="Courier New" panose="02070309020205020404" pitchFamily="49" charset="0"/>
              </a:rPr>
              <a:t>() in '</a:t>
            </a:r>
            <a:r>
              <a:rPr lang="en-US" sz="2000" dirty="0" err="1">
                <a:latin typeface="Courier New" panose="02070309020205020404" pitchFamily="49" charset="0"/>
                <a:cs typeface="Courier New" panose="02070309020205020404" pitchFamily="49" charset="0"/>
              </a:rPr>
              <a:t>aeiou</a:t>
            </a:r>
            <a:r>
              <a:rPr lang="en-US" sz="2000" dirty="0">
                <a:latin typeface="Courier New" panose="02070309020205020404" pitchFamily="49" charset="0"/>
                <a:cs typeface="Courier New" panose="02070309020205020404" pitchFamily="49" charset="0"/>
              </a:rPr>
              <a:t>' else x*3</a:t>
            </a:r>
          </a:p>
          <a:p>
            <a:r>
              <a:rPr lang="en-US" sz="2400" dirty="0">
                <a:latin typeface="+mn-lt"/>
                <a:cs typeface="Arial" panose="020B0604020202020204" pitchFamily="34" charset="0"/>
              </a:rPr>
              <a:t>Question: string comprehensions don't exist; so how would you solve this problem with a comprehension? </a:t>
            </a:r>
            <a:br>
              <a:rPr lang="en-US" sz="2400" dirty="0">
                <a:latin typeface="+mn-lt"/>
                <a:cs typeface="Arial" panose="020B0604020202020204" pitchFamily="34" charset="0"/>
              </a:rPr>
            </a:br>
            <a:r>
              <a:rPr lang="en-US" sz="2400" dirty="0">
                <a:latin typeface="+mn-lt"/>
                <a:cs typeface="Arial" panose="020B0604020202020204" pitchFamily="34" charset="0"/>
              </a:rPr>
              <a:t>Hint: Remember how we sorted a string.</a:t>
            </a:r>
          </a:p>
          <a:p>
            <a:pPr marL="0" indent="0">
              <a:buNone/>
            </a:pPr>
            <a:endParaRPr lang="en-US" sz="2400" noProof="0" dirty="0">
              <a:latin typeface="+mn-lt"/>
            </a:endParaRPr>
          </a:p>
        </p:txBody>
      </p:sp>
      <p:sp>
        <p:nvSpPr>
          <p:cNvPr id="4" name="Slide Number Placeholder 3">
            <a:extLst>
              <a:ext uri="{FF2B5EF4-FFF2-40B4-BE49-F238E27FC236}">
                <a16:creationId xmlns:a16="http://schemas.microsoft.com/office/drawing/2014/main" id="{2BC8E9A7-2231-4348-942B-5381D1F6ED38}"/>
              </a:ext>
            </a:extLst>
          </p:cNvPr>
          <p:cNvSpPr>
            <a:spLocks noGrp="1"/>
          </p:cNvSpPr>
          <p:nvPr>
            <p:ph type="sldNum" sz="quarter" idx="12"/>
          </p:nvPr>
        </p:nvSpPr>
        <p:spPr/>
        <p:txBody>
          <a:bodyPr/>
          <a:lstStyle/>
          <a:p>
            <a:fld id="{723B6F6A-0448-4EED-A121-7B4A352F61BD}" type="slidenum">
              <a:rPr lang="nl-NL" smtClean="0"/>
              <a:t>11</a:t>
            </a:fld>
            <a:endParaRPr lang="nl-NL"/>
          </a:p>
        </p:txBody>
      </p:sp>
    </p:spTree>
    <p:extLst>
      <p:ext uri="{BB962C8B-B14F-4D97-AF65-F5344CB8AC3E}">
        <p14:creationId xmlns:p14="http://schemas.microsoft.com/office/powerpoint/2010/main" val="8185286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1DFC263-11F5-033B-4830-357794866397}"/>
              </a:ext>
            </a:extLst>
          </p:cNvPr>
          <p:cNvSpPr>
            <a:spLocks noGrp="1"/>
          </p:cNvSpPr>
          <p:nvPr>
            <p:ph type="title"/>
          </p:nvPr>
        </p:nvSpPr>
        <p:spPr>
          <a:xfrm>
            <a:off x="384629" y="323294"/>
            <a:ext cx="10515600" cy="744484"/>
          </a:xfrm>
        </p:spPr>
        <p:txBody>
          <a:bodyPr/>
          <a:lstStyle/>
          <a:p>
            <a:r>
              <a:rPr lang="en-US" dirty="0"/>
              <a:t>'string comprehensions'</a:t>
            </a:r>
            <a:endParaRPr lang="en-US" noProof="0" dirty="0"/>
          </a:p>
        </p:txBody>
      </p:sp>
      <p:sp>
        <p:nvSpPr>
          <p:cNvPr id="3" name="Content Placeholder 2">
            <a:extLst>
              <a:ext uri="{FF2B5EF4-FFF2-40B4-BE49-F238E27FC236}">
                <a16:creationId xmlns:a16="http://schemas.microsoft.com/office/drawing/2014/main" id="{CB91C5D6-DFDE-636A-A87A-7035C641F4C7}"/>
              </a:ext>
            </a:extLst>
          </p:cNvPr>
          <p:cNvSpPr>
            <a:spLocks noGrp="1"/>
          </p:cNvSpPr>
          <p:nvPr>
            <p:ph idx="1"/>
          </p:nvPr>
        </p:nvSpPr>
        <p:spPr>
          <a:xfrm>
            <a:off x="384628" y="1073325"/>
            <a:ext cx="11807371" cy="5137079"/>
          </a:xfrm>
        </p:spPr>
        <p:txBody>
          <a:bodyPr>
            <a:noAutofit/>
          </a:bodyPr>
          <a:lstStyle/>
          <a:p>
            <a:r>
              <a:rPr lang="en-US" sz="2400" dirty="0">
                <a:latin typeface="+mn-lt"/>
                <a:cs typeface="Arial" panose="020B0604020202020204" pitchFamily="34" charset="0"/>
              </a:rPr>
              <a:t>With a comprehension, the solution could be:</a:t>
            </a:r>
            <a:br>
              <a:rPr lang="en-US" sz="24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import string</a:t>
            </a:r>
            <a:br>
              <a:rPr lang="en-US" sz="24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l1 = [x * 2 if </a:t>
            </a:r>
            <a:r>
              <a:rPr lang="en-US" sz="2000" dirty="0" err="1">
                <a:latin typeface="Courier New" panose="02070309020205020404" pitchFamily="49" charset="0"/>
                <a:cs typeface="Courier New" panose="02070309020205020404" pitchFamily="49" charset="0"/>
              </a:rPr>
              <a:t>x.lower</a:t>
            </a:r>
            <a:r>
              <a:rPr lang="en-US" sz="2000" dirty="0">
                <a:latin typeface="Courier New" panose="02070309020205020404" pitchFamily="49" charset="0"/>
                <a:cs typeface="Courier New" panose="02070309020205020404" pitchFamily="49" charset="0"/>
              </a:rPr>
              <a:t>() in '</a:t>
            </a:r>
            <a:r>
              <a:rPr lang="en-US" sz="2000" dirty="0" err="1">
                <a:latin typeface="Courier New" panose="02070309020205020404" pitchFamily="49" charset="0"/>
                <a:cs typeface="Courier New" panose="02070309020205020404" pitchFamily="49" charset="0"/>
              </a:rPr>
              <a:t>aeiou</a:t>
            </a:r>
            <a:r>
              <a:rPr lang="en-US" sz="2000" dirty="0">
                <a:latin typeface="Courier New" panose="02070309020205020404" pitchFamily="49" charset="0"/>
                <a:cs typeface="Courier New" panose="02070309020205020404" pitchFamily="49" charset="0"/>
              </a:rPr>
              <a:t>' else x * 3 for x in s1 if x in </a:t>
            </a:r>
            <a:r>
              <a:rPr lang="en-US" sz="2000" dirty="0" err="1">
                <a:latin typeface="Courier New" panose="02070309020205020404" pitchFamily="49" charset="0"/>
                <a:cs typeface="Courier New" panose="02070309020205020404" pitchFamily="49" charset="0"/>
              </a:rPr>
              <a:t>string.ascii_letters</a:t>
            </a:r>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s2 = ''.join(l1)</a:t>
            </a:r>
          </a:p>
          <a:p>
            <a:r>
              <a:rPr lang="en-US" sz="2400" dirty="0">
                <a:latin typeface="+mn-lt"/>
                <a:cs typeface="Arial" panose="020B0604020202020204" pitchFamily="34" charset="0"/>
              </a:rPr>
              <a:t>So, you use a list comprehension to solve the question</a:t>
            </a:r>
          </a:p>
          <a:p>
            <a:r>
              <a:rPr lang="en-US" sz="2400" dirty="0">
                <a:latin typeface="+mn-lt"/>
                <a:cs typeface="Arial" panose="020B0604020202020204" pitchFamily="34" charset="0"/>
              </a:rPr>
              <a:t>There is actually no such thing as a string comprehension, and therefore I put quotes around it</a:t>
            </a:r>
            <a:endParaRPr lang="en-US" sz="2400" noProof="0" dirty="0">
              <a:latin typeface="+mn-lt"/>
            </a:endParaRPr>
          </a:p>
        </p:txBody>
      </p:sp>
      <p:sp>
        <p:nvSpPr>
          <p:cNvPr id="4" name="Slide Number Placeholder 3">
            <a:extLst>
              <a:ext uri="{FF2B5EF4-FFF2-40B4-BE49-F238E27FC236}">
                <a16:creationId xmlns:a16="http://schemas.microsoft.com/office/drawing/2014/main" id="{2BC8E9A7-2231-4348-942B-5381D1F6ED38}"/>
              </a:ext>
            </a:extLst>
          </p:cNvPr>
          <p:cNvSpPr>
            <a:spLocks noGrp="1"/>
          </p:cNvSpPr>
          <p:nvPr>
            <p:ph type="sldNum" sz="quarter" idx="12"/>
          </p:nvPr>
        </p:nvSpPr>
        <p:spPr/>
        <p:txBody>
          <a:bodyPr/>
          <a:lstStyle/>
          <a:p>
            <a:fld id="{723B6F6A-0448-4EED-A121-7B4A352F61BD}" type="slidenum">
              <a:rPr lang="nl-NL" smtClean="0"/>
              <a:t>12</a:t>
            </a:fld>
            <a:endParaRPr lang="nl-NL"/>
          </a:p>
        </p:txBody>
      </p:sp>
    </p:spTree>
    <p:extLst>
      <p:ext uri="{BB962C8B-B14F-4D97-AF65-F5344CB8AC3E}">
        <p14:creationId xmlns:p14="http://schemas.microsoft.com/office/powerpoint/2010/main" val="40200286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F169C-B3D9-E4D9-AD7E-D593D2AD7B66}"/>
              </a:ext>
            </a:extLst>
          </p:cNvPr>
          <p:cNvSpPr>
            <a:spLocks noGrp="1"/>
          </p:cNvSpPr>
          <p:nvPr>
            <p:ph type="title"/>
          </p:nvPr>
        </p:nvSpPr>
        <p:spPr/>
        <p:txBody>
          <a:bodyPr/>
          <a:lstStyle/>
          <a:p>
            <a:r>
              <a:rPr lang="nl-NL" dirty="0" err="1"/>
              <a:t>Nested</a:t>
            </a:r>
            <a:r>
              <a:rPr lang="nl-NL" dirty="0"/>
              <a:t> </a:t>
            </a:r>
            <a:r>
              <a:rPr lang="nl-NL" dirty="0" err="1"/>
              <a:t>comprehensions</a:t>
            </a:r>
            <a:endParaRPr lang="en-US" dirty="0"/>
          </a:p>
        </p:txBody>
      </p:sp>
      <p:sp>
        <p:nvSpPr>
          <p:cNvPr id="3" name="Content Placeholder 2">
            <a:extLst>
              <a:ext uri="{FF2B5EF4-FFF2-40B4-BE49-F238E27FC236}">
                <a16:creationId xmlns:a16="http://schemas.microsoft.com/office/drawing/2014/main" id="{3C40FFAA-425F-40B0-C4DF-93F92C549F6E}"/>
              </a:ext>
            </a:extLst>
          </p:cNvPr>
          <p:cNvSpPr>
            <a:spLocks noGrp="1"/>
          </p:cNvSpPr>
          <p:nvPr>
            <p:ph idx="1"/>
          </p:nvPr>
        </p:nvSpPr>
        <p:spPr>
          <a:xfrm>
            <a:off x="0" y="1825624"/>
            <a:ext cx="12192000" cy="5032375"/>
          </a:xfrm>
        </p:spPr>
        <p:txBody>
          <a:bodyPr>
            <a:normAutofit lnSpcReduction="10000"/>
          </a:bodyPr>
          <a:lstStyle/>
          <a:p>
            <a:r>
              <a:rPr lang="en-US" sz="2000" dirty="0">
                <a:latin typeface="+mn-lt"/>
                <a:cs typeface="Arial" panose="020B0604020202020204" pitchFamily="34" charset="0"/>
              </a:rPr>
              <a:t>Example: you want to create a dictionary </a:t>
            </a:r>
            <a:r>
              <a:rPr lang="en-US" sz="2000" dirty="0">
                <a:latin typeface="Courier New" panose="02070309020205020404" pitchFamily="49" charset="0"/>
                <a:cs typeface="Courier New" panose="02070309020205020404" pitchFamily="49" charset="0"/>
              </a:rPr>
              <a:t>result</a:t>
            </a:r>
            <a:r>
              <a:rPr lang="en-US" sz="2000" dirty="0">
                <a:latin typeface="+mn-lt"/>
                <a:cs typeface="Arial" panose="020B0604020202020204" pitchFamily="34" charset="0"/>
              </a:rPr>
              <a:t>, with keys being the integers between 1 and 4, and values are sub-dictionaries. The sub-dictionaries have keys that start with the same integer as the key in result till 4 and the values are sum of these keys.</a:t>
            </a:r>
            <a:endParaRPr lang="en-US" sz="2000" dirty="0">
              <a:latin typeface="Courier New" panose="02070309020205020404" pitchFamily="49" charset="0"/>
              <a:cs typeface="Courier New" panose="02070309020205020404" pitchFamily="49" charset="0"/>
            </a:endParaRPr>
          </a:p>
          <a:p>
            <a:r>
              <a:rPr lang="en-US" sz="2000" dirty="0">
                <a:latin typeface="+mn-lt"/>
                <a:cs typeface="Arial" panose="020B0604020202020204" pitchFamily="34" charset="0"/>
              </a:rPr>
              <a:t>For example:</a:t>
            </a:r>
            <a:br>
              <a:rPr lang="en-US" sz="2000" dirty="0">
                <a:latin typeface="+mn-lt"/>
                <a:cs typeface="Arial" panose="020B0604020202020204" pitchFamily="34" charset="0"/>
              </a:rPr>
            </a:br>
            <a:r>
              <a:rPr lang="en-US" sz="2000" dirty="0">
                <a:latin typeface="Courier New" panose="02070309020205020404" pitchFamily="49" charset="0"/>
                <a:cs typeface="Courier New" panose="02070309020205020404" pitchFamily="49" charset="0"/>
              </a:rPr>
              <a:t>print(result) </a:t>
            </a:r>
            <a:r>
              <a:rPr lang="en-US" sz="2000" dirty="0">
                <a:latin typeface="+mn-lt"/>
                <a:cs typeface="Arial" panose="020B0604020202020204" pitchFamily="34" charset="0"/>
              </a:rPr>
              <a:t>should give </a:t>
            </a:r>
            <a:r>
              <a:rPr lang="en-US" sz="2000" dirty="0">
                <a:latin typeface="Courier New" panose="02070309020205020404" pitchFamily="49" charset="0"/>
                <a:cs typeface="Courier New" panose="02070309020205020404" pitchFamily="49" charset="0"/>
              </a:rPr>
              <a:t>: {1: {1: 2, 2: 3, 3: 4}, 2: {2: 4, 3: 5}, 3: {3: 6}}</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print(result[2][3]) </a:t>
            </a:r>
            <a:r>
              <a:rPr lang="en-US" sz="2000" dirty="0">
                <a:latin typeface="+mn-lt"/>
                <a:cs typeface="Arial" panose="020B0604020202020204" pitchFamily="34" charset="0"/>
              </a:rPr>
              <a:t>should give </a:t>
            </a:r>
            <a:r>
              <a:rPr lang="en-US" sz="2000" dirty="0">
                <a:latin typeface="Courier New" panose="02070309020205020404" pitchFamily="49" charset="0"/>
                <a:cs typeface="Courier New" panose="02070309020205020404" pitchFamily="49" charset="0"/>
              </a:rPr>
              <a:t>5</a:t>
            </a:r>
          </a:p>
          <a:p>
            <a:r>
              <a:rPr lang="en-US" sz="2000" dirty="0" err="1">
                <a:latin typeface="Courier New" panose="02070309020205020404" pitchFamily="49" charset="0"/>
                <a:cs typeface="Courier New" panose="02070309020205020404" pitchFamily="49" charset="0"/>
              </a:rPr>
              <a:t>func</a:t>
            </a:r>
            <a:r>
              <a:rPr lang="en-US" sz="2000" dirty="0">
                <a:latin typeface="Courier New" panose="02070309020205020404" pitchFamily="49" charset="0"/>
                <a:cs typeface="Courier New" panose="02070309020205020404" pitchFamily="49" charset="0"/>
              </a:rPr>
              <a:t> = lambda </a:t>
            </a:r>
            <a:r>
              <a:rPr lang="en-US" sz="2000" dirty="0" err="1">
                <a:latin typeface="Courier New" panose="02070309020205020404" pitchFamily="49" charset="0"/>
                <a:cs typeface="Courier New" panose="02070309020205020404" pitchFamily="49" charset="0"/>
              </a:rPr>
              <a:t>x,y</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x+y</a:t>
            </a:r>
            <a:endParaRPr lang="en-US" sz="2000" dirty="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result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for x in range(1, 4):</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result1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for y in range(x, 4):</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result1[y] = </a:t>
            </a:r>
            <a:r>
              <a:rPr lang="en-US" sz="2000" dirty="0" err="1">
                <a:latin typeface="Courier New" panose="02070309020205020404" pitchFamily="49" charset="0"/>
                <a:cs typeface="Courier New" panose="02070309020205020404" pitchFamily="49" charset="0"/>
              </a:rPr>
              <a:t>func</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x,y</a:t>
            </a:r>
            <a:r>
              <a:rPr lang="en-US" sz="2000" dirty="0">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result[x] = result1    </a:t>
            </a:r>
          </a:p>
          <a:p>
            <a:r>
              <a:rPr lang="en-US" sz="2000" dirty="0">
                <a:latin typeface="+mn-lt"/>
                <a:cs typeface="Arial" panose="020B0604020202020204" pitchFamily="34" charset="0"/>
              </a:rPr>
              <a:t>With a comprehension, the solution could be:</a:t>
            </a:r>
          </a:p>
          <a:p>
            <a:r>
              <a:rPr lang="en-US" sz="2000" dirty="0">
                <a:latin typeface="Courier New" panose="02070309020205020404" pitchFamily="49" charset="0"/>
                <a:cs typeface="Courier New" panose="02070309020205020404" pitchFamily="49" charset="0"/>
              </a:rPr>
              <a:t>result = {x:{y: </a:t>
            </a:r>
            <a:r>
              <a:rPr lang="en-US" sz="2000" dirty="0" err="1">
                <a:latin typeface="Courier New" panose="02070309020205020404" pitchFamily="49" charset="0"/>
                <a:cs typeface="Courier New" panose="02070309020205020404" pitchFamily="49" charset="0"/>
              </a:rPr>
              <a:t>func</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x,y</a:t>
            </a:r>
            <a:r>
              <a:rPr lang="en-US" sz="2000" dirty="0">
                <a:latin typeface="Courier New" panose="02070309020205020404" pitchFamily="49" charset="0"/>
                <a:cs typeface="Courier New" panose="02070309020205020404" pitchFamily="49" charset="0"/>
              </a:rPr>
              <a:t>) for y in range(x, 4)} for x in range(1, 4)}</a:t>
            </a:r>
          </a:p>
          <a:p>
            <a:r>
              <a:rPr lang="en-US" sz="2000" dirty="0">
                <a:latin typeface="+mn-lt"/>
                <a:cs typeface="Arial" panose="020B0604020202020204" pitchFamily="34" charset="0"/>
              </a:rPr>
              <a:t>Read the comprehension right to left</a:t>
            </a:r>
          </a:p>
          <a:p>
            <a:endParaRPr lang="en-US" sz="2000" dirty="0"/>
          </a:p>
        </p:txBody>
      </p:sp>
      <p:sp>
        <p:nvSpPr>
          <p:cNvPr id="4" name="Slide Number Placeholder 3">
            <a:extLst>
              <a:ext uri="{FF2B5EF4-FFF2-40B4-BE49-F238E27FC236}">
                <a16:creationId xmlns:a16="http://schemas.microsoft.com/office/drawing/2014/main" id="{3E126548-FD52-5486-6795-34680DAE7F37}"/>
              </a:ext>
            </a:extLst>
          </p:cNvPr>
          <p:cNvSpPr>
            <a:spLocks noGrp="1"/>
          </p:cNvSpPr>
          <p:nvPr>
            <p:ph type="sldNum" sz="quarter" idx="12"/>
          </p:nvPr>
        </p:nvSpPr>
        <p:spPr/>
        <p:txBody>
          <a:bodyPr/>
          <a:lstStyle/>
          <a:p>
            <a:fld id="{723B6F6A-0448-4EED-A121-7B4A352F61BD}" type="slidenum">
              <a:rPr lang="nl-NL" smtClean="0"/>
              <a:t>13</a:t>
            </a:fld>
            <a:endParaRPr lang="nl-NL"/>
          </a:p>
        </p:txBody>
      </p:sp>
    </p:spTree>
    <p:extLst>
      <p:ext uri="{BB962C8B-B14F-4D97-AF65-F5344CB8AC3E}">
        <p14:creationId xmlns:p14="http://schemas.microsoft.com/office/powerpoint/2010/main" val="203494242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DF169C-B3D9-E4D9-AD7E-D593D2AD7B66}"/>
              </a:ext>
            </a:extLst>
          </p:cNvPr>
          <p:cNvSpPr>
            <a:spLocks noGrp="1"/>
          </p:cNvSpPr>
          <p:nvPr>
            <p:ph type="title"/>
          </p:nvPr>
        </p:nvSpPr>
        <p:spPr/>
        <p:txBody>
          <a:bodyPr/>
          <a:lstStyle/>
          <a:p>
            <a:r>
              <a:rPr lang="nl-NL" dirty="0" err="1"/>
              <a:t>Nested</a:t>
            </a:r>
            <a:r>
              <a:rPr lang="nl-NL" dirty="0"/>
              <a:t> </a:t>
            </a:r>
            <a:r>
              <a:rPr lang="nl-NL" dirty="0" err="1"/>
              <a:t>comprehensions</a:t>
            </a:r>
            <a:endParaRPr lang="en-US" dirty="0"/>
          </a:p>
        </p:txBody>
      </p:sp>
      <p:sp>
        <p:nvSpPr>
          <p:cNvPr id="3" name="Content Placeholder 2">
            <a:extLst>
              <a:ext uri="{FF2B5EF4-FFF2-40B4-BE49-F238E27FC236}">
                <a16:creationId xmlns:a16="http://schemas.microsoft.com/office/drawing/2014/main" id="{3C40FFAA-425F-40B0-C4DF-93F92C549F6E}"/>
              </a:ext>
            </a:extLst>
          </p:cNvPr>
          <p:cNvSpPr>
            <a:spLocks noGrp="1"/>
          </p:cNvSpPr>
          <p:nvPr>
            <p:ph idx="1"/>
          </p:nvPr>
        </p:nvSpPr>
        <p:spPr>
          <a:xfrm>
            <a:off x="0" y="1825624"/>
            <a:ext cx="12192000" cy="5032375"/>
          </a:xfrm>
        </p:spPr>
        <p:txBody>
          <a:bodyPr>
            <a:normAutofit/>
          </a:bodyPr>
          <a:lstStyle/>
          <a:p>
            <a:r>
              <a:rPr lang="en-US" sz="2000" dirty="0">
                <a:latin typeface="+mn-lt"/>
                <a:cs typeface="Arial" panose="020B0604020202020204" pitchFamily="34" charset="0"/>
              </a:rPr>
              <a:t>Example: you want to create a dictionary </a:t>
            </a:r>
            <a:r>
              <a:rPr lang="en-US" sz="2000" dirty="0">
                <a:latin typeface="Courier New" panose="02070309020205020404" pitchFamily="49" charset="0"/>
                <a:cs typeface="Courier New" panose="02070309020205020404" pitchFamily="49" charset="0"/>
              </a:rPr>
              <a:t>result</a:t>
            </a:r>
            <a:r>
              <a:rPr lang="en-US" sz="2000" dirty="0">
                <a:latin typeface="+mn-lt"/>
                <a:cs typeface="Arial" panose="020B0604020202020204" pitchFamily="34" charset="0"/>
              </a:rPr>
              <a:t>, with keys being tuples of two integers (second one greater equal) between 1 and 4, and values that are the sum of these numbers.</a:t>
            </a:r>
            <a:endParaRPr lang="en-US" sz="2000" dirty="0">
              <a:latin typeface="Courier New" panose="02070309020205020404" pitchFamily="49" charset="0"/>
              <a:cs typeface="Courier New" panose="02070309020205020404" pitchFamily="49" charset="0"/>
            </a:endParaRPr>
          </a:p>
          <a:p>
            <a:r>
              <a:rPr lang="en-US" sz="2000" dirty="0">
                <a:latin typeface="+mn-lt"/>
                <a:cs typeface="Arial" panose="020B0604020202020204" pitchFamily="34" charset="0"/>
              </a:rPr>
              <a:t>For example:</a:t>
            </a:r>
            <a:br>
              <a:rPr lang="en-US" sz="2000" dirty="0">
                <a:latin typeface="+mn-lt"/>
                <a:cs typeface="Arial" panose="020B0604020202020204" pitchFamily="34" charset="0"/>
              </a:rPr>
            </a:br>
            <a:r>
              <a:rPr lang="en-US" sz="2000" dirty="0">
                <a:latin typeface="Courier New" panose="02070309020205020404" pitchFamily="49" charset="0"/>
                <a:cs typeface="Courier New" panose="02070309020205020404" pitchFamily="49" charset="0"/>
              </a:rPr>
              <a:t>print(result) </a:t>
            </a:r>
            <a:r>
              <a:rPr lang="en-US" sz="2000" dirty="0">
                <a:latin typeface="+mn-lt"/>
                <a:cs typeface="Arial" panose="020B0604020202020204" pitchFamily="34" charset="0"/>
              </a:rPr>
              <a:t>should give </a:t>
            </a:r>
            <a:r>
              <a:rPr lang="en-US" sz="2000" dirty="0">
                <a:latin typeface="Courier New" panose="02070309020205020404" pitchFamily="49" charset="0"/>
                <a:cs typeface="Courier New" panose="02070309020205020404" pitchFamily="49" charset="0"/>
              </a:rPr>
              <a:t>: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{(1, 1): 2, (1, 2): 3, (1, 3): 4, (2, 2): 4, (2, 3): 5, (3, 3): 6}</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print(result[(2, 3)] </a:t>
            </a:r>
            <a:r>
              <a:rPr lang="en-US" sz="2000" dirty="0">
                <a:latin typeface="+mn-lt"/>
                <a:cs typeface="Arial" panose="020B0604020202020204" pitchFamily="34" charset="0"/>
              </a:rPr>
              <a:t>should give </a:t>
            </a:r>
            <a:r>
              <a:rPr lang="en-US" sz="2000" dirty="0">
                <a:latin typeface="Courier New" panose="02070309020205020404" pitchFamily="49" charset="0"/>
                <a:cs typeface="Courier New" panose="02070309020205020404" pitchFamily="49" charset="0"/>
              </a:rPr>
              <a:t>5</a:t>
            </a:r>
          </a:p>
          <a:p>
            <a:r>
              <a:rPr lang="en-US" sz="2000" dirty="0" err="1">
                <a:latin typeface="Courier New" panose="02070309020205020404" pitchFamily="49" charset="0"/>
                <a:cs typeface="Courier New" panose="02070309020205020404" pitchFamily="49" charset="0"/>
              </a:rPr>
              <a:t>func</a:t>
            </a:r>
            <a:r>
              <a:rPr lang="en-US" sz="2000" dirty="0">
                <a:latin typeface="Courier New" panose="02070309020205020404" pitchFamily="49" charset="0"/>
                <a:cs typeface="Courier New" panose="02070309020205020404" pitchFamily="49" charset="0"/>
              </a:rPr>
              <a:t> = lambda </a:t>
            </a:r>
            <a:r>
              <a:rPr lang="en-US" sz="2000" dirty="0" err="1">
                <a:latin typeface="Courier New" panose="02070309020205020404" pitchFamily="49" charset="0"/>
                <a:cs typeface="Courier New" panose="02070309020205020404" pitchFamily="49" charset="0"/>
              </a:rPr>
              <a:t>x,y</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x+y</a:t>
            </a:r>
            <a:endParaRPr lang="en-US" sz="2000" dirty="0">
              <a:latin typeface="Courier New" panose="02070309020205020404" pitchFamily="49" charset="0"/>
              <a:cs typeface="Courier New" panose="02070309020205020404" pitchFamily="49" charset="0"/>
            </a:endParaRPr>
          </a:p>
          <a:p>
            <a:r>
              <a:rPr lang="en-US" sz="2000" dirty="0">
                <a:latin typeface="Courier New" panose="02070309020205020404" pitchFamily="49" charset="0"/>
                <a:cs typeface="Courier New" panose="02070309020205020404" pitchFamily="49" charset="0"/>
              </a:rPr>
              <a:t>result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for x in range(1, 4):</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for y in range(x, 4):</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result[</a:t>
            </a:r>
            <a:r>
              <a:rPr lang="en-US" sz="2000" dirty="0" err="1">
                <a:latin typeface="Courier New" panose="02070309020205020404" pitchFamily="49" charset="0"/>
                <a:cs typeface="Courier New" panose="02070309020205020404" pitchFamily="49" charset="0"/>
              </a:rPr>
              <a:t>x,y</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func</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x,y</a:t>
            </a:r>
            <a:r>
              <a:rPr lang="en-US" sz="2000" dirty="0">
                <a:latin typeface="Courier New" panose="02070309020205020404" pitchFamily="49" charset="0"/>
                <a:cs typeface="Courier New" panose="02070309020205020404" pitchFamily="49" charset="0"/>
              </a:rPr>
              <a:t>)</a:t>
            </a:r>
          </a:p>
          <a:p>
            <a:r>
              <a:rPr lang="en-US" sz="2000" dirty="0">
                <a:latin typeface="+mn-lt"/>
                <a:cs typeface="Arial" panose="020B0604020202020204" pitchFamily="34" charset="0"/>
              </a:rPr>
              <a:t>With a comprehension, the solution could be:</a:t>
            </a:r>
          </a:p>
          <a:p>
            <a:r>
              <a:rPr lang="en-US" sz="2000" dirty="0">
                <a:latin typeface="Courier New" panose="02070309020205020404" pitchFamily="49" charset="0"/>
                <a:cs typeface="Courier New" panose="02070309020205020404" pitchFamily="49" charset="0"/>
              </a:rPr>
              <a:t>result = {(x, y): </a:t>
            </a:r>
            <a:r>
              <a:rPr lang="en-US" sz="2000" dirty="0" err="1">
                <a:latin typeface="Courier New" panose="02070309020205020404" pitchFamily="49" charset="0"/>
                <a:cs typeface="Courier New" panose="02070309020205020404" pitchFamily="49" charset="0"/>
              </a:rPr>
              <a:t>func</a:t>
            </a: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x,y</a:t>
            </a:r>
            <a:r>
              <a:rPr lang="en-US" sz="2000" dirty="0">
                <a:latin typeface="Courier New" panose="02070309020205020404" pitchFamily="49" charset="0"/>
                <a:cs typeface="Courier New" panose="02070309020205020404" pitchFamily="49" charset="0"/>
              </a:rPr>
              <a:t>) for x in range(1, 4) for y in range(x, 4)}</a:t>
            </a:r>
          </a:p>
          <a:p>
            <a:r>
              <a:rPr lang="en-US" sz="2000" dirty="0">
                <a:latin typeface="+mn-lt"/>
                <a:cs typeface="Arial" panose="020B0604020202020204" pitchFamily="34" charset="0"/>
              </a:rPr>
              <a:t>Read the comprehension from right to left</a:t>
            </a:r>
          </a:p>
        </p:txBody>
      </p:sp>
      <p:sp>
        <p:nvSpPr>
          <p:cNvPr id="4" name="Slide Number Placeholder 3">
            <a:extLst>
              <a:ext uri="{FF2B5EF4-FFF2-40B4-BE49-F238E27FC236}">
                <a16:creationId xmlns:a16="http://schemas.microsoft.com/office/drawing/2014/main" id="{3E126548-FD52-5486-6795-34680DAE7F37}"/>
              </a:ext>
            </a:extLst>
          </p:cNvPr>
          <p:cNvSpPr>
            <a:spLocks noGrp="1"/>
          </p:cNvSpPr>
          <p:nvPr>
            <p:ph type="sldNum" sz="quarter" idx="12"/>
          </p:nvPr>
        </p:nvSpPr>
        <p:spPr/>
        <p:txBody>
          <a:bodyPr/>
          <a:lstStyle/>
          <a:p>
            <a:fld id="{723B6F6A-0448-4EED-A121-7B4A352F61BD}" type="slidenum">
              <a:rPr lang="nl-NL" smtClean="0"/>
              <a:t>14</a:t>
            </a:fld>
            <a:endParaRPr lang="nl-NL"/>
          </a:p>
        </p:txBody>
      </p:sp>
    </p:spTree>
    <p:extLst>
      <p:ext uri="{BB962C8B-B14F-4D97-AF65-F5344CB8AC3E}">
        <p14:creationId xmlns:p14="http://schemas.microsoft.com/office/powerpoint/2010/main" val="426596297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019E1-50E6-A592-B904-FCBEFA34FD72}"/>
              </a:ext>
            </a:extLst>
          </p:cNvPr>
          <p:cNvSpPr>
            <a:spLocks noGrp="1"/>
          </p:cNvSpPr>
          <p:nvPr>
            <p:ph type="title"/>
          </p:nvPr>
        </p:nvSpPr>
        <p:spPr/>
        <p:txBody>
          <a:bodyPr/>
          <a:lstStyle/>
          <a:p>
            <a:r>
              <a:rPr lang="en-US" dirty="0"/>
              <a:t>List comprehensions (old school)</a:t>
            </a:r>
          </a:p>
        </p:txBody>
      </p:sp>
      <p:sp>
        <p:nvSpPr>
          <p:cNvPr id="3" name="Content Placeholder 2">
            <a:extLst>
              <a:ext uri="{FF2B5EF4-FFF2-40B4-BE49-F238E27FC236}">
                <a16:creationId xmlns:a16="http://schemas.microsoft.com/office/drawing/2014/main" id="{F372918F-DC8D-BB49-3E45-A675F4B1D9A6}"/>
              </a:ext>
            </a:extLst>
          </p:cNvPr>
          <p:cNvSpPr>
            <a:spLocks noGrp="1"/>
          </p:cNvSpPr>
          <p:nvPr>
            <p:ph idx="1"/>
          </p:nvPr>
        </p:nvSpPr>
        <p:spPr>
          <a:xfrm>
            <a:off x="339047" y="1825624"/>
            <a:ext cx="11852953" cy="5032375"/>
          </a:xfrm>
        </p:spPr>
        <p:txBody>
          <a:bodyPr>
            <a:normAutofit fontScale="77500" lnSpcReduction="20000"/>
          </a:bodyPr>
          <a:lstStyle/>
          <a:p>
            <a:r>
              <a:rPr lang="en-US" dirty="0">
                <a:latin typeface="Arial" panose="020B0604020202020204" pitchFamily="34" charset="0"/>
                <a:cs typeface="Arial" panose="020B0604020202020204" pitchFamily="34" charset="0"/>
              </a:rPr>
              <a:t>In week 3 Hugo explained, in one of the </a:t>
            </a:r>
            <a:r>
              <a:rPr lang="en-US" dirty="0" err="1">
                <a:latin typeface="Arial" panose="020B0604020202020204" pitchFamily="34" charset="0"/>
                <a:cs typeface="Arial" panose="020B0604020202020204" pitchFamily="34" charset="0"/>
              </a:rPr>
              <a:t>Datacamp</a:t>
            </a:r>
            <a:r>
              <a:rPr lang="en-US" dirty="0">
                <a:latin typeface="Arial" panose="020B0604020202020204" pitchFamily="34" charset="0"/>
                <a:cs typeface="Arial" panose="020B0604020202020204" pitchFamily="34" charset="0"/>
              </a:rPr>
              <a:t> video's, lambda functions in combinations with map and filter. This combination also can make your code very concise</a:t>
            </a:r>
          </a:p>
          <a:p>
            <a:r>
              <a:rPr lang="en-US" dirty="0">
                <a:latin typeface="Arial" panose="020B0604020202020204" pitchFamily="34" charset="0"/>
                <a:cs typeface="Arial" panose="020B0604020202020204" pitchFamily="34" charset="0"/>
              </a:rPr>
              <a:t> I will show you how that works, and I hope you will agree, that comprehensions are the better option</a:t>
            </a:r>
          </a:p>
          <a:p>
            <a:r>
              <a:rPr lang="en-US" dirty="0">
                <a:latin typeface="Arial" panose="020B0604020202020204" pitchFamily="34" charset="0"/>
                <a:cs typeface="Arial" panose="020B0604020202020204" pitchFamily="34" charset="0"/>
              </a:rPr>
              <a:t>Say you have a list called </a:t>
            </a:r>
            <a:r>
              <a:rPr lang="en-US" dirty="0">
                <a:latin typeface="Courier New" panose="02070309020205020404" pitchFamily="49" charset="0"/>
                <a:cs typeface="Courier New" panose="02070309020205020404" pitchFamily="49" charset="0"/>
              </a:rPr>
              <a:t>l1</a:t>
            </a:r>
            <a:r>
              <a:rPr lang="en-US" dirty="0"/>
              <a:t> </a:t>
            </a:r>
            <a:r>
              <a:rPr lang="en-US" dirty="0">
                <a:latin typeface="Arial" panose="020B0604020202020204" pitchFamily="34" charset="0"/>
                <a:cs typeface="Arial" panose="020B0604020202020204" pitchFamily="34" charset="0"/>
              </a:rPr>
              <a:t>with integers and you have to write code that creates a new list where all integers are ignored when they are divisible by 3, are doubled when they are odd and not divisible by 3, and halved when they are even and not divisible by 3. </a:t>
            </a:r>
            <a:br>
              <a:rPr lang="en-US" dirty="0">
                <a:latin typeface="Arial" panose="020B0604020202020204" pitchFamily="34" charset="0"/>
                <a:cs typeface="Arial" panose="020B0604020202020204" pitchFamily="34" charset="0"/>
              </a:rPr>
            </a:br>
            <a:r>
              <a:rPr lang="en-US" dirty="0">
                <a:latin typeface="Arial" panose="020B0604020202020204" pitchFamily="34" charset="0"/>
                <a:cs typeface="Arial" panose="020B0604020202020204" pitchFamily="34" charset="0"/>
              </a:rPr>
              <a:t>The new list should only contain integers and be called </a:t>
            </a:r>
            <a:r>
              <a:rPr lang="en-US" dirty="0">
                <a:latin typeface="Courier New" panose="02070309020205020404" pitchFamily="49" charset="0"/>
                <a:cs typeface="Courier New" panose="02070309020205020404" pitchFamily="49" charset="0"/>
              </a:rPr>
              <a:t>l2</a:t>
            </a:r>
          </a:p>
          <a:p>
            <a:r>
              <a:rPr lang="en-US" dirty="0">
                <a:latin typeface="Arial" panose="020B0604020202020204" pitchFamily="34" charset="0"/>
                <a:cs typeface="Arial" panose="020B0604020202020204" pitchFamily="34" charset="0"/>
              </a:rPr>
              <a:t>For example, </a:t>
            </a:r>
            <a:r>
              <a:rPr lang="en-US" dirty="0">
                <a:latin typeface="Courier New" panose="02070309020205020404" pitchFamily="49" charset="0"/>
                <a:cs typeface="Courier New" panose="02070309020205020404" pitchFamily="49" charset="0"/>
              </a:rPr>
              <a:t>l1 = [1, 3, 2, 4] </a:t>
            </a:r>
            <a:r>
              <a:rPr lang="en-US" dirty="0">
                <a:latin typeface="Arial" panose="020B0604020202020204" pitchFamily="34" charset="0"/>
                <a:cs typeface="Arial" panose="020B0604020202020204" pitchFamily="34" charset="0"/>
              </a:rPr>
              <a:t>should result in </a:t>
            </a:r>
            <a:r>
              <a:rPr lang="en-US" dirty="0">
                <a:latin typeface="Courier New" panose="02070309020205020404" pitchFamily="49" charset="0"/>
                <a:cs typeface="Courier New" panose="02070309020205020404" pitchFamily="49" charset="0"/>
              </a:rPr>
              <a:t>l2 = [2</a:t>
            </a:r>
            <a:r>
              <a:rPr lang="en-US" dirty="0">
                <a:latin typeface="Courier New" panose="02070309020205020404" pitchFamily="49" charset="0"/>
                <a:cs typeface="Courier New" panose="02070309020205020404" pitchFamily="49" charset="0"/>
                <a:sym typeface="Wingdings" panose="05000000000000000000" pitchFamily="2" charset="2"/>
              </a:rPr>
              <a:t>, 1, 2]</a:t>
            </a:r>
            <a:endParaRPr lang="en-US" dirty="0">
              <a:latin typeface="Courier New" panose="02070309020205020404" pitchFamily="49" charset="0"/>
              <a:cs typeface="Courier New" panose="02070309020205020404" pitchFamily="49" charset="0"/>
            </a:endParaRPr>
          </a:p>
          <a:p>
            <a:r>
              <a:rPr lang="en-US" dirty="0">
                <a:latin typeface="Arial" panose="020B0604020202020204" pitchFamily="34" charset="0"/>
                <a:cs typeface="Arial" panose="020B0604020202020204" pitchFamily="34" charset="0"/>
              </a:rPr>
              <a:t>With a comprehension, the solution could be:</a:t>
            </a:r>
            <a:br>
              <a:rPr lang="en-US" dirty="0">
                <a:latin typeface="Arial" panose="020B0604020202020204" pitchFamily="34" charset="0"/>
                <a:cs typeface="Arial" panose="020B0604020202020204" pitchFamily="34" charset="0"/>
              </a:rPr>
            </a:br>
            <a:r>
              <a:rPr lang="en-US" dirty="0">
                <a:latin typeface="Courier New" panose="02070309020205020404" pitchFamily="49" charset="0"/>
                <a:cs typeface="Courier New" panose="02070309020205020404" pitchFamily="49" charset="0"/>
              </a:rPr>
              <a:t>l2 = [x * 2 if x%2 == 1 else x // 2 for x in l1 if x % 3 != 0]</a:t>
            </a:r>
            <a:r>
              <a:rPr lang="en-US" dirty="0">
                <a:latin typeface="Arial" panose="020B0604020202020204" pitchFamily="34" charset="0"/>
                <a:cs typeface="Arial" panose="020B0604020202020204" pitchFamily="34" charset="0"/>
              </a:rPr>
              <a:t> </a:t>
            </a:r>
          </a:p>
          <a:p>
            <a:r>
              <a:rPr lang="en-US" dirty="0">
                <a:latin typeface="Arial" panose="020B0604020202020204" pitchFamily="34" charset="0"/>
                <a:cs typeface="Arial" panose="020B0604020202020204" pitchFamily="34" charset="0"/>
              </a:rPr>
              <a:t>With map, filter and </a:t>
            </a:r>
            <a:r>
              <a:rPr lang="en-US" dirty="0" err="1">
                <a:latin typeface="Arial" panose="020B0604020202020204" pitchFamily="34" charset="0"/>
                <a:cs typeface="Arial" panose="020B0604020202020204" pitchFamily="34" charset="0"/>
              </a:rPr>
              <a:t>lamba</a:t>
            </a:r>
            <a:r>
              <a:rPr lang="en-US" dirty="0">
                <a:latin typeface="Arial" panose="020B0604020202020204" pitchFamily="34" charset="0"/>
                <a:cs typeface="Arial" panose="020B0604020202020204" pitchFamily="34" charset="0"/>
              </a:rPr>
              <a:t>, the solution could be:</a:t>
            </a:r>
            <a:br>
              <a:rPr lang="en-US" dirty="0">
                <a:latin typeface="Arial" panose="020B0604020202020204" pitchFamily="34" charset="0"/>
                <a:cs typeface="Arial" panose="020B0604020202020204" pitchFamily="34" charset="0"/>
              </a:rPr>
            </a:br>
            <a:r>
              <a:rPr lang="en-US" dirty="0">
                <a:latin typeface="Courier New" panose="02070309020205020404" pitchFamily="49" charset="0"/>
                <a:cs typeface="Courier New" panose="02070309020205020404" pitchFamily="49" charset="0"/>
              </a:rPr>
              <a:t>l2 = list(map(lambda x: x * 2 if x%2 == 1 else x//2, filter(lambda x: x % 3 != 0, l1)))</a:t>
            </a:r>
          </a:p>
          <a:p>
            <a:r>
              <a:rPr lang="en-US" dirty="0">
                <a:latin typeface="Arial" panose="020B0604020202020204" pitchFamily="34" charset="0"/>
                <a:cs typeface="Arial" panose="020B0604020202020204" pitchFamily="34" charset="0"/>
              </a:rPr>
              <a:t>There is a reason map and filter are used less since the introduction of comprehensions in Python</a:t>
            </a:r>
          </a:p>
        </p:txBody>
      </p:sp>
      <p:sp>
        <p:nvSpPr>
          <p:cNvPr id="4" name="Slide Number Placeholder 3">
            <a:extLst>
              <a:ext uri="{FF2B5EF4-FFF2-40B4-BE49-F238E27FC236}">
                <a16:creationId xmlns:a16="http://schemas.microsoft.com/office/drawing/2014/main" id="{BEA47B3C-980F-3C24-6B1D-73E1A6474EED}"/>
              </a:ext>
            </a:extLst>
          </p:cNvPr>
          <p:cNvSpPr>
            <a:spLocks noGrp="1"/>
          </p:cNvSpPr>
          <p:nvPr>
            <p:ph type="sldNum" sz="quarter" idx="12"/>
          </p:nvPr>
        </p:nvSpPr>
        <p:spPr/>
        <p:txBody>
          <a:bodyPr/>
          <a:lstStyle/>
          <a:p>
            <a:fld id="{723B6F6A-0448-4EED-A121-7B4A352F61BD}" type="slidenum">
              <a:rPr lang="nl-NL" smtClean="0"/>
              <a:t>15</a:t>
            </a:fld>
            <a:endParaRPr lang="nl-NL"/>
          </a:p>
        </p:txBody>
      </p:sp>
    </p:spTree>
    <p:extLst>
      <p:ext uri="{BB962C8B-B14F-4D97-AF65-F5344CB8AC3E}">
        <p14:creationId xmlns:p14="http://schemas.microsoft.com/office/powerpoint/2010/main" val="11364899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352CF0-9FC9-A241-9FE4-50706617E058}"/>
              </a:ext>
            </a:extLst>
          </p:cNvPr>
          <p:cNvSpPr>
            <a:spLocks noGrp="1"/>
          </p:cNvSpPr>
          <p:nvPr>
            <p:ph type="title"/>
          </p:nvPr>
        </p:nvSpPr>
        <p:spPr/>
        <p:txBody>
          <a:bodyPr/>
          <a:lstStyle/>
          <a:p>
            <a:r>
              <a:rPr lang="nl-NL" dirty="0"/>
              <a:t>How </a:t>
            </a:r>
            <a:r>
              <a:rPr lang="nl-NL" dirty="0" err="1"/>
              <a:t>to</a:t>
            </a:r>
            <a:r>
              <a:rPr lang="nl-NL" dirty="0"/>
              <a:t> </a:t>
            </a:r>
            <a:r>
              <a:rPr lang="nl-NL" dirty="0" err="1"/>
              <a:t>read</a:t>
            </a:r>
            <a:r>
              <a:rPr lang="nl-NL" dirty="0"/>
              <a:t> </a:t>
            </a:r>
            <a:r>
              <a:rPr lang="nl-NL" dirty="0" err="1"/>
              <a:t>this</a:t>
            </a:r>
            <a:endParaRPr lang="en-US" dirty="0"/>
          </a:p>
        </p:txBody>
      </p:sp>
      <p:sp>
        <p:nvSpPr>
          <p:cNvPr id="3" name="Content Placeholder 2">
            <a:extLst>
              <a:ext uri="{FF2B5EF4-FFF2-40B4-BE49-F238E27FC236}">
                <a16:creationId xmlns:a16="http://schemas.microsoft.com/office/drawing/2014/main" id="{B1CF9504-8C68-550B-0E46-972FA0984D58}"/>
              </a:ext>
            </a:extLst>
          </p:cNvPr>
          <p:cNvSpPr>
            <a:spLocks noGrp="1"/>
          </p:cNvSpPr>
          <p:nvPr>
            <p:ph idx="1"/>
          </p:nvPr>
        </p:nvSpPr>
        <p:spPr>
          <a:xfrm>
            <a:off x="0" y="1825625"/>
            <a:ext cx="12192000" cy="4351338"/>
          </a:xfrm>
        </p:spPr>
        <p:txBody>
          <a:bodyPr>
            <a:normAutofit/>
          </a:bodyPr>
          <a:lstStyle/>
          <a:p>
            <a:r>
              <a:rPr lang="en-US" sz="2000" dirty="0">
                <a:latin typeface="Courier New" panose="02070309020205020404" pitchFamily="49" charset="0"/>
                <a:cs typeface="Courier New" panose="02070309020205020404" pitchFamily="49" charset="0"/>
              </a:rPr>
              <a:t>l2 = list(map(lambda x: x * 2 if x%2 == 1 else x//2, filter(lambda x: x % 3 != 0, l1)))</a:t>
            </a:r>
          </a:p>
          <a:p>
            <a:r>
              <a:rPr lang="en-US" sz="2000" dirty="0">
                <a:latin typeface="+mn-lt"/>
                <a:cs typeface="Courier New" panose="02070309020205020404" pitchFamily="49" charset="0"/>
              </a:rPr>
              <a:t>Start at the deepest level </a:t>
            </a:r>
            <a:r>
              <a:rPr lang="en-US" sz="2000" dirty="0" err="1">
                <a:latin typeface="+mn-lt"/>
                <a:cs typeface="Courier New" panose="02070309020205020404" pitchFamily="49" charset="0"/>
              </a:rPr>
              <a:t>wrt</a:t>
            </a:r>
            <a:r>
              <a:rPr lang="en-US" sz="2000" dirty="0">
                <a:latin typeface="+mn-lt"/>
                <a:cs typeface="Courier New" panose="02070309020205020404" pitchFamily="49" charset="0"/>
              </a:rPr>
              <a:t> the brackets</a:t>
            </a:r>
          </a:p>
          <a:p>
            <a:r>
              <a:rPr lang="en-US" sz="2000" dirty="0" err="1">
                <a:latin typeface="Courier New" panose="02070309020205020404" pitchFamily="49" charset="0"/>
                <a:cs typeface="Courier New" panose="02070309020205020404" pitchFamily="49" charset="0"/>
              </a:rPr>
              <a:t>filtered_values</a:t>
            </a:r>
            <a:r>
              <a:rPr lang="en-US" sz="2000" dirty="0">
                <a:latin typeface="Courier New" panose="02070309020205020404" pitchFamily="49" charset="0"/>
                <a:cs typeface="Courier New" panose="02070309020205020404" pitchFamily="49" charset="0"/>
              </a:rPr>
              <a:t> = filter(lambda x: x % 3 != 0, l1)</a:t>
            </a:r>
          </a:p>
          <a:p>
            <a:r>
              <a:rPr lang="en-US" sz="2000" dirty="0" err="1">
                <a:latin typeface="Courier New" panose="02070309020205020404" pitchFamily="49" charset="0"/>
                <a:cs typeface="Courier New" panose="02070309020205020404" pitchFamily="49" charset="0"/>
              </a:rPr>
              <a:t>processed_values</a:t>
            </a:r>
            <a:r>
              <a:rPr lang="en-US" sz="2000" dirty="0">
                <a:latin typeface="Courier New" panose="02070309020205020404" pitchFamily="49" charset="0"/>
                <a:cs typeface="Courier New" panose="02070309020205020404" pitchFamily="49" charset="0"/>
              </a:rPr>
              <a:t> = map(lambda x: x * 2 if x%2 == 1 else x//2, </a:t>
            </a:r>
            <a:r>
              <a:rPr lang="en-US" sz="2000" dirty="0" err="1">
                <a:latin typeface="Courier New" panose="02070309020205020404" pitchFamily="49" charset="0"/>
                <a:cs typeface="Courier New" panose="02070309020205020404" pitchFamily="49" charset="0"/>
              </a:rPr>
              <a:t>filtered_values</a:t>
            </a:r>
            <a:r>
              <a:rPr lang="en-US" sz="2000" dirty="0">
                <a:latin typeface="Courier New" panose="02070309020205020404" pitchFamily="49" charset="0"/>
                <a:cs typeface="Courier New" panose="02070309020205020404" pitchFamily="49" charset="0"/>
              </a:rPr>
              <a:t>)</a:t>
            </a:r>
          </a:p>
          <a:p>
            <a:r>
              <a:rPr lang="en-US" sz="2000" dirty="0" err="1">
                <a:latin typeface="Courier New" panose="02070309020205020404" pitchFamily="49" charset="0"/>
                <a:cs typeface="Courier New" panose="02070309020205020404" pitchFamily="49" charset="0"/>
              </a:rPr>
              <a:t>list_of_processed_values</a:t>
            </a:r>
            <a:r>
              <a:rPr lang="en-US" sz="2000" dirty="0">
                <a:latin typeface="Courier New" panose="02070309020205020404" pitchFamily="49" charset="0"/>
                <a:cs typeface="Courier New" panose="02070309020205020404" pitchFamily="49" charset="0"/>
              </a:rPr>
              <a:t> = list(</a:t>
            </a:r>
            <a:r>
              <a:rPr lang="en-US" sz="2000" dirty="0" err="1">
                <a:latin typeface="Courier New" panose="02070309020205020404" pitchFamily="49" charset="0"/>
                <a:cs typeface="Courier New" panose="02070309020205020404" pitchFamily="49" charset="0"/>
              </a:rPr>
              <a:t>processed_values</a:t>
            </a:r>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print(</a:t>
            </a:r>
            <a:r>
              <a:rPr lang="en-US" sz="2000" dirty="0" err="1">
                <a:latin typeface="Courier New" panose="02070309020205020404" pitchFamily="49" charset="0"/>
                <a:cs typeface="Courier New" panose="02070309020205020404" pitchFamily="49" charset="0"/>
              </a:rPr>
              <a:t>list_of_processed_values</a:t>
            </a:r>
            <a:r>
              <a:rPr lang="en-US" sz="2000" dirty="0">
                <a:latin typeface="Courier New" panose="02070309020205020404" pitchFamily="49" charset="0"/>
                <a:cs typeface="Courier New" panose="02070309020205020404" pitchFamily="49" charset="0"/>
              </a:rPr>
              <a:t>)</a:t>
            </a:r>
            <a:endParaRPr lang="en-US" sz="2000" dirty="0"/>
          </a:p>
        </p:txBody>
      </p:sp>
      <p:sp>
        <p:nvSpPr>
          <p:cNvPr id="4" name="Slide Number Placeholder 3">
            <a:extLst>
              <a:ext uri="{FF2B5EF4-FFF2-40B4-BE49-F238E27FC236}">
                <a16:creationId xmlns:a16="http://schemas.microsoft.com/office/drawing/2014/main" id="{9CEF0A68-BF0A-CC81-1B7F-A303B7ED3F1B}"/>
              </a:ext>
            </a:extLst>
          </p:cNvPr>
          <p:cNvSpPr>
            <a:spLocks noGrp="1"/>
          </p:cNvSpPr>
          <p:nvPr>
            <p:ph type="sldNum" sz="quarter" idx="12"/>
          </p:nvPr>
        </p:nvSpPr>
        <p:spPr/>
        <p:txBody>
          <a:bodyPr/>
          <a:lstStyle/>
          <a:p>
            <a:fld id="{723B6F6A-0448-4EED-A121-7B4A352F61BD}" type="slidenum">
              <a:rPr lang="nl-NL" smtClean="0"/>
              <a:t>16</a:t>
            </a:fld>
            <a:endParaRPr lang="nl-NL"/>
          </a:p>
        </p:txBody>
      </p:sp>
    </p:spTree>
    <p:extLst>
      <p:ext uri="{BB962C8B-B14F-4D97-AF65-F5344CB8AC3E}">
        <p14:creationId xmlns:p14="http://schemas.microsoft.com/office/powerpoint/2010/main" val="34011738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019E1-50E6-A592-B904-FCBEFA34FD72}"/>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F372918F-DC8D-BB49-3E45-A675F4B1D9A6}"/>
              </a:ext>
            </a:extLst>
          </p:cNvPr>
          <p:cNvSpPr>
            <a:spLocks noGrp="1"/>
          </p:cNvSpPr>
          <p:nvPr>
            <p:ph idx="1"/>
          </p:nvPr>
        </p:nvSpPr>
        <p:spPr>
          <a:xfrm>
            <a:off x="318498" y="1825624"/>
            <a:ext cx="11873501" cy="5032375"/>
          </a:xfrm>
        </p:spPr>
        <p:txBody>
          <a:bodyPr>
            <a:noAutofit/>
          </a:bodyPr>
          <a:lstStyle/>
          <a:p>
            <a:pPr marL="0" indent="0">
              <a:buNone/>
            </a:pPr>
            <a:r>
              <a:rPr lang="en-US" sz="2000" dirty="0">
                <a:latin typeface="Arial" panose="020B0604020202020204" pitchFamily="34" charset="0"/>
                <a:cs typeface="Arial" panose="020B0604020202020204" pitchFamily="34" charset="0"/>
              </a:rPr>
              <a:t>We already have the following code:</a:t>
            </a:r>
            <a:br>
              <a:rPr lang="en-US" sz="20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s1 = '01212321'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set1 = {int(x) * 2 for x in s1 if x in '02468'}</a:t>
            </a:r>
          </a:p>
          <a:p>
            <a:pPr marL="0" indent="0">
              <a:buNone/>
            </a:pPr>
            <a:r>
              <a:rPr lang="en-US" sz="2000" dirty="0">
                <a:latin typeface="Arial" panose="020B0604020202020204" pitchFamily="34" charset="0"/>
                <a:cs typeface="Arial" panose="020B0604020202020204" pitchFamily="34" charset="0"/>
              </a:rPr>
              <a:t>Which of the following lines of code will print True?</a:t>
            </a:r>
          </a:p>
          <a:p>
            <a:pPr marL="457200" indent="-457200">
              <a:buFont typeface="+mj-lt"/>
              <a:buAutoNum type="alphaLcPeriod"/>
            </a:pPr>
            <a:r>
              <a:rPr lang="en-US" sz="2000" dirty="0">
                <a:latin typeface="Courier New" panose="02070309020205020404" pitchFamily="49" charset="0"/>
                <a:cs typeface="Courier New" panose="02070309020205020404" pitchFamily="49" charset="0"/>
              </a:rPr>
              <a:t>print(set1 == {'0', '4', '4', '4'})</a:t>
            </a:r>
          </a:p>
          <a:p>
            <a:pPr marL="457200" indent="-457200">
              <a:buFont typeface="+mj-lt"/>
              <a:buAutoNum type="alphaLcPeriod"/>
            </a:pPr>
            <a:r>
              <a:rPr lang="en-US" sz="2000" dirty="0">
                <a:latin typeface="Courier New" panose="02070309020205020404" pitchFamily="49" charset="0"/>
                <a:cs typeface="Courier New" panose="02070309020205020404" pitchFamily="49" charset="0"/>
              </a:rPr>
              <a:t>print(set1 == {4, 0})</a:t>
            </a:r>
          </a:p>
          <a:p>
            <a:pPr marL="457200" indent="-457200">
              <a:buFont typeface="+mj-lt"/>
              <a:buAutoNum type="alphaLcPeriod"/>
            </a:pPr>
            <a:r>
              <a:rPr lang="en-US" sz="2000" dirty="0">
                <a:latin typeface="Arial" panose="020B0604020202020204" pitchFamily="34" charset="0"/>
                <a:cs typeface="Arial" panose="020B0604020202020204" pitchFamily="34" charset="0"/>
              </a:rPr>
              <a:t>Both will print </a:t>
            </a:r>
            <a:r>
              <a:rPr lang="en-US" sz="2000" dirty="0">
                <a:latin typeface="Courier New" panose="02070309020205020404" pitchFamily="49" charset="0"/>
                <a:cs typeface="Courier New" panose="02070309020205020404" pitchFamily="49" charset="0"/>
              </a:rPr>
              <a:t>True</a:t>
            </a:r>
          </a:p>
          <a:p>
            <a:pPr marL="457200" indent="-457200">
              <a:buFont typeface="+mj-lt"/>
              <a:buAutoNum type="alphaLcPeriod"/>
            </a:pPr>
            <a:r>
              <a:rPr lang="en-US" sz="2000" dirty="0">
                <a:latin typeface="Arial" panose="020B0604020202020204" pitchFamily="34" charset="0"/>
                <a:cs typeface="Arial" panose="020B0604020202020204" pitchFamily="34" charset="0"/>
              </a:rPr>
              <a:t>Neither one will print </a:t>
            </a:r>
            <a:r>
              <a:rPr lang="en-US" sz="2000" dirty="0">
                <a:latin typeface="Courier New" panose="02070309020205020404" pitchFamily="49" charset="0"/>
                <a:cs typeface="Courier New" panose="02070309020205020404" pitchFamily="49" charset="0"/>
              </a:rPr>
              <a:t>True</a:t>
            </a:r>
          </a:p>
          <a:p>
            <a:pPr marL="457200" indent="-457200">
              <a:buFont typeface="+mj-lt"/>
              <a:buAutoNum type="alphaLcPeriod"/>
            </a:pPr>
            <a:endParaRPr lang="en-US" sz="2000" dirty="0">
              <a:latin typeface="Courier New" panose="02070309020205020404" pitchFamily="49" charset="0"/>
              <a:cs typeface="Courier New" panose="02070309020205020404" pitchFamily="49" charset="0"/>
            </a:endParaRPr>
          </a:p>
          <a:p>
            <a:pPr marL="457200" indent="-457200">
              <a:buFont typeface="+mj-lt"/>
              <a:buAutoNum type="alphaLcPeriod"/>
            </a:pPr>
            <a:endParaRPr lang="en-US" sz="2000" dirty="0">
              <a:latin typeface="Arial" panose="020B0604020202020204" pitchFamily="34" charset="0"/>
              <a:cs typeface="Arial" panose="020B0604020202020204" pitchFamily="34" charset="0"/>
            </a:endParaRPr>
          </a:p>
        </p:txBody>
      </p:sp>
      <p:sp>
        <p:nvSpPr>
          <p:cNvPr id="4" name="Slide Number Placeholder 3">
            <a:extLst>
              <a:ext uri="{FF2B5EF4-FFF2-40B4-BE49-F238E27FC236}">
                <a16:creationId xmlns:a16="http://schemas.microsoft.com/office/drawing/2014/main" id="{BEA47B3C-980F-3C24-6B1D-73E1A6474EED}"/>
              </a:ext>
            </a:extLst>
          </p:cNvPr>
          <p:cNvSpPr>
            <a:spLocks noGrp="1"/>
          </p:cNvSpPr>
          <p:nvPr>
            <p:ph type="sldNum" sz="quarter" idx="12"/>
          </p:nvPr>
        </p:nvSpPr>
        <p:spPr/>
        <p:txBody>
          <a:bodyPr/>
          <a:lstStyle/>
          <a:p>
            <a:fld id="{723B6F6A-0448-4EED-A121-7B4A352F61BD}" type="slidenum">
              <a:rPr lang="nl-NL" smtClean="0"/>
              <a:t>17</a:t>
            </a:fld>
            <a:endParaRPr lang="nl-NL"/>
          </a:p>
        </p:txBody>
      </p:sp>
    </p:spTree>
    <p:extLst>
      <p:ext uri="{BB962C8B-B14F-4D97-AF65-F5344CB8AC3E}">
        <p14:creationId xmlns:p14="http://schemas.microsoft.com/office/powerpoint/2010/main" val="991749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FE019E1-50E6-A592-B904-FCBEFA34FD72}"/>
              </a:ext>
            </a:extLst>
          </p:cNvPr>
          <p:cNvSpPr>
            <a:spLocks noGrp="1"/>
          </p:cNvSpPr>
          <p:nvPr>
            <p:ph type="title"/>
          </p:nvPr>
        </p:nvSpPr>
        <p:spPr/>
        <p:txBody>
          <a:bodyPr/>
          <a:lstStyle/>
          <a:p>
            <a:r>
              <a:rPr lang="en-US" dirty="0"/>
              <a:t>Question</a:t>
            </a:r>
          </a:p>
        </p:txBody>
      </p:sp>
      <p:sp>
        <p:nvSpPr>
          <p:cNvPr id="3" name="Content Placeholder 2">
            <a:extLst>
              <a:ext uri="{FF2B5EF4-FFF2-40B4-BE49-F238E27FC236}">
                <a16:creationId xmlns:a16="http://schemas.microsoft.com/office/drawing/2014/main" id="{F372918F-DC8D-BB49-3E45-A675F4B1D9A6}"/>
              </a:ext>
            </a:extLst>
          </p:cNvPr>
          <p:cNvSpPr>
            <a:spLocks noGrp="1"/>
          </p:cNvSpPr>
          <p:nvPr>
            <p:ph idx="1"/>
          </p:nvPr>
        </p:nvSpPr>
        <p:spPr>
          <a:xfrm>
            <a:off x="318498" y="1825624"/>
            <a:ext cx="11873501" cy="5032375"/>
          </a:xfrm>
        </p:spPr>
        <p:txBody>
          <a:bodyPr>
            <a:noAutofit/>
          </a:bodyPr>
          <a:lstStyle/>
          <a:p>
            <a:pPr marL="0" indent="0">
              <a:buNone/>
            </a:pPr>
            <a:r>
              <a:rPr lang="en-US" sz="2000" dirty="0">
                <a:latin typeface="Arial" panose="020B0604020202020204" pitchFamily="34" charset="0"/>
                <a:cs typeface="Arial" panose="020B0604020202020204" pitchFamily="34" charset="0"/>
              </a:rPr>
              <a:t>We already have the following code:</a:t>
            </a:r>
            <a:br>
              <a:rPr lang="en-US" sz="2000" dirty="0">
                <a:latin typeface="Arial" panose="020B0604020202020204" pitchFamily="34" charset="0"/>
                <a:cs typeface="Arial" panose="020B0604020202020204" pitchFamily="34" charset="0"/>
              </a:rPr>
            </a:br>
            <a:r>
              <a:rPr lang="en-US" sz="2000" dirty="0">
                <a:latin typeface="Courier New" panose="02070309020205020404" pitchFamily="49" charset="0"/>
                <a:cs typeface="Courier New" panose="02070309020205020404" pitchFamily="49" charset="0"/>
              </a:rPr>
              <a:t>s1 = '01212321'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set1 = {int(x) * 2 for x in s1 if x in '02468'}</a:t>
            </a:r>
          </a:p>
          <a:p>
            <a:pPr marL="0" indent="0">
              <a:buNone/>
            </a:pPr>
            <a:r>
              <a:rPr lang="en-US" sz="2000" dirty="0">
                <a:latin typeface="Arial" panose="020B0604020202020204" pitchFamily="34" charset="0"/>
                <a:cs typeface="Arial" panose="020B0604020202020204" pitchFamily="34" charset="0"/>
              </a:rPr>
              <a:t>Which of the following lines of code will print True?</a:t>
            </a:r>
          </a:p>
          <a:p>
            <a:pPr marL="457200" indent="-457200">
              <a:buFont typeface="+mj-lt"/>
              <a:buAutoNum type="alphaLcPeriod"/>
            </a:pPr>
            <a:r>
              <a:rPr lang="en-US" sz="2000" dirty="0">
                <a:latin typeface="Courier New" panose="02070309020205020404" pitchFamily="49" charset="0"/>
                <a:cs typeface="Courier New" panose="02070309020205020404" pitchFamily="49" charset="0"/>
              </a:rPr>
              <a:t>print(set1 == {'0', '4', '4', '4'})</a:t>
            </a:r>
          </a:p>
          <a:p>
            <a:pPr marL="457200" indent="-457200">
              <a:buFont typeface="+mj-lt"/>
              <a:buAutoNum type="alphaLcPeriod"/>
            </a:pPr>
            <a:r>
              <a:rPr lang="en-US" sz="2000" dirty="0">
                <a:latin typeface="Courier New" panose="02070309020205020404" pitchFamily="49" charset="0"/>
                <a:cs typeface="Courier New" panose="02070309020205020404" pitchFamily="49" charset="0"/>
              </a:rPr>
              <a:t>print(set1 == {4, 0})</a:t>
            </a:r>
          </a:p>
          <a:p>
            <a:pPr marL="457200" indent="-457200">
              <a:buFont typeface="+mj-lt"/>
              <a:buAutoNum type="alphaLcPeriod"/>
            </a:pPr>
            <a:r>
              <a:rPr lang="en-US" sz="2000" dirty="0">
                <a:latin typeface="Arial" panose="020B0604020202020204" pitchFamily="34" charset="0"/>
                <a:cs typeface="Arial" panose="020B0604020202020204" pitchFamily="34" charset="0"/>
              </a:rPr>
              <a:t>Both will print </a:t>
            </a:r>
            <a:r>
              <a:rPr lang="en-US" sz="2000" dirty="0">
                <a:latin typeface="Courier New" panose="02070309020205020404" pitchFamily="49" charset="0"/>
                <a:cs typeface="Courier New" panose="02070309020205020404" pitchFamily="49" charset="0"/>
              </a:rPr>
              <a:t>True</a:t>
            </a:r>
          </a:p>
          <a:p>
            <a:pPr marL="457200" indent="-457200">
              <a:buFont typeface="+mj-lt"/>
              <a:buAutoNum type="alphaLcPeriod"/>
            </a:pPr>
            <a:r>
              <a:rPr lang="en-US" sz="2000" dirty="0">
                <a:latin typeface="Arial" panose="020B0604020202020204" pitchFamily="34" charset="0"/>
                <a:cs typeface="Arial" panose="020B0604020202020204" pitchFamily="34" charset="0"/>
              </a:rPr>
              <a:t>Neither one will print </a:t>
            </a:r>
            <a:r>
              <a:rPr lang="en-US" sz="2000" dirty="0">
                <a:latin typeface="Courier New" panose="02070309020205020404" pitchFamily="49" charset="0"/>
                <a:cs typeface="Courier New" panose="02070309020205020404" pitchFamily="49" charset="0"/>
              </a:rPr>
              <a:t>True</a:t>
            </a:r>
          </a:p>
          <a:p>
            <a:pPr marL="0" indent="0">
              <a:buNone/>
            </a:pPr>
            <a:endParaRPr lang="en-US" sz="2000" dirty="0">
              <a:latin typeface="Courier New" panose="02070309020205020404" pitchFamily="49" charset="0"/>
              <a:cs typeface="Courier New" panose="02070309020205020404" pitchFamily="49" charset="0"/>
            </a:endParaRPr>
          </a:p>
          <a:p>
            <a:pPr marL="457200" indent="-457200">
              <a:buFont typeface="+mj-lt"/>
              <a:buAutoNum type="alphaLcPeriod"/>
            </a:pPr>
            <a:r>
              <a:rPr lang="en-US" sz="2000" dirty="0">
                <a:latin typeface="Arial" panose="020B0604020202020204" pitchFamily="34" charset="0"/>
                <a:cs typeface="Arial" panose="020B0604020202020204" pitchFamily="34" charset="0"/>
              </a:rPr>
              <a:t>Cannot be correct as the created elements are clearly integers</a:t>
            </a:r>
          </a:p>
          <a:p>
            <a:pPr marL="457200" indent="-457200">
              <a:buFont typeface="+mj-lt"/>
              <a:buAutoNum type="alphaLcPeriod"/>
            </a:pPr>
            <a:r>
              <a:rPr lang="en-US" sz="2000" dirty="0">
                <a:latin typeface="Arial" panose="020B0604020202020204" pitchFamily="34" charset="0"/>
                <a:cs typeface="Arial" panose="020B0604020202020204" pitchFamily="34" charset="0"/>
              </a:rPr>
              <a:t>Is correct. Sets only keep unique values, and there is no order</a:t>
            </a:r>
            <a:br>
              <a:rPr lang="en-US" sz="2000" dirty="0">
                <a:latin typeface="Arial" panose="020B0604020202020204" pitchFamily="34" charset="0"/>
                <a:cs typeface="Arial" panose="020B0604020202020204" pitchFamily="34" charset="0"/>
              </a:rPr>
            </a:br>
            <a:r>
              <a:rPr lang="en-US" sz="2000" dirty="0">
                <a:latin typeface="Arial" panose="020B0604020202020204" pitchFamily="34" charset="0"/>
                <a:cs typeface="Arial" panose="020B0604020202020204" pitchFamily="34" charset="0"/>
              </a:rPr>
              <a:t>Actually print(set1 == {4, 4, 4, 4, 0}) would also lead to True, as the created set object will only keep two unique values: 0 and 4</a:t>
            </a:r>
          </a:p>
        </p:txBody>
      </p:sp>
      <p:sp>
        <p:nvSpPr>
          <p:cNvPr id="4" name="Slide Number Placeholder 3">
            <a:extLst>
              <a:ext uri="{FF2B5EF4-FFF2-40B4-BE49-F238E27FC236}">
                <a16:creationId xmlns:a16="http://schemas.microsoft.com/office/drawing/2014/main" id="{BEA47B3C-980F-3C24-6B1D-73E1A6474EED}"/>
              </a:ext>
            </a:extLst>
          </p:cNvPr>
          <p:cNvSpPr>
            <a:spLocks noGrp="1"/>
          </p:cNvSpPr>
          <p:nvPr>
            <p:ph type="sldNum" sz="quarter" idx="12"/>
          </p:nvPr>
        </p:nvSpPr>
        <p:spPr/>
        <p:txBody>
          <a:bodyPr/>
          <a:lstStyle/>
          <a:p>
            <a:fld id="{723B6F6A-0448-4EED-A121-7B4A352F61BD}" type="slidenum">
              <a:rPr lang="nl-NL" smtClean="0"/>
              <a:t>18</a:t>
            </a:fld>
            <a:endParaRPr lang="nl-NL"/>
          </a:p>
        </p:txBody>
      </p:sp>
    </p:spTree>
    <p:extLst>
      <p:ext uri="{BB962C8B-B14F-4D97-AF65-F5344CB8AC3E}">
        <p14:creationId xmlns:p14="http://schemas.microsoft.com/office/powerpoint/2010/main" val="33866366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C3E73F-6877-BAD3-D711-F2CE11427A2E}"/>
              </a:ext>
            </a:extLst>
          </p:cNvPr>
          <p:cNvSpPr>
            <a:spLocks noGrp="1"/>
          </p:cNvSpPr>
          <p:nvPr>
            <p:ph type="title"/>
          </p:nvPr>
        </p:nvSpPr>
        <p:spPr/>
        <p:txBody>
          <a:bodyPr>
            <a:normAutofit/>
          </a:bodyPr>
          <a:lstStyle/>
          <a:p>
            <a:r>
              <a:rPr lang="en-US" sz="3600" dirty="0"/>
              <a:t>Keeping state between function calls</a:t>
            </a:r>
          </a:p>
        </p:txBody>
      </p:sp>
      <p:sp>
        <p:nvSpPr>
          <p:cNvPr id="3" name="Content Placeholder 2">
            <a:extLst>
              <a:ext uri="{FF2B5EF4-FFF2-40B4-BE49-F238E27FC236}">
                <a16:creationId xmlns:a16="http://schemas.microsoft.com/office/drawing/2014/main" id="{FF900169-7194-2CD4-BC74-23137C21831A}"/>
              </a:ext>
            </a:extLst>
          </p:cNvPr>
          <p:cNvSpPr>
            <a:spLocks noGrp="1"/>
          </p:cNvSpPr>
          <p:nvPr>
            <p:ph idx="1"/>
          </p:nvPr>
        </p:nvSpPr>
        <p:spPr>
          <a:xfrm>
            <a:off x="838200" y="1825624"/>
            <a:ext cx="10515600" cy="5032375"/>
          </a:xfrm>
        </p:spPr>
        <p:txBody>
          <a:bodyPr>
            <a:normAutofit fontScale="55000" lnSpcReduction="20000"/>
          </a:bodyPr>
          <a:lstStyle/>
          <a:p>
            <a:r>
              <a:rPr lang="en-US" sz="3200" dirty="0"/>
              <a:t>Assume, you must write a function that returns a certain start value, and next times you call the function returns the previous value plus a certain step value, until the value would be greater than a certain stop value, in which case the function throws an error</a:t>
            </a:r>
          </a:p>
          <a:p>
            <a:r>
              <a:rPr lang="en-US" sz="3200" dirty="0"/>
              <a:t>For example, if you have a start value = 1, a stop value of 5, and a step value of 2,</a:t>
            </a:r>
          </a:p>
          <a:p>
            <a:r>
              <a:rPr lang="en-US" sz="3200" dirty="0"/>
              <a:t>The first time that function is called, it should return 1, the second time 3, the third time 5, and the fourth time it should throw an error</a:t>
            </a:r>
          </a:p>
          <a:p>
            <a:r>
              <a:rPr lang="en-US" sz="3200" dirty="0"/>
              <a:t>This looks like a very simple problem. Adding 2 to a number is not that complicated, checking whether a number is greater than the stop value also looks very doable</a:t>
            </a:r>
          </a:p>
          <a:p>
            <a:r>
              <a:rPr lang="en-US" sz="3200" dirty="0"/>
              <a:t>The problem is that in between function calls you need to keep track of the value of the last number. (This is called keeping track of the state.)</a:t>
            </a:r>
          </a:p>
          <a:p>
            <a:r>
              <a:rPr lang="en-US" sz="3200" dirty="0"/>
              <a:t>After execution, a function and its local names will all have disappeared</a:t>
            </a:r>
          </a:p>
          <a:p>
            <a:r>
              <a:rPr lang="en-US" sz="3200" dirty="0"/>
              <a:t>How to solve this?</a:t>
            </a:r>
          </a:p>
          <a:p>
            <a:pPr marL="514350" indent="-514350">
              <a:buFont typeface="+mj-lt"/>
              <a:buAutoNum type="arabicPeriod"/>
            </a:pPr>
            <a:r>
              <a:rPr lang="en-US" sz="3200" dirty="0"/>
              <a:t>Using a Standard function</a:t>
            </a:r>
          </a:p>
          <a:p>
            <a:pPr marL="514350" indent="-514350">
              <a:buFont typeface="+mj-lt"/>
              <a:buAutoNum type="arabicPeriod"/>
            </a:pPr>
            <a:r>
              <a:rPr lang="en-US" sz="3200" dirty="0"/>
              <a:t>Using a Standard function and the global keyword</a:t>
            </a:r>
          </a:p>
          <a:p>
            <a:pPr marL="514350" indent="-514350">
              <a:buFont typeface="+mj-lt"/>
              <a:buAutoNum type="arabicPeriod"/>
            </a:pPr>
            <a:r>
              <a:rPr lang="en-US" sz="3200" dirty="0"/>
              <a:t>Using Object oriented programming</a:t>
            </a:r>
          </a:p>
          <a:p>
            <a:pPr marL="514350" indent="-514350">
              <a:buFont typeface="+mj-lt"/>
              <a:buAutoNum type="arabicPeriod"/>
            </a:pPr>
            <a:r>
              <a:rPr lang="en-US" sz="3200" dirty="0"/>
              <a:t>Using an iterator</a:t>
            </a:r>
          </a:p>
          <a:p>
            <a:pPr marL="514350" indent="-514350">
              <a:buFont typeface="+mj-lt"/>
              <a:buAutoNum type="arabicPeriod"/>
            </a:pPr>
            <a:r>
              <a:rPr lang="en-US" sz="3200" dirty="0"/>
              <a:t>Using a generator function</a:t>
            </a:r>
            <a:endParaRPr lang="en-US" dirty="0"/>
          </a:p>
          <a:p>
            <a:pPr marL="514350" indent="-514350">
              <a:buFont typeface="+mj-lt"/>
              <a:buAutoNum type="arabicPeriod"/>
            </a:pPr>
            <a:endParaRPr lang="en-US" dirty="0"/>
          </a:p>
        </p:txBody>
      </p:sp>
      <p:sp>
        <p:nvSpPr>
          <p:cNvPr id="4" name="Slide Number Placeholder 3">
            <a:extLst>
              <a:ext uri="{FF2B5EF4-FFF2-40B4-BE49-F238E27FC236}">
                <a16:creationId xmlns:a16="http://schemas.microsoft.com/office/drawing/2014/main" id="{1976A657-50B7-D6D3-4F44-FCCEC2E8DF17}"/>
              </a:ext>
            </a:extLst>
          </p:cNvPr>
          <p:cNvSpPr>
            <a:spLocks noGrp="1"/>
          </p:cNvSpPr>
          <p:nvPr>
            <p:ph type="sldNum" sz="quarter" idx="12"/>
          </p:nvPr>
        </p:nvSpPr>
        <p:spPr/>
        <p:txBody>
          <a:bodyPr/>
          <a:lstStyle/>
          <a:p>
            <a:fld id="{723B6F6A-0448-4EED-A121-7B4A352F61BD}" type="slidenum">
              <a:rPr lang="nl-NL" smtClean="0"/>
              <a:t>19</a:t>
            </a:fld>
            <a:endParaRPr lang="nl-NL"/>
          </a:p>
        </p:txBody>
      </p:sp>
    </p:spTree>
    <p:extLst>
      <p:ext uri="{BB962C8B-B14F-4D97-AF65-F5344CB8AC3E}">
        <p14:creationId xmlns:p14="http://schemas.microsoft.com/office/powerpoint/2010/main" val="11934350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3">
                                            <p:txEl>
                                              <p:pRg st="10" end="10"/>
                                            </p:txEl>
                                          </p:spTgt>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3">
                                            <p:txEl>
                                              <p:pRg st="11" end="11"/>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BA710-BBD6-EED7-91EE-B50556FC117C}"/>
              </a:ext>
            </a:extLst>
          </p:cNvPr>
          <p:cNvSpPr>
            <a:spLocks noGrp="1"/>
          </p:cNvSpPr>
          <p:nvPr>
            <p:ph type="title"/>
          </p:nvPr>
        </p:nvSpPr>
        <p:spPr>
          <a:xfrm>
            <a:off x="14427" y="30627"/>
            <a:ext cx="12192000" cy="1325563"/>
          </a:xfrm>
        </p:spPr>
        <p:txBody>
          <a:bodyPr>
            <a:normAutofit/>
          </a:bodyPr>
          <a:lstStyle/>
          <a:p>
            <a:r>
              <a:rPr lang="en-US" sz="3600" dirty="0"/>
              <a:t>Keeping state with a standard function</a:t>
            </a:r>
          </a:p>
        </p:txBody>
      </p:sp>
      <p:sp>
        <p:nvSpPr>
          <p:cNvPr id="3" name="Content Placeholder 2">
            <a:extLst>
              <a:ext uri="{FF2B5EF4-FFF2-40B4-BE49-F238E27FC236}">
                <a16:creationId xmlns:a16="http://schemas.microsoft.com/office/drawing/2014/main" id="{CCE16E8F-A6CD-41EF-7D4D-3D845E3E36C0}"/>
              </a:ext>
            </a:extLst>
          </p:cNvPr>
          <p:cNvSpPr>
            <a:spLocks noGrp="1"/>
          </p:cNvSpPr>
          <p:nvPr>
            <p:ph idx="1"/>
          </p:nvPr>
        </p:nvSpPr>
        <p:spPr>
          <a:xfrm>
            <a:off x="28854" y="1004047"/>
            <a:ext cx="12163146" cy="5853953"/>
          </a:xfrm>
        </p:spPr>
        <p:txBody>
          <a:bodyPr>
            <a:normAutofit lnSpcReduction="10000"/>
          </a:bodyPr>
          <a:lstStyle/>
          <a:p>
            <a:r>
              <a:rPr lang="en-US" sz="2000" dirty="0">
                <a:latin typeface="Courier New" panose="02070309020205020404" pitchFamily="49" charset="0"/>
                <a:cs typeface="Courier New" panose="02070309020205020404" pitchFamily="49" charset="0"/>
              </a:rPr>
              <a:t>def </a:t>
            </a:r>
            <a:r>
              <a:rPr lang="en-US" sz="2000" dirty="0" err="1">
                <a:latin typeface="Courier New" panose="02070309020205020404" pitchFamily="49" charset="0"/>
                <a:cs typeface="Courier New" panose="02070309020205020404" pitchFamily="49" charset="0"/>
              </a:rPr>
              <a:t>myfunc</a:t>
            </a:r>
            <a:r>
              <a:rPr lang="en-US" sz="2000" dirty="0">
                <a:latin typeface="Courier New" panose="02070309020205020404" pitchFamily="49" charset="0"/>
                <a:cs typeface="Courier New" panose="02070309020205020404" pitchFamily="49" charset="0"/>
              </a:rPr>
              <a:t>(start, stop, step):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num = start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start += step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if num &gt; stop: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raise </a:t>
            </a:r>
            <a:r>
              <a:rPr lang="en-US" sz="2000" dirty="0" err="1">
                <a:latin typeface="Courier New" panose="02070309020205020404" pitchFamily="49" charset="0"/>
                <a:cs typeface="Courier New" panose="02070309020205020404" pitchFamily="49" charset="0"/>
              </a:rPr>
              <a:t>StopIteration</a:t>
            </a:r>
            <a:r>
              <a:rPr lang="en-US" sz="2000" dirty="0">
                <a:latin typeface="Courier New" panose="02070309020205020404" pitchFamily="49" charset="0"/>
                <a:cs typeface="Courier New" panose="02070309020205020404" pitchFamily="49" charset="0"/>
              </a:rPr>
              <a:t>('End of numbers')</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else: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return num, start, stop, step</a:t>
            </a:r>
          </a:p>
          <a:p>
            <a:r>
              <a:rPr lang="en-US" sz="2000" dirty="0" err="1">
                <a:latin typeface="Courier New" panose="02070309020205020404" pitchFamily="49" charset="0"/>
                <a:cs typeface="Courier New" panose="02070309020205020404" pitchFamily="49" charset="0"/>
              </a:rPr>
              <a:t>sta</a:t>
            </a:r>
            <a:r>
              <a:rPr lang="en-US" sz="2000" dirty="0">
                <a:latin typeface="Courier New" panose="02070309020205020404" pitchFamily="49" charset="0"/>
                <a:cs typeface="Courier New" panose="02070309020205020404" pitchFamily="49" charset="0"/>
              </a:rPr>
              <a:t> = 1</a:t>
            </a:r>
            <a:br>
              <a:rPr lang="en-US" sz="2000" dirty="0">
                <a:latin typeface="Courier New" panose="02070309020205020404" pitchFamily="49" charset="0"/>
                <a:cs typeface="Courier New" panose="02070309020205020404" pitchFamily="49" charset="0"/>
              </a:rPr>
            </a:br>
            <a:r>
              <a:rPr lang="en-US" sz="2000" dirty="0" err="1">
                <a:latin typeface="Courier New" panose="02070309020205020404" pitchFamily="49" charset="0"/>
                <a:cs typeface="Courier New" panose="02070309020205020404" pitchFamily="49" charset="0"/>
              </a:rPr>
              <a:t>sto</a:t>
            </a:r>
            <a:r>
              <a:rPr lang="en-US" sz="2000" dirty="0">
                <a:latin typeface="Courier New" panose="02070309020205020404" pitchFamily="49" charset="0"/>
                <a:cs typeface="Courier New" panose="02070309020205020404" pitchFamily="49" charset="0"/>
              </a:rPr>
              <a:t>  = 5</a:t>
            </a:r>
            <a:br>
              <a:rPr lang="en-US" sz="2000" dirty="0">
                <a:latin typeface="Courier New" panose="02070309020205020404" pitchFamily="49" charset="0"/>
                <a:cs typeface="Courier New" panose="02070309020205020404" pitchFamily="49" charset="0"/>
              </a:rPr>
            </a:br>
            <a:r>
              <a:rPr lang="en-US" sz="2000" dirty="0" err="1">
                <a:latin typeface="Courier New" panose="02070309020205020404" pitchFamily="49" charset="0"/>
                <a:cs typeface="Courier New" panose="02070309020205020404" pitchFamily="49" charset="0"/>
              </a:rPr>
              <a:t>ste</a:t>
            </a:r>
            <a:r>
              <a:rPr lang="en-US" sz="2000" dirty="0">
                <a:latin typeface="Courier New" panose="02070309020205020404" pitchFamily="49" charset="0"/>
                <a:cs typeface="Courier New" panose="02070309020205020404" pitchFamily="49" charset="0"/>
              </a:rPr>
              <a:t>  = 2</a:t>
            </a:r>
          </a:p>
          <a:p>
            <a:r>
              <a:rPr lang="it-IT" sz="2000" dirty="0">
                <a:latin typeface="Courier New" panose="02070309020205020404" pitchFamily="49" charset="0"/>
                <a:cs typeface="Courier New" panose="02070309020205020404" pitchFamily="49" charset="0"/>
              </a:rPr>
              <a:t>num, sta, sto, ste = myfunc(sta, sto, ste)</a:t>
            </a:r>
            <a:br>
              <a:rPr lang="it-IT" sz="2000" dirty="0">
                <a:latin typeface="Courier New" panose="02070309020205020404" pitchFamily="49" charset="0"/>
                <a:cs typeface="Courier New" panose="02070309020205020404" pitchFamily="49" charset="0"/>
              </a:rPr>
            </a:br>
            <a:r>
              <a:rPr lang="it-IT" sz="2000" dirty="0">
                <a:latin typeface="Courier New" panose="02070309020205020404" pitchFamily="49" charset="0"/>
                <a:cs typeface="Courier New" panose="02070309020205020404" pitchFamily="49" charset="0"/>
              </a:rPr>
              <a:t>print(num)		</a:t>
            </a:r>
            <a:r>
              <a:rPr lang="en-US" sz="2000" dirty="0">
                <a:latin typeface="Courier New" panose="02070309020205020404" pitchFamily="49" charset="0"/>
                <a:cs typeface="Courier New" panose="02070309020205020404" pitchFamily="49" charset="0"/>
              </a:rPr>
              <a:t># Onscreen: 1</a:t>
            </a:r>
          </a:p>
          <a:p>
            <a:r>
              <a:rPr lang="it-IT" sz="2000" dirty="0">
                <a:latin typeface="Courier New" panose="02070309020205020404" pitchFamily="49" charset="0"/>
                <a:cs typeface="Courier New" panose="02070309020205020404" pitchFamily="49" charset="0"/>
              </a:rPr>
              <a:t>num, sta, sto, ste = myfunc(sta, sto, ste)</a:t>
            </a:r>
            <a:br>
              <a:rPr lang="it-IT" sz="2000" dirty="0">
                <a:latin typeface="Courier New" panose="02070309020205020404" pitchFamily="49" charset="0"/>
                <a:cs typeface="Courier New" panose="02070309020205020404" pitchFamily="49" charset="0"/>
              </a:rPr>
            </a:br>
            <a:r>
              <a:rPr lang="it-IT" sz="2000" dirty="0">
                <a:latin typeface="Courier New" panose="02070309020205020404" pitchFamily="49" charset="0"/>
                <a:cs typeface="Courier New" panose="02070309020205020404" pitchFamily="49" charset="0"/>
              </a:rPr>
              <a:t>print(num)		</a:t>
            </a:r>
            <a:r>
              <a:rPr lang="en-US" sz="2000" dirty="0">
                <a:latin typeface="Courier New" panose="02070309020205020404" pitchFamily="49" charset="0"/>
                <a:cs typeface="Courier New" panose="02070309020205020404" pitchFamily="49" charset="0"/>
              </a:rPr>
              <a:t># Onscreen: 3</a:t>
            </a:r>
            <a:br>
              <a:rPr lang="en-US" sz="2000" dirty="0">
                <a:latin typeface="Courier New" panose="02070309020205020404" pitchFamily="49" charset="0"/>
                <a:cs typeface="Courier New" panose="02070309020205020404" pitchFamily="49" charset="0"/>
              </a:rPr>
            </a:br>
            <a:r>
              <a:rPr lang="it-IT" sz="2000" dirty="0">
                <a:latin typeface="Courier New" panose="02070309020205020404" pitchFamily="49" charset="0"/>
                <a:cs typeface="Courier New" panose="02070309020205020404" pitchFamily="49" charset="0"/>
              </a:rPr>
              <a:t>num, sta, sto, ste = myfunc(sta, sto, ste)</a:t>
            </a:r>
            <a:br>
              <a:rPr lang="it-IT" sz="2000" dirty="0">
                <a:latin typeface="Courier New" panose="02070309020205020404" pitchFamily="49" charset="0"/>
                <a:cs typeface="Courier New" panose="02070309020205020404" pitchFamily="49" charset="0"/>
              </a:rPr>
            </a:br>
            <a:r>
              <a:rPr lang="it-IT" sz="2000" dirty="0">
                <a:latin typeface="Courier New" panose="02070309020205020404" pitchFamily="49" charset="0"/>
                <a:cs typeface="Courier New" panose="02070309020205020404" pitchFamily="49" charset="0"/>
              </a:rPr>
              <a:t>print(num)		</a:t>
            </a:r>
            <a:r>
              <a:rPr lang="en-US" sz="2000" dirty="0">
                <a:latin typeface="Courier New" panose="02070309020205020404" pitchFamily="49" charset="0"/>
                <a:cs typeface="Courier New" panose="02070309020205020404" pitchFamily="49" charset="0"/>
              </a:rPr>
              <a:t># Onscreen: 5</a:t>
            </a:r>
          </a:p>
          <a:p>
            <a:r>
              <a:rPr lang="it-IT" sz="2000" dirty="0">
                <a:latin typeface="Courier New" panose="02070309020205020404" pitchFamily="49" charset="0"/>
                <a:cs typeface="Courier New" panose="02070309020205020404" pitchFamily="49" charset="0"/>
              </a:rPr>
              <a:t>num, sta, sto, ste = myfunc(sta, sto, ste) </a:t>
            </a:r>
            <a:br>
              <a:rPr lang="it-IT" sz="2000" dirty="0">
                <a:latin typeface="Courier New" panose="02070309020205020404" pitchFamily="49" charset="0"/>
                <a:cs typeface="Courier New" panose="02070309020205020404" pitchFamily="49" charset="0"/>
              </a:rPr>
            </a:br>
            <a:r>
              <a:rPr lang="it-IT" sz="2000" dirty="0">
                <a:latin typeface="Courier New" panose="02070309020205020404" pitchFamily="49" charset="0"/>
                <a:cs typeface="Courier New" panose="02070309020205020404" pitchFamily="49" charset="0"/>
              </a:rPr>
              <a:t>			</a:t>
            </a:r>
            <a:r>
              <a:rPr lang="en-US" sz="2000" dirty="0">
                <a:latin typeface="Courier New" panose="02070309020205020404" pitchFamily="49" charset="0"/>
                <a:cs typeface="Courier New" panose="02070309020205020404" pitchFamily="49" charset="0"/>
              </a:rPr>
              <a:t># Onscreen: </a:t>
            </a:r>
            <a:r>
              <a:rPr lang="en-US" sz="2000" dirty="0" err="1">
                <a:latin typeface="Courier New" panose="02070309020205020404" pitchFamily="49" charset="0"/>
                <a:cs typeface="Courier New" panose="02070309020205020404" pitchFamily="49" charset="0"/>
              </a:rPr>
              <a:t>StopIteration</a:t>
            </a:r>
            <a:r>
              <a:rPr lang="en-US" sz="2000" dirty="0">
                <a:latin typeface="Courier New" panose="02070309020205020404" pitchFamily="49" charset="0"/>
                <a:cs typeface="Courier New" panose="02070309020205020404" pitchFamily="49" charset="0"/>
              </a:rPr>
              <a:t>: End of numbers</a:t>
            </a:r>
            <a:endParaRPr lang="en-US" altLang="en-US" sz="2000" dirty="0">
              <a:latin typeface="Courier New" panose="02070309020205020404" pitchFamily="49" charset="0"/>
              <a:cs typeface="Courier New" panose="02070309020205020404" pitchFamily="49" charset="0"/>
            </a:endParaRPr>
          </a:p>
          <a:p>
            <a:r>
              <a:rPr lang="en-US" sz="2000" dirty="0"/>
              <a:t>This solution is a bit inconvenient as you must to store all values between calls yourself</a:t>
            </a:r>
          </a:p>
          <a:p>
            <a:r>
              <a:rPr lang="en-US" sz="2000" dirty="0"/>
              <a:t>If we want to store behavior and data together, using a class looks like a good solution</a:t>
            </a:r>
          </a:p>
        </p:txBody>
      </p:sp>
      <p:sp>
        <p:nvSpPr>
          <p:cNvPr id="4" name="Slide Number Placeholder 3">
            <a:extLst>
              <a:ext uri="{FF2B5EF4-FFF2-40B4-BE49-F238E27FC236}">
                <a16:creationId xmlns:a16="http://schemas.microsoft.com/office/drawing/2014/main" id="{DA10B029-3C9D-9EBD-68C9-7A7C1DFE11DE}"/>
              </a:ext>
            </a:extLst>
          </p:cNvPr>
          <p:cNvSpPr>
            <a:spLocks noGrp="1"/>
          </p:cNvSpPr>
          <p:nvPr>
            <p:ph type="sldNum" sz="quarter" idx="12"/>
          </p:nvPr>
        </p:nvSpPr>
        <p:spPr/>
        <p:txBody>
          <a:bodyPr/>
          <a:lstStyle/>
          <a:p>
            <a:fld id="{723B6F6A-0448-4EED-A121-7B4A352F61BD}" type="slidenum">
              <a:rPr lang="nl-NL" smtClean="0"/>
              <a:t>20</a:t>
            </a:fld>
            <a:endParaRPr lang="nl-NL" dirty="0"/>
          </a:p>
        </p:txBody>
      </p:sp>
      <p:sp>
        <p:nvSpPr>
          <p:cNvPr id="5" name="Rectangle 1">
            <a:extLst>
              <a:ext uri="{FF2B5EF4-FFF2-40B4-BE49-F238E27FC236}">
                <a16:creationId xmlns:a16="http://schemas.microsoft.com/office/drawing/2014/main" id="{FBB94F8E-8C5F-EAF9-3CA5-6741FE323804}"/>
              </a:ext>
            </a:extLst>
          </p:cNvPr>
          <p:cNvSpPr>
            <a:spLocks noChangeArrowheads="1"/>
          </p:cNvSpPr>
          <p:nvPr/>
        </p:nvSpPr>
        <p:spPr bwMode="auto">
          <a:xfrm>
            <a:off x="0" y="167044"/>
            <a:ext cx="28854" cy="1231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1760640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BA710-BBD6-EED7-91EE-B50556FC117C}"/>
              </a:ext>
            </a:extLst>
          </p:cNvPr>
          <p:cNvSpPr>
            <a:spLocks noGrp="1"/>
          </p:cNvSpPr>
          <p:nvPr>
            <p:ph type="title"/>
          </p:nvPr>
        </p:nvSpPr>
        <p:spPr>
          <a:xfrm>
            <a:off x="28854" y="0"/>
            <a:ext cx="12192001" cy="1325563"/>
          </a:xfrm>
        </p:spPr>
        <p:txBody>
          <a:bodyPr>
            <a:normAutofit/>
          </a:bodyPr>
          <a:lstStyle/>
          <a:p>
            <a:r>
              <a:rPr lang="en-US" sz="3600" dirty="0"/>
              <a:t>Keeping state with a standard function and the global keyword</a:t>
            </a:r>
          </a:p>
        </p:txBody>
      </p:sp>
      <p:sp>
        <p:nvSpPr>
          <p:cNvPr id="3" name="Content Placeholder 2">
            <a:extLst>
              <a:ext uri="{FF2B5EF4-FFF2-40B4-BE49-F238E27FC236}">
                <a16:creationId xmlns:a16="http://schemas.microsoft.com/office/drawing/2014/main" id="{CCE16E8F-A6CD-41EF-7D4D-3D845E3E36C0}"/>
              </a:ext>
            </a:extLst>
          </p:cNvPr>
          <p:cNvSpPr>
            <a:spLocks noGrp="1"/>
          </p:cNvSpPr>
          <p:nvPr>
            <p:ph idx="1"/>
          </p:nvPr>
        </p:nvSpPr>
        <p:spPr>
          <a:xfrm>
            <a:off x="838200" y="1356190"/>
            <a:ext cx="10515600" cy="5501810"/>
          </a:xfrm>
        </p:spPr>
        <p:txBody>
          <a:bodyPr>
            <a:normAutofit lnSpcReduction="10000"/>
          </a:bodyPr>
          <a:lstStyle/>
          <a:p>
            <a:r>
              <a:rPr lang="en-US" sz="2000" dirty="0">
                <a:latin typeface="Courier New" panose="02070309020205020404" pitchFamily="49" charset="0"/>
                <a:cs typeface="Courier New" panose="02070309020205020404" pitchFamily="49" charset="0"/>
              </a:rPr>
              <a:t>def </a:t>
            </a:r>
            <a:r>
              <a:rPr lang="en-US" sz="2000" dirty="0" err="1">
                <a:latin typeface="Courier New" panose="02070309020205020404" pitchFamily="49" charset="0"/>
                <a:cs typeface="Courier New" panose="02070309020205020404" pitchFamily="49" charset="0"/>
              </a:rPr>
              <a:t>myfunc</a:t>
            </a:r>
            <a:r>
              <a:rPr lang="en-US" sz="2000" dirty="0">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100" dirty="0">
                <a:latin typeface="Courier New" panose="02070309020205020404" pitchFamily="49" charset="0"/>
                <a:cs typeface="Courier New" panose="02070309020205020404" pitchFamily="49" charset="0"/>
              </a:rPr>
              <a:t>global </a:t>
            </a:r>
            <a:r>
              <a:rPr lang="en-US" sz="2000" dirty="0">
                <a:latin typeface="Courier New" panose="02070309020205020404" pitchFamily="49" charset="0"/>
                <a:cs typeface="Courier New" panose="02070309020205020404" pitchFamily="49" charset="0"/>
              </a:rPr>
              <a:t>start, stop, step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num = start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start += step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if num &gt; stop: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raise Exception('End of numbers')</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else: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return num</a:t>
            </a:r>
          </a:p>
          <a:p>
            <a:r>
              <a:rPr lang="en-US" sz="2000" dirty="0">
                <a:latin typeface="Courier New" panose="02070309020205020404" pitchFamily="49" charset="0"/>
                <a:cs typeface="Courier New" panose="02070309020205020404" pitchFamily="49" charset="0"/>
              </a:rPr>
              <a:t>start = 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stop  = 5</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step  = 2</a:t>
            </a:r>
          </a:p>
          <a:p>
            <a:r>
              <a:rPr lang="en-US" sz="2000" dirty="0">
                <a:latin typeface="Courier New" panose="02070309020205020404" pitchFamily="49" charset="0"/>
                <a:cs typeface="Courier New" panose="02070309020205020404" pitchFamily="49" charset="0"/>
              </a:rPr>
              <a:t>print(</a:t>
            </a:r>
            <a:r>
              <a:rPr lang="en-US" sz="2000" dirty="0" err="1">
                <a:latin typeface="Courier New" panose="02070309020205020404" pitchFamily="49" charset="0"/>
                <a:cs typeface="Courier New" panose="02070309020205020404" pitchFamily="49" charset="0"/>
              </a:rPr>
              <a:t>myfunc</a:t>
            </a:r>
            <a:r>
              <a:rPr lang="en-US" sz="2000" dirty="0">
                <a:latin typeface="Courier New" panose="02070309020205020404" pitchFamily="49" charset="0"/>
                <a:cs typeface="Courier New" panose="02070309020205020404" pitchFamily="49" charset="0"/>
              </a:rPr>
              <a:t>())	# Onscreen: 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a:t>
            </a:r>
            <a:r>
              <a:rPr lang="en-US" sz="2000" dirty="0" err="1">
                <a:latin typeface="Courier New" panose="02070309020205020404" pitchFamily="49" charset="0"/>
                <a:cs typeface="Courier New" panose="02070309020205020404" pitchFamily="49" charset="0"/>
              </a:rPr>
              <a:t>myfunc</a:t>
            </a:r>
            <a:r>
              <a:rPr lang="en-US" sz="2000" dirty="0">
                <a:latin typeface="Courier New" panose="02070309020205020404" pitchFamily="49" charset="0"/>
                <a:cs typeface="Courier New" panose="02070309020205020404" pitchFamily="49" charset="0"/>
              </a:rPr>
              <a:t>())	# Onscreen: 3</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a:t>
            </a:r>
            <a:r>
              <a:rPr lang="en-US" sz="2000" dirty="0" err="1">
                <a:latin typeface="Courier New" panose="02070309020205020404" pitchFamily="49" charset="0"/>
                <a:cs typeface="Courier New" panose="02070309020205020404" pitchFamily="49" charset="0"/>
              </a:rPr>
              <a:t>myfunc</a:t>
            </a:r>
            <a:r>
              <a:rPr lang="en-US" sz="2000" dirty="0">
                <a:latin typeface="Courier New" panose="02070309020205020404" pitchFamily="49" charset="0"/>
                <a:cs typeface="Courier New" panose="02070309020205020404" pitchFamily="49" charset="0"/>
              </a:rPr>
              <a:t>())	# Onscreen: 5</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a:t>
            </a:r>
            <a:r>
              <a:rPr lang="en-US" sz="2000" dirty="0" err="1">
                <a:latin typeface="Courier New" panose="02070309020205020404" pitchFamily="49" charset="0"/>
                <a:cs typeface="Courier New" panose="02070309020205020404" pitchFamily="49" charset="0"/>
              </a:rPr>
              <a:t>myfunc</a:t>
            </a:r>
            <a:r>
              <a:rPr lang="en-US" sz="2000" dirty="0">
                <a:latin typeface="Courier New" panose="02070309020205020404" pitchFamily="49" charset="0"/>
                <a:cs typeface="Courier New" panose="02070309020205020404" pitchFamily="49" charset="0"/>
              </a:rPr>
              <a:t>())	# Onscreen: Exception: End of numbers</a:t>
            </a:r>
            <a:endParaRPr lang="en-US" altLang="en-US" sz="2000" dirty="0">
              <a:latin typeface="Courier New" panose="02070309020205020404" pitchFamily="49" charset="0"/>
              <a:cs typeface="Courier New" panose="02070309020205020404" pitchFamily="49" charset="0"/>
            </a:endParaRPr>
          </a:p>
          <a:p>
            <a:r>
              <a:rPr lang="en-US" sz="2000" dirty="0"/>
              <a:t>This solution is a bit inconvenient as you must store the data outside the function, and use the global keyword</a:t>
            </a:r>
          </a:p>
          <a:p>
            <a:r>
              <a:rPr lang="en-US" sz="2000" dirty="0"/>
              <a:t>If we want to store behavior and data together, using a class looks like a good solution</a:t>
            </a:r>
          </a:p>
        </p:txBody>
      </p:sp>
      <p:sp>
        <p:nvSpPr>
          <p:cNvPr id="4" name="Slide Number Placeholder 3">
            <a:extLst>
              <a:ext uri="{FF2B5EF4-FFF2-40B4-BE49-F238E27FC236}">
                <a16:creationId xmlns:a16="http://schemas.microsoft.com/office/drawing/2014/main" id="{DA10B029-3C9D-9EBD-68C9-7A7C1DFE11DE}"/>
              </a:ext>
            </a:extLst>
          </p:cNvPr>
          <p:cNvSpPr>
            <a:spLocks noGrp="1"/>
          </p:cNvSpPr>
          <p:nvPr>
            <p:ph type="sldNum" sz="quarter" idx="12"/>
          </p:nvPr>
        </p:nvSpPr>
        <p:spPr/>
        <p:txBody>
          <a:bodyPr/>
          <a:lstStyle/>
          <a:p>
            <a:fld id="{723B6F6A-0448-4EED-A121-7B4A352F61BD}" type="slidenum">
              <a:rPr lang="nl-NL" smtClean="0"/>
              <a:t>21</a:t>
            </a:fld>
            <a:endParaRPr lang="nl-NL" dirty="0"/>
          </a:p>
        </p:txBody>
      </p:sp>
      <p:sp>
        <p:nvSpPr>
          <p:cNvPr id="5" name="Rectangle 1">
            <a:extLst>
              <a:ext uri="{FF2B5EF4-FFF2-40B4-BE49-F238E27FC236}">
                <a16:creationId xmlns:a16="http://schemas.microsoft.com/office/drawing/2014/main" id="{FBB94F8E-8C5F-EAF9-3CA5-6741FE323804}"/>
              </a:ext>
            </a:extLst>
          </p:cNvPr>
          <p:cNvSpPr>
            <a:spLocks noChangeArrowheads="1"/>
          </p:cNvSpPr>
          <p:nvPr/>
        </p:nvSpPr>
        <p:spPr bwMode="auto">
          <a:xfrm>
            <a:off x="0" y="167044"/>
            <a:ext cx="28854" cy="1231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103078212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BA710-BBD6-EED7-91EE-B50556FC117C}"/>
              </a:ext>
            </a:extLst>
          </p:cNvPr>
          <p:cNvSpPr>
            <a:spLocks noGrp="1"/>
          </p:cNvSpPr>
          <p:nvPr>
            <p:ph type="title"/>
          </p:nvPr>
        </p:nvSpPr>
        <p:spPr>
          <a:xfrm>
            <a:off x="838200" y="365125"/>
            <a:ext cx="10515600" cy="593725"/>
          </a:xfrm>
        </p:spPr>
        <p:txBody>
          <a:bodyPr>
            <a:normAutofit fontScale="90000"/>
          </a:bodyPr>
          <a:lstStyle/>
          <a:p>
            <a:r>
              <a:rPr lang="en-US" dirty="0"/>
              <a:t>Keeping state with a standard class</a:t>
            </a:r>
          </a:p>
        </p:txBody>
      </p:sp>
      <p:sp>
        <p:nvSpPr>
          <p:cNvPr id="3" name="Content Placeholder 2">
            <a:extLst>
              <a:ext uri="{FF2B5EF4-FFF2-40B4-BE49-F238E27FC236}">
                <a16:creationId xmlns:a16="http://schemas.microsoft.com/office/drawing/2014/main" id="{CCE16E8F-A6CD-41EF-7D4D-3D845E3E36C0}"/>
              </a:ext>
            </a:extLst>
          </p:cNvPr>
          <p:cNvSpPr>
            <a:spLocks noGrp="1"/>
          </p:cNvSpPr>
          <p:nvPr>
            <p:ph idx="1"/>
          </p:nvPr>
        </p:nvSpPr>
        <p:spPr>
          <a:xfrm>
            <a:off x="914400" y="1213331"/>
            <a:ext cx="11277600" cy="5716588"/>
          </a:xfrm>
        </p:spPr>
        <p:txBody>
          <a:bodyPr>
            <a:noAutofit/>
          </a:bodyPr>
          <a:lstStyle/>
          <a:p>
            <a:r>
              <a:rPr lang="en-US" sz="2000" dirty="0">
                <a:latin typeface="Courier New" panose="02070309020205020404" pitchFamily="49" charset="0"/>
                <a:cs typeface="Courier New" panose="02070309020205020404" pitchFamily="49" charset="0"/>
              </a:rPr>
              <a:t>class </a:t>
            </a:r>
            <a:r>
              <a:rPr lang="en-US" sz="2000" dirty="0" err="1">
                <a:latin typeface="Courier New" panose="02070309020205020404" pitchFamily="49" charset="0"/>
                <a:cs typeface="Courier New" panose="02070309020205020404" pitchFamily="49" charset="0"/>
              </a:rPr>
              <a:t>Myfunc</a:t>
            </a:r>
            <a:r>
              <a:rPr lang="en-US" sz="2000" dirty="0">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def __</a:t>
            </a:r>
            <a:r>
              <a:rPr lang="en-US" sz="2000" dirty="0" err="1">
                <a:latin typeface="Courier New" panose="02070309020205020404" pitchFamily="49" charset="0"/>
                <a:cs typeface="Courier New" panose="02070309020205020404" pitchFamily="49" charset="0"/>
              </a:rPr>
              <a:t>init</a:t>
            </a:r>
            <a:r>
              <a:rPr lang="en-US" sz="2000" dirty="0">
                <a:latin typeface="Courier New" panose="02070309020205020404" pitchFamily="49" charset="0"/>
                <a:cs typeface="Courier New" panose="02070309020205020404" pitchFamily="49" charset="0"/>
              </a:rPr>
              <a:t>__(self, start, stop, step):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self.start</a:t>
            </a:r>
            <a:r>
              <a:rPr lang="en-US" sz="2000" dirty="0">
                <a:latin typeface="Courier New" panose="02070309020205020404" pitchFamily="49" charset="0"/>
                <a:cs typeface="Courier New" panose="02070309020205020404" pitchFamily="49" charset="0"/>
              </a:rPr>
              <a:t> = start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self.stop</a:t>
            </a:r>
            <a:r>
              <a:rPr lang="en-US" sz="2000" dirty="0">
                <a:latin typeface="Courier New" panose="02070309020205020404" pitchFamily="49" charset="0"/>
                <a:cs typeface="Courier New" panose="02070309020205020404" pitchFamily="49" charset="0"/>
              </a:rPr>
              <a:t> = stop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self.step</a:t>
            </a:r>
            <a:r>
              <a:rPr lang="en-US" sz="2000" dirty="0">
                <a:latin typeface="Courier New" panose="02070309020205020404" pitchFamily="49" charset="0"/>
                <a:cs typeface="Courier New" panose="02070309020205020404" pitchFamily="49" charset="0"/>
              </a:rPr>
              <a:t> = step</a:t>
            </a:r>
          </a:p>
          <a:p>
            <a:r>
              <a:rPr lang="en-US" sz="2000" dirty="0">
                <a:latin typeface="Courier New" panose="02070309020205020404" pitchFamily="49" charset="0"/>
                <a:cs typeface="Courier New" panose="02070309020205020404" pitchFamily="49" charset="0"/>
              </a:rPr>
              <a:t>    def following(self):</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self.num</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self.start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self.start</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self.step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if </a:t>
            </a:r>
            <a:r>
              <a:rPr lang="en-US" sz="2000" dirty="0" err="1">
                <a:latin typeface="Courier New" panose="02070309020205020404" pitchFamily="49" charset="0"/>
                <a:cs typeface="Courier New" panose="02070309020205020404" pitchFamily="49" charset="0"/>
              </a:rPr>
              <a:t>self.num</a:t>
            </a:r>
            <a:r>
              <a:rPr lang="en-US" sz="2000" dirty="0">
                <a:latin typeface="Courier New" panose="02070309020205020404" pitchFamily="49" charset="0"/>
                <a:cs typeface="Courier New" panose="02070309020205020404" pitchFamily="49" charset="0"/>
              </a:rPr>
              <a:t> &gt; </a:t>
            </a:r>
            <a:r>
              <a:rPr lang="en-US" sz="2000" dirty="0" err="1">
                <a:latin typeface="Courier New" panose="02070309020205020404" pitchFamily="49" charset="0"/>
                <a:cs typeface="Courier New" panose="02070309020205020404" pitchFamily="49" charset="0"/>
              </a:rPr>
              <a:t>self.stop</a:t>
            </a:r>
            <a:r>
              <a:rPr lang="en-US" sz="2000" dirty="0">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raise Exception('End of numbers')</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else: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return </a:t>
            </a:r>
            <a:r>
              <a:rPr lang="en-US" sz="2000" dirty="0" err="1">
                <a:latin typeface="Courier New" panose="02070309020205020404" pitchFamily="49" charset="0"/>
                <a:cs typeface="Courier New" panose="02070309020205020404" pitchFamily="49" charset="0"/>
              </a:rPr>
              <a:t>self.num</a:t>
            </a:r>
            <a:endParaRPr lang="en-US" sz="2000" dirty="0">
              <a:latin typeface="Courier New" panose="02070309020205020404" pitchFamily="49" charset="0"/>
              <a:cs typeface="Courier New" panose="02070309020205020404" pitchFamily="49" charset="0"/>
            </a:endParaRPr>
          </a:p>
          <a:p>
            <a:r>
              <a:rPr lang="en-US" sz="2000" dirty="0" err="1">
                <a:latin typeface="Courier New" panose="02070309020205020404" pitchFamily="49" charset="0"/>
                <a:cs typeface="Courier New" panose="02070309020205020404" pitchFamily="49" charset="0"/>
              </a:rPr>
              <a:t>myfunc</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Myfunc</a:t>
            </a:r>
            <a:r>
              <a:rPr lang="en-US" sz="2000" dirty="0">
                <a:latin typeface="Courier New" panose="02070309020205020404" pitchFamily="49" charset="0"/>
                <a:cs typeface="Courier New" panose="02070309020205020404" pitchFamily="49" charset="0"/>
              </a:rPr>
              <a:t>(1, 5, 2)</a:t>
            </a:r>
          </a:p>
          <a:p>
            <a:r>
              <a:rPr lang="en-US" sz="2000" dirty="0">
                <a:latin typeface="Courier New" panose="02070309020205020404" pitchFamily="49" charset="0"/>
                <a:cs typeface="Courier New" panose="02070309020205020404" pitchFamily="49" charset="0"/>
              </a:rPr>
              <a:t>print(</a:t>
            </a:r>
            <a:r>
              <a:rPr lang="en-US" sz="2000" dirty="0" err="1">
                <a:latin typeface="Courier New" panose="02070309020205020404" pitchFamily="49" charset="0"/>
                <a:cs typeface="Courier New" panose="02070309020205020404" pitchFamily="49" charset="0"/>
              </a:rPr>
              <a:t>myfunc.following</a:t>
            </a:r>
            <a:r>
              <a:rPr lang="en-US" sz="2000" dirty="0">
                <a:latin typeface="Courier New" panose="02070309020205020404" pitchFamily="49" charset="0"/>
                <a:cs typeface="Courier New" panose="02070309020205020404" pitchFamily="49" charset="0"/>
              </a:rPr>
              <a:t>())	# Onscreen: 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a:t>
            </a:r>
            <a:r>
              <a:rPr lang="en-US" sz="2000" dirty="0" err="1">
                <a:latin typeface="Courier New" panose="02070309020205020404" pitchFamily="49" charset="0"/>
                <a:cs typeface="Courier New" panose="02070309020205020404" pitchFamily="49" charset="0"/>
              </a:rPr>
              <a:t>myfunc.following</a:t>
            </a:r>
            <a:r>
              <a:rPr lang="en-US" sz="2000" dirty="0">
                <a:latin typeface="Courier New" panose="02070309020205020404" pitchFamily="49" charset="0"/>
                <a:cs typeface="Courier New" panose="02070309020205020404" pitchFamily="49" charset="0"/>
              </a:rPr>
              <a:t>())	# Onscreen: 3</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a:t>
            </a:r>
            <a:r>
              <a:rPr lang="en-US" sz="2000" dirty="0" err="1">
                <a:latin typeface="Courier New" panose="02070309020205020404" pitchFamily="49" charset="0"/>
                <a:cs typeface="Courier New" panose="02070309020205020404" pitchFamily="49" charset="0"/>
              </a:rPr>
              <a:t>myfunc.following</a:t>
            </a:r>
            <a:r>
              <a:rPr lang="en-US" sz="2000" dirty="0">
                <a:latin typeface="Courier New" panose="02070309020205020404" pitchFamily="49" charset="0"/>
                <a:cs typeface="Courier New" panose="02070309020205020404" pitchFamily="49" charset="0"/>
              </a:rPr>
              <a:t>())	# Onscreen: 5</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a:t>
            </a:r>
            <a:r>
              <a:rPr lang="en-US" sz="2000" dirty="0" err="1">
                <a:latin typeface="Courier New" panose="02070309020205020404" pitchFamily="49" charset="0"/>
                <a:cs typeface="Courier New" panose="02070309020205020404" pitchFamily="49" charset="0"/>
              </a:rPr>
              <a:t>myfunc.following</a:t>
            </a:r>
            <a:r>
              <a:rPr lang="en-US" sz="2000" dirty="0">
                <a:latin typeface="Courier New" panose="02070309020205020404" pitchFamily="49" charset="0"/>
                <a:cs typeface="Courier New" panose="02070309020205020404" pitchFamily="49" charset="0"/>
              </a:rPr>
              <a:t>())	# Onscreen: Exception: End of numbers</a:t>
            </a:r>
            <a:endParaRPr lang="en-US" altLang="en-US" sz="2000" dirty="0">
              <a:latin typeface="Courier New" panose="02070309020205020404" pitchFamily="49" charset="0"/>
              <a:cs typeface="Courier New" panose="02070309020205020404" pitchFamily="49" charset="0"/>
            </a:endParaRPr>
          </a:p>
          <a:p>
            <a:r>
              <a:rPr lang="en-US" sz="2000" dirty="0">
                <a:latin typeface="Arial" panose="020B0604020202020204" pitchFamily="34" charset="0"/>
                <a:cs typeface="Arial" panose="020B0604020202020204" pitchFamily="34" charset="0"/>
              </a:rPr>
              <a:t>This works, but Python offers a more dedicated solution: iterators</a:t>
            </a:r>
          </a:p>
        </p:txBody>
      </p:sp>
      <p:sp>
        <p:nvSpPr>
          <p:cNvPr id="4" name="Slide Number Placeholder 3">
            <a:extLst>
              <a:ext uri="{FF2B5EF4-FFF2-40B4-BE49-F238E27FC236}">
                <a16:creationId xmlns:a16="http://schemas.microsoft.com/office/drawing/2014/main" id="{DA10B029-3C9D-9EBD-68C9-7A7C1DFE11DE}"/>
              </a:ext>
            </a:extLst>
          </p:cNvPr>
          <p:cNvSpPr>
            <a:spLocks noGrp="1"/>
          </p:cNvSpPr>
          <p:nvPr>
            <p:ph type="sldNum" sz="quarter" idx="12"/>
          </p:nvPr>
        </p:nvSpPr>
        <p:spPr/>
        <p:txBody>
          <a:bodyPr/>
          <a:lstStyle/>
          <a:p>
            <a:fld id="{723B6F6A-0448-4EED-A121-7B4A352F61BD}" type="slidenum">
              <a:rPr lang="nl-NL" smtClean="0"/>
              <a:t>22</a:t>
            </a:fld>
            <a:endParaRPr lang="nl-NL"/>
          </a:p>
        </p:txBody>
      </p:sp>
      <p:sp>
        <p:nvSpPr>
          <p:cNvPr id="5" name="Rectangle 1">
            <a:extLst>
              <a:ext uri="{FF2B5EF4-FFF2-40B4-BE49-F238E27FC236}">
                <a16:creationId xmlns:a16="http://schemas.microsoft.com/office/drawing/2014/main" id="{FBB94F8E-8C5F-EAF9-3CA5-6741FE323804}"/>
              </a:ext>
            </a:extLst>
          </p:cNvPr>
          <p:cNvSpPr>
            <a:spLocks noChangeArrowheads="1"/>
          </p:cNvSpPr>
          <p:nvPr/>
        </p:nvSpPr>
        <p:spPr bwMode="auto">
          <a:xfrm>
            <a:off x="0" y="167044"/>
            <a:ext cx="28854" cy="1231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27598901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BA710-BBD6-EED7-91EE-B50556FC117C}"/>
              </a:ext>
            </a:extLst>
          </p:cNvPr>
          <p:cNvSpPr>
            <a:spLocks noGrp="1"/>
          </p:cNvSpPr>
          <p:nvPr>
            <p:ph type="title"/>
          </p:nvPr>
        </p:nvSpPr>
        <p:spPr>
          <a:xfrm>
            <a:off x="838200" y="365125"/>
            <a:ext cx="10515600" cy="593725"/>
          </a:xfrm>
        </p:spPr>
        <p:txBody>
          <a:bodyPr>
            <a:normAutofit fontScale="90000"/>
          </a:bodyPr>
          <a:lstStyle/>
          <a:p>
            <a:r>
              <a:rPr lang="en-US" dirty="0"/>
              <a:t>Keeping state with a dedicated class: iterators</a:t>
            </a:r>
          </a:p>
        </p:txBody>
      </p:sp>
      <p:sp>
        <p:nvSpPr>
          <p:cNvPr id="3" name="Content Placeholder 2">
            <a:extLst>
              <a:ext uri="{FF2B5EF4-FFF2-40B4-BE49-F238E27FC236}">
                <a16:creationId xmlns:a16="http://schemas.microsoft.com/office/drawing/2014/main" id="{CCE16E8F-A6CD-41EF-7D4D-3D845E3E36C0}"/>
              </a:ext>
            </a:extLst>
          </p:cNvPr>
          <p:cNvSpPr>
            <a:spLocks noGrp="1"/>
          </p:cNvSpPr>
          <p:nvPr>
            <p:ph idx="1"/>
          </p:nvPr>
        </p:nvSpPr>
        <p:spPr>
          <a:xfrm>
            <a:off x="0" y="1213331"/>
            <a:ext cx="12272682" cy="5644669"/>
          </a:xfrm>
        </p:spPr>
        <p:txBody>
          <a:bodyPr>
            <a:noAutofit/>
          </a:bodyPr>
          <a:lstStyle/>
          <a:p>
            <a:r>
              <a:rPr lang="en-US" sz="2000" dirty="0">
                <a:latin typeface="Courier New" panose="02070309020205020404" pitchFamily="49" charset="0"/>
                <a:cs typeface="Courier New" panose="02070309020205020404" pitchFamily="49" charset="0"/>
              </a:rPr>
              <a:t>class </a:t>
            </a:r>
            <a:r>
              <a:rPr lang="en-US" sz="2000" dirty="0" err="1">
                <a:latin typeface="Courier New" panose="02070309020205020404" pitchFamily="49" charset="0"/>
                <a:cs typeface="Courier New" panose="02070309020205020404" pitchFamily="49" charset="0"/>
              </a:rPr>
              <a:t>Myiterator</a:t>
            </a:r>
            <a:r>
              <a:rPr lang="en-US" sz="2000" dirty="0">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def __</a:t>
            </a:r>
            <a:r>
              <a:rPr lang="en-US" sz="2000" dirty="0" err="1">
                <a:latin typeface="Courier New" panose="02070309020205020404" pitchFamily="49" charset="0"/>
                <a:cs typeface="Courier New" panose="02070309020205020404" pitchFamily="49" charset="0"/>
              </a:rPr>
              <a:t>init</a:t>
            </a:r>
            <a:r>
              <a:rPr lang="en-US" sz="2000" dirty="0">
                <a:latin typeface="Courier New" panose="02070309020205020404" pitchFamily="49" charset="0"/>
                <a:cs typeface="Courier New" panose="02070309020205020404" pitchFamily="49" charset="0"/>
              </a:rPr>
              <a:t>__(self, start, stop, step):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self.start</a:t>
            </a:r>
            <a:r>
              <a:rPr lang="en-US" sz="2000" dirty="0">
                <a:latin typeface="Courier New" panose="02070309020205020404" pitchFamily="49" charset="0"/>
                <a:cs typeface="Courier New" panose="02070309020205020404" pitchFamily="49" charset="0"/>
              </a:rPr>
              <a:t> = start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self.stop</a:t>
            </a:r>
            <a:r>
              <a:rPr lang="en-US" sz="2000" dirty="0">
                <a:latin typeface="Courier New" panose="02070309020205020404" pitchFamily="49" charset="0"/>
                <a:cs typeface="Courier New" panose="02070309020205020404" pitchFamily="49" charset="0"/>
              </a:rPr>
              <a:t> = stop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self.step</a:t>
            </a:r>
            <a:r>
              <a:rPr lang="en-US" sz="2000" dirty="0">
                <a:latin typeface="Courier New" panose="02070309020205020404" pitchFamily="49" charset="0"/>
                <a:cs typeface="Courier New" panose="02070309020205020404" pitchFamily="49" charset="0"/>
              </a:rPr>
              <a:t> = step</a:t>
            </a:r>
          </a:p>
          <a:p>
            <a:r>
              <a:rPr lang="en-US" sz="2000" dirty="0">
                <a:latin typeface="Courier New" panose="02070309020205020404" pitchFamily="49" charset="0"/>
                <a:cs typeface="Courier New" panose="02070309020205020404" pitchFamily="49" charset="0"/>
              </a:rPr>
              <a:t>    def __next__(self):</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self.num</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self.start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self.start</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self.step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if </a:t>
            </a:r>
            <a:r>
              <a:rPr lang="en-US" sz="2000" dirty="0" err="1">
                <a:latin typeface="Courier New" panose="02070309020205020404" pitchFamily="49" charset="0"/>
                <a:cs typeface="Courier New" panose="02070309020205020404" pitchFamily="49" charset="0"/>
              </a:rPr>
              <a:t>self.num</a:t>
            </a:r>
            <a:r>
              <a:rPr lang="en-US" sz="2000" dirty="0">
                <a:latin typeface="Courier New" panose="02070309020205020404" pitchFamily="49" charset="0"/>
                <a:cs typeface="Courier New" panose="02070309020205020404" pitchFamily="49" charset="0"/>
              </a:rPr>
              <a:t> &gt; </a:t>
            </a:r>
            <a:r>
              <a:rPr lang="en-US" sz="2000" dirty="0" err="1">
                <a:latin typeface="Courier New" panose="02070309020205020404" pitchFamily="49" charset="0"/>
                <a:cs typeface="Courier New" panose="02070309020205020404" pitchFamily="49" charset="0"/>
              </a:rPr>
              <a:t>self.stop</a:t>
            </a:r>
            <a:r>
              <a:rPr lang="en-US" sz="2000" dirty="0">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raise </a:t>
            </a:r>
            <a:r>
              <a:rPr lang="en-US" sz="2000" dirty="0" err="1">
                <a:latin typeface="Courier New" panose="02070309020205020404" pitchFamily="49" charset="0"/>
                <a:cs typeface="Courier New" panose="02070309020205020404" pitchFamily="49" charset="0"/>
              </a:rPr>
              <a:t>StopIteration</a:t>
            </a:r>
            <a:r>
              <a:rPr lang="en-US" sz="2000" dirty="0">
                <a:latin typeface="Courier New" panose="02070309020205020404" pitchFamily="49" charset="0"/>
                <a:cs typeface="Courier New" panose="02070309020205020404" pitchFamily="49" charset="0"/>
              </a:rPr>
              <a:t>('End of numbers')</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else:</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return </a:t>
            </a:r>
            <a:r>
              <a:rPr lang="en-US" sz="2000" dirty="0" err="1">
                <a:latin typeface="Courier New" panose="02070309020205020404" pitchFamily="49" charset="0"/>
                <a:cs typeface="Courier New" panose="02070309020205020404" pitchFamily="49" charset="0"/>
              </a:rPr>
              <a:t>self.num</a:t>
            </a:r>
            <a:endParaRPr lang="en-US" sz="2000" dirty="0">
              <a:latin typeface="Courier New" panose="02070309020205020404" pitchFamily="49" charset="0"/>
              <a:cs typeface="Courier New" panose="02070309020205020404" pitchFamily="49" charset="0"/>
            </a:endParaRPr>
          </a:p>
          <a:p>
            <a:r>
              <a:rPr lang="en-US" sz="2000" dirty="0" err="1">
                <a:latin typeface="Courier New" panose="02070309020205020404" pitchFamily="49" charset="0"/>
                <a:cs typeface="Courier New" panose="02070309020205020404" pitchFamily="49" charset="0"/>
              </a:rPr>
              <a:t>myiterator</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Myiterator</a:t>
            </a:r>
            <a:r>
              <a:rPr lang="en-US" sz="2000" dirty="0">
                <a:latin typeface="Courier New" panose="02070309020205020404" pitchFamily="49" charset="0"/>
                <a:cs typeface="Courier New" panose="02070309020205020404" pitchFamily="49" charset="0"/>
              </a:rPr>
              <a:t>(1, 5, 2)</a:t>
            </a:r>
          </a:p>
          <a:p>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myiterator</a:t>
            </a:r>
            <a:r>
              <a:rPr lang="en-US" sz="2000" dirty="0">
                <a:latin typeface="Courier New" panose="02070309020205020404" pitchFamily="49" charset="0"/>
                <a:cs typeface="Courier New" panose="02070309020205020404" pitchFamily="49" charset="0"/>
              </a:rPr>
              <a:t>))	# Onscreen: 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myiterator</a:t>
            </a:r>
            <a:r>
              <a:rPr lang="en-US" sz="2000" dirty="0">
                <a:latin typeface="Courier New" panose="02070309020205020404" pitchFamily="49" charset="0"/>
                <a:cs typeface="Courier New" panose="02070309020205020404" pitchFamily="49" charset="0"/>
              </a:rPr>
              <a:t>))	# Onscreen: 3</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myiterator</a:t>
            </a:r>
            <a:r>
              <a:rPr lang="en-US" sz="2000" dirty="0">
                <a:latin typeface="Courier New" panose="02070309020205020404" pitchFamily="49" charset="0"/>
                <a:cs typeface="Courier New" panose="02070309020205020404" pitchFamily="49" charset="0"/>
              </a:rPr>
              <a:t>))	# Onscreen: 5</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myiterator</a:t>
            </a:r>
            <a:r>
              <a:rPr lang="en-US" sz="2000" dirty="0">
                <a:latin typeface="Courier New" panose="02070309020205020404" pitchFamily="49" charset="0"/>
                <a:cs typeface="Courier New" panose="02070309020205020404" pitchFamily="49" charset="0"/>
              </a:rPr>
              <a:t>))	# Onscreen: Exception: End of numbers</a:t>
            </a:r>
            <a:endParaRPr lang="en-US" altLang="en-US" sz="2000" dirty="0">
              <a:latin typeface="Courier New" panose="02070309020205020404" pitchFamily="49" charset="0"/>
              <a:cs typeface="Courier New" panose="02070309020205020404" pitchFamily="49" charset="0"/>
            </a:endParaRPr>
          </a:p>
          <a:p>
            <a:r>
              <a:rPr lang="en-US" sz="2000" dirty="0">
                <a:latin typeface="Arial" panose="020B0604020202020204" pitchFamily="34" charset="0"/>
                <a:cs typeface="Arial" panose="020B0604020202020204" pitchFamily="34" charset="0"/>
              </a:rPr>
              <a:t>This works well, but sometimes Python offers another nice solution to create iterators: generator functions</a:t>
            </a:r>
          </a:p>
        </p:txBody>
      </p:sp>
      <p:sp>
        <p:nvSpPr>
          <p:cNvPr id="4" name="Slide Number Placeholder 3">
            <a:extLst>
              <a:ext uri="{FF2B5EF4-FFF2-40B4-BE49-F238E27FC236}">
                <a16:creationId xmlns:a16="http://schemas.microsoft.com/office/drawing/2014/main" id="{DA10B029-3C9D-9EBD-68C9-7A7C1DFE11DE}"/>
              </a:ext>
            </a:extLst>
          </p:cNvPr>
          <p:cNvSpPr>
            <a:spLocks noGrp="1"/>
          </p:cNvSpPr>
          <p:nvPr>
            <p:ph type="sldNum" sz="quarter" idx="12"/>
          </p:nvPr>
        </p:nvSpPr>
        <p:spPr/>
        <p:txBody>
          <a:bodyPr/>
          <a:lstStyle/>
          <a:p>
            <a:fld id="{723B6F6A-0448-4EED-A121-7B4A352F61BD}" type="slidenum">
              <a:rPr lang="nl-NL" smtClean="0"/>
              <a:t>23</a:t>
            </a:fld>
            <a:endParaRPr lang="nl-NL"/>
          </a:p>
        </p:txBody>
      </p:sp>
      <p:sp>
        <p:nvSpPr>
          <p:cNvPr id="5" name="Rectangle 1">
            <a:extLst>
              <a:ext uri="{FF2B5EF4-FFF2-40B4-BE49-F238E27FC236}">
                <a16:creationId xmlns:a16="http://schemas.microsoft.com/office/drawing/2014/main" id="{FBB94F8E-8C5F-EAF9-3CA5-6741FE323804}"/>
              </a:ext>
            </a:extLst>
          </p:cNvPr>
          <p:cNvSpPr>
            <a:spLocks noChangeArrowheads="1"/>
          </p:cNvSpPr>
          <p:nvPr/>
        </p:nvSpPr>
        <p:spPr bwMode="auto">
          <a:xfrm>
            <a:off x="0" y="167044"/>
            <a:ext cx="28854" cy="1231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19972574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BA710-BBD6-EED7-91EE-B50556FC117C}"/>
              </a:ext>
            </a:extLst>
          </p:cNvPr>
          <p:cNvSpPr>
            <a:spLocks noGrp="1"/>
          </p:cNvSpPr>
          <p:nvPr>
            <p:ph type="title"/>
          </p:nvPr>
        </p:nvSpPr>
        <p:spPr/>
        <p:txBody>
          <a:bodyPr/>
          <a:lstStyle/>
          <a:p>
            <a:r>
              <a:rPr lang="en-US" dirty="0"/>
              <a:t>Keeping state with a generator function</a:t>
            </a:r>
          </a:p>
        </p:txBody>
      </p:sp>
      <p:sp>
        <p:nvSpPr>
          <p:cNvPr id="3" name="Content Placeholder 2">
            <a:extLst>
              <a:ext uri="{FF2B5EF4-FFF2-40B4-BE49-F238E27FC236}">
                <a16:creationId xmlns:a16="http://schemas.microsoft.com/office/drawing/2014/main" id="{CCE16E8F-A6CD-41EF-7D4D-3D845E3E36C0}"/>
              </a:ext>
            </a:extLst>
          </p:cNvPr>
          <p:cNvSpPr>
            <a:spLocks noGrp="1"/>
          </p:cNvSpPr>
          <p:nvPr>
            <p:ph idx="1"/>
          </p:nvPr>
        </p:nvSpPr>
        <p:spPr>
          <a:xfrm>
            <a:off x="838199" y="1356190"/>
            <a:ext cx="11131193" cy="5501810"/>
          </a:xfrm>
        </p:spPr>
        <p:txBody>
          <a:bodyPr>
            <a:normAutofit/>
          </a:bodyPr>
          <a:lstStyle/>
          <a:p>
            <a:r>
              <a:rPr lang="en-US" sz="2000" dirty="0">
                <a:latin typeface="Courier New" panose="02070309020205020404" pitchFamily="49" charset="0"/>
                <a:cs typeface="Courier New" panose="02070309020205020404" pitchFamily="49" charset="0"/>
              </a:rPr>
              <a:t>def </a:t>
            </a:r>
            <a:r>
              <a:rPr lang="en-US" sz="2000" dirty="0" err="1">
                <a:latin typeface="Courier New" panose="02070309020205020404" pitchFamily="49" charset="0"/>
                <a:cs typeface="Courier New" panose="02070309020205020404" pitchFamily="49" charset="0"/>
              </a:rPr>
              <a:t>generatorfunction</a:t>
            </a:r>
            <a:r>
              <a:rPr lang="en-US" sz="2000" dirty="0">
                <a:latin typeface="Courier New" panose="02070309020205020404" pitchFamily="49" charset="0"/>
                <a:cs typeface="Courier New" panose="02070309020205020404" pitchFamily="49" charset="0"/>
              </a:rPr>
              <a:t>(start, stop, step):</a:t>
            </a:r>
          </a:p>
          <a:p>
            <a:r>
              <a:rPr lang="en-US" sz="2000" dirty="0">
                <a:latin typeface="Courier New" panose="02070309020205020404" pitchFamily="49" charset="0"/>
                <a:cs typeface="Courier New" panose="02070309020205020404" pitchFamily="49" charset="0"/>
              </a:rPr>
              <a:t>    while (num:=start) &lt;= stop: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yield num</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start += step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return 'End of numbers'</a:t>
            </a:r>
          </a:p>
          <a:p>
            <a:r>
              <a:rPr lang="en-US" sz="2000" dirty="0" err="1">
                <a:latin typeface="Courier New" panose="02070309020205020404" pitchFamily="49" charset="0"/>
                <a:cs typeface="Courier New" panose="02070309020205020404" pitchFamily="49" charset="0"/>
              </a:rPr>
              <a:t>mygenerator</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generatorfunction</a:t>
            </a:r>
            <a:r>
              <a:rPr lang="en-US" sz="2000" dirty="0">
                <a:latin typeface="Courier New" panose="02070309020205020404" pitchFamily="49" charset="0"/>
                <a:cs typeface="Courier New" panose="02070309020205020404" pitchFamily="49" charset="0"/>
              </a:rPr>
              <a:t>(1, 5, 2)	# Creating the generator </a:t>
            </a:r>
          </a:p>
          <a:p>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mygenerator</a:t>
            </a:r>
            <a:r>
              <a:rPr lang="en-US" sz="2000" dirty="0">
                <a:latin typeface="Courier New" panose="02070309020205020404" pitchFamily="49" charset="0"/>
                <a:cs typeface="Courier New" panose="02070309020205020404" pitchFamily="49" charset="0"/>
              </a:rPr>
              <a:t>))	# Onscreen: 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mygenerator</a:t>
            </a:r>
            <a:r>
              <a:rPr lang="en-US" sz="2000" dirty="0">
                <a:latin typeface="Courier New" panose="02070309020205020404" pitchFamily="49" charset="0"/>
                <a:cs typeface="Courier New" panose="02070309020205020404" pitchFamily="49" charset="0"/>
              </a:rPr>
              <a:t>))	# Onscreen: 3</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mygenerator</a:t>
            </a:r>
            <a:r>
              <a:rPr lang="en-US" sz="2000" dirty="0">
                <a:latin typeface="Courier New" panose="02070309020205020404" pitchFamily="49" charset="0"/>
                <a:cs typeface="Courier New" panose="02070309020205020404" pitchFamily="49" charset="0"/>
              </a:rPr>
              <a:t>))	# Onscreen: 5</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mygenerator</a:t>
            </a:r>
            <a:r>
              <a:rPr lang="en-US" sz="2000" dirty="0">
                <a:latin typeface="Courier New" panose="02070309020205020404" pitchFamily="49" charset="0"/>
                <a:cs typeface="Courier New" panose="02070309020205020404" pitchFamily="49" charset="0"/>
              </a:rPr>
              <a:t>))	# Onscreen: </a:t>
            </a:r>
            <a:r>
              <a:rPr lang="en-US" altLang="en-US" sz="2000" dirty="0" err="1">
                <a:solidFill>
                  <a:srgbClr val="000000"/>
                </a:solidFill>
                <a:latin typeface="Courier New" panose="02070309020205020404" pitchFamily="49" charset="0"/>
              </a:rPr>
              <a:t>StopIteration</a:t>
            </a:r>
            <a:r>
              <a:rPr lang="en-US" altLang="en-US" sz="2000" dirty="0">
                <a:solidFill>
                  <a:srgbClr val="000000"/>
                </a:solidFill>
                <a:latin typeface="Courier New" panose="02070309020205020404" pitchFamily="49" charset="0"/>
              </a:rPr>
              <a:t>: </a:t>
            </a:r>
            <a:r>
              <a:rPr kumimoji="0" lang="en-US" altLang="en-US" sz="2000" b="0" i="0" u="none" strike="noStrike" cap="none" normalizeH="0" baseline="0" dirty="0">
                <a:ln>
                  <a:noFill/>
                </a:ln>
                <a:solidFill>
                  <a:srgbClr val="000000"/>
                </a:solidFill>
                <a:effectLst/>
                <a:latin typeface="Courier New" panose="02070309020205020404" pitchFamily="49" charset="0"/>
              </a:rPr>
              <a:t>End of numbers</a:t>
            </a:r>
          </a:p>
        </p:txBody>
      </p:sp>
      <p:sp>
        <p:nvSpPr>
          <p:cNvPr id="4" name="Slide Number Placeholder 3">
            <a:extLst>
              <a:ext uri="{FF2B5EF4-FFF2-40B4-BE49-F238E27FC236}">
                <a16:creationId xmlns:a16="http://schemas.microsoft.com/office/drawing/2014/main" id="{DA10B029-3C9D-9EBD-68C9-7A7C1DFE11DE}"/>
              </a:ext>
            </a:extLst>
          </p:cNvPr>
          <p:cNvSpPr>
            <a:spLocks noGrp="1"/>
          </p:cNvSpPr>
          <p:nvPr>
            <p:ph type="sldNum" sz="quarter" idx="12"/>
          </p:nvPr>
        </p:nvSpPr>
        <p:spPr/>
        <p:txBody>
          <a:bodyPr/>
          <a:lstStyle/>
          <a:p>
            <a:fld id="{723B6F6A-0448-4EED-A121-7B4A352F61BD}" type="slidenum">
              <a:rPr lang="nl-NL" smtClean="0"/>
              <a:t>24</a:t>
            </a:fld>
            <a:endParaRPr lang="nl-NL" dirty="0"/>
          </a:p>
        </p:txBody>
      </p:sp>
      <p:sp>
        <p:nvSpPr>
          <p:cNvPr id="5" name="Rectangle 1">
            <a:extLst>
              <a:ext uri="{FF2B5EF4-FFF2-40B4-BE49-F238E27FC236}">
                <a16:creationId xmlns:a16="http://schemas.microsoft.com/office/drawing/2014/main" id="{FBB94F8E-8C5F-EAF9-3CA5-6741FE323804}"/>
              </a:ext>
            </a:extLst>
          </p:cNvPr>
          <p:cNvSpPr>
            <a:spLocks noChangeArrowheads="1"/>
          </p:cNvSpPr>
          <p:nvPr/>
        </p:nvSpPr>
        <p:spPr bwMode="auto">
          <a:xfrm>
            <a:off x="0" y="167044"/>
            <a:ext cx="28854" cy="1231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17DB1CB3-B181-B0A5-C080-7A71DE7074E7}"/>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67363628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A3BC1A-3CBF-5D2E-991F-29035602AD9A}"/>
              </a:ext>
            </a:extLst>
          </p:cNvPr>
          <p:cNvSpPr>
            <a:spLocks noGrp="1"/>
          </p:cNvSpPr>
          <p:nvPr>
            <p:ph type="title"/>
          </p:nvPr>
        </p:nvSpPr>
        <p:spPr/>
        <p:txBody>
          <a:bodyPr/>
          <a:lstStyle/>
          <a:p>
            <a:r>
              <a:rPr lang="en-US" dirty="0"/>
              <a:t>Generator functions</a:t>
            </a:r>
          </a:p>
        </p:txBody>
      </p:sp>
      <p:sp>
        <p:nvSpPr>
          <p:cNvPr id="3" name="Content Placeholder 2">
            <a:extLst>
              <a:ext uri="{FF2B5EF4-FFF2-40B4-BE49-F238E27FC236}">
                <a16:creationId xmlns:a16="http://schemas.microsoft.com/office/drawing/2014/main" id="{515AA4EE-992D-BBD2-3D8F-46C664B1CECA}"/>
              </a:ext>
            </a:extLst>
          </p:cNvPr>
          <p:cNvSpPr>
            <a:spLocks noGrp="1"/>
          </p:cNvSpPr>
          <p:nvPr>
            <p:ph idx="1"/>
          </p:nvPr>
        </p:nvSpPr>
        <p:spPr>
          <a:xfrm>
            <a:off x="838200" y="1443318"/>
            <a:ext cx="11353800" cy="5414681"/>
          </a:xfrm>
        </p:spPr>
        <p:txBody>
          <a:bodyPr>
            <a:normAutofit fontScale="92500" lnSpcReduction="20000"/>
          </a:bodyPr>
          <a:lstStyle/>
          <a:p>
            <a:r>
              <a:rPr lang="en-US" sz="2200" dirty="0">
                <a:latin typeface="+mj-lt"/>
              </a:rPr>
              <a:t>A </a:t>
            </a:r>
            <a:r>
              <a:rPr lang="en-US" sz="2200" dirty="0" err="1">
                <a:latin typeface="+mj-lt"/>
              </a:rPr>
              <a:t>generatorfunction</a:t>
            </a:r>
            <a:r>
              <a:rPr lang="en-US" sz="2200" dirty="0">
                <a:latin typeface="+mj-lt"/>
              </a:rPr>
              <a:t> is a function that contains a </a:t>
            </a:r>
            <a:r>
              <a:rPr lang="en-US" sz="2200" dirty="0">
                <a:latin typeface="+mj-lt"/>
                <a:cs typeface="Courier New" panose="02070309020205020404" pitchFamily="49" charset="0"/>
              </a:rPr>
              <a:t>yield </a:t>
            </a:r>
            <a:r>
              <a:rPr lang="en-US" sz="2200" dirty="0">
                <a:latin typeface="+mj-lt"/>
              </a:rPr>
              <a:t>statement and that you use to construct a generator</a:t>
            </a:r>
          </a:p>
          <a:p>
            <a:r>
              <a:rPr lang="en-US" sz="2200" dirty="0">
                <a:latin typeface="+mj-lt"/>
              </a:rPr>
              <a:t>A </a:t>
            </a:r>
            <a:r>
              <a:rPr lang="en-US" sz="2200" dirty="0">
                <a:latin typeface="+mj-lt"/>
                <a:cs typeface="Courier New" panose="02070309020205020404" pitchFamily="49" charset="0"/>
              </a:rPr>
              <a:t>yield</a:t>
            </a:r>
            <a:r>
              <a:rPr lang="en-US" sz="2200" dirty="0">
                <a:latin typeface="+mj-lt"/>
              </a:rPr>
              <a:t> statement returns a value, stops the function, but Python keeps the function and all its objects in memory (the data of standard functions are all lost after the function execution</a:t>
            </a:r>
          </a:p>
          <a:p>
            <a:r>
              <a:rPr lang="en-US" sz="2200" dirty="0">
                <a:latin typeface="+mj-lt"/>
              </a:rPr>
              <a:t>You can compare it with a computer that goes in sleep (or hibernate) mode, if you restart the computer, you will resume where you were, on the moment, when the computer went in sleep mode</a:t>
            </a:r>
          </a:p>
          <a:p>
            <a:r>
              <a:rPr lang="en-US" sz="2200" dirty="0">
                <a:latin typeface="+mj-lt"/>
              </a:rPr>
              <a:t>If the generator is called again your program runs the statement that should be executed after the yield statement</a:t>
            </a:r>
          </a:p>
          <a:p>
            <a:r>
              <a:rPr lang="en-US" sz="2200" dirty="0">
                <a:latin typeface="Courier New" panose="02070309020205020404" pitchFamily="49" charset="0"/>
                <a:cs typeface="Courier New" panose="02070309020205020404" pitchFamily="49" charset="0"/>
              </a:rPr>
              <a:t>def </a:t>
            </a:r>
            <a:r>
              <a:rPr lang="en-US" sz="2200" dirty="0" err="1">
                <a:latin typeface="Courier New" panose="02070309020205020404" pitchFamily="49" charset="0"/>
                <a:cs typeface="Courier New" panose="02070309020205020404" pitchFamily="49" charset="0"/>
              </a:rPr>
              <a:t>generatorfunction</a:t>
            </a:r>
            <a:r>
              <a:rPr lang="en-US" sz="2200" dirty="0">
                <a:latin typeface="Courier New" panose="02070309020205020404" pitchFamily="49" charset="0"/>
                <a:cs typeface="Courier New" panose="02070309020205020404" pitchFamily="49" charset="0"/>
              </a:rPr>
              <a:t>():</a:t>
            </a:r>
          </a:p>
          <a:p>
            <a:r>
              <a:rPr lang="en-US" sz="2200" dirty="0">
                <a:latin typeface="Courier New" panose="02070309020205020404" pitchFamily="49" charset="0"/>
                <a:cs typeface="Courier New" panose="02070309020205020404" pitchFamily="49" charset="0"/>
              </a:rPr>
              <a:t>    num = 1</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yield num</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num</a:t>
            </a:r>
            <a:r>
              <a:rPr lang="en-US" sz="2200" dirty="0">
                <a:latin typeface="Courier New" panose="02070309020205020404" pitchFamily="49" charset="0"/>
                <a:cs typeface="Courier New" panose="02070309020205020404" pitchFamily="49" charset="0"/>
              </a:rPr>
              <a:t> += 2</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yield num</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a:t>
            </a:r>
            <a:r>
              <a:rPr lang="en-US" sz="2200" dirty="0" err="1">
                <a:latin typeface="Courier New" panose="02070309020205020404" pitchFamily="49" charset="0"/>
                <a:cs typeface="Courier New" panose="02070309020205020404" pitchFamily="49" charset="0"/>
              </a:rPr>
              <a:t>num</a:t>
            </a:r>
            <a:r>
              <a:rPr lang="en-US" sz="2200" dirty="0">
                <a:latin typeface="Courier New" panose="02070309020205020404" pitchFamily="49" charset="0"/>
                <a:cs typeface="Courier New" panose="02070309020205020404" pitchFamily="49" charset="0"/>
              </a:rPr>
              <a:t> += 2</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    yield num</a:t>
            </a:r>
          </a:p>
          <a:p>
            <a:r>
              <a:rPr lang="en-US" sz="2200" dirty="0" err="1">
                <a:latin typeface="Courier New" panose="02070309020205020404" pitchFamily="49" charset="0"/>
                <a:cs typeface="Courier New" panose="02070309020205020404" pitchFamily="49" charset="0"/>
              </a:rPr>
              <a:t>mygenerator</a:t>
            </a:r>
            <a:r>
              <a:rPr lang="en-US" sz="2200" dirty="0">
                <a:latin typeface="Courier New" panose="02070309020205020404" pitchFamily="49" charset="0"/>
                <a:cs typeface="Courier New" panose="02070309020205020404" pitchFamily="49" charset="0"/>
              </a:rPr>
              <a:t> = </a:t>
            </a:r>
            <a:r>
              <a:rPr lang="en-US" sz="2200" dirty="0" err="1">
                <a:latin typeface="Courier New" panose="02070309020205020404" pitchFamily="49" charset="0"/>
                <a:cs typeface="Courier New" panose="02070309020205020404" pitchFamily="49" charset="0"/>
              </a:rPr>
              <a:t>generatorfunction</a:t>
            </a:r>
            <a:r>
              <a:rPr lang="en-US" sz="2200" dirty="0">
                <a:latin typeface="Courier New" panose="02070309020205020404" pitchFamily="49" charset="0"/>
                <a:cs typeface="Courier New" panose="02070309020205020404" pitchFamily="49" charset="0"/>
              </a:rPr>
              <a:t>()	# Creating the generator </a:t>
            </a:r>
          </a:p>
          <a:p>
            <a:r>
              <a:rPr lang="en-US" sz="2200" dirty="0">
                <a:latin typeface="Courier New" panose="02070309020205020404" pitchFamily="49" charset="0"/>
                <a:cs typeface="Courier New" panose="02070309020205020404" pitchFamily="49" charset="0"/>
              </a:rPr>
              <a:t>print(next(</a:t>
            </a:r>
            <a:r>
              <a:rPr lang="en-US" sz="2200" dirty="0" err="1">
                <a:latin typeface="Courier New" panose="02070309020205020404" pitchFamily="49" charset="0"/>
                <a:cs typeface="Courier New" panose="02070309020205020404" pitchFamily="49" charset="0"/>
              </a:rPr>
              <a:t>mygenerator</a:t>
            </a:r>
            <a:r>
              <a:rPr lang="en-US" sz="2200" dirty="0">
                <a:latin typeface="Courier New" panose="02070309020205020404" pitchFamily="49" charset="0"/>
                <a:cs typeface="Courier New" panose="02070309020205020404" pitchFamily="49" charset="0"/>
              </a:rPr>
              <a:t>))	# Onscreen: 1</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print(next(</a:t>
            </a:r>
            <a:r>
              <a:rPr lang="en-US" sz="2200" dirty="0" err="1">
                <a:latin typeface="Courier New" panose="02070309020205020404" pitchFamily="49" charset="0"/>
                <a:cs typeface="Courier New" panose="02070309020205020404" pitchFamily="49" charset="0"/>
              </a:rPr>
              <a:t>mygenerator</a:t>
            </a:r>
            <a:r>
              <a:rPr lang="en-US" sz="2200" dirty="0">
                <a:latin typeface="Courier New" panose="02070309020205020404" pitchFamily="49" charset="0"/>
                <a:cs typeface="Courier New" panose="02070309020205020404" pitchFamily="49" charset="0"/>
              </a:rPr>
              <a:t>))	# Onscreen: 3</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print(next(</a:t>
            </a:r>
            <a:r>
              <a:rPr lang="en-US" sz="2200" dirty="0" err="1">
                <a:latin typeface="Courier New" panose="02070309020205020404" pitchFamily="49" charset="0"/>
                <a:cs typeface="Courier New" panose="02070309020205020404" pitchFamily="49" charset="0"/>
              </a:rPr>
              <a:t>mygenerator</a:t>
            </a:r>
            <a:r>
              <a:rPr lang="en-US" sz="2200" dirty="0">
                <a:latin typeface="Courier New" panose="02070309020205020404" pitchFamily="49" charset="0"/>
                <a:cs typeface="Courier New" panose="02070309020205020404" pitchFamily="49" charset="0"/>
              </a:rPr>
              <a:t>))	# Onscreen: 5</a:t>
            </a:r>
            <a:br>
              <a:rPr lang="en-US" sz="2200" dirty="0">
                <a:latin typeface="Courier New" panose="02070309020205020404" pitchFamily="49" charset="0"/>
                <a:cs typeface="Courier New" panose="02070309020205020404" pitchFamily="49" charset="0"/>
              </a:rPr>
            </a:br>
            <a:r>
              <a:rPr lang="en-US" sz="2200" dirty="0">
                <a:latin typeface="Courier New" panose="02070309020205020404" pitchFamily="49" charset="0"/>
                <a:cs typeface="Courier New" panose="02070309020205020404" pitchFamily="49" charset="0"/>
              </a:rPr>
              <a:t>print(next(</a:t>
            </a:r>
            <a:r>
              <a:rPr lang="en-US" sz="2200" dirty="0" err="1">
                <a:latin typeface="Courier New" panose="02070309020205020404" pitchFamily="49" charset="0"/>
                <a:cs typeface="Courier New" panose="02070309020205020404" pitchFamily="49" charset="0"/>
              </a:rPr>
              <a:t>mygenerator</a:t>
            </a:r>
            <a:r>
              <a:rPr lang="en-US" sz="2200" dirty="0">
                <a:latin typeface="Courier New" panose="02070309020205020404" pitchFamily="49" charset="0"/>
                <a:cs typeface="Courier New" panose="02070309020205020404" pitchFamily="49" charset="0"/>
              </a:rPr>
              <a:t>))	# Onscreen: </a:t>
            </a:r>
            <a:r>
              <a:rPr lang="en-US" altLang="en-US" sz="2200" dirty="0" err="1">
                <a:solidFill>
                  <a:srgbClr val="000000"/>
                </a:solidFill>
                <a:latin typeface="Courier New" panose="02070309020205020404" pitchFamily="49" charset="0"/>
              </a:rPr>
              <a:t>StopIteration</a:t>
            </a:r>
            <a:r>
              <a:rPr lang="en-US" altLang="en-US" sz="2200" dirty="0">
                <a:solidFill>
                  <a:srgbClr val="000000"/>
                </a:solidFill>
                <a:latin typeface="Courier New" panose="02070309020205020404" pitchFamily="49" charset="0"/>
              </a:rPr>
              <a:t>: End of numbers</a:t>
            </a:r>
          </a:p>
          <a:p>
            <a:endParaRPr lang="en-US" sz="2000" dirty="0">
              <a:latin typeface="+mj-lt"/>
            </a:endParaRPr>
          </a:p>
        </p:txBody>
      </p:sp>
      <p:sp>
        <p:nvSpPr>
          <p:cNvPr id="4" name="Slide Number Placeholder 3">
            <a:extLst>
              <a:ext uri="{FF2B5EF4-FFF2-40B4-BE49-F238E27FC236}">
                <a16:creationId xmlns:a16="http://schemas.microsoft.com/office/drawing/2014/main" id="{554D9E32-2127-8371-75AE-184D62094191}"/>
              </a:ext>
            </a:extLst>
          </p:cNvPr>
          <p:cNvSpPr>
            <a:spLocks noGrp="1"/>
          </p:cNvSpPr>
          <p:nvPr>
            <p:ph type="sldNum" sz="quarter" idx="12"/>
          </p:nvPr>
        </p:nvSpPr>
        <p:spPr/>
        <p:txBody>
          <a:bodyPr/>
          <a:lstStyle/>
          <a:p>
            <a:fld id="{723B6F6A-0448-4EED-A121-7B4A352F61BD}" type="slidenum">
              <a:rPr lang="nl-NL" smtClean="0"/>
              <a:t>25</a:t>
            </a:fld>
            <a:endParaRPr lang="nl-NL"/>
          </a:p>
        </p:txBody>
      </p:sp>
    </p:spTree>
    <p:extLst>
      <p:ext uri="{BB962C8B-B14F-4D97-AF65-F5344CB8AC3E}">
        <p14:creationId xmlns:p14="http://schemas.microsoft.com/office/powerpoint/2010/main" val="2991941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BA710-BBD6-EED7-91EE-B50556FC117C}"/>
              </a:ext>
            </a:extLst>
          </p:cNvPr>
          <p:cNvSpPr>
            <a:spLocks noGrp="1"/>
          </p:cNvSpPr>
          <p:nvPr>
            <p:ph type="title"/>
          </p:nvPr>
        </p:nvSpPr>
        <p:spPr/>
        <p:txBody>
          <a:bodyPr/>
          <a:lstStyle/>
          <a:p>
            <a:r>
              <a:rPr lang="en-US" dirty="0"/>
              <a:t>Using a Generator function inside a loop</a:t>
            </a:r>
          </a:p>
        </p:txBody>
      </p:sp>
      <p:sp>
        <p:nvSpPr>
          <p:cNvPr id="3" name="Content Placeholder 2">
            <a:extLst>
              <a:ext uri="{FF2B5EF4-FFF2-40B4-BE49-F238E27FC236}">
                <a16:creationId xmlns:a16="http://schemas.microsoft.com/office/drawing/2014/main" id="{CCE16E8F-A6CD-41EF-7D4D-3D845E3E36C0}"/>
              </a:ext>
            </a:extLst>
          </p:cNvPr>
          <p:cNvSpPr>
            <a:spLocks noGrp="1"/>
          </p:cNvSpPr>
          <p:nvPr>
            <p:ph idx="1"/>
          </p:nvPr>
        </p:nvSpPr>
        <p:spPr>
          <a:xfrm>
            <a:off x="838199" y="1356190"/>
            <a:ext cx="11131193" cy="5501810"/>
          </a:xfrm>
        </p:spPr>
        <p:txBody>
          <a:bodyPr>
            <a:normAutofit/>
          </a:bodyPr>
          <a:lstStyle/>
          <a:p>
            <a:r>
              <a:rPr lang="en-US" sz="2000" dirty="0">
                <a:latin typeface="Courier New" panose="02070309020205020404" pitchFamily="49" charset="0"/>
                <a:cs typeface="Courier New" panose="02070309020205020404" pitchFamily="49" charset="0"/>
              </a:rPr>
              <a:t>def </a:t>
            </a:r>
            <a:r>
              <a:rPr lang="en-US" sz="2000" dirty="0" err="1">
                <a:latin typeface="Courier New" panose="02070309020205020404" pitchFamily="49" charset="0"/>
                <a:cs typeface="Courier New" panose="02070309020205020404" pitchFamily="49" charset="0"/>
              </a:rPr>
              <a:t>generatorfunction</a:t>
            </a:r>
            <a:r>
              <a:rPr lang="en-US" sz="2000" dirty="0">
                <a:latin typeface="Courier New" panose="02070309020205020404" pitchFamily="49" charset="0"/>
                <a:cs typeface="Courier New" panose="02070309020205020404" pitchFamily="49" charset="0"/>
              </a:rPr>
              <a:t>(start, stop, step):</a:t>
            </a:r>
          </a:p>
          <a:p>
            <a:r>
              <a:rPr lang="en-US" sz="2000" dirty="0">
                <a:latin typeface="Courier New" panose="02070309020205020404" pitchFamily="49" charset="0"/>
                <a:cs typeface="Courier New" panose="02070309020205020404" pitchFamily="49" charset="0"/>
              </a:rPr>
              <a:t>    while (num:=start) &lt;= stop: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yield num</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start += step</a:t>
            </a:r>
          </a:p>
          <a:p>
            <a:r>
              <a:rPr lang="en-US" sz="2000" dirty="0">
                <a:latin typeface="Courier New" panose="02070309020205020404" pitchFamily="49" charset="0"/>
                <a:cs typeface="Courier New" panose="02070309020205020404" pitchFamily="49" charset="0"/>
              </a:rPr>
              <a:t>    return 'End of numbers'</a:t>
            </a:r>
          </a:p>
          <a:p>
            <a:r>
              <a:rPr lang="en-US" sz="2000" dirty="0">
                <a:latin typeface="Courier New" panose="02070309020205020404" pitchFamily="49" charset="0"/>
                <a:cs typeface="Courier New" panose="02070309020205020404" pitchFamily="49" charset="0"/>
              </a:rPr>
              <a:t>for x in </a:t>
            </a:r>
            <a:r>
              <a:rPr lang="en-US" sz="2000" dirty="0" err="1">
                <a:latin typeface="Courier New" panose="02070309020205020404" pitchFamily="49" charset="0"/>
                <a:cs typeface="Courier New" panose="02070309020205020404" pitchFamily="49" charset="0"/>
              </a:rPr>
              <a:t>generatorfunction</a:t>
            </a:r>
            <a:r>
              <a:rPr lang="en-US" sz="2000" dirty="0">
                <a:latin typeface="Courier New" panose="02070309020205020404" pitchFamily="49" charset="0"/>
                <a:cs typeface="Courier New" panose="02070309020205020404" pitchFamily="49" charset="0"/>
              </a:rPr>
              <a:t>(1, 5, 2):</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print(x)	# Onscreen:	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3</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5</a:t>
            </a:r>
          </a:p>
          <a:p>
            <a:r>
              <a:rPr lang="en-US" sz="2000" dirty="0">
                <a:cs typeface="Arial" panose="020B0604020202020204" pitchFamily="34" charset="0"/>
              </a:rPr>
              <a:t>No error here, as the for loop catches that error for you</a:t>
            </a:r>
          </a:p>
        </p:txBody>
      </p:sp>
      <p:sp>
        <p:nvSpPr>
          <p:cNvPr id="4" name="Slide Number Placeholder 3">
            <a:extLst>
              <a:ext uri="{FF2B5EF4-FFF2-40B4-BE49-F238E27FC236}">
                <a16:creationId xmlns:a16="http://schemas.microsoft.com/office/drawing/2014/main" id="{DA10B029-3C9D-9EBD-68C9-7A7C1DFE11DE}"/>
              </a:ext>
            </a:extLst>
          </p:cNvPr>
          <p:cNvSpPr>
            <a:spLocks noGrp="1"/>
          </p:cNvSpPr>
          <p:nvPr>
            <p:ph type="sldNum" sz="quarter" idx="12"/>
          </p:nvPr>
        </p:nvSpPr>
        <p:spPr/>
        <p:txBody>
          <a:bodyPr/>
          <a:lstStyle/>
          <a:p>
            <a:fld id="{723B6F6A-0448-4EED-A121-7B4A352F61BD}" type="slidenum">
              <a:rPr lang="nl-NL" smtClean="0"/>
              <a:t>26</a:t>
            </a:fld>
            <a:endParaRPr lang="nl-NL" dirty="0"/>
          </a:p>
        </p:txBody>
      </p:sp>
      <p:sp>
        <p:nvSpPr>
          <p:cNvPr id="5" name="Rectangle 1">
            <a:extLst>
              <a:ext uri="{FF2B5EF4-FFF2-40B4-BE49-F238E27FC236}">
                <a16:creationId xmlns:a16="http://schemas.microsoft.com/office/drawing/2014/main" id="{FBB94F8E-8C5F-EAF9-3CA5-6741FE323804}"/>
              </a:ext>
            </a:extLst>
          </p:cNvPr>
          <p:cNvSpPr>
            <a:spLocks noChangeArrowheads="1"/>
          </p:cNvSpPr>
          <p:nvPr/>
        </p:nvSpPr>
        <p:spPr bwMode="auto">
          <a:xfrm>
            <a:off x="0" y="167044"/>
            <a:ext cx="28854" cy="123111"/>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800" b="0" i="0" u="none" strike="noStrike" cap="none" normalizeH="0" baseline="0" dirty="0">
                <a:ln>
                  <a:noFill/>
                </a:ln>
                <a:solidFill>
                  <a:schemeClr val="tx1"/>
                </a:solidFill>
                <a:effectLst/>
                <a:latin typeface="Arial" panose="020B0604020202020204" pitchFamily="34" charset="0"/>
              </a:rPr>
              <a:t> </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
        <p:nvSpPr>
          <p:cNvPr id="6" name="Rectangle 1">
            <a:extLst>
              <a:ext uri="{FF2B5EF4-FFF2-40B4-BE49-F238E27FC236}">
                <a16:creationId xmlns:a16="http://schemas.microsoft.com/office/drawing/2014/main" id="{17DB1CB3-B181-B0A5-C080-7A71DE7074E7}"/>
              </a:ext>
            </a:extLst>
          </p:cNvPr>
          <p:cNvSpPr>
            <a:spLocks noChangeArrowheads="1"/>
          </p:cNvSpPr>
          <p:nvPr/>
        </p:nvSpPr>
        <p:spPr bwMode="auto">
          <a:xfrm>
            <a:off x="0" y="90100"/>
            <a:ext cx="65" cy="276999"/>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0" tIns="0" rIns="0" bIns="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22319018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5AE20-9C15-74D0-8F24-25A907AF318F}"/>
              </a:ext>
            </a:extLst>
          </p:cNvPr>
          <p:cNvSpPr>
            <a:spLocks noGrp="1"/>
          </p:cNvSpPr>
          <p:nvPr>
            <p:ph type="title"/>
          </p:nvPr>
        </p:nvSpPr>
        <p:spPr/>
        <p:txBody>
          <a:bodyPr/>
          <a:lstStyle/>
          <a:p>
            <a:r>
              <a:rPr lang="en-US" dirty="0"/>
              <a:t>Turning a </a:t>
            </a:r>
            <a:r>
              <a:rPr lang="en-US" dirty="0" err="1"/>
              <a:t>generatorfunction</a:t>
            </a:r>
            <a:r>
              <a:rPr lang="en-US" dirty="0"/>
              <a:t> into a list</a:t>
            </a:r>
          </a:p>
        </p:txBody>
      </p:sp>
      <p:sp>
        <p:nvSpPr>
          <p:cNvPr id="3" name="Content Placeholder 2">
            <a:extLst>
              <a:ext uri="{FF2B5EF4-FFF2-40B4-BE49-F238E27FC236}">
                <a16:creationId xmlns:a16="http://schemas.microsoft.com/office/drawing/2014/main" id="{84C308F3-E2B5-57A1-3106-D7033A7540E0}"/>
              </a:ext>
            </a:extLst>
          </p:cNvPr>
          <p:cNvSpPr>
            <a:spLocks noGrp="1"/>
          </p:cNvSpPr>
          <p:nvPr>
            <p:ph idx="1"/>
          </p:nvPr>
        </p:nvSpPr>
        <p:spPr>
          <a:xfrm>
            <a:off x="838200" y="1825625"/>
            <a:ext cx="11353800" cy="4351338"/>
          </a:xfrm>
        </p:spPr>
        <p:txBody>
          <a:bodyPr>
            <a:normAutofit/>
          </a:bodyPr>
          <a:lstStyle/>
          <a:p>
            <a:r>
              <a:rPr lang="en-US" sz="2000" dirty="0">
                <a:latin typeface="Courier New" panose="02070309020205020404" pitchFamily="49" charset="0"/>
                <a:cs typeface="Courier New" panose="02070309020205020404" pitchFamily="49" charset="0"/>
              </a:rPr>
              <a:t>def </a:t>
            </a:r>
            <a:r>
              <a:rPr lang="en-US" sz="2000" dirty="0" err="1">
                <a:latin typeface="Courier New" panose="02070309020205020404" pitchFamily="49" charset="0"/>
                <a:cs typeface="Courier New" panose="02070309020205020404" pitchFamily="49" charset="0"/>
              </a:rPr>
              <a:t>generatorfunction</a:t>
            </a:r>
            <a:r>
              <a:rPr lang="en-US" sz="2000" dirty="0">
                <a:latin typeface="Courier New" panose="02070309020205020404" pitchFamily="49" charset="0"/>
                <a:cs typeface="Courier New" panose="02070309020205020404" pitchFamily="49" charset="0"/>
              </a:rPr>
              <a:t>(start, stop, step):</a:t>
            </a:r>
          </a:p>
          <a:p>
            <a:r>
              <a:rPr lang="en-US" sz="2000" dirty="0">
                <a:latin typeface="Courier New" panose="02070309020205020404" pitchFamily="49" charset="0"/>
                <a:cs typeface="Courier New" panose="02070309020205020404" pitchFamily="49" charset="0"/>
              </a:rPr>
              <a:t>    while (num:=start) &lt;= stop:</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yield num</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        start += step</a:t>
            </a:r>
          </a:p>
          <a:p>
            <a:r>
              <a:rPr lang="en-US" sz="2000" dirty="0">
                <a:latin typeface="Courier New" panose="02070309020205020404" pitchFamily="49" charset="0"/>
                <a:cs typeface="Courier New" panose="02070309020205020404" pitchFamily="49" charset="0"/>
              </a:rPr>
              <a:t>    return 'End of numbers'</a:t>
            </a:r>
          </a:p>
          <a:p>
            <a:r>
              <a:rPr lang="en-US" sz="2000" dirty="0">
                <a:latin typeface="Courier New" panose="02070309020205020404" pitchFamily="49" charset="0"/>
                <a:cs typeface="Courier New" panose="02070309020205020404" pitchFamily="49" charset="0"/>
              </a:rPr>
              <a:t>print(list(</a:t>
            </a:r>
            <a:r>
              <a:rPr lang="en-US" sz="2000" dirty="0" err="1">
                <a:latin typeface="Courier New" panose="02070309020205020404" pitchFamily="49" charset="0"/>
                <a:cs typeface="Courier New" panose="02070309020205020404" pitchFamily="49" charset="0"/>
              </a:rPr>
              <a:t>generatorfunction</a:t>
            </a:r>
            <a:r>
              <a:rPr lang="en-US" sz="2000" dirty="0">
                <a:latin typeface="Courier New" panose="02070309020205020404" pitchFamily="49" charset="0"/>
                <a:cs typeface="Courier New" panose="02070309020205020404" pitchFamily="49" charset="0"/>
              </a:rPr>
              <a:t>(1, 5, 2))) # Onscreen: [1, 3, 5]</a:t>
            </a:r>
          </a:p>
          <a:p>
            <a:r>
              <a:rPr lang="en-US" sz="2000" dirty="0">
                <a:cs typeface="Arial" panose="020B0604020202020204" pitchFamily="34" charset="0"/>
              </a:rPr>
              <a:t>So, you can do this, but in a way, defies the idea of a generator</a:t>
            </a:r>
          </a:p>
          <a:p>
            <a:r>
              <a:rPr lang="en-US" sz="2000" dirty="0">
                <a:cs typeface="Arial" panose="020B0604020202020204" pitchFamily="34" charset="0"/>
              </a:rPr>
              <a:t>A generator is very efficient on memory usage, only delivering a next value if asked for it</a:t>
            </a:r>
          </a:p>
          <a:p>
            <a:r>
              <a:rPr lang="en-US" sz="2000" dirty="0">
                <a:cs typeface="Arial" panose="020B0604020202020204" pitchFamily="34" charset="0"/>
              </a:rPr>
              <a:t>Question: As always there is a trade-off, could you guess what?</a:t>
            </a:r>
          </a:p>
          <a:p>
            <a:r>
              <a:rPr lang="en-US" sz="2000" dirty="0">
                <a:cs typeface="Arial" panose="020B0604020202020204" pitchFamily="34" charset="0"/>
              </a:rPr>
              <a:t>Answer: for small lists, the overhead of the generator starts to count</a:t>
            </a:r>
          </a:p>
        </p:txBody>
      </p:sp>
      <p:sp>
        <p:nvSpPr>
          <p:cNvPr id="4" name="Slide Number Placeholder 3">
            <a:extLst>
              <a:ext uri="{FF2B5EF4-FFF2-40B4-BE49-F238E27FC236}">
                <a16:creationId xmlns:a16="http://schemas.microsoft.com/office/drawing/2014/main" id="{57CD5FDA-3430-3FB7-DAF5-603FE092AF7F}"/>
              </a:ext>
            </a:extLst>
          </p:cNvPr>
          <p:cNvSpPr>
            <a:spLocks noGrp="1"/>
          </p:cNvSpPr>
          <p:nvPr>
            <p:ph type="sldNum" sz="quarter" idx="12"/>
          </p:nvPr>
        </p:nvSpPr>
        <p:spPr/>
        <p:txBody>
          <a:bodyPr/>
          <a:lstStyle/>
          <a:p>
            <a:fld id="{723B6F6A-0448-4EED-A121-7B4A352F61BD}" type="slidenum">
              <a:rPr lang="nl-NL" smtClean="0"/>
              <a:t>27</a:t>
            </a:fld>
            <a:endParaRPr lang="nl-NL"/>
          </a:p>
        </p:txBody>
      </p:sp>
    </p:spTree>
    <p:extLst>
      <p:ext uri="{BB962C8B-B14F-4D97-AF65-F5344CB8AC3E}">
        <p14:creationId xmlns:p14="http://schemas.microsoft.com/office/powerpoint/2010/main" val="275655064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845AE20-9C15-74D0-8F24-25A907AF318F}"/>
              </a:ext>
            </a:extLst>
          </p:cNvPr>
          <p:cNvSpPr>
            <a:spLocks noGrp="1"/>
          </p:cNvSpPr>
          <p:nvPr>
            <p:ph type="title"/>
          </p:nvPr>
        </p:nvSpPr>
        <p:spPr>
          <a:xfrm>
            <a:off x="838200" y="365125"/>
            <a:ext cx="10842812" cy="1325563"/>
          </a:xfrm>
        </p:spPr>
        <p:txBody>
          <a:bodyPr/>
          <a:lstStyle/>
          <a:p>
            <a:r>
              <a:rPr lang="en-US" dirty="0"/>
              <a:t>Turning a list into an iterator</a:t>
            </a:r>
          </a:p>
        </p:txBody>
      </p:sp>
      <p:sp>
        <p:nvSpPr>
          <p:cNvPr id="3" name="Content Placeholder 2">
            <a:extLst>
              <a:ext uri="{FF2B5EF4-FFF2-40B4-BE49-F238E27FC236}">
                <a16:creationId xmlns:a16="http://schemas.microsoft.com/office/drawing/2014/main" id="{84C308F3-E2B5-57A1-3106-D7033A7540E0}"/>
              </a:ext>
            </a:extLst>
          </p:cNvPr>
          <p:cNvSpPr>
            <a:spLocks noGrp="1"/>
          </p:cNvSpPr>
          <p:nvPr>
            <p:ph idx="1"/>
          </p:nvPr>
        </p:nvSpPr>
        <p:spPr>
          <a:xfrm>
            <a:off x="838200" y="1825625"/>
            <a:ext cx="11353800" cy="4351338"/>
          </a:xfrm>
        </p:spPr>
        <p:txBody>
          <a:bodyPr>
            <a:normAutofit/>
          </a:bodyPr>
          <a:lstStyle/>
          <a:p>
            <a:r>
              <a:rPr lang="en-US" sz="2000" dirty="0" err="1">
                <a:latin typeface="Courier New" panose="02070309020205020404" pitchFamily="49" charset="0"/>
                <a:cs typeface="Courier New" panose="02070309020205020404" pitchFamily="49" charset="0"/>
              </a:rPr>
              <a:t>myiterator</a:t>
            </a:r>
            <a:r>
              <a:rPr lang="en-US" sz="2000" dirty="0">
                <a:latin typeface="Courier New" panose="02070309020205020404" pitchFamily="49" charset="0"/>
                <a:cs typeface="Courier New" panose="02070309020205020404" pitchFamily="49" charset="0"/>
              </a:rPr>
              <a:t> = </a:t>
            </a:r>
            <a:r>
              <a:rPr lang="en-US" sz="2000" dirty="0" err="1">
                <a:latin typeface="Courier New" panose="02070309020205020404" pitchFamily="49" charset="0"/>
                <a:cs typeface="Courier New" panose="02070309020205020404" pitchFamily="49" charset="0"/>
              </a:rPr>
              <a:t>iter</a:t>
            </a:r>
            <a:r>
              <a:rPr lang="en-US" sz="2000" dirty="0">
                <a:latin typeface="Courier New" panose="02070309020205020404" pitchFamily="49" charset="0"/>
                <a:cs typeface="Courier New" panose="02070309020205020404" pitchFamily="49" charset="0"/>
              </a:rPr>
              <a:t>([1,3,5])</a:t>
            </a:r>
          </a:p>
          <a:p>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myiterator</a:t>
            </a:r>
            <a:r>
              <a:rPr lang="en-US" sz="2000" dirty="0">
                <a:latin typeface="Courier New" panose="02070309020205020404" pitchFamily="49" charset="0"/>
                <a:cs typeface="Courier New" panose="02070309020205020404" pitchFamily="49" charset="0"/>
              </a:rPr>
              <a:t>))	# Onscreen: 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myiterator</a:t>
            </a:r>
            <a:r>
              <a:rPr lang="en-US" sz="2000" dirty="0">
                <a:latin typeface="Courier New" panose="02070309020205020404" pitchFamily="49" charset="0"/>
                <a:cs typeface="Courier New" panose="02070309020205020404" pitchFamily="49" charset="0"/>
              </a:rPr>
              <a:t>))	# Onscreen: 3</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myiterator</a:t>
            </a:r>
            <a:r>
              <a:rPr lang="en-US" sz="2000" dirty="0">
                <a:latin typeface="Courier New" panose="02070309020205020404" pitchFamily="49" charset="0"/>
                <a:cs typeface="Courier New" panose="02070309020205020404" pitchFamily="49" charset="0"/>
              </a:rPr>
              <a:t>))	# Onscreen: 5</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myiterator</a:t>
            </a:r>
            <a:r>
              <a:rPr lang="en-US" sz="2000" dirty="0">
                <a:latin typeface="Courier New" panose="02070309020205020404" pitchFamily="49" charset="0"/>
                <a:cs typeface="Courier New" panose="02070309020205020404" pitchFamily="49" charset="0"/>
              </a:rPr>
              <a:t>))	# Onscreen: </a:t>
            </a:r>
            <a:r>
              <a:rPr lang="en-US" sz="2000" dirty="0" err="1">
                <a:latin typeface="Courier New" panose="02070309020205020404" pitchFamily="49" charset="0"/>
                <a:cs typeface="Courier New" panose="02070309020205020404" pitchFamily="49" charset="0"/>
              </a:rPr>
              <a:t>StopIteration</a:t>
            </a:r>
            <a:endParaRPr lang="en-US" sz="2000" dirty="0">
              <a:latin typeface="Courier New" panose="02070309020205020404" pitchFamily="49" charset="0"/>
              <a:cs typeface="Courier New" panose="02070309020205020404" pitchFamily="49" charset="0"/>
            </a:endParaRPr>
          </a:p>
          <a:p>
            <a:r>
              <a:rPr lang="en-US" sz="2000" dirty="0">
                <a:cs typeface="Arial" panose="020B0604020202020204" pitchFamily="34" charset="0"/>
              </a:rPr>
              <a:t>Works because the list class has an __</a:t>
            </a:r>
            <a:r>
              <a:rPr lang="en-US" sz="2000" dirty="0" err="1">
                <a:cs typeface="Arial" panose="020B0604020202020204" pitchFamily="34" charset="0"/>
              </a:rPr>
              <a:t>iter</a:t>
            </a:r>
            <a:r>
              <a:rPr lang="en-US" sz="2000" dirty="0">
                <a:cs typeface="Arial" panose="020B0604020202020204" pitchFamily="34" charset="0"/>
              </a:rPr>
              <a:t>__ and a __next__ method</a:t>
            </a:r>
            <a:endParaRPr lang="en-US" sz="2000" dirty="0">
              <a:latin typeface="Courier New" panose="02070309020205020404" pitchFamily="49" charset="0"/>
              <a:cs typeface="Courier New" panose="02070309020205020404" pitchFamily="49" charset="0"/>
            </a:endParaRPr>
          </a:p>
          <a:p>
            <a:endParaRPr lang="en-US" sz="2000" dirty="0">
              <a:cs typeface="Arial" panose="020B0604020202020204" pitchFamily="34" charset="0"/>
            </a:endParaRPr>
          </a:p>
        </p:txBody>
      </p:sp>
      <p:sp>
        <p:nvSpPr>
          <p:cNvPr id="4" name="Slide Number Placeholder 3">
            <a:extLst>
              <a:ext uri="{FF2B5EF4-FFF2-40B4-BE49-F238E27FC236}">
                <a16:creationId xmlns:a16="http://schemas.microsoft.com/office/drawing/2014/main" id="{57CD5FDA-3430-3FB7-DAF5-603FE092AF7F}"/>
              </a:ext>
            </a:extLst>
          </p:cNvPr>
          <p:cNvSpPr>
            <a:spLocks noGrp="1"/>
          </p:cNvSpPr>
          <p:nvPr>
            <p:ph type="sldNum" sz="quarter" idx="12"/>
          </p:nvPr>
        </p:nvSpPr>
        <p:spPr/>
        <p:txBody>
          <a:bodyPr/>
          <a:lstStyle/>
          <a:p>
            <a:fld id="{723B6F6A-0448-4EED-A121-7B4A352F61BD}" type="slidenum">
              <a:rPr lang="nl-NL" smtClean="0"/>
              <a:t>28</a:t>
            </a:fld>
            <a:endParaRPr lang="nl-NL"/>
          </a:p>
        </p:txBody>
      </p:sp>
    </p:spTree>
    <p:extLst>
      <p:ext uri="{BB962C8B-B14F-4D97-AF65-F5344CB8AC3E}">
        <p14:creationId xmlns:p14="http://schemas.microsoft.com/office/powerpoint/2010/main" val="221105515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77DE27-C675-B2F7-D594-C165B418CF6E}"/>
              </a:ext>
            </a:extLst>
          </p:cNvPr>
          <p:cNvSpPr>
            <a:spLocks noGrp="1"/>
          </p:cNvSpPr>
          <p:nvPr>
            <p:ph type="title"/>
          </p:nvPr>
        </p:nvSpPr>
        <p:spPr/>
        <p:txBody>
          <a:bodyPr/>
          <a:lstStyle/>
          <a:p>
            <a:r>
              <a:rPr lang="nl-NL" dirty="0"/>
              <a:t>Generator </a:t>
            </a:r>
            <a:r>
              <a:rPr lang="nl-NL" dirty="0" err="1"/>
              <a:t>comprehension</a:t>
            </a:r>
            <a:endParaRPr lang="en-US" dirty="0"/>
          </a:p>
        </p:txBody>
      </p:sp>
      <p:sp>
        <p:nvSpPr>
          <p:cNvPr id="3" name="Content Placeholder 2">
            <a:extLst>
              <a:ext uri="{FF2B5EF4-FFF2-40B4-BE49-F238E27FC236}">
                <a16:creationId xmlns:a16="http://schemas.microsoft.com/office/drawing/2014/main" id="{E20608D2-3E73-3563-CC9C-9E683FAA904B}"/>
              </a:ext>
            </a:extLst>
          </p:cNvPr>
          <p:cNvSpPr>
            <a:spLocks noGrp="1"/>
          </p:cNvSpPr>
          <p:nvPr>
            <p:ph idx="1"/>
          </p:nvPr>
        </p:nvSpPr>
        <p:spPr/>
        <p:txBody>
          <a:bodyPr>
            <a:normAutofit/>
          </a:bodyPr>
          <a:lstStyle/>
          <a:p>
            <a:r>
              <a:rPr lang="en-US" sz="2000" dirty="0" err="1">
                <a:latin typeface="Courier New" panose="02070309020205020404" pitchFamily="49" charset="0"/>
                <a:cs typeface="Courier New" panose="02070309020205020404" pitchFamily="49" charset="0"/>
              </a:rPr>
              <a:t>mygenerator</a:t>
            </a:r>
            <a:r>
              <a:rPr lang="en-US" sz="2000" dirty="0">
                <a:latin typeface="Courier New" panose="02070309020205020404" pitchFamily="49" charset="0"/>
                <a:cs typeface="Courier New" panose="02070309020205020404" pitchFamily="49" charset="0"/>
              </a:rPr>
              <a:t> = (x for x in range(100000000) if x%3 == 0 or x%4 == 0)</a:t>
            </a:r>
          </a:p>
          <a:p>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mygenerator</a:t>
            </a:r>
            <a:r>
              <a:rPr lang="en-US" sz="2000" dirty="0">
                <a:latin typeface="Courier New" panose="02070309020205020404" pitchFamily="49" charset="0"/>
                <a:cs typeface="Courier New" panose="02070309020205020404" pitchFamily="49" charset="0"/>
              </a:rPr>
              <a:t>))	# Onscreen: 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mygenerator</a:t>
            </a:r>
            <a:r>
              <a:rPr lang="en-US" sz="2000" dirty="0">
                <a:latin typeface="Courier New" panose="02070309020205020404" pitchFamily="49" charset="0"/>
                <a:cs typeface="Courier New" panose="02070309020205020404" pitchFamily="49" charset="0"/>
              </a:rPr>
              <a:t>))	# Onscreen: 3</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mygenerator</a:t>
            </a:r>
            <a:r>
              <a:rPr lang="en-US" sz="2000" dirty="0">
                <a:latin typeface="Courier New" panose="02070309020205020404" pitchFamily="49" charset="0"/>
                <a:cs typeface="Courier New" panose="02070309020205020404" pitchFamily="49" charset="0"/>
              </a:rPr>
              <a:t>))	# Onscreen: 4</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print(next(</a:t>
            </a:r>
            <a:r>
              <a:rPr lang="en-US" sz="2000" dirty="0" err="1">
                <a:latin typeface="Courier New" panose="02070309020205020404" pitchFamily="49" charset="0"/>
                <a:cs typeface="Courier New" panose="02070309020205020404" pitchFamily="49" charset="0"/>
              </a:rPr>
              <a:t>mygenerator</a:t>
            </a:r>
            <a:r>
              <a:rPr lang="en-US" sz="2000" dirty="0">
                <a:latin typeface="Courier New" panose="02070309020205020404" pitchFamily="49" charset="0"/>
                <a:cs typeface="Courier New" panose="02070309020205020404" pitchFamily="49" charset="0"/>
              </a:rPr>
              <a:t>))	# Onscreen: 6</a:t>
            </a:r>
            <a:endParaRPr lang="en-US" sz="2800" dirty="0">
              <a:latin typeface="Courier New" panose="02070309020205020404" pitchFamily="49" charset="0"/>
              <a:cs typeface="Courier New" panose="02070309020205020404" pitchFamily="49" charset="0"/>
            </a:endParaRPr>
          </a:p>
          <a:p>
            <a:r>
              <a:rPr lang="en-US" sz="2800" dirty="0">
                <a:cs typeface="Arial" panose="020B0604020202020204" pitchFamily="34" charset="0"/>
              </a:rPr>
              <a:t>vs</a:t>
            </a:r>
          </a:p>
          <a:p>
            <a:r>
              <a:rPr lang="en-US" sz="2000" dirty="0">
                <a:latin typeface="Courier New" panose="02070309020205020404" pitchFamily="49" charset="0"/>
                <a:cs typeface="Courier New" panose="02070309020205020404" pitchFamily="49" charset="0"/>
              </a:rPr>
              <a:t>l1 = [x for x in range(100000000) if x%3 == 0 or x%4 == 0]</a:t>
            </a:r>
          </a:p>
          <a:p>
            <a:r>
              <a:rPr lang="en-US" sz="2000" dirty="0">
                <a:latin typeface="Courier New" panose="02070309020205020404" pitchFamily="49" charset="0"/>
                <a:cs typeface="Courier New" panose="02070309020205020404" pitchFamily="49" charset="0"/>
              </a:rPr>
              <a:t>print(l1[0])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print(l1[1])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print(l1[2])</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print(l1[3])</a:t>
            </a:r>
          </a:p>
          <a:p>
            <a:endParaRPr lang="en-US" sz="2800" dirty="0">
              <a:latin typeface="Courier New" panose="02070309020205020404" pitchFamily="49" charset="0"/>
              <a:cs typeface="Courier New" panose="02070309020205020404" pitchFamily="49" charset="0"/>
            </a:endParaRPr>
          </a:p>
          <a:p>
            <a:endParaRPr lang="en-US" dirty="0"/>
          </a:p>
        </p:txBody>
      </p:sp>
      <p:sp>
        <p:nvSpPr>
          <p:cNvPr id="4" name="Slide Number Placeholder 3">
            <a:extLst>
              <a:ext uri="{FF2B5EF4-FFF2-40B4-BE49-F238E27FC236}">
                <a16:creationId xmlns:a16="http://schemas.microsoft.com/office/drawing/2014/main" id="{E1DD2B9D-FCF5-0209-811C-87BB3714D663}"/>
              </a:ext>
            </a:extLst>
          </p:cNvPr>
          <p:cNvSpPr>
            <a:spLocks noGrp="1"/>
          </p:cNvSpPr>
          <p:nvPr>
            <p:ph type="sldNum" sz="quarter" idx="12"/>
          </p:nvPr>
        </p:nvSpPr>
        <p:spPr/>
        <p:txBody>
          <a:bodyPr/>
          <a:lstStyle/>
          <a:p>
            <a:fld id="{723B6F6A-0448-4EED-A121-7B4A352F61BD}" type="slidenum">
              <a:rPr lang="nl-NL" smtClean="0"/>
              <a:t>29</a:t>
            </a:fld>
            <a:endParaRPr lang="nl-NL"/>
          </a:p>
        </p:txBody>
      </p:sp>
    </p:spTree>
    <p:extLst>
      <p:ext uri="{BB962C8B-B14F-4D97-AF65-F5344CB8AC3E}">
        <p14:creationId xmlns:p14="http://schemas.microsoft.com/office/powerpoint/2010/main" val="239907208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9A5BFAD-C69E-B1A6-E4B4-914695708A86}"/>
              </a:ext>
            </a:extLst>
          </p:cNvPr>
          <p:cNvSpPr>
            <a:spLocks noGrp="1"/>
          </p:cNvSpPr>
          <p:nvPr>
            <p:ph type="title"/>
          </p:nvPr>
        </p:nvSpPr>
        <p:spPr/>
        <p:txBody>
          <a:bodyPr/>
          <a:lstStyle/>
          <a:p>
            <a:r>
              <a:rPr lang="nl-NL" dirty="0"/>
              <a:t>Handling date </a:t>
            </a:r>
            <a:r>
              <a:rPr lang="nl-NL" dirty="0" err="1"/>
              <a:t>and</a:t>
            </a:r>
            <a:r>
              <a:rPr lang="nl-NL" dirty="0"/>
              <a:t> </a:t>
            </a:r>
            <a:r>
              <a:rPr lang="nl-NL" dirty="0" err="1"/>
              <a:t>times</a:t>
            </a:r>
            <a:endParaRPr lang="en-US" dirty="0"/>
          </a:p>
        </p:txBody>
      </p:sp>
      <p:sp>
        <p:nvSpPr>
          <p:cNvPr id="3" name="Content Placeholder 2">
            <a:extLst>
              <a:ext uri="{FF2B5EF4-FFF2-40B4-BE49-F238E27FC236}">
                <a16:creationId xmlns:a16="http://schemas.microsoft.com/office/drawing/2014/main" id="{A9D48E48-2F1E-40ED-DB39-406C3A8376ED}"/>
              </a:ext>
            </a:extLst>
          </p:cNvPr>
          <p:cNvSpPr>
            <a:spLocks noGrp="1"/>
          </p:cNvSpPr>
          <p:nvPr>
            <p:ph idx="1"/>
          </p:nvPr>
        </p:nvSpPr>
        <p:spPr>
          <a:xfrm>
            <a:off x="1002587" y="1977150"/>
            <a:ext cx="10515600" cy="4351338"/>
          </a:xfrm>
        </p:spPr>
        <p:txBody>
          <a:bodyPr>
            <a:normAutofit lnSpcReduction="10000"/>
          </a:bodyPr>
          <a:lstStyle/>
          <a:p>
            <a:r>
              <a:rPr lang="nl-NL" dirty="0"/>
              <a:t>Dates </a:t>
            </a:r>
            <a:r>
              <a:rPr lang="nl-NL" dirty="0" err="1"/>
              <a:t>and</a:t>
            </a:r>
            <a:r>
              <a:rPr lang="nl-NL" dirty="0"/>
              <a:t> </a:t>
            </a:r>
            <a:r>
              <a:rPr lang="nl-NL" dirty="0" err="1"/>
              <a:t>times</a:t>
            </a:r>
            <a:r>
              <a:rPr lang="nl-NL" dirty="0"/>
              <a:t> in Python </a:t>
            </a:r>
            <a:r>
              <a:rPr lang="en-US" dirty="0"/>
              <a:t>are measured as seconds since </a:t>
            </a:r>
            <a:r>
              <a:rPr lang="en-US" dirty="0">
                <a:effectLst/>
              </a:rPr>
              <a:t>1970-01-01 00:00:00 UTC Coordinated Universal Time, als</a:t>
            </a:r>
            <a:r>
              <a:rPr lang="en-US" dirty="0">
                <a:effectLst/>
                <a:latin typeface="Arial" panose="020B0604020202020204" pitchFamily="34" charset="0"/>
              </a:rPr>
              <a:t>o known as Greenwich Mean Time (GMT)</a:t>
            </a:r>
          </a:p>
          <a:p>
            <a:r>
              <a:rPr lang="en-US" dirty="0"/>
              <a:t>UTC doesn't have daylight saving time, so every day has 24 hours</a:t>
            </a:r>
          </a:p>
          <a:p>
            <a:r>
              <a:rPr lang="en-US" dirty="0"/>
              <a:t>To get the time in seconds since that moment:</a:t>
            </a:r>
          </a:p>
          <a:p>
            <a:r>
              <a:rPr lang="nl-NL" dirty="0">
                <a:latin typeface="Courier New" panose="02070309020205020404" pitchFamily="49" charset="0"/>
                <a:cs typeface="Courier New" panose="02070309020205020404" pitchFamily="49" charset="0"/>
              </a:rPr>
              <a:t>from </a:t>
            </a:r>
            <a:r>
              <a:rPr lang="nl-NL" dirty="0" err="1">
                <a:latin typeface="Courier New" panose="02070309020205020404" pitchFamily="49" charset="0"/>
                <a:cs typeface="Courier New" panose="02070309020205020404" pitchFamily="49" charset="0"/>
              </a:rPr>
              <a:t>datetime</a:t>
            </a:r>
            <a:r>
              <a:rPr lang="nl-NL" dirty="0">
                <a:latin typeface="Courier New" panose="02070309020205020404" pitchFamily="49" charset="0"/>
                <a:cs typeface="Courier New" panose="02070309020205020404" pitchFamily="49" charset="0"/>
              </a:rPr>
              <a:t> import </a:t>
            </a:r>
            <a:r>
              <a:rPr lang="nl-NL" dirty="0" err="1">
                <a:latin typeface="Courier New" panose="02070309020205020404" pitchFamily="49" charset="0"/>
                <a:cs typeface="Courier New" panose="02070309020205020404" pitchFamily="49" charset="0"/>
              </a:rPr>
              <a:t>datetime</a:t>
            </a:r>
            <a:br>
              <a:rPr lang="nl-NL" dirty="0">
                <a:latin typeface="Courier New" panose="02070309020205020404" pitchFamily="49" charset="0"/>
                <a:cs typeface="Courier New" panose="02070309020205020404" pitchFamily="49" charset="0"/>
              </a:rPr>
            </a:br>
            <a:r>
              <a:rPr lang="nl-NL" dirty="0">
                <a:latin typeface="Courier New" panose="02070309020205020404" pitchFamily="49" charset="0"/>
                <a:cs typeface="Courier New" panose="02070309020205020404" pitchFamily="49" charset="0"/>
              </a:rPr>
              <a:t>print(</a:t>
            </a:r>
            <a:r>
              <a:rPr lang="nl-NL" dirty="0" err="1">
                <a:latin typeface="Courier New" panose="02070309020205020404" pitchFamily="49" charset="0"/>
                <a:cs typeface="Courier New" panose="02070309020205020404" pitchFamily="49" charset="0"/>
              </a:rPr>
              <a:t>datetime.now</a:t>
            </a:r>
            <a:r>
              <a:rPr lang="nl-NL" dirty="0">
                <a:latin typeface="Courier New" panose="02070309020205020404" pitchFamily="49" charset="0"/>
                <a:cs typeface="Courier New" panose="02070309020205020404" pitchFamily="49" charset="0"/>
              </a:rPr>
              <a:t>().timestamp())	</a:t>
            </a:r>
          </a:p>
          <a:p>
            <a:pPr marL="457200" lvl="1" indent="0">
              <a:buNone/>
            </a:pPr>
            <a:r>
              <a:rPr lang="nl-NL" dirty="0">
                <a:latin typeface="Courier New" panose="02070309020205020404" pitchFamily="49" charset="0"/>
                <a:cs typeface="Courier New" panose="02070309020205020404" pitchFamily="49" charset="0"/>
              </a:rPr>
              <a:t># On screen: 1716179932.022811</a:t>
            </a:r>
          </a:p>
          <a:p>
            <a:r>
              <a:rPr lang="en-US" dirty="0"/>
              <a:t>This is great for computers, but not so much for humans</a:t>
            </a:r>
          </a:p>
        </p:txBody>
      </p:sp>
      <p:sp>
        <p:nvSpPr>
          <p:cNvPr id="4" name="Slide Number Placeholder 3">
            <a:extLst>
              <a:ext uri="{FF2B5EF4-FFF2-40B4-BE49-F238E27FC236}">
                <a16:creationId xmlns:a16="http://schemas.microsoft.com/office/drawing/2014/main" id="{9E90A069-2805-C7CD-4D0D-92C7D26AD62D}"/>
              </a:ext>
            </a:extLst>
          </p:cNvPr>
          <p:cNvSpPr>
            <a:spLocks noGrp="1"/>
          </p:cNvSpPr>
          <p:nvPr>
            <p:ph type="sldNum" sz="quarter" idx="12"/>
          </p:nvPr>
        </p:nvSpPr>
        <p:spPr/>
        <p:txBody>
          <a:bodyPr/>
          <a:lstStyle/>
          <a:p>
            <a:fld id="{723B6F6A-0448-4EED-A121-7B4A352F61BD}" type="slidenum">
              <a:rPr lang="nl-NL" smtClean="0"/>
              <a:t>30</a:t>
            </a:fld>
            <a:endParaRPr lang="nl-NL"/>
          </a:p>
        </p:txBody>
      </p:sp>
    </p:spTree>
    <p:extLst>
      <p:ext uri="{BB962C8B-B14F-4D97-AF65-F5344CB8AC3E}">
        <p14:creationId xmlns:p14="http://schemas.microsoft.com/office/powerpoint/2010/main" val="166558935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2B5C9B-21A6-EB29-4B72-F4CF5A16D6DE}"/>
              </a:ext>
            </a:extLst>
          </p:cNvPr>
          <p:cNvSpPr>
            <a:spLocks noGrp="1"/>
          </p:cNvSpPr>
          <p:nvPr>
            <p:ph type="title"/>
          </p:nvPr>
        </p:nvSpPr>
        <p:spPr/>
        <p:txBody>
          <a:bodyPr/>
          <a:lstStyle/>
          <a:p>
            <a:r>
              <a:rPr lang="nl-NL" dirty="0"/>
              <a:t>Classes in the </a:t>
            </a:r>
            <a:r>
              <a:rPr lang="nl-NL" dirty="0" err="1"/>
              <a:t>datetime</a:t>
            </a:r>
            <a:r>
              <a:rPr lang="nl-NL" dirty="0"/>
              <a:t> module</a:t>
            </a:r>
            <a:endParaRPr lang="en-US" dirty="0"/>
          </a:p>
        </p:txBody>
      </p:sp>
      <p:sp>
        <p:nvSpPr>
          <p:cNvPr id="4" name="Slide Number Placeholder 3">
            <a:extLst>
              <a:ext uri="{FF2B5EF4-FFF2-40B4-BE49-F238E27FC236}">
                <a16:creationId xmlns:a16="http://schemas.microsoft.com/office/drawing/2014/main" id="{2AABACBC-EA65-550A-A841-DEB8CB2044BF}"/>
              </a:ext>
            </a:extLst>
          </p:cNvPr>
          <p:cNvSpPr>
            <a:spLocks noGrp="1"/>
          </p:cNvSpPr>
          <p:nvPr>
            <p:ph type="sldNum" sz="quarter" idx="12"/>
          </p:nvPr>
        </p:nvSpPr>
        <p:spPr/>
        <p:txBody>
          <a:bodyPr/>
          <a:lstStyle/>
          <a:p>
            <a:fld id="{723B6F6A-0448-4EED-A121-7B4A352F61BD}" type="slidenum">
              <a:rPr lang="nl-NL" smtClean="0"/>
              <a:t>31</a:t>
            </a:fld>
            <a:endParaRPr lang="nl-NL"/>
          </a:p>
        </p:txBody>
      </p:sp>
      <p:sp>
        <p:nvSpPr>
          <p:cNvPr id="5" name="Rectangle 1">
            <a:extLst>
              <a:ext uri="{FF2B5EF4-FFF2-40B4-BE49-F238E27FC236}">
                <a16:creationId xmlns:a16="http://schemas.microsoft.com/office/drawing/2014/main" id="{5E5A79C3-DA5A-B291-AA45-363C48B3D4A5}"/>
              </a:ext>
            </a:extLst>
          </p:cNvPr>
          <p:cNvSpPr>
            <a:spLocks noGrp="1" noChangeArrowheads="1"/>
          </p:cNvSpPr>
          <p:nvPr>
            <p:ph idx="1"/>
          </p:nvPr>
        </p:nvSpPr>
        <p:spPr bwMode="auto">
          <a:xfrm>
            <a:off x="838200" y="1492918"/>
            <a:ext cx="10357884" cy="501675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indent="0" eaLnBrk="0" fontAlgn="base" hangingPunct="0">
              <a:lnSpc>
                <a:spcPct val="100000"/>
              </a:lnSpc>
              <a:spcBef>
                <a:spcPct val="0"/>
              </a:spcBef>
              <a:spcAft>
                <a:spcPct val="0"/>
              </a:spcAft>
              <a:buNone/>
            </a:pPr>
            <a:r>
              <a:rPr lang="en-US" altLang="en-US" sz="2000" dirty="0"/>
              <a:t>There are several classes defined in the datetime module, we start with the following three:</a:t>
            </a:r>
          </a:p>
          <a:p>
            <a:pPr marL="457200" marR="0" lvl="0" indent="-457200" algn="l" defTabSz="914400" rtl="0" eaLnBrk="0" fontAlgn="base" latinLnBrk="0" hangingPunct="0">
              <a:lnSpc>
                <a:spcPct val="100000"/>
              </a:lnSpc>
              <a:spcBef>
                <a:spcPct val="0"/>
              </a:spcBef>
              <a:spcAft>
                <a:spcPct val="0"/>
              </a:spcAft>
              <a:buClrTx/>
              <a:buSzTx/>
              <a:buFont typeface="+mj-lt"/>
              <a:buAutoNum type="arabicPeriod"/>
              <a:tabLst/>
            </a:pPr>
            <a:r>
              <a:rPr lang="en-US" altLang="en-US" sz="2000" dirty="0" err="1"/>
              <a:t>datetime.date</a:t>
            </a:r>
            <a:r>
              <a:rPr lang="en-US" altLang="en-US" sz="2000" dirty="0"/>
              <a:t> </a:t>
            </a:r>
            <a:br>
              <a:rPr lang="en-US" altLang="en-US" sz="2000" dirty="0"/>
            </a:br>
            <a:r>
              <a:rPr lang="en-US" altLang="en-US" sz="2000" dirty="0"/>
              <a:t>This object stores a date and has the year, month, and day as attributes. It is based on the Gregorian calendar, and assumes the world always used the Gregorian </a:t>
            </a:r>
            <a:r>
              <a:rPr lang="en-US" altLang="en-US" sz="2000" dirty="0" err="1"/>
              <a:t>calender</a:t>
            </a:r>
            <a:endParaRPr lang="en-US" altLang="en-US" sz="2000" dirty="0"/>
          </a:p>
          <a:p>
            <a:pPr marL="457200" lvl="0" indent="-457200" eaLnBrk="0" fontAlgn="base" hangingPunct="0">
              <a:lnSpc>
                <a:spcPct val="100000"/>
              </a:lnSpc>
              <a:spcBef>
                <a:spcPct val="0"/>
              </a:spcBef>
              <a:spcAft>
                <a:spcPct val="0"/>
              </a:spcAft>
              <a:buFont typeface="+mj-lt"/>
              <a:buAutoNum type="arabicPeriod"/>
            </a:pPr>
            <a:r>
              <a:rPr lang="en-US" altLang="en-US" sz="2000" dirty="0" err="1"/>
              <a:t>datetime.time</a:t>
            </a:r>
            <a:r>
              <a:rPr lang="en-US" altLang="en-US" sz="2000" dirty="0"/>
              <a:t> </a:t>
            </a:r>
            <a:br>
              <a:rPr lang="en-US" altLang="en-US" sz="2000" dirty="0"/>
            </a:br>
            <a:r>
              <a:rPr lang="en-US" altLang="en-US" sz="2000" dirty="0"/>
              <a:t>This object stores a time and has the hour, minute, second, microsecond, and </a:t>
            </a:r>
            <a:r>
              <a:rPr lang="en-US" altLang="en-US" sz="2000" dirty="0" err="1"/>
              <a:t>tzinfo</a:t>
            </a:r>
            <a:r>
              <a:rPr lang="en-US" altLang="en-US" sz="2000" dirty="0"/>
              <a:t> (time zone information) as attributes. It assumes there are 86,400 seconds in every day, so no leap seconds </a:t>
            </a:r>
          </a:p>
          <a:p>
            <a:pPr marL="457200" lvl="0" indent="-457200" eaLnBrk="0" fontAlgn="base" hangingPunct="0">
              <a:lnSpc>
                <a:spcPct val="100000"/>
              </a:lnSpc>
              <a:spcBef>
                <a:spcPct val="0"/>
              </a:spcBef>
              <a:spcAft>
                <a:spcPct val="0"/>
              </a:spcAft>
              <a:buFont typeface="+mj-lt"/>
              <a:buAutoNum type="arabicPeriod"/>
            </a:pPr>
            <a:r>
              <a:rPr lang="en-US" altLang="en-US" sz="2000" dirty="0" err="1"/>
              <a:t>datetime.datetime</a:t>
            </a:r>
            <a:br>
              <a:rPr lang="en-US" altLang="en-US" sz="2000" dirty="0"/>
            </a:br>
            <a:r>
              <a:rPr lang="en-US" altLang="en-US" sz="2000" dirty="0"/>
              <a:t>This object is a combination</a:t>
            </a:r>
            <a:r>
              <a:rPr kumimoji="0" lang="en-US" altLang="en-US" sz="2000" b="0" i="0" strike="noStrike" cap="none" normalizeH="0" baseline="0" dirty="0">
                <a:ln>
                  <a:noFill/>
                </a:ln>
                <a:solidFill>
                  <a:schemeClr val="tx1"/>
                </a:solidFill>
                <a:effectLst/>
              </a:rPr>
              <a:t> of a </a:t>
            </a:r>
            <a:r>
              <a:rPr kumimoji="0" lang="en-US" altLang="en-US" sz="2000" b="0" i="0" strike="noStrike" cap="none" normalizeH="0" baseline="0" dirty="0" err="1">
                <a:ln>
                  <a:noFill/>
                </a:ln>
                <a:solidFill>
                  <a:schemeClr val="tx1"/>
                </a:solidFill>
                <a:effectLst/>
              </a:rPr>
              <a:t>datetime.</a:t>
            </a:r>
            <a:r>
              <a:rPr kumimoji="0" lang="en-US" altLang="en-US" sz="2000" b="0" i="0" strike="noStrike" cap="none" normalizeH="0" baseline="0" dirty="0" err="1">
                <a:ln>
                  <a:noFill/>
                </a:ln>
                <a:solidFill>
                  <a:schemeClr val="tx1"/>
                </a:solidFill>
                <a:effectLst/>
                <a:latin typeface="Arial Unicode MS"/>
              </a:rPr>
              <a:t>date</a:t>
            </a:r>
            <a:r>
              <a:rPr kumimoji="0" lang="en-US" altLang="en-US" sz="2000" b="0" i="0" strike="noStrike" cap="none" normalizeH="0" baseline="0" dirty="0">
                <a:ln>
                  <a:noFill/>
                </a:ln>
                <a:solidFill>
                  <a:schemeClr val="tx1"/>
                </a:solidFill>
                <a:effectLst/>
              </a:rPr>
              <a:t> and a </a:t>
            </a:r>
            <a:r>
              <a:rPr kumimoji="0" lang="en-US" altLang="en-US" sz="2000" b="0" i="0" strike="noStrike" cap="none" normalizeH="0" baseline="0" dirty="0" err="1">
                <a:ln>
                  <a:noFill/>
                </a:ln>
                <a:solidFill>
                  <a:schemeClr val="tx1"/>
                </a:solidFill>
                <a:effectLst/>
              </a:rPr>
              <a:t>datetime.</a:t>
            </a:r>
            <a:r>
              <a:rPr kumimoji="0" lang="en-US" altLang="en-US" sz="2000" b="0" i="0" strike="noStrike" cap="none" normalizeH="0" baseline="0" dirty="0" err="1">
                <a:ln>
                  <a:noFill/>
                </a:ln>
                <a:solidFill>
                  <a:schemeClr val="tx1"/>
                </a:solidFill>
                <a:effectLst/>
                <a:latin typeface="Arial Unicode MS"/>
              </a:rPr>
              <a:t>time</a:t>
            </a:r>
            <a:r>
              <a:rPr kumimoji="0" lang="en-US" altLang="en-US" sz="2000" b="0" i="0" strike="noStrike" cap="none" normalizeH="0" baseline="0" dirty="0">
                <a:ln>
                  <a:noFill/>
                </a:ln>
                <a:solidFill>
                  <a:schemeClr val="tx1"/>
                </a:solidFill>
                <a:effectLst/>
              </a:rPr>
              <a:t>. It has all the attributes of both classes</a:t>
            </a:r>
            <a:r>
              <a:rPr kumimoji="0" lang="en-US" altLang="en-US" sz="2000" b="0" i="0" strike="noStrike" cap="none" normalizeH="0" baseline="0" dirty="0">
                <a:ln>
                  <a:noFill/>
                </a:ln>
                <a:solidFill>
                  <a:schemeClr val="tx1"/>
                </a:solidFill>
                <a:effectLst/>
                <a:latin typeface="Arial" panose="020B0604020202020204" pitchFamily="34" charset="0"/>
              </a:rPr>
              <a:t> </a:t>
            </a:r>
          </a:p>
          <a:p>
            <a:pPr marL="0" marR="0" lvl="0" indent="0" algn="l" defTabSz="914400" rtl="0" eaLnBrk="0" fontAlgn="base" latinLnBrk="0" hangingPunct="0">
              <a:lnSpc>
                <a:spcPct val="100000"/>
              </a:lnSpc>
              <a:spcBef>
                <a:spcPct val="0"/>
              </a:spcBef>
              <a:spcAft>
                <a:spcPct val="0"/>
              </a:spcAft>
              <a:buClrTx/>
              <a:buSzTx/>
              <a:buNone/>
              <a:tabLst/>
            </a:pPr>
            <a:r>
              <a:rPr lang="en-US" altLang="en-US" sz="2000" dirty="0"/>
              <a:t>(Here you see, that while the name of user-built classes starts with a capital, the names of built-in classes do not (always))</a:t>
            </a:r>
          </a:p>
          <a:p>
            <a:pPr marL="0" marR="0" lvl="0" indent="0" algn="l"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Arial" panose="020B0604020202020204" pitchFamily="34" charset="0"/>
              </a:rPr>
              <a:t>We will only use the datetime c</a:t>
            </a:r>
            <a:r>
              <a:rPr lang="en-US" altLang="en-US" sz="2000" dirty="0"/>
              <a:t>lass in these slides. But the idea for </a:t>
            </a:r>
            <a:r>
              <a:rPr lang="en-US" altLang="en-US" sz="2000" dirty="0" err="1"/>
              <a:t>datetime.date</a:t>
            </a:r>
            <a:r>
              <a:rPr lang="en-US" altLang="en-US" sz="2000" dirty="0"/>
              <a:t> and </a:t>
            </a:r>
            <a:r>
              <a:rPr lang="en-US" altLang="en-US" sz="2000" dirty="0" err="1"/>
              <a:t>datetime.time</a:t>
            </a:r>
            <a:r>
              <a:rPr lang="en-US" altLang="en-US" sz="2000" dirty="0"/>
              <a:t> is the same</a:t>
            </a:r>
            <a:endParaRPr kumimoji="0" lang="en-US" altLang="en-US" sz="2000" b="0" i="0" u="none" strike="noStrike" cap="none" normalizeH="0" baseline="0" dirty="0">
              <a:ln>
                <a:noFill/>
              </a:ln>
              <a:solidFill>
                <a:schemeClr val="tx1"/>
              </a:solidFill>
              <a:effectLst/>
              <a:latin typeface="Arial" panose="020B0604020202020204" pitchFamily="34" charset="0"/>
            </a:endParaRPr>
          </a:p>
        </p:txBody>
      </p:sp>
    </p:spTree>
    <p:extLst>
      <p:ext uri="{BB962C8B-B14F-4D97-AF65-F5344CB8AC3E}">
        <p14:creationId xmlns:p14="http://schemas.microsoft.com/office/powerpoint/2010/main" val="3981757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5">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5">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5">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C4AE-5734-E139-4E2C-B8991B0A2F85}"/>
              </a:ext>
            </a:extLst>
          </p:cNvPr>
          <p:cNvSpPr>
            <a:spLocks noGrp="1"/>
          </p:cNvSpPr>
          <p:nvPr>
            <p:ph type="title"/>
          </p:nvPr>
        </p:nvSpPr>
        <p:spPr/>
        <p:txBody>
          <a:bodyPr/>
          <a:lstStyle/>
          <a:p>
            <a:r>
              <a:rPr lang="nl-NL" dirty="0" err="1"/>
              <a:t>Creating</a:t>
            </a:r>
            <a:r>
              <a:rPr lang="nl-NL" dirty="0"/>
              <a:t> a </a:t>
            </a:r>
            <a:r>
              <a:rPr lang="nl-NL" dirty="0" err="1"/>
              <a:t>datetime</a:t>
            </a:r>
            <a:r>
              <a:rPr lang="nl-NL" dirty="0"/>
              <a:t> object </a:t>
            </a:r>
            <a:endParaRPr lang="en-US" dirty="0"/>
          </a:p>
        </p:txBody>
      </p:sp>
      <p:sp>
        <p:nvSpPr>
          <p:cNvPr id="3" name="Content Placeholder 2">
            <a:extLst>
              <a:ext uri="{FF2B5EF4-FFF2-40B4-BE49-F238E27FC236}">
                <a16:creationId xmlns:a16="http://schemas.microsoft.com/office/drawing/2014/main" id="{EB4E39A1-FDE0-A9BE-88BE-FCCFD23D00A6}"/>
              </a:ext>
            </a:extLst>
          </p:cNvPr>
          <p:cNvSpPr>
            <a:spLocks noGrp="1"/>
          </p:cNvSpPr>
          <p:nvPr>
            <p:ph idx="1"/>
          </p:nvPr>
        </p:nvSpPr>
        <p:spPr>
          <a:xfrm>
            <a:off x="143435" y="1825625"/>
            <a:ext cx="12048565" cy="4351338"/>
          </a:xfrm>
        </p:spPr>
        <p:txBody>
          <a:bodyPr>
            <a:normAutofit/>
          </a:bodyPr>
          <a:lstStyle/>
          <a:p>
            <a:r>
              <a:rPr lang="en-US" sz="2000" dirty="0">
                <a:cs typeface="Arial" panose="020B0604020202020204" pitchFamily="34" charset="0"/>
              </a:rPr>
              <a:t>Creating a datetime object by passing integers</a:t>
            </a:r>
            <a:br>
              <a:rPr lang="en-US" sz="2000" dirty="0">
                <a:latin typeface="Courier New" panose="02070309020205020404" pitchFamily="49" charset="0"/>
              </a:rPr>
            </a:br>
            <a:r>
              <a:rPr lang="en-US" sz="2000" dirty="0">
                <a:latin typeface="Courier New" panose="02070309020205020404" pitchFamily="49" charset="0"/>
              </a:rPr>
              <a:t>from datetime import datetime</a:t>
            </a:r>
          </a:p>
          <a:p>
            <a:r>
              <a:rPr lang="en-US" sz="2000" dirty="0">
                <a:latin typeface="Courier New" panose="02070309020205020404" pitchFamily="49" charset="0"/>
              </a:rPr>
              <a:t>d = datetime (year=2023, month=5, day=22, hour=17, minute = 10, second=30)</a:t>
            </a:r>
          </a:p>
          <a:p>
            <a:r>
              <a:rPr lang="en-US" sz="2000" dirty="0">
                <a:latin typeface="Courier New" panose="02070309020205020404" pitchFamily="49" charset="0"/>
              </a:rPr>
              <a:t>d = datetime (hour=17, month=5, day=22, second=30, minute = 10, year=2023)</a:t>
            </a:r>
          </a:p>
          <a:p>
            <a:r>
              <a:rPr lang="nn-NO" sz="2000" dirty="0">
                <a:latin typeface="Courier New" panose="02070309020205020404" pitchFamily="49" charset="0"/>
              </a:rPr>
              <a:t>d = datetime (2023, 5, 22, 17, 10, 30 )</a:t>
            </a:r>
          </a:p>
          <a:p>
            <a:r>
              <a:rPr lang="en-US" sz="2000" dirty="0">
                <a:latin typeface="Courier New" panose="02070309020205020404" pitchFamily="49" charset="0"/>
              </a:rPr>
              <a:t>d = datetime (2023, 5, 22, minute = 10, day = 22, hour = 17, second=30 )</a:t>
            </a:r>
            <a:r>
              <a:rPr lang="nn-NO" sz="2000" dirty="0">
                <a:latin typeface="Courier New" panose="02070309020205020404" pitchFamily="49" charset="0"/>
              </a:rPr>
              <a:t> </a:t>
            </a:r>
          </a:p>
          <a:p>
            <a:r>
              <a:rPr lang="en-US" sz="2000" dirty="0">
                <a:latin typeface="Courier New" panose="02070309020205020404" pitchFamily="49" charset="0"/>
              </a:rPr>
              <a:t>print(d)</a:t>
            </a:r>
          </a:p>
          <a:p>
            <a:r>
              <a:rPr lang="en-US" sz="2000" dirty="0">
                <a:cs typeface="Arial" panose="020B0604020202020204" pitchFamily="34" charset="0"/>
              </a:rPr>
              <a:t>The order of the positional parameters: </a:t>
            </a:r>
            <a:r>
              <a:rPr lang="en-US" sz="2000" dirty="0">
                <a:latin typeface="Courier New" panose="02070309020205020404" pitchFamily="49" charset="0"/>
              </a:rPr>
              <a:t>year&gt;month&gt;day&gt;hour&gt;minute&gt;second</a:t>
            </a:r>
            <a:endParaRPr lang="en-US" sz="2000" dirty="0"/>
          </a:p>
        </p:txBody>
      </p:sp>
      <p:sp>
        <p:nvSpPr>
          <p:cNvPr id="4" name="Slide Number Placeholder 3">
            <a:extLst>
              <a:ext uri="{FF2B5EF4-FFF2-40B4-BE49-F238E27FC236}">
                <a16:creationId xmlns:a16="http://schemas.microsoft.com/office/drawing/2014/main" id="{86D4CF50-EED6-5EA3-E1ED-D41C92784124}"/>
              </a:ext>
            </a:extLst>
          </p:cNvPr>
          <p:cNvSpPr>
            <a:spLocks noGrp="1"/>
          </p:cNvSpPr>
          <p:nvPr>
            <p:ph type="sldNum" sz="quarter" idx="12"/>
          </p:nvPr>
        </p:nvSpPr>
        <p:spPr/>
        <p:txBody>
          <a:bodyPr/>
          <a:lstStyle/>
          <a:p>
            <a:fld id="{723B6F6A-0448-4EED-A121-7B4A352F61BD}" type="slidenum">
              <a:rPr lang="nl-NL" smtClean="0"/>
              <a:t>32</a:t>
            </a:fld>
            <a:endParaRPr lang="nl-NL"/>
          </a:p>
        </p:txBody>
      </p:sp>
    </p:spTree>
    <p:extLst>
      <p:ext uri="{BB962C8B-B14F-4D97-AF65-F5344CB8AC3E}">
        <p14:creationId xmlns:p14="http://schemas.microsoft.com/office/powerpoint/2010/main" val="317844747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C4AE-5734-E139-4E2C-B8991B0A2F85}"/>
              </a:ext>
            </a:extLst>
          </p:cNvPr>
          <p:cNvSpPr>
            <a:spLocks noGrp="1"/>
          </p:cNvSpPr>
          <p:nvPr>
            <p:ph type="title"/>
          </p:nvPr>
        </p:nvSpPr>
        <p:spPr/>
        <p:txBody>
          <a:bodyPr/>
          <a:lstStyle/>
          <a:p>
            <a:r>
              <a:rPr lang="en-US" dirty="0"/>
              <a:t>attributes of a </a:t>
            </a:r>
            <a:r>
              <a:rPr lang="en-US" dirty="0" err="1"/>
              <a:t>datatime</a:t>
            </a:r>
            <a:r>
              <a:rPr lang="en-US" dirty="0"/>
              <a:t> object</a:t>
            </a:r>
          </a:p>
        </p:txBody>
      </p:sp>
      <p:sp>
        <p:nvSpPr>
          <p:cNvPr id="3" name="Content Placeholder 2">
            <a:extLst>
              <a:ext uri="{FF2B5EF4-FFF2-40B4-BE49-F238E27FC236}">
                <a16:creationId xmlns:a16="http://schemas.microsoft.com/office/drawing/2014/main" id="{EB4E39A1-FDE0-A9BE-88BE-FCCFD23D00A6}"/>
              </a:ext>
            </a:extLst>
          </p:cNvPr>
          <p:cNvSpPr>
            <a:spLocks noGrp="1"/>
          </p:cNvSpPr>
          <p:nvPr>
            <p:ph idx="1"/>
          </p:nvPr>
        </p:nvSpPr>
        <p:spPr>
          <a:xfrm>
            <a:off x="1058238" y="1825625"/>
            <a:ext cx="11133762" cy="4351338"/>
          </a:xfrm>
        </p:spPr>
        <p:txBody>
          <a:bodyPr>
            <a:normAutofit/>
          </a:bodyPr>
          <a:lstStyle/>
          <a:p>
            <a:r>
              <a:rPr lang="en-US" sz="2000" dirty="0">
                <a:latin typeface="Courier New" panose="02070309020205020404" pitchFamily="49" charset="0"/>
                <a:cs typeface="Courier New" panose="02070309020205020404" pitchFamily="49" charset="0"/>
              </a:rPr>
              <a:t>from datetime import datetime</a:t>
            </a:r>
          </a:p>
          <a:p>
            <a:r>
              <a:rPr lang="en-US" sz="2000" dirty="0">
                <a:latin typeface="Courier New" panose="02070309020205020404" pitchFamily="49" charset="0"/>
                <a:cs typeface="Courier New" panose="02070309020205020404" pitchFamily="49" charset="0"/>
              </a:rPr>
              <a:t>d = </a:t>
            </a:r>
            <a:r>
              <a:rPr lang="en-US" sz="2000" dirty="0" err="1">
                <a:latin typeface="Courier New" panose="02070309020205020404" pitchFamily="49" charset="0"/>
                <a:cs typeface="Courier New" panose="02070309020205020404" pitchFamily="49" charset="0"/>
              </a:rPr>
              <a:t>datetime.now</a:t>
            </a:r>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print(f'{</a:t>
            </a:r>
            <a:r>
              <a:rPr lang="en-US" sz="2000" dirty="0" err="1">
                <a:latin typeface="Courier New" panose="02070309020205020404" pitchFamily="49" charset="0"/>
                <a:cs typeface="Courier New" panose="02070309020205020404" pitchFamily="49" charset="0"/>
              </a:rPr>
              <a:t>d.year</a:t>
            </a:r>
            <a:r>
              <a:rPr lang="en-US" sz="2000" dirty="0">
                <a:latin typeface="Courier New" panose="02070309020205020404" pitchFamily="49" charset="0"/>
                <a:cs typeface="Courier New" panose="02070309020205020404" pitchFamily="49" charset="0"/>
              </a:rPr>
              <a:t> = }, {</a:t>
            </a:r>
            <a:r>
              <a:rPr lang="en-US" sz="2000" dirty="0" err="1">
                <a:latin typeface="Courier New" panose="02070309020205020404" pitchFamily="49" charset="0"/>
                <a:cs typeface="Courier New" panose="02070309020205020404" pitchFamily="49" charset="0"/>
              </a:rPr>
              <a:t>d.month</a:t>
            </a:r>
            <a:r>
              <a:rPr lang="en-US" sz="2000" dirty="0">
                <a:latin typeface="Courier New" panose="02070309020205020404" pitchFamily="49" charset="0"/>
                <a:cs typeface="Courier New" panose="02070309020205020404" pitchFamily="49" charset="0"/>
              </a:rPr>
              <a:t> = }, {</a:t>
            </a:r>
            <a:r>
              <a:rPr lang="en-US" sz="2000" dirty="0" err="1">
                <a:latin typeface="Courier New" panose="02070309020205020404" pitchFamily="49" charset="0"/>
                <a:cs typeface="Courier New" panose="02070309020205020404" pitchFamily="49" charset="0"/>
              </a:rPr>
              <a:t>d.day</a:t>
            </a:r>
            <a:r>
              <a:rPr lang="en-US" sz="2000" dirty="0">
                <a:latin typeface="Courier New" panose="02070309020205020404" pitchFamily="49" charset="0"/>
                <a:cs typeface="Courier New" panose="02070309020205020404" pitchFamily="49" charset="0"/>
              </a:rPr>
              <a:t> = }, {</a:t>
            </a:r>
            <a:r>
              <a:rPr lang="en-US" sz="2000" dirty="0" err="1">
                <a:latin typeface="Courier New" panose="02070309020205020404" pitchFamily="49" charset="0"/>
                <a:cs typeface="Courier New" panose="02070309020205020404" pitchFamily="49" charset="0"/>
              </a:rPr>
              <a:t>d.hour</a:t>
            </a:r>
            <a:r>
              <a:rPr lang="en-US" sz="2000" dirty="0">
                <a:latin typeface="Courier New" panose="02070309020205020404" pitchFamily="49" charset="0"/>
                <a:cs typeface="Courier New" panose="02070309020205020404" pitchFamily="49" charset="0"/>
              </a:rPr>
              <a:t> = }, {</a:t>
            </a:r>
            <a:r>
              <a:rPr lang="en-US" sz="2000" dirty="0" err="1">
                <a:latin typeface="Courier New" panose="02070309020205020404" pitchFamily="49" charset="0"/>
                <a:cs typeface="Courier New" panose="02070309020205020404" pitchFamily="49" charset="0"/>
              </a:rPr>
              <a:t>d.minute</a:t>
            </a:r>
            <a:r>
              <a:rPr lang="en-US" sz="2000" dirty="0">
                <a:latin typeface="Courier New" panose="02070309020205020404" pitchFamily="49" charset="0"/>
                <a:cs typeface="Courier New" panose="02070309020205020404" pitchFamily="49" charset="0"/>
              </a:rPr>
              <a:t> = }, {</a:t>
            </a:r>
            <a:r>
              <a:rPr lang="en-US" sz="2000" dirty="0" err="1">
                <a:latin typeface="Courier New" panose="02070309020205020404" pitchFamily="49" charset="0"/>
                <a:cs typeface="Courier New" panose="02070309020205020404" pitchFamily="49" charset="0"/>
              </a:rPr>
              <a:t>d.second</a:t>
            </a:r>
            <a:r>
              <a:rPr lang="en-US" sz="2000" dirty="0">
                <a:latin typeface="Courier New" panose="02070309020205020404" pitchFamily="49" charset="0"/>
                <a:cs typeface="Courier New" panose="02070309020205020404" pitchFamily="49" charset="0"/>
              </a:rPr>
              <a:t> = }, {</a:t>
            </a:r>
            <a:r>
              <a:rPr lang="en-US" sz="2000" dirty="0" err="1">
                <a:latin typeface="Courier New" panose="02070309020205020404" pitchFamily="49" charset="0"/>
                <a:cs typeface="Courier New" panose="02070309020205020404" pitchFamily="49" charset="0"/>
              </a:rPr>
              <a:t>d.microsecond</a:t>
            </a:r>
            <a:r>
              <a:rPr lang="en-US" sz="2000" dirty="0">
                <a:latin typeface="Courier New" panose="02070309020205020404" pitchFamily="49" charset="0"/>
                <a:cs typeface="Courier New" panose="02070309020205020404" pitchFamily="49" charset="0"/>
              </a:rPr>
              <a:t> = }')</a:t>
            </a:r>
          </a:p>
          <a:p>
            <a:r>
              <a:rPr lang="en-US" sz="2000" dirty="0">
                <a:latin typeface="Courier New" panose="02070309020205020404" pitchFamily="49" charset="0"/>
                <a:cs typeface="Courier New" panose="02070309020205020404" pitchFamily="49" charset="0"/>
              </a:rPr>
              <a:t>print(f'''</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Datum </a:t>
            </a:r>
            <a:r>
              <a:rPr lang="en-US" sz="2000" dirty="0" err="1">
                <a:latin typeface="Courier New" panose="02070309020205020404" pitchFamily="49" charset="0"/>
                <a:cs typeface="Courier New" panose="02070309020205020404" pitchFamily="49" charset="0"/>
              </a:rPr>
              <a:t>en</a:t>
            </a:r>
            <a:r>
              <a:rPr lang="en-US" sz="2000" dirty="0">
                <a:latin typeface="Courier New" panose="02070309020205020404" pitchFamily="49" charset="0"/>
                <a:cs typeface="Courier New" panose="02070309020205020404" pitchFamily="49" charset="0"/>
              </a:rPr>
              <a:t> </a:t>
            </a:r>
            <a:r>
              <a:rPr lang="en-US" sz="2000" dirty="0" err="1">
                <a:latin typeface="Courier New" panose="02070309020205020404" pitchFamily="49" charset="0"/>
                <a:cs typeface="Courier New" panose="02070309020205020404" pitchFamily="49" charset="0"/>
              </a:rPr>
              <a:t>tijd</a:t>
            </a:r>
            <a:r>
              <a:rPr lang="en-US" sz="2000" dirty="0">
                <a:latin typeface="Courier New" panose="02070309020205020404" pitchFamily="49" charset="0"/>
                <a:cs typeface="Courier New" panose="02070309020205020404" pitchFamily="49" charset="0"/>
              </a:rPr>
              <a:t> in ISO format: {</a:t>
            </a:r>
            <a:r>
              <a:rPr lang="en-US" sz="2000" dirty="0" err="1">
                <a:latin typeface="Courier New" panose="02070309020205020404" pitchFamily="49" charset="0"/>
                <a:cs typeface="Courier New" panose="02070309020205020404" pitchFamily="49" charset="0"/>
              </a:rPr>
              <a:t>d.isoformat</a:t>
            </a:r>
            <a:r>
              <a:rPr lang="en-US" sz="2000" dirty="0">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Day of the week (1=Monday): {</a:t>
            </a:r>
            <a:r>
              <a:rPr lang="en-US" sz="2000" dirty="0" err="1">
                <a:latin typeface="Courier New" panose="02070309020205020404" pitchFamily="49" charset="0"/>
                <a:cs typeface="Courier New" panose="02070309020205020404" pitchFamily="49" charset="0"/>
              </a:rPr>
              <a:t>d.isoweekday</a:t>
            </a:r>
            <a:r>
              <a:rPr lang="en-US" sz="2000" dirty="0">
                <a:latin typeface="Courier New" panose="02070309020205020404" pitchFamily="49" charset="0"/>
                <a:cs typeface="Courier New" panose="02070309020205020404" pitchFamily="49" charset="0"/>
              </a:rPr>
              <a:t>()}</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Week of the year: {</a:t>
            </a:r>
            <a:r>
              <a:rPr lang="en-US" sz="2000" dirty="0" err="1">
                <a:latin typeface="Courier New" panose="02070309020205020404" pitchFamily="49" charset="0"/>
                <a:cs typeface="Courier New" panose="02070309020205020404" pitchFamily="49" charset="0"/>
              </a:rPr>
              <a:t>d.isocalendar</a:t>
            </a:r>
            <a:r>
              <a:rPr lang="en-US" sz="2000" dirty="0">
                <a:latin typeface="Courier New" panose="02070309020205020404" pitchFamily="49" charset="0"/>
                <a:cs typeface="Courier New" panose="02070309020205020404" pitchFamily="49" charset="0"/>
              </a:rPr>
              <a:t>()[1]}</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Year: {</a:t>
            </a:r>
            <a:r>
              <a:rPr lang="en-US" sz="2000" dirty="0" err="1">
                <a:latin typeface="Courier New" panose="02070309020205020404" pitchFamily="49" charset="0"/>
                <a:cs typeface="Courier New" panose="02070309020205020404" pitchFamily="49" charset="0"/>
              </a:rPr>
              <a:t>d.isocalendar</a:t>
            </a:r>
            <a:r>
              <a:rPr lang="en-US" sz="2000" dirty="0">
                <a:latin typeface="Courier New" panose="02070309020205020404" pitchFamily="49" charset="0"/>
                <a:cs typeface="Courier New" panose="02070309020205020404" pitchFamily="49" charset="0"/>
              </a:rPr>
              <a:t>()[0]}</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a:t>
            </a:r>
          </a:p>
          <a:p>
            <a:r>
              <a:rPr lang="en-US" sz="2000" dirty="0">
                <a:cs typeface="Arial" panose="020B0604020202020204" pitchFamily="34" charset="0"/>
              </a:rPr>
              <a:t>In the next slide you will see that you can get all this info with the help of the </a:t>
            </a:r>
            <a:r>
              <a:rPr lang="en-US" sz="2000" dirty="0" err="1">
                <a:cs typeface="Arial" panose="020B0604020202020204" pitchFamily="34" charset="0"/>
              </a:rPr>
              <a:t>strftime</a:t>
            </a:r>
            <a:r>
              <a:rPr lang="en-US" sz="2000" dirty="0">
                <a:cs typeface="Arial" panose="020B0604020202020204" pitchFamily="34" charset="0"/>
              </a:rPr>
              <a:t> method</a:t>
            </a:r>
          </a:p>
          <a:p>
            <a:r>
              <a:rPr lang="en-US" sz="2000" dirty="0">
                <a:cs typeface="Arial" panose="020B0604020202020204" pitchFamily="34" charset="0"/>
              </a:rPr>
              <a:t>The difference is that these attributes give the information as integers, </a:t>
            </a:r>
            <a:r>
              <a:rPr lang="en-US" sz="2000" dirty="0" err="1">
                <a:cs typeface="Arial" panose="020B0604020202020204" pitchFamily="34" charset="0"/>
              </a:rPr>
              <a:t>strftime</a:t>
            </a:r>
            <a:r>
              <a:rPr lang="en-US" sz="2000" dirty="0">
                <a:cs typeface="Arial" panose="020B0604020202020204" pitchFamily="34" charset="0"/>
              </a:rPr>
              <a:t> gives it in string format. We can easily use </a:t>
            </a:r>
            <a:r>
              <a:rPr lang="en-US" sz="2000" dirty="0">
                <a:latin typeface="Courier New" panose="02070309020205020404" pitchFamily="49" charset="0"/>
                <a:cs typeface="Courier New" panose="02070309020205020404" pitchFamily="49" charset="0"/>
              </a:rPr>
              <a:t>str </a:t>
            </a:r>
            <a:r>
              <a:rPr lang="en-US" sz="2000" dirty="0">
                <a:cs typeface="Arial" panose="020B0604020202020204" pitchFamily="34" charset="0"/>
              </a:rPr>
              <a:t>and</a:t>
            </a:r>
            <a:r>
              <a:rPr lang="en-US" sz="2000" dirty="0">
                <a:latin typeface="Courier New" panose="02070309020205020404" pitchFamily="49" charset="0"/>
                <a:cs typeface="Courier New" panose="02070309020205020404" pitchFamily="49" charset="0"/>
              </a:rPr>
              <a:t> int</a:t>
            </a:r>
          </a:p>
        </p:txBody>
      </p:sp>
      <p:sp>
        <p:nvSpPr>
          <p:cNvPr id="4" name="Slide Number Placeholder 3">
            <a:extLst>
              <a:ext uri="{FF2B5EF4-FFF2-40B4-BE49-F238E27FC236}">
                <a16:creationId xmlns:a16="http://schemas.microsoft.com/office/drawing/2014/main" id="{86D4CF50-EED6-5EA3-E1ED-D41C92784124}"/>
              </a:ext>
            </a:extLst>
          </p:cNvPr>
          <p:cNvSpPr>
            <a:spLocks noGrp="1"/>
          </p:cNvSpPr>
          <p:nvPr>
            <p:ph type="sldNum" sz="quarter" idx="12"/>
          </p:nvPr>
        </p:nvSpPr>
        <p:spPr/>
        <p:txBody>
          <a:bodyPr/>
          <a:lstStyle/>
          <a:p>
            <a:fld id="{723B6F6A-0448-4EED-A121-7B4A352F61BD}" type="slidenum">
              <a:rPr lang="nl-NL" smtClean="0"/>
              <a:t>33</a:t>
            </a:fld>
            <a:endParaRPr lang="nl-NL"/>
          </a:p>
        </p:txBody>
      </p:sp>
    </p:spTree>
    <p:extLst>
      <p:ext uri="{BB962C8B-B14F-4D97-AF65-F5344CB8AC3E}">
        <p14:creationId xmlns:p14="http://schemas.microsoft.com/office/powerpoint/2010/main" val="320335042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C4AE-5734-E139-4E2C-B8991B0A2F85}"/>
              </a:ext>
            </a:extLst>
          </p:cNvPr>
          <p:cNvSpPr>
            <a:spLocks noGrp="1"/>
          </p:cNvSpPr>
          <p:nvPr>
            <p:ph type="title"/>
          </p:nvPr>
        </p:nvSpPr>
        <p:spPr>
          <a:xfrm>
            <a:off x="431515" y="365125"/>
            <a:ext cx="11671441" cy="1325563"/>
          </a:xfrm>
        </p:spPr>
        <p:txBody>
          <a:bodyPr/>
          <a:lstStyle/>
          <a:p>
            <a:r>
              <a:rPr lang="en-US" sz="4400" dirty="0">
                <a:cs typeface="Arial" panose="020B0604020202020204" pitchFamily="34" charset="0"/>
              </a:rPr>
              <a:t>Creating a string representation a datetime object</a:t>
            </a:r>
            <a:endParaRPr lang="en-US" dirty="0"/>
          </a:p>
        </p:txBody>
      </p:sp>
      <p:sp>
        <p:nvSpPr>
          <p:cNvPr id="3" name="Content Placeholder 2">
            <a:extLst>
              <a:ext uri="{FF2B5EF4-FFF2-40B4-BE49-F238E27FC236}">
                <a16:creationId xmlns:a16="http://schemas.microsoft.com/office/drawing/2014/main" id="{EB4E39A1-FDE0-A9BE-88BE-FCCFD23D00A6}"/>
              </a:ext>
            </a:extLst>
          </p:cNvPr>
          <p:cNvSpPr>
            <a:spLocks noGrp="1"/>
          </p:cNvSpPr>
          <p:nvPr>
            <p:ph idx="1"/>
          </p:nvPr>
        </p:nvSpPr>
        <p:spPr>
          <a:xfrm>
            <a:off x="184935" y="1825624"/>
            <a:ext cx="12007065" cy="5032375"/>
          </a:xfrm>
        </p:spPr>
        <p:txBody>
          <a:bodyPr>
            <a:normAutofit lnSpcReduction="10000"/>
          </a:bodyPr>
          <a:lstStyle/>
          <a:p>
            <a:r>
              <a:rPr lang="en-US" sz="2000" dirty="0">
                <a:latin typeface="Courier New" panose="02070309020205020404" pitchFamily="49" charset="0"/>
                <a:cs typeface="Courier New" panose="02070309020205020404" pitchFamily="49" charset="0"/>
              </a:rPr>
              <a:t>d = </a:t>
            </a:r>
            <a:r>
              <a:rPr lang="en-US" sz="2000" dirty="0" err="1">
                <a:latin typeface="Courier New" panose="02070309020205020404" pitchFamily="49" charset="0"/>
                <a:cs typeface="Courier New" panose="02070309020205020404" pitchFamily="49" charset="0"/>
              </a:rPr>
              <a:t>datetime.now</a:t>
            </a:r>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print(d)</a:t>
            </a:r>
          </a:p>
          <a:p>
            <a:r>
              <a:rPr lang="en-US" sz="2000" dirty="0">
                <a:latin typeface="Courier New" panose="02070309020205020404" pitchFamily="49" charset="0"/>
                <a:cs typeface="Courier New" panose="02070309020205020404" pitchFamily="49" charset="0"/>
              </a:rPr>
              <a:t>print(f'''</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d.strftime</a:t>
            </a:r>
            <a:r>
              <a:rPr lang="en-US" sz="2000" dirty="0">
                <a:latin typeface="Courier New" panose="02070309020205020404" pitchFamily="49" charset="0"/>
                <a:cs typeface="Courier New" panose="02070309020205020404" pitchFamily="49" charset="0"/>
              </a:rPr>
              <a:t>('Year with century: %Y')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d.strftime</a:t>
            </a:r>
            <a:r>
              <a:rPr lang="en-US" sz="2000" dirty="0">
                <a:latin typeface="Courier New" panose="02070309020205020404" pitchFamily="49" charset="0"/>
                <a:cs typeface="Courier New" panose="02070309020205020404" pitchFamily="49" charset="0"/>
              </a:rPr>
              <a:t>('Year without century: %y')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d.strftime</a:t>
            </a:r>
            <a:r>
              <a:rPr lang="en-US" sz="2000" dirty="0">
                <a:latin typeface="Courier New" panose="02070309020205020404" pitchFamily="49" charset="0"/>
                <a:cs typeface="Courier New" panose="02070309020205020404" pitchFamily="49" charset="0"/>
              </a:rPr>
              <a:t>('Full month name: %B')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d.strftime</a:t>
            </a:r>
            <a:r>
              <a:rPr lang="en-US" sz="2000" dirty="0">
                <a:latin typeface="Courier New" panose="02070309020205020404" pitchFamily="49" charset="0"/>
                <a:cs typeface="Courier New" panose="02070309020205020404" pitchFamily="49" charset="0"/>
              </a:rPr>
              <a:t>('Month number: %m')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d.strftime</a:t>
            </a:r>
            <a:r>
              <a:rPr lang="en-US" sz="2000" dirty="0">
                <a:latin typeface="Courier New" panose="02070309020205020404" pitchFamily="49" charset="0"/>
                <a:cs typeface="Courier New" panose="02070309020205020404" pitchFamily="49" charset="0"/>
              </a:rPr>
              <a:t>('Day of the month: %d') = }</a:t>
            </a:r>
          </a:p>
          <a:p>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d.strftime</a:t>
            </a:r>
            <a:r>
              <a:rPr lang="en-US" sz="2000" dirty="0">
                <a:latin typeface="Courier New" panose="02070309020205020404" pitchFamily="49" charset="0"/>
                <a:cs typeface="Courier New" panose="02070309020205020404" pitchFamily="49" charset="0"/>
              </a:rPr>
              <a:t>('Full weekday name: %A')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d.strftime</a:t>
            </a:r>
            <a:r>
              <a:rPr lang="en-US" sz="2000" dirty="0">
                <a:latin typeface="Courier New" panose="02070309020205020404" pitchFamily="49" charset="0"/>
                <a:cs typeface="Courier New" panose="02070309020205020404" pitchFamily="49" charset="0"/>
              </a:rPr>
              <a:t>('Weekday number: %w') = }</a:t>
            </a:r>
          </a:p>
          <a:p>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d.strftime</a:t>
            </a:r>
            <a:r>
              <a:rPr lang="en-US" sz="2000" dirty="0">
                <a:latin typeface="Courier New" panose="02070309020205020404" pitchFamily="49" charset="0"/>
                <a:cs typeface="Courier New" panose="02070309020205020404" pitchFamily="49" charset="0"/>
              </a:rPr>
              <a:t>('Week number of the year: %U')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d.strftime</a:t>
            </a:r>
            <a:r>
              <a:rPr lang="en-US" sz="2000" dirty="0">
                <a:latin typeface="Courier New" panose="02070309020205020404" pitchFamily="49" charset="0"/>
                <a:cs typeface="Courier New" panose="02070309020205020404" pitchFamily="49" charset="0"/>
              </a:rPr>
              <a:t>('Day number of the year: %j') = }</a:t>
            </a:r>
          </a:p>
          <a:p>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d.strftime</a:t>
            </a:r>
            <a:r>
              <a:rPr lang="en-US" sz="2000" dirty="0">
                <a:latin typeface="Courier New" panose="02070309020205020404" pitchFamily="49" charset="0"/>
                <a:cs typeface="Courier New" panose="02070309020205020404" pitchFamily="49" charset="0"/>
              </a:rPr>
              <a:t>('Hour number: %H')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d.strftime</a:t>
            </a:r>
            <a:r>
              <a:rPr lang="en-US" sz="2000" dirty="0">
                <a:latin typeface="Courier New" panose="02070309020205020404" pitchFamily="49" charset="0"/>
                <a:cs typeface="Courier New" panose="02070309020205020404" pitchFamily="49" charset="0"/>
              </a:rPr>
              <a:t>('Minute number: %M') = }</a:t>
            </a:r>
            <a:br>
              <a:rPr lang="en-US" sz="2000" dirty="0">
                <a:latin typeface="Courier New" panose="02070309020205020404" pitchFamily="49" charset="0"/>
                <a:cs typeface="Courier New" panose="02070309020205020404" pitchFamily="49" charset="0"/>
              </a:rPr>
            </a:br>
            <a:r>
              <a:rPr lang="en-US" sz="2000" dirty="0">
                <a:latin typeface="Courier New" panose="02070309020205020404" pitchFamily="49" charset="0"/>
                <a:cs typeface="Courier New" panose="02070309020205020404" pitchFamily="49" charset="0"/>
              </a:rPr>
              <a:t>{</a:t>
            </a:r>
            <a:r>
              <a:rPr lang="en-US" sz="2000" dirty="0" err="1">
                <a:latin typeface="Courier New" panose="02070309020205020404" pitchFamily="49" charset="0"/>
                <a:cs typeface="Courier New" panose="02070309020205020404" pitchFamily="49" charset="0"/>
              </a:rPr>
              <a:t>d.strftime</a:t>
            </a:r>
            <a:r>
              <a:rPr lang="en-US" sz="2000" dirty="0">
                <a:latin typeface="Courier New" panose="02070309020205020404" pitchFamily="49" charset="0"/>
                <a:cs typeface="Courier New" panose="02070309020205020404" pitchFamily="49" charset="0"/>
              </a:rPr>
              <a:t>('Second number: %S') = }</a:t>
            </a:r>
          </a:p>
          <a:p>
            <a:r>
              <a:rPr lang="en-US" sz="2000" dirty="0">
                <a:latin typeface="Courier New" panose="02070309020205020404" pitchFamily="49" charset="0"/>
                <a:cs typeface="Courier New" panose="02070309020205020404" pitchFamily="49" charset="0"/>
              </a:rPr>
              <a:t>''')</a:t>
            </a:r>
          </a:p>
        </p:txBody>
      </p:sp>
      <p:sp>
        <p:nvSpPr>
          <p:cNvPr id="4" name="Slide Number Placeholder 3">
            <a:extLst>
              <a:ext uri="{FF2B5EF4-FFF2-40B4-BE49-F238E27FC236}">
                <a16:creationId xmlns:a16="http://schemas.microsoft.com/office/drawing/2014/main" id="{86D4CF50-EED6-5EA3-E1ED-D41C92784124}"/>
              </a:ext>
            </a:extLst>
          </p:cNvPr>
          <p:cNvSpPr>
            <a:spLocks noGrp="1"/>
          </p:cNvSpPr>
          <p:nvPr>
            <p:ph type="sldNum" sz="quarter" idx="12"/>
          </p:nvPr>
        </p:nvSpPr>
        <p:spPr/>
        <p:txBody>
          <a:bodyPr/>
          <a:lstStyle/>
          <a:p>
            <a:fld id="{723B6F6A-0448-4EED-A121-7B4A352F61BD}" type="slidenum">
              <a:rPr lang="nl-NL" smtClean="0"/>
              <a:t>34</a:t>
            </a:fld>
            <a:endParaRPr lang="nl-NL"/>
          </a:p>
        </p:txBody>
      </p:sp>
    </p:spTree>
    <p:extLst>
      <p:ext uri="{BB962C8B-B14F-4D97-AF65-F5344CB8AC3E}">
        <p14:creationId xmlns:p14="http://schemas.microsoft.com/office/powerpoint/2010/main" val="36866611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1AC4AE-5734-E139-4E2C-B8991B0A2F85}"/>
              </a:ext>
            </a:extLst>
          </p:cNvPr>
          <p:cNvSpPr>
            <a:spLocks noGrp="1"/>
          </p:cNvSpPr>
          <p:nvPr>
            <p:ph type="title"/>
          </p:nvPr>
        </p:nvSpPr>
        <p:spPr/>
        <p:txBody>
          <a:bodyPr/>
          <a:lstStyle/>
          <a:p>
            <a:r>
              <a:rPr lang="en-US" dirty="0"/>
              <a:t>Creating a datetime object by passing a string</a:t>
            </a:r>
          </a:p>
        </p:txBody>
      </p:sp>
      <p:sp>
        <p:nvSpPr>
          <p:cNvPr id="3" name="Content Placeholder 2">
            <a:extLst>
              <a:ext uri="{FF2B5EF4-FFF2-40B4-BE49-F238E27FC236}">
                <a16:creationId xmlns:a16="http://schemas.microsoft.com/office/drawing/2014/main" id="{EB4E39A1-FDE0-A9BE-88BE-FCCFD23D00A6}"/>
              </a:ext>
            </a:extLst>
          </p:cNvPr>
          <p:cNvSpPr>
            <a:spLocks noGrp="1"/>
          </p:cNvSpPr>
          <p:nvPr>
            <p:ph idx="1"/>
          </p:nvPr>
        </p:nvSpPr>
        <p:spPr>
          <a:xfrm>
            <a:off x="838200" y="1825624"/>
            <a:ext cx="11353800" cy="5032375"/>
          </a:xfrm>
        </p:spPr>
        <p:txBody>
          <a:bodyPr>
            <a:noAutofit/>
          </a:bodyPr>
          <a:lstStyle/>
          <a:p>
            <a:r>
              <a:rPr lang="en-US" sz="2000" dirty="0">
                <a:cs typeface="Arial" panose="020B0604020202020204" pitchFamily="34" charset="0"/>
              </a:rPr>
              <a:t>Say you want to create the following datetime object with date and time: 2024-05-20 00:00:00,</a:t>
            </a:r>
            <a:br>
              <a:rPr lang="en-US" sz="2000" dirty="0">
                <a:cs typeface="Arial" panose="020B0604020202020204" pitchFamily="34" charset="0"/>
              </a:rPr>
            </a:br>
            <a:r>
              <a:rPr lang="en-US" sz="2000" dirty="0">
                <a:cs typeface="Arial" panose="020B0604020202020204" pitchFamily="34" charset="0"/>
              </a:rPr>
              <a:t>the following codes all manage to do this:</a:t>
            </a:r>
          </a:p>
          <a:p>
            <a:r>
              <a:rPr lang="en-US" sz="2000" dirty="0">
                <a:latin typeface="Courier New" panose="02070309020205020404" pitchFamily="49" charset="0"/>
                <a:cs typeface="Courier New" panose="02070309020205020404" pitchFamily="49" charset="0"/>
              </a:rPr>
              <a:t>from datetime import datetime</a:t>
            </a:r>
          </a:p>
          <a:p>
            <a:r>
              <a:rPr lang="en-US" sz="2000" dirty="0">
                <a:latin typeface="Courier New" panose="02070309020205020404" pitchFamily="49" charset="0"/>
                <a:cs typeface="Courier New" panose="02070309020205020404" pitchFamily="49" charset="0"/>
              </a:rPr>
              <a:t>d = </a:t>
            </a:r>
            <a:r>
              <a:rPr lang="en-US" sz="2000" dirty="0" err="1">
                <a:latin typeface="Courier New" panose="02070309020205020404" pitchFamily="49" charset="0"/>
                <a:cs typeface="Courier New" panose="02070309020205020404" pitchFamily="49" charset="0"/>
              </a:rPr>
              <a:t>datetime.strptime</a:t>
            </a:r>
            <a:r>
              <a:rPr lang="en-US" sz="2000" dirty="0">
                <a:latin typeface="Courier New" panose="02070309020205020404" pitchFamily="49" charset="0"/>
                <a:cs typeface="Courier New" panose="02070309020205020404" pitchFamily="49" charset="0"/>
              </a:rPr>
              <a:t>('2024$05%20','%Y$%m%%%d')</a:t>
            </a:r>
          </a:p>
          <a:p>
            <a:r>
              <a:rPr lang="en-US" sz="2000" dirty="0">
                <a:latin typeface="Courier New" panose="02070309020205020404" pitchFamily="49" charset="0"/>
                <a:cs typeface="Courier New" panose="02070309020205020404" pitchFamily="49" charset="0"/>
              </a:rPr>
              <a:t>d = </a:t>
            </a:r>
            <a:r>
              <a:rPr lang="en-US" sz="2000" dirty="0" err="1">
                <a:latin typeface="Courier New" panose="02070309020205020404" pitchFamily="49" charset="0"/>
                <a:cs typeface="Courier New" panose="02070309020205020404" pitchFamily="49" charset="0"/>
              </a:rPr>
              <a:t>datetime.strptime</a:t>
            </a:r>
            <a:r>
              <a:rPr lang="en-US" sz="2000" dirty="0">
                <a:latin typeface="Courier New" panose="02070309020205020404" pitchFamily="49" charset="0"/>
                <a:cs typeface="Courier New" panose="02070309020205020404" pitchFamily="49" charset="0"/>
              </a:rPr>
              <a:t>('24$05%20','%y$%m%%%d')</a:t>
            </a:r>
          </a:p>
          <a:p>
            <a:r>
              <a:rPr lang="en-US" sz="2000" dirty="0">
                <a:latin typeface="Courier New" panose="02070309020205020404" pitchFamily="49" charset="0"/>
                <a:cs typeface="Courier New" panose="02070309020205020404" pitchFamily="49" charset="0"/>
              </a:rPr>
              <a:t>d = </a:t>
            </a:r>
            <a:r>
              <a:rPr lang="en-US" sz="2000" dirty="0" err="1">
                <a:latin typeface="Courier New" panose="02070309020205020404" pitchFamily="49" charset="0"/>
                <a:cs typeface="Courier New" panose="02070309020205020404" pitchFamily="49" charset="0"/>
              </a:rPr>
              <a:t>datetime.strptime</a:t>
            </a:r>
            <a:r>
              <a:rPr lang="en-US" sz="2000" dirty="0">
                <a:latin typeface="Courier New" panose="02070309020205020404" pitchFamily="49" charset="0"/>
                <a:cs typeface="Courier New" panose="02070309020205020404" pitchFamily="49" charset="0"/>
              </a:rPr>
              <a:t>('24$05%20','%y$%m%%%d')</a:t>
            </a:r>
          </a:p>
          <a:p>
            <a:r>
              <a:rPr lang="en-US" sz="2000" dirty="0">
                <a:latin typeface="Courier New" panose="02070309020205020404" pitchFamily="49" charset="0"/>
                <a:cs typeface="Courier New" panose="02070309020205020404" pitchFamily="49" charset="0"/>
              </a:rPr>
              <a:t>d = </a:t>
            </a:r>
            <a:r>
              <a:rPr lang="en-US" sz="2000" dirty="0" err="1">
                <a:latin typeface="Courier New" panose="02070309020205020404" pitchFamily="49" charset="0"/>
                <a:cs typeface="Courier New" panose="02070309020205020404" pitchFamily="49" charset="0"/>
              </a:rPr>
              <a:t>datetime.strptime</a:t>
            </a:r>
            <a:r>
              <a:rPr lang="en-US" sz="2000" dirty="0">
                <a:latin typeface="Courier New" panose="02070309020205020404" pitchFamily="49" charset="0"/>
                <a:cs typeface="Courier New" panose="02070309020205020404" pitchFamily="49" charset="0"/>
              </a:rPr>
              <a:t>('2024*141','%Y*%j')</a:t>
            </a:r>
          </a:p>
          <a:p>
            <a:r>
              <a:rPr lang="en-US" sz="2000" dirty="0">
                <a:latin typeface="Courier New" panose="02070309020205020404" pitchFamily="49" charset="0"/>
                <a:cs typeface="Courier New" panose="02070309020205020404" pitchFamily="49" charset="0"/>
              </a:rPr>
              <a:t>d = </a:t>
            </a:r>
            <a:r>
              <a:rPr lang="en-US" sz="2000" dirty="0" err="1">
                <a:latin typeface="Courier New" panose="02070309020205020404" pitchFamily="49" charset="0"/>
                <a:cs typeface="Courier New" panose="02070309020205020404" pitchFamily="49" charset="0"/>
              </a:rPr>
              <a:t>datetime.strptime</a:t>
            </a:r>
            <a:r>
              <a:rPr lang="en-US" sz="2000" dirty="0">
                <a:latin typeface="Courier New" panose="02070309020205020404" pitchFamily="49" charset="0"/>
                <a:cs typeface="Courier New" panose="02070309020205020404" pitchFamily="49" charset="0"/>
              </a:rPr>
              <a:t>('2024*20xyz1','%Y*%</a:t>
            </a:r>
            <a:r>
              <a:rPr lang="en-US" sz="2000" dirty="0" err="1">
                <a:latin typeface="Courier New" panose="02070309020205020404" pitchFamily="49" charset="0"/>
                <a:cs typeface="Courier New" panose="02070309020205020404" pitchFamily="49" charset="0"/>
              </a:rPr>
              <a:t>Uxyz%w</a:t>
            </a:r>
            <a:r>
              <a:rPr lang="en-US" sz="2000" dirty="0">
                <a:latin typeface="Courier New" panose="02070309020205020404" pitchFamily="49" charset="0"/>
                <a:cs typeface="Courier New" panose="02070309020205020404" pitchFamily="49" charset="0"/>
              </a:rPr>
              <a:t>')</a:t>
            </a:r>
          </a:p>
          <a:p>
            <a:r>
              <a:rPr lang="en-US" sz="2000" dirty="0">
                <a:latin typeface="Courier New" panose="02070309020205020404" pitchFamily="49" charset="0"/>
                <a:cs typeface="Courier New" panose="02070309020205020404" pitchFamily="49" charset="0"/>
              </a:rPr>
              <a:t>d = </a:t>
            </a:r>
            <a:r>
              <a:rPr lang="en-US" sz="2000" dirty="0" err="1">
                <a:latin typeface="Courier New" panose="02070309020205020404" pitchFamily="49" charset="0"/>
                <a:cs typeface="Courier New" panose="02070309020205020404" pitchFamily="49" charset="0"/>
              </a:rPr>
              <a:t>datetime.strptime</a:t>
            </a:r>
            <a:r>
              <a:rPr lang="en-US" sz="2000" dirty="0">
                <a:latin typeface="Courier New" panose="02070309020205020404" pitchFamily="49" charset="0"/>
                <a:cs typeface="Courier New" panose="02070309020205020404" pitchFamily="49" charset="0"/>
              </a:rPr>
              <a:t>('202420Monday','%Y%U%A')</a:t>
            </a:r>
          </a:p>
          <a:p>
            <a:r>
              <a:rPr lang="en-US" sz="2000" dirty="0">
                <a:latin typeface="Courier New" panose="02070309020205020404" pitchFamily="49" charset="0"/>
                <a:cs typeface="Courier New" panose="02070309020205020404" pitchFamily="49" charset="0"/>
              </a:rPr>
              <a:t>d = </a:t>
            </a:r>
            <a:r>
              <a:rPr lang="en-US" sz="2000" dirty="0" err="1">
                <a:latin typeface="Courier New" panose="02070309020205020404" pitchFamily="49" charset="0"/>
                <a:cs typeface="Courier New" panose="02070309020205020404" pitchFamily="49" charset="0"/>
              </a:rPr>
              <a:t>datetime.strptime</a:t>
            </a:r>
            <a:r>
              <a:rPr lang="en-US" sz="2000" dirty="0">
                <a:latin typeface="Courier New" panose="02070309020205020404" pitchFamily="49" charset="0"/>
                <a:cs typeface="Courier New" panose="02070309020205020404" pitchFamily="49" charset="0"/>
              </a:rPr>
              <a:t>('00:00:00 20-05-2024', '%H:%M:%S %d-%m-%Y')</a:t>
            </a:r>
          </a:p>
        </p:txBody>
      </p:sp>
      <p:sp>
        <p:nvSpPr>
          <p:cNvPr id="4" name="Slide Number Placeholder 3">
            <a:extLst>
              <a:ext uri="{FF2B5EF4-FFF2-40B4-BE49-F238E27FC236}">
                <a16:creationId xmlns:a16="http://schemas.microsoft.com/office/drawing/2014/main" id="{86D4CF50-EED6-5EA3-E1ED-D41C92784124}"/>
              </a:ext>
            </a:extLst>
          </p:cNvPr>
          <p:cNvSpPr>
            <a:spLocks noGrp="1"/>
          </p:cNvSpPr>
          <p:nvPr>
            <p:ph type="sldNum" sz="quarter" idx="12"/>
          </p:nvPr>
        </p:nvSpPr>
        <p:spPr/>
        <p:txBody>
          <a:bodyPr/>
          <a:lstStyle/>
          <a:p>
            <a:fld id="{723B6F6A-0448-4EED-A121-7B4A352F61BD}" type="slidenum">
              <a:rPr lang="nl-NL" smtClean="0"/>
              <a:t>35</a:t>
            </a:fld>
            <a:endParaRPr lang="nl-NL"/>
          </a:p>
        </p:txBody>
      </p:sp>
    </p:spTree>
    <p:extLst>
      <p:ext uri="{BB962C8B-B14F-4D97-AF65-F5344CB8AC3E}">
        <p14:creationId xmlns:p14="http://schemas.microsoft.com/office/powerpoint/2010/main" val="254110746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014FF-9405-1FC3-51B4-34F19185F905}"/>
              </a:ext>
            </a:extLst>
          </p:cNvPr>
          <p:cNvSpPr>
            <a:spLocks noGrp="1"/>
          </p:cNvSpPr>
          <p:nvPr>
            <p:ph type="title"/>
          </p:nvPr>
        </p:nvSpPr>
        <p:spPr>
          <a:xfrm>
            <a:off x="0" y="365125"/>
            <a:ext cx="12192000" cy="1325563"/>
          </a:xfrm>
        </p:spPr>
        <p:txBody>
          <a:bodyPr/>
          <a:lstStyle/>
          <a:p>
            <a:r>
              <a:rPr lang="en-US" dirty="0"/>
              <a:t>Changing a datetime object with the replace method</a:t>
            </a:r>
          </a:p>
        </p:txBody>
      </p:sp>
      <p:sp>
        <p:nvSpPr>
          <p:cNvPr id="3" name="Content Placeholder 2">
            <a:extLst>
              <a:ext uri="{FF2B5EF4-FFF2-40B4-BE49-F238E27FC236}">
                <a16:creationId xmlns:a16="http://schemas.microsoft.com/office/drawing/2014/main" id="{055274EB-0991-6D53-0A0A-AED41EBAE2D2}"/>
              </a:ext>
            </a:extLst>
          </p:cNvPr>
          <p:cNvSpPr>
            <a:spLocks noGrp="1"/>
          </p:cNvSpPr>
          <p:nvPr>
            <p:ph idx="1"/>
          </p:nvPr>
        </p:nvSpPr>
        <p:spPr>
          <a:xfrm>
            <a:off x="0" y="1825625"/>
            <a:ext cx="12192000" cy="4351338"/>
          </a:xfrm>
        </p:spPr>
        <p:txBody>
          <a:bodyPr>
            <a:noAutofit/>
          </a:bodyPr>
          <a:lstStyle/>
          <a:p>
            <a:r>
              <a:rPr lang="en-US" sz="2000" dirty="0">
                <a:effectLst/>
                <a:latin typeface="Arial" panose="020B0604020202020204" pitchFamily="34" charset="0"/>
              </a:rPr>
              <a:t>You can change all (or some) attributes of a datetime object with the replace method:</a:t>
            </a:r>
          </a:p>
          <a:p>
            <a:r>
              <a:rPr lang="en-US" sz="2000" dirty="0">
                <a:latin typeface="Courier New" panose="02070309020205020404" pitchFamily="49" charset="0"/>
              </a:rPr>
              <a:t>from datetime import datetime</a:t>
            </a:r>
            <a:br>
              <a:rPr lang="en-US" sz="2000" dirty="0">
                <a:latin typeface="Courier New" panose="02070309020205020404" pitchFamily="49" charset="0"/>
              </a:rPr>
            </a:br>
            <a:r>
              <a:rPr lang="en-US" sz="2000" dirty="0">
                <a:latin typeface="Courier New" panose="02070309020205020404" pitchFamily="49" charset="0"/>
              </a:rPr>
              <a:t>d = </a:t>
            </a:r>
            <a:r>
              <a:rPr lang="en-US" sz="2000" dirty="0" err="1">
                <a:latin typeface="Courier New" panose="02070309020205020404" pitchFamily="49" charset="0"/>
              </a:rPr>
              <a:t>datetime.now</a:t>
            </a:r>
            <a:r>
              <a:rPr lang="en-US" sz="2000" dirty="0">
                <a:latin typeface="Courier New" panose="02070309020205020404" pitchFamily="49" charset="0"/>
              </a:rPr>
              <a:t>() </a:t>
            </a:r>
          </a:p>
          <a:p>
            <a:r>
              <a:rPr lang="en-US" sz="2000" dirty="0">
                <a:latin typeface="Courier New" panose="02070309020205020404" pitchFamily="49" charset="0"/>
              </a:rPr>
              <a:t>d = </a:t>
            </a:r>
            <a:r>
              <a:rPr lang="en-US" sz="2000" dirty="0" err="1">
                <a:latin typeface="Courier New" panose="02070309020205020404" pitchFamily="49" charset="0"/>
              </a:rPr>
              <a:t>d.replace</a:t>
            </a:r>
            <a:r>
              <a:rPr lang="en-US" sz="2000" dirty="0">
                <a:latin typeface="Courier New" panose="02070309020205020404" pitchFamily="49" charset="0"/>
              </a:rPr>
              <a:t>(year=2026, month=10, day=13, hour=13, minute=10,second=13, microsecond=123456)</a:t>
            </a:r>
          </a:p>
          <a:p>
            <a:r>
              <a:rPr lang="en-US" sz="2000" dirty="0"/>
              <a:t>You can do more advanced replacements:</a:t>
            </a:r>
          </a:p>
          <a:p>
            <a:r>
              <a:rPr lang="en-US" sz="2000" dirty="0">
                <a:latin typeface="Courier New" panose="02070309020205020404" pitchFamily="49" charset="0"/>
              </a:rPr>
              <a:t>from datetime import datetime</a:t>
            </a:r>
          </a:p>
          <a:p>
            <a:r>
              <a:rPr lang="en-US" sz="2000" dirty="0">
                <a:latin typeface="Courier New" panose="02070309020205020404" pitchFamily="49" charset="0"/>
              </a:rPr>
              <a:t>d = </a:t>
            </a:r>
            <a:r>
              <a:rPr lang="en-US" sz="2000" dirty="0" err="1">
                <a:latin typeface="Courier New" panose="02070309020205020404" pitchFamily="49" charset="0"/>
              </a:rPr>
              <a:t>d.replace</a:t>
            </a:r>
            <a:r>
              <a:rPr lang="en-US" sz="2000" dirty="0">
                <a:latin typeface="Courier New" panose="02070309020205020404" pitchFamily="49" charset="0"/>
              </a:rPr>
              <a:t>(year=</a:t>
            </a:r>
            <a:r>
              <a:rPr lang="en-US" sz="2000" dirty="0" err="1">
                <a:latin typeface="Courier New" panose="02070309020205020404" pitchFamily="49" charset="0"/>
              </a:rPr>
              <a:t>d.year</a:t>
            </a:r>
            <a:r>
              <a:rPr lang="en-US" sz="2000" dirty="0">
                <a:latin typeface="Courier New" panose="02070309020205020404" pitchFamily="49" charset="0"/>
              </a:rPr>
              <a:t> - 2)</a:t>
            </a:r>
          </a:p>
        </p:txBody>
      </p:sp>
      <p:sp>
        <p:nvSpPr>
          <p:cNvPr id="4" name="Slide Number Placeholder 3">
            <a:extLst>
              <a:ext uri="{FF2B5EF4-FFF2-40B4-BE49-F238E27FC236}">
                <a16:creationId xmlns:a16="http://schemas.microsoft.com/office/drawing/2014/main" id="{3FB73280-5CC1-E5FF-7583-76C5EEC42F38}"/>
              </a:ext>
            </a:extLst>
          </p:cNvPr>
          <p:cNvSpPr>
            <a:spLocks noGrp="1"/>
          </p:cNvSpPr>
          <p:nvPr>
            <p:ph type="sldNum" sz="quarter" idx="12"/>
          </p:nvPr>
        </p:nvSpPr>
        <p:spPr/>
        <p:txBody>
          <a:bodyPr/>
          <a:lstStyle/>
          <a:p>
            <a:fld id="{723B6F6A-0448-4EED-A121-7B4A352F61BD}" type="slidenum">
              <a:rPr lang="nl-NL" smtClean="0"/>
              <a:t>36</a:t>
            </a:fld>
            <a:endParaRPr lang="nl-NL"/>
          </a:p>
        </p:txBody>
      </p:sp>
    </p:spTree>
    <p:extLst>
      <p:ext uri="{BB962C8B-B14F-4D97-AF65-F5344CB8AC3E}">
        <p14:creationId xmlns:p14="http://schemas.microsoft.com/office/powerpoint/2010/main" val="217699519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014FF-9405-1FC3-51B4-34F19185F905}"/>
              </a:ext>
            </a:extLst>
          </p:cNvPr>
          <p:cNvSpPr>
            <a:spLocks noGrp="1"/>
          </p:cNvSpPr>
          <p:nvPr>
            <p:ph type="title"/>
          </p:nvPr>
        </p:nvSpPr>
        <p:spPr/>
        <p:txBody>
          <a:bodyPr/>
          <a:lstStyle/>
          <a:p>
            <a:r>
              <a:rPr lang="en-US" dirty="0"/>
              <a:t>Arithmetic with datetime and </a:t>
            </a:r>
            <a:r>
              <a:rPr lang="en-US" dirty="0" err="1"/>
              <a:t>timedelta</a:t>
            </a:r>
            <a:r>
              <a:rPr lang="en-US" dirty="0"/>
              <a:t> objects</a:t>
            </a:r>
          </a:p>
        </p:txBody>
      </p:sp>
      <p:sp>
        <p:nvSpPr>
          <p:cNvPr id="3" name="Content Placeholder 2">
            <a:extLst>
              <a:ext uri="{FF2B5EF4-FFF2-40B4-BE49-F238E27FC236}">
                <a16:creationId xmlns:a16="http://schemas.microsoft.com/office/drawing/2014/main" id="{055274EB-0991-6D53-0A0A-AED41EBAE2D2}"/>
              </a:ext>
            </a:extLst>
          </p:cNvPr>
          <p:cNvSpPr>
            <a:spLocks noGrp="1"/>
          </p:cNvSpPr>
          <p:nvPr>
            <p:ph idx="1"/>
          </p:nvPr>
        </p:nvSpPr>
        <p:spPr>
          <a:xfrm>
            <a:off x="0" y="1825625"/>
            <a:ext cx="12192000" cy="4351338"/>
          </a:xfrm>
        </p:spPr>
        <p:txBody>
          <a:bodyPr>
            <a:noAutofit/>
          </a:bodyPr>
          <a:lstStyle/>
          <a:p>
            <a:r>
              <a:rPr lang="en-US" sz="2000" dirty="0">
                <a:effectLst/>
                <a:latin typeface="Arial" panose="020B0604020202020204" pitchFamily="34" charset="0"/>
              </a:rPr>
              <a:t>If you subtract datetimes a </a:t>
            </a:r>
            <a:r>
              <a:rPr lang="en-US" sz="2000" dirty="0" err="1">
                <a:effectLst/>
                <a:latin typeface="Arial" panose="020B0604020202020204" pitchFamily="34" charset="0"/>
              </a:rPr>
              <a:t>timedelta</a:t>
            </a:r>
            <a:r>
              <a:rPr lang="en-US" sz="2000" dirty="0">
                <a:effectLst/>
                <a:latin typeface="Arial" panose="020B0604020202020204" pitchFamily="34" charset="0"/>
              </a:rPr>
              <a:t> object is automatically created:</a:t>
            </a:r>
          </a:p>
          <a:p>
            <a:r>
              <a:rPr lang="en-US" sz="2000" dirty="0">
                <a:latin typeface="Courier New" panose="02070309020205020404" pitchFamily="49" charset="0"/>
              </a:rPr>
              <a:t>from datetime import datetime</a:t>
            </a:r>
            <a:br>
              <a:rPr lang="en-US" sz="2000" dirty="0">
                <a:latin typeface="Courier New" panose="02070309020205020404" pitchFamily="49" charset="0"/>
              </a:rPr>
            </a:br>
            <a:r>
              <a:rPr lang="en-US" sz="2000" dirty="0">
                <a:latin typeface="Courier New" panose="02070309020205020404" pitchFamily="49" charset="0"/>
              </a:rPr>
              <a:t>birthday = datetime(1923, 10, 26)</a:t>
            </a:r>
            <a:br>
              <a:rPr lang="en-US" sz="2000" dirty="0">
                <a:latin typeface="Courier New" panose="02070309020205020404" pitchFamily="49" charset="0"/>
              </a:rPr>
            </a:br>
            <a:r>
              <a:rPr lang="en-US" sz="2000" dirty="0">
                <a:latin typeface="Courier New" panose="02070309020205020404" pitchFamily="49" charset="0"/>
              </a:rPr>
              <a:t>today = </a:t>
            </a:r>
            <a:r>
              <a:rPr lang="en-US" sz="2000" dirty="0" err="1">
                <a:latin typeface="Courier New" panose="02070309020205020404" pitchFamily="49" charset="0"/>
              </a:rPr>
              <a:t>datetime.now</a:t>
            </a:r>
            <a:r>
              <a:rPr lang="en-US" sz="2000" dirty="0">
                <a:latin typeface="Courier New" panose="02070309020205020404" pitchFamily="49" charset="0"/>
              </a:rPr>
              <a:t>() </a:t>
            </a:r>
          </a:p>
          <a:p>
            <a:r>
              <a:rPr lang="en-US" sz="2000" dirty="0">
                <a:latin typeface="Courier New" panose="02070309020205020404" pitchFamily="49" charset="0"/>
              </a:rPr>
              <a:t>age = today - birthday</a:t>
            </a:r>
          </a:p>
          <a:p>
            <a:r>
              <a:rPr lang="en-US" sz="2000" dirty="0">
                <a:latin typeface="Courier New" panose="02070309020205020404" pitchFamily="49" charset="0"/>
              </a:rPr>
              <a:t>print(f'{</a:t>
            </a:r>
            <a:r>
              <a:rPr lang="en-US" sz="2000" dirty="0" err="1">
                <a:latin typeface="Courier New" panose="02070309020205020404" pitchFamily="49" charset="0"/>
              </a:rPr>
              <a:t>age.days</a:t>
            </a:r>
            <a:r>
              <a:rPr lang="en-US" sz="2000" dirty="0">
                <a:latin typeface="Courier New" panose="02070309020205020404" pitchFamily="49" charset="0"/>
              </a:rPr>
              <a:t>}{</a:t>
            </a:r>
            <a:r>
              <a:rPr lang="en-US" sz="2000" dirty="0" err="1">
                <a:latin typeface="Courier New" panose="02070309020205020404" pitchFamily="49" charset="0"/>
              </a:rPr>
              <a:t>age.seconds</a:t>
            </a:r>
            <a:r>
              <a:rPr lang="en-US" sz="2000" dirty="0">
                <a:latin typeface="Courier New" panose="02070309020205020404" pitchFamily="49" charset="0"/>
              </a:rPr>
              <a:t>}')	# On screen: 36732 14249 </a:t>
            </a:r>
          </a:p>
          <a:p>
            <a:r>
              <a:rPr lang="en-US" sz="2000" dirty="0">
                <a:latin typeface="Courier New" panose="02070309020205020404" pitchFamily="49" charset="0"/>
              </a:rPr>
              <a:t>print(type(age))				# On screen: </a:t>
            </a:r>
            <a:r>
              <a:rPr lang="en-US" sz="2000" dirty="0" err="1">
                <a:latin typeface="Courier New" panose="02070309020205020404" pitchFamily="49" charset="0"/>
              </a:rPr>
              <a:t>Timedelta</a:t>
            </a:r>
            <a:endParaRPr lang="en-US" sz="2000" dirty="0">
              <a:latin typeface="Courier New" panose="02070309020205020404" pitchFamily="49" charset="0"/>
            </a:endParaRPr>
          </a:p>
        </p:txBody>
      </p:sp>
      <p:sp>
        <p:nvSpPr>
          <p:cNvPr id="4" name="Slide Number Placeholder 3">
            <a:extLst>
              <a:ext uri="{FF2B5EF4-FFF2-40B4-BE49-F238E27FC236}">
                <a16:creationId xmlns:a16="http://schemas.microsoft.com/office/drawing/2014/main" id="{3FB73280-5CC1-E5FF-7583-76C5EEC42F38}"/>
              </a:ext>
            </a:extLst>
          </p:cNvPr>
          <p:cNvSpPr>
            <a:spLocks noGrp="1"/>
          </p:cNvSpPr>
          <p:nvPr>
            <p:ph type="sldNum" sz="quarter" idx="12"/>
          </p:nvPr>
        </p:nvSpPr>
        <p:spPr/>
        <p:txBody>
          <a:bodyPr/>
          <a:lstStyle/>
          <a:p>
            <a:fld id="{723B6F6A-0448-4EED-A121-7B4A352F61BD}" type="slidenum">
              <a:rPr lang="nl-NL" smtClean="0"/>
              <a:t>37</a:t>
            </a:fld>
            <a:endParaRPr lang="nl-NL"/>
          </a:p>
        </p:txBody>
      </p:sp>
    </p:spTree>
    <p:extLst>
      <p:ext uri="{BB962C8B-B14F-4D97-AF65-F5344CB8AC3E}">
        <p14:creationId xmlns:p14="http://schemas.microsoft.com/office/powerpoint/2010/main" val="16951912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0" end="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55BFC5D-B4FF-694B-F6AA-8B4EEEF91791}"/>
              </a:ext>
            </a:extLst>
          </p:cNvPr>
          <p:cNvSpPr>
            <a:spLocks noGrp="1"/>
          </p:cNvSpPr>
          <p:nvPr>
            <p:ph type="title"/>
          </p:nvPr>
        </p:nvSpPr>
        <p:spPr/>
        <p:txBody>
          <a:bodyPr/>
          <a:lstStyle/>
          <a:p>
            <a:r>
              <a:rPr lang="en-US" dirty="0"/>
              <a:t>Arithmetic with datetime and </a:t>
            </a:r>
            <a:r>
              <a:rPr lang="en-US" dirty="0" err="1"/>
              <a:t>timedelta</a:t>
            </a:r>
            <a:r>
              <a:rPr lang="en-US" dirty="0"/>
              <a:t> objects</a:t>
            </a:r>
            <a:endParaRPr lang="nl-NL" dirty="0"/>
          </a:p>
        </p:txBody>
      </p:sp>
      <p:sp>
        <p:nvSpPr>
          <p:cNvPr id="3" name="Content Placeholder 2">
            <a:extLst>
              <a:ext uri="{FF2B5EF4-FFF2-40B4-BE49-F238E27FC236}">
                <a16:creationId xmlns:a16="http://schemas.microsoft.com/office/drawing/2014/main" id="{1E75BA16-C919-3DD4-0D82-38F9AEAB3DE2}"/>
              </a:ext>
            </a:extLst>
          </p:cNvPr>
          <p:cNvSpPr>
            <a:spLocks noGrp="1"/>
          </p:cNvSpPr>
          <p:nvPr>
            <p:ph idx="1"/>
          </p:nvPr>
        </p:nvSpPr>
        <p:spPr/>
        <p:txBody>
          <a:bodyPr>
            <a:normAutofit fontScale="62500" lnSpcReduction="20000"/>
          </a:bodyPr>
          <a:lstStyle/>
          <a:p>
            <a:r>
              <a:rPr lang="en-US" dirty="0" err="1"/>
              <a:t>Timedelta</a:t>
            </a:r>
            <a:r>
              <a:rPr lang="en-US" dirty="0"/>
              <a:t> has only 3 attributes that you can access: days, seconds and microseconds. So, if you want to calculate the age in years, that is not that simple. </a:t>
            </a:r>
          </a:p>
          <a:p>
            <a:r>
              <a:rPr lang="en-US" dirty="0">
                <a:latin typeface="Courier New" panose="02070309020205020404" pitchFamily="49" charset="0"/>
              </a:rPr>
              <a:t>age = </a:t>
            </a:r>
            <a:r>
              <a:rPr lang="en-US" dirty="0" err="1">
                <a:latin typeface="Courier New" panose="02070309020205020404" pitchFamily="49" charset="0"/>
              </a:rPr>
              <a:t>today.year</a:t>
            </a:r>
            <a:r>
              <a:rPr lang="en-US" dirty="0">
                <a:latin typeface="Courier New" panose="02070309020205020404" pitchFamily="49" charset="0"/>
              </a:rPr>
              <a:t> - </a:t>
            </a:r>
            <a:r>
              <a:rPr lang="en-US" dirty="0" err="1">
                <a:latin typeface="Courier New" panose="02070309020205020404" pitchFamily="49" charset="0"/>
              </a:rPr>
              <a:t>birthday.year</a:t>
            </a:r>
            <a:r>
              <a:rPr lang="en-US" dirty="0">
                <a:latin typeface="Courier New" panose="02070309020205020404" pitchFamily="49" charset="0"/>
              </a:rPr>
              <a:t> - 1</a:t>
            </a:r>
          </a:p>
          <a:p>
            <a:r>
              <a:rPr lang="en-US" dirty="0">
                <a:latin typeface="Courier New" panose="02070309020205020404" pitchFamily="49" charset="0"/>
              </a:rPr>
              <a:t>age += </a:t>
            </a:r>
            <a:r>
              <a:rPr lang="en-US" dirty="0" err="1">
                <a:latin typeface="Courier New" panose="02070309020205020404" pitchFamily="49" charset="0"/>
              </a:rPr>
              <a:t>today.month</a:t>
            </a:r>
            <a:r>
              <a:rPr lang="en-US" dirty="0">
                <a:latin typeface="Courier New" panose="02070309020205020404" pitchFamily="49" charset="0"/>
              </a:rPr>
              <a:t> &gt; </a:t>
            </a:r>
            <a:r>
              <a:rPr lang="en-US" dirty="0" err="1">
                <a:latin typeface="Courier New" panose="02070309020205020404" pitchFamily="49" charset="0"/>
              </a:rPr>
              <a:t>birthday.month</a:t>
            </a:r>
            <a:r>
              <a:rPr lang="en-US" dirty="0">
                <a:latin typeface="Courier New" panose="02070309020205020404" pitchFamily="49" charset="0"/>
              </a:rPr>
              <a:t> or </a:t>
            </a:r>
            <a:r>
              <a:rPr lang="en-US" dirty="0" err="1">
                <a:latin typeface="Courier New" panose="02070309020205020404" pitchFamily="49" charset="0"/>
              </a:rPr>
              <a:t>today.month</a:t>
            </a:r>
            <a:r>
              <a:rPr lang="en-US" dirty="0">
                <a:latin typeface="Courier New" panose="02070309020205020404" pitchFamily="49" charset="0"/>
              </a:rPr>
              <a:t> == </a:t>
            </a:r>
            <a:r>
              <a:rPr lang="en-US" dirty="0" err="1">
                <a:latin typeface="Courier New" panose="02070309020205020404" pitchFamily="49" charset="0"/>
              </a:rPr>
              <a:t>birthday.month</a:t>
            </a:r>
            <a:r>
              <a:rPr lang="en-US" dirty="0">
                <a:latin typeface="Courier New" panose="02070309020205020404" pitchFamily="49" charset="0"/>
              </a:rPr>
              <a:t> and </a:t>
            </a:r>
            <a:r>
              <a:rPr lang="en-US" dirty="0" err="1">
                <a:latin typeface="Courier New" panose="02070309020205020404" pitchFamily="49" charset="0"/>
              </a:rPr>
              <a:t>today.day</a:t>
            </a:r>
            <a:r>
              <a:rPr lang="en-US" dirty="0">
                <a:latin typeface="Courier New" panose="02070309020205020404" pitchFamily="49" charset="0"/>
              </a:rPr>
              <a:t> &gt;= </a:t>
            </a:r>
            <a:r>
              <a:rPr lang="en-US" dirty="0" err="1">
                <a:latin typeface="Courier New" panose="02070309020205020404" pitchFamily="49" charset="0"/>
              </a:rPr>
              <a:t>birthday.day</a:t>
            </a:r>
            <a:endParaRPr lang="en-US" dirty="0">
              <a:latin typeface="Courier New" panose="02070309020205020404" pitchFamily="49" charset="0"/>
            </a:endParaRPr>
          </a:p>
          <a:p>
            <a:pPr marL="0" indent="0">
              <a:buNone/>
            </a:pPr>
            <a:endParaRPr lang="en-US" dirty="0">
              <a:latin typeface="Courier New" panose="02070309020205020404" pitchFamily="49" charset="0"/>
            </a:endParaRPr>
          </a:p>
          <a:p>
            <a:endParaRPr lang="en-US" dirty="0">
              <a:latin typeface="Courier New" panose="02070309020205020404" pitchFamily="49" charset="0"/>
            </a:endParaRPr>
          </a:p>
          <a:p>
            <a:r>
              <a:rPr lang="en-US" dirty="0">
                <a:cs typeface="Arial" panose="020B0604020202020204" pitchFamily="34" charset="0"/>
              </a:rPr>
              <a:t>But if you don't subtract two datetimes, but want to add or subtract for example some days to or from a </a:t>
            </a:r>
            <a:r>
              <a:rPr lang="en-US" dirty="0" err="1">
                <a:cs typeface="Arial" panose="020B0604020202020204" pitchFamily="34" charset="0"/>
              </a:rPr>
              <a:t>datetimet</a:t>
            </a:r>
            <a:r>
              <a:rPr lang="en-US" dirty="0">
                <a:cs typeface="Arial" panose="020B0604020202020204" pitchFamily="34" charset="0"/>
              </a:rPr>
              <a:t>, you need to import the </a:t>
            </a:r>
            <a:r>
              <a:rPr lang="en-US" dirty="0" err="1">
                <a:cs typeface="Arial" panose="020B0604020202020204" pitchFamily="34" charset="0"/>
              </a:rPr>
              <a:t>timedelta</a:t>
            </a:r>
            <a:r>
              <a:rPr lang="en-US" dirty="0">
                <a:cs typeface="Arial" panose="020B0604020202020204" pitchFamily="34" charset="0"/>
              </a:rPr>
              <a:t> class explicitly,  and create a </a:t>
            </a:r>
            <a:r>
              <a:rPr lang="en-US" dirty="0" err="1">
                <a:cs typeface="Arial" panose="020B0604020202020204" pitchFamily="34" charset="0"/>
              </a:rPr>
              <a:t>timedelta</a:t>
            </a:r>
            <a:r>
              <a:rPr lang="en-US" dirty="0">
                <a:cs typeface="Arial" panose="020B0604020202020204" pitchFamily="34" charset="0"/>
              </a:rPr>
              <a:t> object:</a:t>
            </a:r>
          </a:p>
          <a:p>
            <a:r>
              <a:rPr lang="en-US" dirty="0">
                <a:latin typeface="Courier New" panose="02070309020205020404" pitchFamily="49" charset="0"/>
              </a:rPr>
              <a:t>from datetime import </a:t>
            </a:r>
            <a:r>
              <a:rPr lang="en-US" dirty="0" err="1">
                <a:latin typeface="Courier New" panose="02070309020205020404" pitchFamily="49" charset="0"/>
              </a:rPr>
              <a:t>timedelta</a:t>
            </a:r>
            <a:r>
              <a:rPr lang="en-US" dirty="0">
                <a:latin typeface="Courier New" panose="02070309020205020404" pitchFamily="49" charset="0"/>
              </a:rPr>
              <a:t>, datetime</a:t>
            </a:r>
          </a:p>
          <a:p>
            <a:r>
              <a:rPr lang="en-US" dirty="0">
                <a:latin typeface="Courier New" panose="02070309020205020404" pitchFamily="49" charset="0"/>
              </a:rPr>
              <a:t>d = datetime(2022, 5, 24)</a:t>
            </a:r>
          </a:p>
          <a:p>
            <a:r>
              <a:rPr lang="en-US" dirty="0">
                <a:latin typeface="Courier New" panose="02070309020205020404" pitchFamily="49" charset="0"/>
              </a:rPr>
              <a:t>diff = </a:t>
            </a:r>
            <a:r>
              <a:rPr lang="en-US" dirty="0" err="1">
                <a:latin typeface="Courier New" panose="02070309020205020404" pitchFamily="49" charset="0"/>
              </a:rPr>
              <a:t>timedelta</a:t>
            </a:r>
            <a:r>
              <a:rPr lang="en-US" dirty="0">
                <a:latin typeface="Courier New" panose="02070309020205020404" pitchFamily="49" charset="0"/>
              </a:rPr>
              <a:t>(days=10)</a:t>
            </a:r>
          </a:p>
          <a:p>
            <a:r>
              <a:rPr lang="en-US" dirty="0">
                <a:latin typeface="Courier New" panose="02070309020205020404" pitchFamily="49" charset="0"/>
              </a:rPr>
              <a:t>print(d + diff) # Onscreen: 2022-06-03 00:00:00</a:t>
            </a:r>
          </a:p>
          <a:p>
            <a:r>
              <a:rPr lang="en-US" dirty="0">
                <a:latin typeface="Courier New" panose="02070309020205020404" pitchFamily="49" charset="0"/>
              </a:rPr>
              <a:t>print(type(d + diff)) # Onscreen: &lt;class '</a:t>
            </a:r>
            <a:r>
              <a:rPr lang="en-US" dirty="0" err="1">
                <a:latin typeface="Courier New" panose="02070309020205020404" pitchFamily="49" charset="0"/>
              </a:rPr>
              <a:t>datetime.datetime</a:t>
            </a:r>
            <a:r>
              <a:rPr lang="en-US" dirty="0">
                <a:latin typeface="Courier New" panose="02070309020205020404" pitchFamily="49" charset="0"/>
              </a:rPr>
              <a:t>'&gt;</a:t>
            </a:r>
            <a:endParaRPr lang="en-US" dirty="0">
              <a:cs typeface="Arial" panose="020B0604020202020204" pitchFamily="34" charset="0"/>
            </a:endParaRPr>
          </a:p>
          <a:p>
            <a:endParaRPr lang="nl-NL" dirty="0"/>
          </a:p>
        </p:txBody>
      </p:sp>
      <p:sp>
        <p:nvSpPr>
          <p:cNvPr id="4" name="Slide Number Placeholder 3">
            <a:extLst>
              <a:ext uri="{FF2B5EF4-FFF2-40B4-BE49-F238E27FC236}">
                <a16:creationId xmlns:a16="http://schemas.microsoft.com/office/drawing/2014/main" id="{5C1659F5-326A-F411-D4C7-E3C850B197D9}"/>
              </a:ext>
            </a:extLst>
          </p:cNvPr>
          <p:cNvSpPr>
            <a:spLocks noGrp="1"/>
          </p:cNvSpPr>
          <p:nvPr>
            <p:ph type="sldNum" sz="quarter" idx="12"/>
          </p:nvPr>
        </p:nvSpPr>
        <p:spPr/>
        <p:txBody>
          <a:bodyPr/>
          <a:lstStyle/>
          <a:p>
            <a:fld id="{723B6F6A-0448-4EED-A121-7B4A352F61BD}" type="slidenum">
              <a:rPr lang="nl-NL" smtClean="0"/>
              <a:t>38</a:t>
            </a:fld>
            <a:endParaRPr lang="nl-NL"/>
          </a:p>
        </p:txBody>
      </p:sp>
    </p:spTree>
    <p:extLst>
      <p:ext uri="{BB962C8B-B14F-4D97-AF65-F5344CB8AC3E}">
        <p14:creationId xmlns:p14="http://schemas.microsoft.com/office/powerpoint/2010/main" val="370252718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57014FF-9405-1FC3-51B4-34F19185F905}"/>
              </a:ext>
            </a:extLst>
          </p:cNvPr>
          <p:cNvSpPr>
            <a:spLocks noGrp="1"/>
          </p:cNvSpPr>
          <p:nvPr>
            <p:ph type="title"/>
          </p:nvPr>
        </p:nvSpPr>
        <p:spPr/>
        <p:txBody>
          <a:bodyPr/>
          <a:lstStyle/>
          <a:p>
            <a:r>
              <a:rPr lang="en-US" dirty="0"/>
              <a:t>Arithmetic with datetime and </a:t>
            </a:r>
            <a:r>
              <a:rPr lang="en-US" dirty="0" err="1"/>
              <a:t>timedelta</a:t>
            </a:r>
            <a:r>
              <a:rPr lang="en-US" dirty="0"/>
              <a:t> objects</a:t>
            </a:r>
          </a:p>
        </p:txBody>
      </p:sp>
      <p:sp>
        <p:nvSpPr>
          <p:cNvPr id="3" name="Content Placeholder 2">
            <a:extLst>
              <a:ext uri="{FF2B5EF4-FFF2-40B4-BE49-F238E27FC236}">
                <a16:creationId xmlns:a16="http://schemas.microsoft.com/office/drawing/2014/main" id="{055274EB-0991-6D53-0A0A-AED41EBAE2D2}"/>
              </a:ext>
            </a:extLst>
          </p:cNvPr>
          <p:cNvSpPr>
            <a:spLocks noGrp="1"/>
          </p:cNvSpPr>
          <p:nvPr>
            <p:ph idx="1"/>
          </p:nvPr>
        </p:nvSpPr>
        <p:spPr>
          <a:xfrm>
            <a:off x="0" y="1825625"/>
            <a:ext cx="12192000" cy="4351338"/>
          </a:xfrm>
        </p:spPr>
        <p:txBody>
          <a:bodyPr>
            <a:noAutofit/>
          </a:bodyPr>
          <a:lstStyle/>
          <a:p>
            <a:r>
              <a:rPr lang="en-US" sz="2000" dirty="0">
                <a:effectLst/>
                <a:cs typeface="Arial" panose="020B0604020202020204" pitchFamily="34" charset="0"/>
              </a:rPr>
              <a:t>If you want to add or subtract days or seconds to a datetime object, the </a:t>
            </a:r>
            <a:r>
              <a:rPr lang="en-US" sz="2000" dirty="0" err="1">
                <a:effectLst/>
                <a:cs typeface="Arial" panose="020B0604020202020204" pitchFamily="34" charset="0"/>
              </a:rPr>
              <a:t>timedelta</a:t>
            </a:r>
            <a:r>
              <a:rPr lang="en-US" sz="2000" dirty="0">
                <a:effectLst/>
                <a:cs typeface="Arial" panose="020B0604020202020204" pitchFamily="34" charset="0"/>
              </a:rPr>
              <a:t> object can be very convenient.</a:t>
            </a:r>
          </a:p>
          <a:p>
            <a:r>
              <a:rPr lang="en-US" sz="2000" dirty="0">
                <a:cs typeface="Arial" panose="020B0604020202020204" pitchFamily="34" charset="0"/>
              </a:rPr>
              <a:t>While the </a:t>
            </a:r>
            <a:r>
              <a:rPr lang="en-US" sz="2000" dirty="0" err="1">
                <a:cs typeface="Arial" panose="020B0604020202020204" pitchFamily="34" charset="0"/>
              </a:rPr>
              <a:t>timedelta</a:t>
            </a:r>
            <a:r>
              <a:rPr lang="en-US" sz="2000" dirty="0">
                <a:cs typeface="Arial" panose="020B0604020202020204" pitchFamily="34" charset="0"/>
              </a:rPr>
              <a:t> object has three attributes accessible, there are more parameters one can use, to define a </a:t>
            </a:r>
            <a:r>
              <a:rPr lang="en-US" sz="2000" dirty="0" err="1">
                <a:cs typeface="Arial" panose="020B0604020202020204" pitchFamily="34" charset="0"/>
              </a:rPr>
              <a:t>timedelta</a:t>
            </a:r>
            <a:r>
              <a:rPr lang="en-US" sz="2000" dirty="0">
                <a:cs typeface="Arial" panose="020B0604020202020204" pitchFamily="34" charset="0"/>
              </a:rPr>
              <a:t> object</a:t>
            </a:r>
          </a:p>
          <a:p>
            <a:r>
              <a:rPr lang="en-US" sz="2000" dirty="0">
                <a:effectLst/>
                <a:cs typeface="Arial" panose="020B0604020202020204" pitchFamily="34" charset="0"/>
              </a:rPr>
              <a:t>The following codes will all give the same result:</a:t>
            </a:r>
          </a:p>
          <a:p>
            <a:r>
              <a:rPr lang="en-US" sz="2000" dirty="0">
                <a:latin typeface="Courier New" panose="02070309020205020404" pitchFamily="49" charset="0"/>
              </a:rPr>
              <a:t>from datetime import datetime, </a:t>
            </a:r>
            <a:r>
              <a:rPr lang="en-US" sz="2000" dirty="0" err="1">
                <a:latin typeface="Courier New" panose="02070309020205020404" pitchFamily="49" charset="0"/>
              </a:rPr>
              <a:t>timedelta</a:t>
            </a:r>
            <a:endParaRPr lang="en-US" sz="2000" dirty="0">
              <a:latin typeface="Courier New" panose="02070309020205020404" pitchFamily="49" charset="0"/>
            </a:endParaRPr>
          </a:p>
          <a:p>
            <a:r>
              <a:rPr lang="en-US" sz="2000" dirty="0">
                <a:latin typeface="Courier New" panose="02070309020205020404" pitchFamily="49" charset="0"/>
              </a:rPr>
              <a:t>today = </a:t>
            </a:r>
            <a:r>
              <a:rPr lang="en-US" sz="2000" dirty="0" err="1">
                <a:latin typeface="Courier New" panose="02070309020205020404" pitchFamily="49" charset="0"/>
              </a:rPr>
              <a:t>datetime.now</a:t>
            </a:r>
            <a:r>
              <a:rPr lang="en-US" sz="2000" dirty="0">
                <a:latin typeface="Courier New" panose="02070309020205020404" pitchFamily="49" charset="0"/>
              </a:rPr>
              <a:t>()</a:t>
            </a:r>
          </a:p>
          <a:p>
            <a:r>
              <a:rPr lang="en-US" sz="2000" dirty="0" err="1">
                <a:latin typeface="Courier New" panose="02070309020205020404" pitchFamily="49" charset="0"/>
              </a:rPr>
              <a:t>future_day</a:t>
            </a:r>
            <a:r>
              <a:rPr lang="en-US" sz="2000" dirty="0">
                <a:latin typeface="Courier New" panose="02070309020205020404" pitchFamily="49" charset="0"/>
              </a:rPr>
              <a:t> = </a:t>
            </a:r>
            <a:r>
              <a:rPr lang="en-US" sz="2000" dirty="0" err="1">
                <a:latin typeface="Courier New" panose="02070309020205020404" pitchFamily="49" charset="0"/>
              </a:rPr>
              <a:t>datetime.now</a:t>
            </a:r>
            <a:r>
              <a:rPr lang="en-US" sz="2000" dirty="0">
                <a:latin typeface="Courier New" panose="02070309020205020404" pitchFamily="49" charset="0"/>
              </a:rPr>
              <a:t>() + </a:t>
            </a:r>
            <a:r>
              <a:rPr lang="en-US" sz="2000" dirty="0" err="1">
                <a:latin typeface="Courier New" panose="02070309020205020404" pitchFamily="49" charset="0"/>
              </a:rPr>
              <a:t>timedelta</a:t>
            </a:r>
            <a:r>
              <a:rPr lang="en-US" sz="2000" dirty="0">
                <a:latin typeface="Courier New" panose="02070309020205020404" pitchFamily="49" charset="0"/>
              </a:rPr>
              <a:t>(days=100)</a:t>
            </a:r>
          </a:p>
          <a:p>
            <a:r>
              <a:rPr lang="en-US" sz="2000" dirty="0" err="1">
                <a:latin typeface="Courier New" panose="02070309020205020404" pitchFamily="49" charset="0"/>
              </a:rPr>
              <a:t>future_day</a:t>
            </a:r>
            <a:r>
              <a:rPr lang="en-US" sz="2000" dirty="0">
                <a:latin typeface="Courier New" panose="02070309020205020404" pitchFamily="49" charset="0"/>
              </a:rPr>
              <a:t> = </a:t>
            </a:r>
            <a:r>
              <a:rPr lang="en-US" sz="2000" dirty="0" err="1">
                <a:latin typeface="Courier New" panose="02070309020205020404" pitchFamily="49" charset="0"/>
              </a:rPr>
              <a:t>datetime.now</a:t>
            </a:r>
            <a:r>
              <a:rPr lang="en-US" sz="2000" dirty="0">
                <a:latin typeface="Courier New" panose="02070309020205020404" pitchFamily="49" charset="0"/>
              </a:rPr>
              <a:t>() + </a:t>
            </a:r>
            <a:r>
              <a:rPr lang="en-US" sz="2000" dirty="0" err="1">
                <a:latin typeface="Courier New" panose="02070309020205020404" pitchFamily="49" charset="0"/>
              </a:rPr>
              <a:t>timedelta</a:t>
            </a:r>
            <a:r>
              <a:rPr lang="en-US" sz="2000" dirty="0">
                <a:latin typeface="Courier New" panose="02070309020205020404" pitchFamily="49" charset="0"/>
              </a:rPr>
              <a:t>(weeks=14, days=2)</a:t>
            </a:r>
          </a:p>
          <a:p>
            <a:r>
              <a:rPr lang="en-US" sz="2000" dirty="0" err="1">
                <a:latin typeface="Courier New" panose="02070309020205020404" pitchFamily="49" charset="0"/>
              </a:rPr>
              <a:t>future_day</a:t>
            </a:r>
            <a:r>
              <a:rPr lang="en-US" sz="2000" dirty="0">
                <a:latin typeface="Courier New" panose="02070309020205020404" pitchFamily="49" charset="0"/>
              </a:rPr>
              <a:t> = </a:t>
            </a:r>
            <a:r>
              <a:rPr lang="en-US" sz="2000" dirty="0" err="1">
                <a:latin typeface="Courier New" panose="02070309020205020404" pitchFamily="49" charset="0"/>
              </a:rPr>
              <a:t>datetime.now</a:t>
            </a:r>
            <a:r>
              <a:rPr lang="en-US" sz="2000" dirty="0">
                <a:latin typeface="Courier New" panose="02070309020205020404" pitchFamily="49" charset="0"/>
              </a:rPr>
              <a:t>() + </a:t>
            </a:r>
            <a:r>
              <a:rPr lang="en-US" sz="2000" dirty="0" err="1">
                <a:latin typeface="Courier New" panose="02070309020205020404" pitchFamily="49" charset="0"/>
              </a:rPr>
              <a:t>timedelta</a:t>
            </a:r>
            <a:r>
              <a:rPr lang="en-US" sz="2000" dirty="0">
                <a:latin typeface="Courier New" panose="02070309020205020404" pitchFamily="49" charset="0"/>
              </a:rPr>
              <a:t>(hours=100*24)</a:t>
            </a:r>
          </a:p>
          <a:p>
            <a:r>
              <a:rPr lang="en-US" sz="2000" dirty="0" err="1">
                <a:latin typeface="Courier New" panose="02070309020205020404" pitchFamily="49" charset="0"/>
              </a:rPr>
              <a:t>future_day</a:t>
            </a:r>
            <a:r>
              <a:rPr lang="en-US" sz="2000" dirty="0">
                <a:latin typeface="Courier New" panose="02070309020205020404" pitchFamily="49" charset="0"/>
              </a:rPr>
              <a:t> = </a:t>
            </a:r>
            <a:r>
              <a:rPr lang="en-US" sz="2000" dirty="0" err="1">
                <a:latin typeface="Courier New" panose="02070309020205020404" pitchFamily="49" charset="0"/>
              </a:rPr>
              <a:t>datetime.now</a:t>
            </a:r>
            <a:r>
              <a:rPr lang="en-US" sz="2000" dirty="0">
                <a:latin typeface="Courier New" panose="02070309020205020404" pitchFamily="49" charset="0"/>
              </a:rPr>
              <a:t>() + </a:t>
            </a:r>
            <a:r>
              <a:rPr lang="en-US" sz="2000" dirty="0" err="1">
                <a:latin typeface="Courier New" panose="02070309020205020404" pitchFamily="49" charset="0"/>
              </a:rPr>
              <a:t>timedelta</a:t>
            </a:r>
            <a:r>
              <a:rPr lang="en-US" sz="2000" dirty="0">
                <a:latin typeface="Courier New" panose="02070309020205020404" pitchFamily="49" charset="0"/>
              </a:rPr>
              <a:t>(minutes=100*24*60)</a:t>
            </a:r>
          </a:p>
          <a:p>
            <a:r>
              <a:rPr lang="en-US" sz="2000" dirty="0" err="1">
                <a:latin typeface="Courier New" panose="02070309020205020404" pitchFamily="49" charset="0"/>
              </a:rPr>
              <a:t>future_day</a:t>
            </a:r>
            <a:r>
              <a:rPr lang="en-US" sz="2000" dirty="0">
                <a:latin typeface="Courier New" panose="02070309020205020404" pitchFamily="49" charset="0"/>
              </a:rPr>
              <a:t> = </a:t>
            </a:r>
            <a:r>
              <a:rPr lang="en-US" sz="2000" dirty="0" err="1">
                <a:latin typeface="Courier New" panose="02070309020205020404" pitchFamily="49" charset="0"/>
              </a:rPr>
              <a:t>datetime.now</a:t>
            </a:r>
            <a:r>
              <a:rPr lang="en-US" sz="2000" dirty="0">
                <a:latin typeface="Courier New" panose="02070309020205020404" pitchFamily="49" charset="0"/>
              </a:rPr>
              <a:t>() + </a:t>
            </a:r>
            <a:r>
              <a:rPr lang="en-US" sz="2000" dirty="0" err="1">
                <a:latin typeface="Courier New" panose="02070309020205020404" pitchFamily="49" charset="0"/>
              </a:rPr>
              <a:t>timedelta</a:t>
            </a:r>
            <a:r>
              <a:rPr lang="en-US" sz="2000" dirty="0">
                <a:latin typeface="Courier New" panose="02070309020205020404" pitchFamily="49" charset="0"/>
              </a:rPr>
              <a:t>(seconds=100*24*60*60)</a:t>
            </a:r>
          </a:p>
        </p:txBody>
      </p:sp>
      <p:sp>
        <p:nvSpPr>
          <p:cNvPr id="4" name="Slide Number Placeholder 3">
            <a:extLst>
              <a:ext uri="{FF2B5EF4-FFF2-40B4-BE49-F238E27FC236}">
                <a16:creationId xmlns:a16="http://schemas.microsoft.com/office/drawing/2014/main" id="{3FB73280-5CC1-E5FF-7583-76C5EEC42F38}"/>
              </a:ext>
            </a:extLst>
          </p:cNvPr>
          <p:cNvSpPr>
            <a:spLocks noGrp="1"/>
          </p:cNvSpPr>
          <p:nvPr>
            <p:ph type="sldNum" sz="quarter" idx="12"/>
          </p:nvPr>
        </p:nvSpPr>
        <p:spPr/>
        <p:txBody>
          <a:bodyPr/>
          <a:lstStyle/>
          <a:p>
            <a:fld id="{723B6F6A-0448-4EED-A121-7B4A352F61BD}" type="slidenum">
              <a:rPr lang="nl-NL" smtClean="0"/>
              <a:t>39</a:t>
            </a:fld>
            <a:endParaRPr lang="nl-NL"/>
          </a:p>
        </p:txBody>
      </p:sp>
    </p:spTree>
    <p:extLst>
      <p:ext uri="{BB962C8B-B14F-4D97-AF65-F5344CB8AC3E}">
        <p14:creationId xmlns:p14="http://schemas.microsoft.com/office/powerpoint/2010/main" val="1987514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3">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3">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31" fill="hold">
                      <p:stCondLst>
                        <p:cond delay="indefinite"/>
                      </p:stCondLst>
                      <p:childTnLst>
                        <p:par>
                          <p:cTn id="32" fill="hold">
                            <p:stCondLst>
                              <p:cond delay="0"/>
                            </p:stCondLst>
                            <p:childTnLst>
                              <p:par>
                                <p:cTn id="33" presetID="1" presetClass="entr" presetSubtype="0" fill="hold" nodeType="clickEffect">
                                  <p:stCondLst>
                                    <p:cond delay="0"/>
                                  </p:stCondLst>
                                  <p:childTnLst>
                                    <p:set>
                                      <p:cBhvr>
                                        <p:cTn id="34"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par>
                    <p:cTn id="35" fill="hold">
                      <p:stCondLst>
                        <p:cond delay="indefinite"/>
                      </p:stCondLst>
                      <p:childTnLst>
                        <p:par>
                          <p:cTn id="36" fill="hold">
                            <p:stCondLst>
                              <p:cond delay="0"/>
                            </p:stCondLst>
                            <p:childTnLst>
                              <p:par>
                                <p:cTn id="37" presetID="1" presetClass="entr" presetSubtype="0" fill="hold" nodeType="clickEffect">
                                  <p:stCondLst>
                                    <p:cond delay="0"/>
                                  </p:stCondLst>
                                  <p:childTnLst>
                                    <p:set>
                                      <p:cBhvr>
                                        <p:cTn id="38" dur="1" fill="hold">
                                          <p:stCondLst>
                                            <p:cond delay="0"/>
                                          </p:stCondLst>
                                        </p:cTn>
                                        <p:tgtEl>
                                          <p:spTgt spid="3">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37890</TotalTime>
  <Words>5580</Words>
  <Application>Microsoft Office PowerPoint</Application>
  <PresentationFormat>Widescreen</PresentationFormat>
  <Paragraphs>318</Paragraphs>
  <Slides>39</Slides>
  <Notes>0</Notes>
  <HiddenSlides>1</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39</vt:i4>
      </vt:variant>
    </vt:vector>
  </HeadingPairs>
  <TitlesOfParts>
    <vt:vector size="44" baseType="lpstr">
      <vt:lpstr>Arial</vt:lpstr>
      <vt:lpstr>Arial Unicode MS</vt:lpstr>
      <vt:lpstr>Calibri Light</vt:lpstr>
      <vt:lpstr>Courier New</vt:lpstr>
      <vt:lpstr>Office Theme</vt:lpstr>
      <vt:lpstr>Introduction to Python</vt:lpstr>
      <vt:lpstr>Add walrus in comprehension to avoid costly duplicate calculations</vt:lpstr>
      <vt:lpstr>Program for This Week</vt:lpstr>
      <vt:lpstr>Comprehensions</vt:lpstr>
      <vt:lpstr>List comprehensions</vt:lpstr>
      <vt:lpstr>List comprehensions</vt:lpstr>
      <vt:lpstr>Dictionary comprehensions</vt:lpstr>
      <vt:lpstr>Dictionary comprehensions</vt:lpstr>
      <vt:lpstr>Set comprehensions</vt:lpstr>
      <vt:lpstr>Set comprehensions</vt:lpstr>
      <vt:lpstr>'string comprehensions'</vt:lpstr>
      <vt:lpstr>'string comprehensions'</vt:lpstr>
      <vt:lpstr>Nested comprehensions</vt:lpstr>
      <vt:lpstr>Nested comprehensions</vt:lpstr>
      <vt:lpstr>List comprehensions (old school)</vt:lpstr>
      <vt:lpstr>How to read this</vt:lpstr>
      <vt:lpstr>Question</vt:lpstr>
      <vt:lpstr>Question</vt:lpstr>
      <vt:lpstr>Keeping state between function calls</vt:lpstr>
      <vt:lpstr>Keeping state with a standard function</vt:lpstr>
      <vt:lpstr>Keeping state with a standard function and the global keyword</vt:lpstr>
      <vt:lpstr>Keeping state with a standard class</vt:lpstr>
      <vt:lpstr>Keeping state with a dedicated class: iterators</vt:lpstr>
      <vt:lpstr>Keeping state with a generator function</vt:lpstr>
      <vt:lpstr>Generator functions</vt:lpstr>
      <vt:lpstr>Using a Generator function inside a loop</vt:lpstr>
      <vt:lpstr>Turning a generatorfunction into a list</vt:lpstr>
      <vt:lpstr>Turning a list into an iterator</vt:lpstr>
      <vt:lpstr>Generator comprehension</vt:lpstr>
      <vt:lpstr>Handling date and times</vt:lpstr>
      <vt:lpstr>Classes in the datetime module</vt:lpstr>
      <vt:lpstr>Creating a datetime object </vt:lpstr>
      <vt:lpstr>attributes of a datatime object</vt:lpstr>
      <vt:lpstr>Creating a string representation a datetime object</vt:lpstr>
      <vt:lpstr>Creating a datetime object by passing a string</vt:lpstr>
      <vt:lpstr>Changing a datetime object with the replace method</vt:lpstr>
      <vt:lpstr>Arithmetic with datetime and timedelta objects</vt:lpstr>
      <vt:lpstr>Arithmetic with datetime and timedelta objects</vt:lpstr>
      <vt:lpstr>Arithmetic with datetime and timedelta objects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Introduction to Python</dc:title>
  <dc:creator>Ailko van der Veen</dc:creator>
  <cp:lastModifiedBy>Mathijs Janssen</cp:lastModifiedBy>
  <cp:revision>66</cp:revision>
  <dcterms:created xsi:type="dcterms:W3CDTF">2023-04-29T20:15:45Z</dcterms:created>
  <dcterms:modified xsi:type="dcterms:W3CDTF">2026-03-17T15:23:03Z</dcterms:modified>
</cp:coreProperties>
</file>