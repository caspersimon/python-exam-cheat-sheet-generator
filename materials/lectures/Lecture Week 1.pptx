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9"/>
  </p:notesMasterIdLst>
  <p:sldIdLst>
    <p:sldId id="256" r:id="rId2"/>
    <p:sldId id="272" r:id="rId3"/>
    <p:sldId id="308" r:id="rId4"/>
    <p:sldId id="312" r:id="rId5"/>
    <p:sldId id="389" r:id="rId6"/>
    <p:sldId id="313" r:id="rId7"/>
    <p:sldId id="315" r:id="rId8"/>
    <p:sldId id="314" r:id="rId9"/>
    <p:sldId id="316" r:id="rId10"/>
    <p:sldId id="317" r:id="rId11"/>
    <p:sldId id="318" r:id="rId12"/>
    <p:sldId id="384" r:id="rId13"/>
    <p:sldId id="320" r:id="rId14"/>
    <p:sldId id="390" r:id="rId15"/>
    <p:sldId id="386" r:id="rId16"/>
    <p:sldId id="387" r:id="rId17"/>
    <p:sldId id="382" r:id="rId18"/>
    <p:sldId id="325" r:id="rId19"/>
    <p:sldId id="392" r:id="rId20"/>
    <p:sldId id="331" r:id="rId21"/>
    <p:sldId id="372" r:id="rId22"/>
    <p:sldId id="377" r:id="rId23"/>
    <p:sldId id="330" r:id="rId24"/>
    <p:sldId id="333" r:id="rId25"/>
    <p:sldId id="375" r:id="rId26"/>
    <p:sldId id="376" r:id="rId27"/>
    <p:sldId id="388" r:id="rId28"/>
    <p:sldId id="391" r:id="rId29"/>
    <p:sldId id="395" r:id="rId30"/>
    <p:sldId id="393" r:id="rId31"/>
    <p:sldId id="394" r:id="rId32"/>
    <p:sldId id="334" r:id="rId33"/>
    <p:sldId id="338" r:id="rId34"/>
    <p:sldId id="367" r:id="rId35"/>
    <p:sldId id="335" r:id="rId36"/>
    <p:sldId id="337" r:id="rId37"/>
    <p:sldId id="370" r:id="rId38"/>
    <p:sldId id="339" r:id="rId39"/>
    <p:sldId id="345" r:id="rId40"/>
    <p:sldId id="342" r:id="rId41"/>
    <p:sldId id="369" r:id="rId42"/>
    <p:sldId id="343" r:id="rId43"/>
    <p:sldId id="344" r:id="rId44"/>
    <p:sldId id="346" r:id="rId45"/>
    <p:sldId id="396" r:id="rId46"/>
    <p:sldId id="347" r:id="rId47"/>
    <p:sldId id="348" r:id="rId48"/>
    <p:sldId id="350" r:id="rId49"/>
    <p:sldId id="351" r:id="rId50"/>
    <p:sldId id="353" r:id="rId51"/>
    <p:sldId id="354" r:id="rId52"/>
    <p:sldId id="355" r:id="rId53"/>
    <p:sldId id="356" r:id="rId54"/>
    <p:sldId id="357" r:id="rId55"/>
    <p:sldId id="358" r:id="rId56"/>
    <p:sldId id="359" r:id="rId57"/>
    <p:sldId id="360" r:id="rId58"/>
  </p:sldIdLst>
  <p:sldSz cx="12192000" cy="6858000"/>
  <p:notesSz cx="6742113" cy="9872663"/>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F990CD8-A139-46B8-948E-BF77C94F44E3}" v="287" dt="2026-02-02T22:42:23.89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16" autoAdjust="0"/>
    <p:restoredTop sz="94660"/>
  </p:normalViewPr>
  <p:slideViewPr>
    <p:cSldViewPr snapToGrid="0">
      <p:cViewPr varScale="1">
        <p:scale>
          <a:sx n="82" d="100"/>
          <a:sy n="82" d="100"/>
        </p:scale>
        <p:origin x="581"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65"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thijs Janssen" userId="e1c712ed-fa05-4b32-a6ac-d3bcfe11202a" providerId="ADAL" clId="{8FD1F137-BF03-485D-B0D1-ED5AC4324200}"/>
    <pc:docChg chg="delSld modSld">
      <pc:chgData name="Mathijs Janssen" userId="e1c712ed-fa05-4b32-a6ac-d3bcfe11202a" providerId="ADAL" clId="{8FD1F137-BF03-485D-B0D1-ED5AC4324200}" dt="2026-02-02T22:42:50.690" v="288" actId="2696"/>
      <pc:docMkLst>
        <pc:docMk/>
      </pc:docMkLst>
      <pc:sldChg chg="modSp modAnim">
        <pc:chgData name="Mathijs Janssen" userId="e1c712ed-fa05-4b32-a6ac-d3bcfe11202a" providerId="ADAL" clId="{8FD1F137-BF03-485D-B0D1-ED5AC4324200}" dt="2026-02-02T22:41:48.046" v="273" actId="20577"/>
        <pc:sldMkLst>
          <pc:docMk/>
          <pc:sldMk cId="3656529155" sldId="313"/>
        </pc:sldMkLst>
        <pc:spChg chg="mod">
          <ac:chgData name="Mathijs Janssen" userId="e1c712ed-fa05-4b32-a6ac-d3bcfe11202a" providerId="ADAL" clId="{8FD1F137-BF03-485D-B0D1-ED5AC4324200}" dt="2026-02-02T22:41:48.046" v="273" actId="20577"/>
          <ac:spMkLst>
            <pc:docMk/>
            <pc:sldMk cId="3656529155" sldId="313"/>
            <ac:spMk id="3" creationId="{987FFBB7-D392-3BB1-6E4C-8815E69999CF}"/>
          </ac:spMkLst>
        </pc:spChg>
      </pc:sldChg>
      <pc:sldChg chg="modSp modAnim">
        <pc:chgData name="Mathijs Janssen" userId="e1c712ed-fa05-4b32-a6ac-d3bcfe11202a" providerId="ADAL" clId="{8FD1F137-BF03-485D-B0D1-ED5AC4324200}" dt="2026-02-02T22:42:23.893" v="287" actId="20577"/>
        <pc:sldMkLst>
          <pc:docMk/>
          <pc:sldMk cId="3507189692" sldId="314"/>
        </pc:sldMkLst>
        <pc:spChg chg="mod">
          <ac:chgData name="Mathijs Janssen" userId="e1c712ed-fa05-4b32-a6ac-d3bcfe11202a" providerId="ADAL" clId="{8FD1F137-BF03-485D-B0D1-ED5AC4324200}" dt="2026-02-02T22:42:23.893" v="287" actId="20577"/>
          <ac:spMkLst>
            <pc:docMk/>
            <pc:sldMk cId="3507189692" sldId="314"/>
            <ac:spMk id="3" creationId="{987FFBB7-D392-3BB1-6E4C-8815E69999CF}"/>
          </ac:spMkLst>
        </pc:spChg>
      </pc:sldChg>
      <pc:sldChg chg="modSp del mod">
        <pc:chgData name="Mathijs Janssen" userId="e1c712ed-fa05-4b32-a6ac-d3bcfe11202a" providerId="ADAL" clId="{8FD1F137-BF03-485D-B0D1-ED5AC4324200}" dt="2026-02-02T22:42:50.690" v="288" actId="2696"/>
        <pc:sldMkLst>
          <pc:docMk/>
          <pc:sldMk cId="3693299188" sldId="319"/>
        </pc:sldMkLst>
        <pc:spChg chg="mod">
          <ac:chgData name="Mathijs Janssen" userId="e1c712ed-fa05-4b32-a6ac-d3bcfe11202a" providerId="ADAL" clId="{8FD1F137-BF03-485D-B0D1-ED5AC4324200}" dt="2026-01-13T12:38:38.756" v="0" actId="20577"/>
          <ac:spMkLst>
            <pc:docMk/>
            <pc:sldMk cId="3693299188" sldId="319"/>
            <ac:spMk id="2" creationId="{4812F33F-A141-0F90-6E0C-B391F2959544}"/>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21000" cy="495300"/>
          </a:xfrm>
          <a:prstGeom prst="rect">
            <a:avLst/>
          </a:prstGeom>
        </p:spPr>
        <p:txBody>
          <a:bodyPr vert="horz" lIns="91440" tIns="45720" rIns="91440" bIns="45720" rtlCol="0"/>
          <a:lstStyle>
            <a:lvl1pPr algn="l">
              <a:defRPr sz="1200">
                <a:latin typeface="Arial" panose="020B0604020202020204" pitchFamily="34" charset="0"/>
              </a:defRPr>
            </a:lvl1pPr>
          </a:lstStyle>
          <a:p>
            <a:endParaRPr lang="nl-NL" dirty="0"/>
          </a:p>
        </p:txBody>
      </p:sp>
      <p:sp>
        <p:nvSpPr>
          <p:cNvPr id="3" name="Date Placeholder 2"/>
          <p:cNvSpPr>
            <a:spLocks noGrp="1"/>
          </p:cNvSpPr>
          <p:nvPr>
            <p:ph type="dt" idx="1"/>
          </p:nvPr>
        </p:nvSpPr>
        <p:spPr>
          <a:xfrm>
            <a:off x="3819525" y="0"/>
            <a:ext cx="2921000" cy="495300"/>
          </a:xfrm>
          <a:prstGeom prst="rect">
            <a:avLst/>
          </a:prstGeom>
        </p:spPr>
        <p:txBody>
          <a:bodyPr vert="horz" lIns="91440" tIns="45720" rIns="91440" bIns="45720" rtlCol="0"/>
          <a:lstStyle>
            <a:lvl1pPr algn="r">
              <a:defRPr sz="1200">
                <a:latin typeface="Arial" panose="020B0604020202020204" pitchFamily="34" charset="0"/>
              </a:defRPr>
            </a:lvl1pPr>
          </a:lstStyle>
          <a:p>
            <a:fld id="{71717610-23DD-43BA-84D3-6258B362D4C2}" type="datetimeFigureOut">
              <a:rPr lang="nl-NL" smtClean="0"/>
              <a:pPr/>
              <a:t>2-2-2026</a:t>
            </a:fld>
            <a:endParaRPr lang="nl-NL" dirty="0"/>
          </a:p>
        </p:txBody>
      </p:sp>
      <p:sp>
        <p:nvSpPr>
          <p:cNvPr id="4" name="Slide Image Placeholder 3"/>
          <p:cNvSpPr>
            <a:spLocks noGrp="1" noRot="1" noChangeAspect="1"/>
          </p:cNvSpPr>
          <p:nvPr>
            <p:ph type="sldImg" idx="2"/>
          </p:nvPr>
        </p:nvSpPr>
        <p:spPr>
          <a:xfrm>
            <a:off x="409575" y="1233488"/>
            <a:ext cx="5922963" cy="3332162"/>
          </a:xfrm>
          <a:prstGeom prst="rect">
            <a:avLst/>
          </a:prstGeom>
          <a:noFill/>
          <a:ln w="12700">
            <a:solidFill>
              <a:prstClr val="black"/>
            </a:solidFill>
          </a:ln>
        </p:spPr>
        <p:txBody>
          <a:bodyPr vert="horz" lIns="91440" tIns="45720" rIns="91440" bIns="45720" rtlCol="0" anchor="ctr"/>
          <a:lstStyle/>
          <a:p>
            <a:endParaRPr lang="nl-NL" dirty="0"/>
          </a:p>
        </p:txBody>
      </p:sp>
      <p:sp>
        <p:nvSpPr>
          <p:cNvPr id="5" name="Notes Placeholder 4"/>
          <p:cNvSpPr>
            <a:spLocks noGrp="1"/>
          </p:cNvSpPr>
          <p:nvPr>
            <p:ph type="body" sz="quarter" idx="3"/>
          </p:nvPr>
        </p:nvSpPr>
        <p:spPr>
          <a:xfrm>
            <a:off x="674688" y="4751388"/>
            <a:ext cx="5392737" cy="3887787"/>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nl-NL" dirty="0"/>
          </a:p>
        </p:txBody>
      </p:sp>
      <p:sp>
        <p:nvSpPr>
          <p:cNvPr id="6" name="Footer Placeholder 5"/>
          <p:cNvSpPr>
            <a:spLocks noGrp="1"/>
          </p:cNvSpPr>
          <p:nvPr>
            <p:ph type="ftr" sz="quarter" idx="4"/>
          </p:nvPr>
        </p:nvSpPr>
        <p:spPr>
          <a:xfrm>
            <a:off x="0" y="9377363"/>
            <a:ext cx="2921000" cy="495300"/>
          </a:xfrm>
          <a:prstGeom prst="rect">
            <a:avLst/>
          </a:prstGeom>
        </p:spPr>
        <p:txBody>
          <a:bodyPr vert="horz" lIns="91440" tIns="45720" rIns="91440" bIns="45720" rtlCol="0" anchor="b"/>
          <a:lstStyle>
            <a:lvl1pPr algn="l">
              <a:defRPr sz="1200">
                <a:latin typeface="Arial" panose="020B0604020202020204" pitchFamily="34" charset="0"/>
              </a:defRPr>
            </a:lvl1pPr>
          </a:lstStyle>
          <a:p>
            <a:endParaRPr lang="nl-NL" dirty="0"/>
          </a:p>
        </p:txBody>
      </p:sp>
      <p:sp>
        <p:nvSpPr>
          <p:cNvPr id="7" name="Slide Number Placeholder 6"/>
          <p:cNvSpPr>
            <a:spLocks noGrp="1"/>
          </p:cNvSpPr>
          <p:nvPr>
            <p:ph type="sldNum" sz="quarter" idx="5"/>
          </p:nvPr>
        </p:nvSpPr>
        <p:spPr>
          <a:xfrm>
            <a:off x="3819525" y="9377363"/>
            <a:ext cx="2921000" cy="495300"/>
          </a:xfrm>
          <a:prstGeom prst="rect">
            <a:avLst/>
          </a:prstGeom>
        </p:spPr>
        <p:txBody>
          <a:bodyPr vert="horz" lIns="91440" tIns="45720" rIns="91440" bIns="45720" rtlCol="0" anchor="b"/>
          <a:lstStyle>
            <a:lvl1pPr algn="r">
              <a:defRPr sz="1200">
                <a:latin typeface="Arial" panose="020B0604020202020204" pitchFamily="34" charset="0"/>
              </a:defRPr>
            </a:lvl1pPr>
          </a:lstStyle>
          <a:p>
            <a:fld id="{8F4A14E4-A681-4DB6-BBBA-A119AE5C1C6E}" type="slidenum">
              <a:rPr lang="nl-NL" smtClean="0"/>
              <a:pPr/>
              <a:t>‹#›</a:t>
            </a:fld>
            <a:endParaRPr lang="nl-NL" dirty="0"/>
          </a:p>
        </p:txBody>
      </p:sp>
    </p:spTree>
    <p:extLst>
      <p:ext uri="{BB962C8B-B14F-4D97-AF65-F5344CB8AC3E}">
        <p14:creationId xmlns:p14="http://schemas.microsoft.com/office/powerpoint/2010/main" val="23023278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anose="020B0604020202020204" pitchFamily="34" charset="0"/>
        <a:ea typeface="+mn-ea"/>
        <a:cs typeface="+mn-cs"/>
      </a:defRPr>
    </a:lvl1pPr>
    <a:lvl2pPr marL="457200" algn="l" defTabSz="914400" rtl="0" eaLnBrk="1" latinLnBrk="0" hangingPunct="1">
      <a:defRPr sz="1200" kern="1200">
        <a:solidFill>
          <a:schemeClr val="tx1"/>
        </a:solidFill>
        <a:latin typeface="Arial" panose="020B0604020202020204" pitchFamily="34" charset="0"/>
        <a:ea typeface="+mn-ea"/>
        <a:cs typeface="+mn-cs"/>
      </a:defRPr>
    </a:lvl2pPr>
    <a:lvl3pPr marL="914400" algn="l" defTabSz="914400" rtl="0" eaLnBrk="1" latinLnBrk="0" hangingPunct="1">
      <a:defRPr sz="1200" kern="1200">
        <a:solidFill>
          <a:schemeClr val="tx1"/>
        </a:solidFill>
        <a:latin typeface="Arial" panose="020B0604020202020204" pitchFamily="34" charset="0"/>
        <a:ea typeface="+mn-ea"/>
        <a:cs typeface="+mn-cs"/>
      </a:defRPr>
    </a:lvl3pPr>
    <a:lvl4pPr marL="1371600" algn="l" defTabSz="914400" rtl="0" eaLnBrk="1" latinLnBrk="0" hangingPunct="1">
      <a:defRPr sz="1200" kern="1200">
        <a:solidFill>
          <a:schemeClr val="tx1"/>
        </a:solidFill>
        <a:latin typeface="Arial" panose="020B0604020202020204" pitchFamily="34" charset="0"/>
        <a:ea typeface="+mn-ea"/>
        <a:cs typeface="+mn-cs"/>
      </a:defRPr>
    </a:lvl4pPr>
    <a:lvl5pPr marL="1828800" algn="l" defTabSz="914400" rtl="0" eaLnBrk="1" latinLnBrk="0" hangingPunct="1">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AA88A8-8C05-F949-A3B5-D999903B414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nl-NL"/>
          </a:p>
        </p:txBody>
      </p:sp>
      <p:sp>
        <p:nvSpPr>
          <p:cNvPr id="3" name="Subtitle 2">
            <a:extLst>
              <a:ext uri="{FF2B5EF4-FFF2-40B4-BE49-F238E27FC236}">
                <a16:creationId xmlns:a16="http://schemas.microsoft.com/office/drawing/2014/main" id="{3D0A0611-8B3C-636E-D05A-0D407B4CB00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nl-NL"/>
          </a:p>
        </p:txBody>
      </p:sp>
      <p:sp>
        <p:nvSpPr>
          <p:cNvPr id="4" name="Date Placeholder 3">
            <a:extLst>
              <a:ext uri="{FF2B5EF4-FFF2-40B4-BE49-F238E27FC236}">
                <a16:creationId xmlns:a16="http://schemas.microsoft.com/office/drawing/2014/main" id="{50377F61-ACE5-72DA-FB61-D83FE708F314}"/>
              </a:ext>
            </a:extLst>
          </p:cNvPr>
          <p:cNvSpPr>
            <a:spLocks noGrp="1"/>
          </p:cNvSpPr>
          <p:nvPr>
            <p:ph type="dt" sz="half" idx="10"/>
          </p:nvPr>
        </p:nvSpPr>
        <p:spPr/>
        <p:txBody>
          <a:bodyPr/>
          <a:lstStyle/>
          <a:p>
            <a:fld id="{15186B71-ECFB-41E4-B92F-749AF90A51FC}" type="datetimeyyyy">
              <a:rPr lang="nl-NL" smtClean="0"/>
              <a:t>2026</a:t>
            </a:fld>
            <a:endParaRPr lang="nl-NL"/>
          </a:p>
        </p:txBody>
      </p:sp>
      <p:sp>
        <p:nvSpPr>
          <p:cNvPr id="5" name="Footer Placeholder 4">
            <a:extLst>
              <a:ext uri="{FF2B5EF4-FFF2-40B4-BE49-F238E27FC236}">
                <a16:creationId xmlns:a16="http://schemas.microsoft.com/office/drawing/2014/main" id="{75A989B3-9635-38C7-3F0F-095E765E318E}"/>
              </a:ext>
            </a:extLst>
          </p:cNvPr>
          <p:cNvSpPr>
            <a:spLocks noGrp="1"/>
          </p:cNvSpPr>
          <p:nvPr>
            <p:ph type="ftr" sz="quarter" idx="11"/>
          </p:nvPr>
        </p:nvSpPr>
        <p:spPr/>
        <p:txBody>
          <a:bodyPr/>
          <a:lstStyle/>
          <a:p>
            <a:r>
              <a:rPr lang="nl-NL"/>
              <a:t>Introduction to Python </a:t>
            </a:r>
          </a:p>
        </p:txBody>
      </p:sp>
      <p:sp>
        <p:nvSpPr>
          <p:cNvPr id="6" name="Slide Number Placeholder 5">
            <a:extLst>
              <a:ext uri="{FF2B5EF4-FFF2-40B4-BE49-F238E27FC236}">
                <a16:creationId xmlns:a16="http://schemas.microsoft.com/office/drawing/2014/main" id="{B1C2124D-CF80-7A52-7A0F-C5B0A27B6DEE}"/>
              </a:ext>
            </a:extLst>
          </p:cNvPr>
          <p:cNvSpPr>
            <a:spLocks noGrp="1"/>
          </p:cNvSpPr>
          <p:nvPr>
            <p:ph type="sldNum" sz="quarter" idx="12"/>
          </p:nvPr>
        </p:nvSpPr>
        <p:spPr/>
        <p:txBody>
          <a:bodyPr/>
          <a:lstStyle/>
          <a:p>
            <a:fld id="{937257EE-0CEF-4D7E-9E69-5277D6172560}" type="slidenum">
              <a:rPr lang="nl-NL" smtClean="0"/>
              <a:t>‹#›</a:t>
            </a:fld>
            <a:endParaRPr lang="nl-NL"/>
          </a:p>
        </p:txBody>
      </p:sp>
    </p:spTree>
    <p:extLst>
      <p:ext uri="{BB962C8B-B14F-4D97-AF65-F5344CB8AC3E}">
        <p14:creationId xmlns:p14="http://schemas.microsoft.com/office/powerpoint/2010/main" val="9845259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30FB7F-1E42-E6FC-9584-3281E9D319E0}"/>
              </a:ext>
            </a:extLst>
          </p:cNvPr>
          <p:cNvSpPr>
            <a:spLocks noGrp="1"/>
          </p:cNvSpPr>
          <p:nvPr>
            <p:ph type="title"/>
          </p:nvPr>
        </p:nvSpPr>
        <p:spPr/>
        <p:txBody>
          <a:bodyPr/>
          <a:lstStyle/>
          <a:p>
            <a:r>
              <a:rPr lang="en-US"/>
              <a:t>Click to edit Master title style</a:t>
            </a:r>
            <a:endParaRPr lang="nl-NL"/>
          </a:p>
        </p:txBody>
      </p:sp>
      <p:sp>
        <p:nvSpPr>
          <p:cNvPr id="3" name="Content Placeholder 2">
            <a:extLst>
              <a:ext uri="{FF2B5EF4-FFF2-40B4-BE49-F238E27FC236}">
                <a16:creationId xmlns:a16="http://schemas.microsoft.com/office/drawing/2014/main" id="{3C51B8A7-7924-2CB3-1987-573374026CD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Date Placeholder 3">
            <a:extLst>
              <a:ext uri="{FF2B5EF4-FFF2-40B4-BE49-F238E27FC236}">
                <a16:creationId xmlns:a16="http://schemas.microsoft.com/office/drawing/2014/main" id="{F6BC0E4A-CAD0-68AA-8799-69E81F0A749A}"/>
              </a:ext>
            </a:extLst>
          </p:cNvPr>
          <p:cNvSpPr>
            <a:spLocks noGrp="1"/>
          </p:cNvSpPr>
          <p:nvPr>
            <p:ph type="dt" sz="half" idx="10"/>
          </p:nvPr>
        </p:nvSpPr>
        <p:spPr/>
        <p:txBody>
          <a:bodyPr/>
          <a:lstStyle/>
          <a:p>
            <a:fld id="{E94D6815-DF39-4630-BDC8-120C32F413A0}" type="datetimeyyyy">
              <a:rPr lang="nl-NL" smtClean="0"/>
              <a:t>2026</a:t>
            </a:fld>
            <a:endParaRPr lang="nl-NL"/>
          </a:p>
        </p:txBody>
      </p:sp>
      <p:sp>
        <p:nvSpPr>
          <p:cNvPr id="5" name="Footer Placeholder 4">
            <a:extLst>
              <a:ext uri="{FF2B5EF4-FFF2-40B4-BE49-F238E27FC236}">
                <a16:creationId xmlns:a16="http://schemas.microsoft.com/office/drawing/2014/main" id="{EF1F55AA-665E-7AA1-7349-2F106AD1F952}"/>
              </a:ext>
            </a:extLst>
          </p:cNvPr>
          <p:cNvSpPr>
            <a:spLocks noGrp="1"/>
          </p:cNvSpPr>
          <p:nvPr>
            <p:ph type="ftr" sz="quarter" idx="11"/>
          </p:nvPr>
        </p:nvSpPr>
        <p:spPr/>
        <p:txBody>
          <a:bodyPr/>
          <a:lstStyle/>
          <a:p>
            <a:r>
              <a:rPr lang="nl-NL"/>
              <a:t>Introduction to Python </a:t>
            </a:r>
          </a:p>
        </p:txBody>
      </p:sp>
      <p:sp>
        <p:nvSpPr>
          <p:cNvPr id="6" name="Slide Number Placeholder 5">
            <a:extLst>
              <a:ext uri="{FF2B5EF4-FFF2-40B4-BE49-F238E27FC236}">
                <a16:creationId xmlns:a16="http://schemas.microsoft.com/office/drawing/2014/main" id="{E14912EC-135E-67FA-7E58-ED7104069DA5}"/>
              </a:ext>
            </a:extLst>
          </p:cNvPr>
          <p:cNvSpPr>
            <a:spLocks noGrp="1"/>
          </p:cNvSpPr>
          <p:nvPr>
            <p:ph type="sldNum" sz="quarter" idx="12"/>
          </p:nvPr>
        </p:nvSpPr>
        <p:spPr/>
        <p:txBody>
          <a:bodyPr/>
          <a:lstStyle/>
          <a:p>
            <a:fld id="{937257EE-0CEF-4D7E-9E69-5277D6172560}" type="slidenum">
              <a:rPr lang="nl-NL" smtClean="0"/>
              <a:t>‹#›</a:t>
            </a:fld>
            <a:endParaRPr lang="nl-NL"/>
          </a:p>
        </p:txBody>
      </p:sp>
    </p:spTree>
    <p:extLst>
      <p:ext uri="{BB962C8B-B14F-4D97-AF65-F5344CB8AC3E}">
        <p14:creationId xmlns:p14="http://schemas.microsoft.com/office/powerpoint/2010/main" val="4105093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179971-8BDC-936B-2CD8-524EDBD0FAA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nl-NL"/>
          </a:p>
        </p:txBody>
      </p:sp>
      <p:sp>
        <p:nvSpPr>
          <p:cNvPr id="3" name="Text Placeholder 2">
            <a:extLst>
              <a:ext uri="{FF2B5EF4-FFF2-40B4-BE49-F238E27FC236}">
                <a16:creationId xmlns:a16="http://schemas.microsoft.com/office/drawing/2014/main" id="{69782443-9395-7F68-276C-D8B7586A0B3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28C9DE8-667D-5EAB-0A60-7DBAA23A1DC0}"/>
              </a:ext>
            </a:extLst>
          </p:cNvPr>
          <p:cNvSpPr>
            <a:spLocks noGrp="1"/>
          </p:cNvSpPr>
          <p:nvPr>
            <p:ph type="dt" sz="half" idx="10"/>
          </p:nvPr>
        </p:nvSpPr>
        <p:spPr/>
        <p:txBody>
          <a:bodyPr/>
          <a:lstStyle/>
          <a:p>
            <a:fld id="{9111FA0A-E3E4-46B3-95C4-DFCB54523D83}" type="datetimeyyyy">
              <a:rPr lang="nl-NL" smtClean="0"/>
              <a:t>2026</a:t>
            </a:fld>
            <a:endParaRPr lang="nl-NL"/>
          </a:p>
        </p:txBody>
      </p:sp>
      <p:sp>
        <p:nvSpPr>
          <p:cNvPr id="5" name="Footer Placeholder 4">
            <a:extLst>
              <a:ext uri="{FF2B5EF4-FFF2-40B4-BE49-F238E27FC236}">
                <a16:creationId xmlns:a16="http://schemas.microsoft.com/office/drawing/2014/main" id="{C8CAA8FC-A3DD-E65F-1389-C98503D249FD}"/>
              </a:ext>
            </a:extLst>
          </p:cNvPr>
          <p:cNvSpPr>
            <a:spLocks noGrp="1"/>
          </p:cNvSpPr>
          <p:nvPr>
            <p:ph type="ftr" sz="quarter" idx="11"/>
          </p:nvPr>
        </p:nvSpPr>
        <p:spPr/>
        <p:txBody>
          <a:bodyPr/>
          <a:lstStyle/>
          <a:p>
            <a:r>
              <a:rPr lang="nl-NL"/>
              <a:t>Introduction to Python </a:t>
            </a:r>
          </a:p>
        </p:txBody>
      </p:sp>
      <p:sp>
        <p:nvSpPr>
          <p:cNvPr id="6" name="Slide Number Placeholder 5">
            <a:extLst>
              <a:ext uri="{FF2B5EF4-FFF2-40B4-BE49-F238E27FC236}">
                <a16:creationId xmlns:a16="http://schemas.microsoft.com/office/drawing/2014/main" id="{ACADA893-DF01-76F7-37DB-B1972B46E7E2}"/>
              </a:ext>
            </a:extLst>
          </p:cNvPr>
          <p:cNvSpPr>
            <a:spLocks noGrp="1"/>
          </p:cNvSpPr>
          <p:nvPr>
            <p:ph type="sldNum" sz="quarter" idx="12"/>
          </p:nvPr>
        </p:nvSpPr>
        <p:spPr/>
        <p:txBody>
          <a:bodyPr/>
          <a:lstStyle/>
          <a:p>
            <a:fld id="{937257EE-0CEF-4D7E-9E69-5277D6172560}" type="slidenum">
              <a:rPr lang="nl-NL" smtClean="0"/>
              <a:t>‹#›</a:t>
            </a:fld>
            <a:endParaRPr lang="nl-NL"/>
          </a:p>
        </p:txBody>
      </p:sp>
    </p:spTree>
    <p:extLst>
      <p:ext uri="{BB962C8B-B14F-4D97-AF65-F5344CB8AC3E}">
        <p14:creationId xmlns:p14="http://schemas.microsoft.com/office/powerpoint/2010/main" val="25296796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1FB509-8F5B-89D3-D61E-D594A08B44C4}"/>
              </a:ext>
            </a:extLst>
          </p:cNvPr>
          <p:cNvSpPr>
            <a:spLocks noGrp="1"/>
          </p:cNvSpPr>
          <p:nvPr>
            <p:ph type="title"/>
          </p:nvPr>
        </p:nvSpPr>
        <p:spPr/>
        <p:txBody>
          <a:bodyPr/>
          <a:lstStyle/>
          <a:p>
            <a:r>
              <a:rPr lang="en-US"/>
              <a:t>Click to edit Master title style</a:t>
            </a:r>
            <a:endParaRPr lang="nl-NL"/>
          </a:p>
        </p:txBody>
      </p:sp>
      <p:sp>
        <p:nvSpPr>
          <p:cNvPr id="3" name="Content Placeholder 2">
            <a:extLst>
              <a:ext uri="{FF2B5EF4-FFF2-40B4-BE49-F238E27FC236}">
                <a16:creationId xmlns:a16="http://schemas.microsoft.com/office/drawing/2014/main" id="{8C3E5F12-99E2-4304-B9C2-6CE674CD664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Content Placeholder 3">
            <a:extLst>
              <a:ext uri="{FF2B5EF4-FFF2-40B4-BE49-F238E27FC236}">
                <a16:creationId xmlns:a16="http://schemas.microsoft.com/office/drawing/2014/main" id="{57388F09-0559-726D-6AEA-C13C7C492DC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5" name="Date Placeholder 4">
            <a:extLst>
              <a:ext uri="{FF2B5EF4-FFF2-40B4-BE49-F238E27FC236}">
                <a16:creationId xmlns:a16="http://schemas.microsoft.com/office/drawing/2014/main" id="{C0D1C8AF-7198-4B88-E8F4-5F8FB7017A84}"/>
              </a:ext>
            </a:extLst>
          </p:cNvPr>
          <p:cNvSpPr>
            <a:spLocks noGrp="1"/>
          </p:cNvSpPr>
          <p:nvPr>
            <p:ph type="dt" sz="half" idx="10"/>
          </p:nvPr>
        </p:nvSpPr>
        <p:spPr/>
        <p:txBody>
          <a:bodyPr/>
          <a:lstStyle/>
          <a:p>
            <a:fld id="{0B7F2271-7594-4FE7-AF5D-365CFEBEE4BD}" type="datetimeyyyy">
              <a:rPr lang="nl-NL" smtClean="0"/>
              <a:t>2026</a:t>
            </a:fld>
            <a:endParaRPr lang="nl-NL"/>
          </a:p>
        </p:txBody>
      </p:sp>
      <p:sp>
        <p:nvSpPr>
          <p:cNvPr id="6" name="Footer Placeholder 5">
            <a:extLst>
              <a:ext uri="{FF2B5EF4-FFF2-40B4-BE49-F238E27FC236}">
                <a16:creationId xmlns:a16="http://schemas.microsoft.com/office/drawing/2014/main" id="{FC8D7BF7-A756-61F2-ADEB-0F8E19413BED}"/>
              </a:ext>
            </a:extLst>
          </p:cNvPr>
          <p:cNvSpPr>
            <a:spLocks noGrp="1"/>
          </p:cNvSpPr>
          <p:nvPr>
            <p:ph type="ftr" sz="quarter" idx="11"/>
          </p:nvPr>
        </p:nvSpPr>
        <p:spPr/>
        <p:txBody>
          <a:bodyPr/>
          <a:lstStyle/>
          <a:p>
            <a:r>
              <a:rPr lang="nl-NL"/>
              <a:t>Introduction to Python </a:t>
            </a:r>
          </a:p>
        </p:txBody>
      </p:sp>
      <p:sp>
        <p:nvSpPr>
          <p:cNvPr id="7" name="Slide Number Placeholder 6">
            <a:extLst>
              <a:ext uri="{FF2B5EF4-FFF2-40B4-BE49-F238E27FC236}">
                <a16:creationId xmlns:a16="http://schemas.microsoft.com/office/drawing/2014/main" id="{8EF48370-19D4-0C25-8A94-C3074DED2933}"/>
              </a:ext>
            </a:extLst>
          </p:cNvPr>
          <p:cNvSpPr>
            <a:spLocks noGrp="1"/>
          </p:cNvSpPr>
          <p:nvPr>
            <p:ph type="sldNum" sz="quarter" idx="12"/>
          </p:nvPr>
        </p:nvSpPr>
        <p:spPr/>
        <p:txBody>
          <a:bodyPr/>
          <a:lstStyle/>
          <a:p>
            <a:fld id="{937257EE-0CEF-4D7E-9E69-5277D6172560}" type="slidenum">
              <a:rPr lang="nl-NL" smtClean="0"/>
              <a:t>‹#›</a:t>
            </a:fld>
            <a:endParaRPr lang="nl-NL"/>
          </a:p>
        </p:txBody>
      </p:sp>
    </p:spTree>
    <p:extLst>
      <p:ext uri="{BB962C8B-B14F-4D97-AF65-F5344CB8AC3E}">
        <p14:creationId xmlns:p14="http://schemas.microsoft.com/office/powerpoint/2010/main" val="37555710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6D90AE-DAA2-46CE-20F5-11FBE930D014}"/>
              </a:ext>
            </a:extLst>
          </p:cNvPr>
          <p:cNvSpPr>
            <a:spLocks noGrp="1"/>
          </p:cNvSpPr>
          <p:nvPr>
            <p:ph type="title"/>
          </p:nvPr>
        </p:nvSpPr>
        <p:spPr>
          <a:xfrm>
            <a:off x="839788" y="365125"/>
            <a:ext cx="10515600" cy="1325563"/>
          </a:xfrm>
        </p:spPr>
        <p:txBody>
          <a:bodyPr/>
          <a:lstStyle/>
          <a:p>
            <a:r>
              <a:rPr lang="en-US"/>
              <a:t>Click to edit Master title style</a:t>
            </a:r>
            <a:endParaRPr lang="nl-NL"/>
          </a:p>
        </p:txBody>
      </p:sp>
      <p:sp>
        <p:nvSpPr>
          <p:cNvPr id="3" name="Text Placeholder 2">
            <a:extLst>
              <a:ext uri="{FF2B5EF4-FFF2-40B4-BE49-F238E27FC236}">
                <a16:creationId xmlns:a16="http://schemas.microsoft.com/office/drawing/2014/main" id="{075959DF-8B47-2581-A229-01D604D5CD1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8B881A0-F621-F3FC-AD26-FB04D6A7E99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5" name="Text Placeholder 4">
            <a:extLst>
              <a:ext uri="{FF2B5EF4-FFF2-40B4-BE49-F238E27FC236}">
                <a16:creationId xmlns:a16="http://schemas.microsoft.com/office/drawing/2014/main" id="{53420DBE-0B45-72CC-2E1F-DB73E0B01BE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6F30688-EA72-DB1C-47BA-DE0306BC925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7" name="Date Placeholder 6">
            <a:extLst>
              <a:ext uri="{FF2B5EF4-FFF2-40B4-BE49-F238E27FC236}">
                <a16:creationId xmlns:a16="http://schemas.microsoft.com/office/drawing/2014/main" id="{4EBC5AE4-528F-D8CA-0D7D-EB7AC54AB39C}"/>
              </a:ext>
            </a:extLst>
          </p:cNvPr>
          <p:cNvSpPr>
            <a:spLocks noGrp="1"/>
          </p:cNvSpPr>
          <p:nvPr>
            <p:ph type="dt" sz="half" idx="10"/>
          </p:nvPr>
        </p:nvSpPr>
        <p:spPr/>
        <p:txBody>
          <a:bodyPr/>
          <a:lstStyle/>
          <a:p>
            <a:fld id="{4AE9218A-A1BE-4A91-84FD-CF48C408B3A9}" type="datetimeyyyy">
              <a:rPr lang="nl-NL" smtClean="0"/>
              <a:t>2026</a:t>
            </a:fld>
            <a:endParaRPr lang="nl-NL"/>
          </a:p>
        </p:txBody>
      </p:sp>
      <p:sp>
        <p:nvSpPr>
          <p:cNvPr id="8" name="Footer Placeholder 7">
            <a:extLst>
              <a:ext uri="{FF2B5EF4-FFF2-40B4-BE49-F238E27FC236}">
                <a16:creationId xmlns:a16="http://schemas.microsoft.com/office/drawing/2014/main" id="{744CE958-A4BB-1DD0-FDAA-1277A9B6FA3B}"/>
              </a:ext>
            </a:extLst>
          </p:cNvPr>
          <p:cNvSpPr>
            <a:spLocks noGrp="1"/>
          </p:cNvSpPr>
          <p:nvPr>
            <p:ph type="ftr" sz="quarter" idx="11"/>
          </p:nvPr>
        </p:nvSpPr>
        <p:spPr/>
        <p:txBody>
          <a:bodyPr/>
          <a:lstStyle/>
          <a:p>
            <a:r>
              <a:rPr lang="nl-NL"/>
              <a:t>Introduction to Python </a:t>
            </a:r>
          </a:p>
        </p:txBody>
      </p:sp>
      <p:sp>
        <p:nvSpPr>
          <p:cNvPr id="9" name="Slide Number Placeholder 8">
            <a:extLst>
              <a:ext uri="{FF2B5EF4-FFF2-40B4-BE49-F238E27FC236}">
                <a16:creationId xmlns:a16="http://schemas.microsoft.com/office/drawing/2014/main" id="{021B48D2-431C-73CD-E3D8-8D0BD416857B}"/>
              </a:ext>
            </a:extLst>
          </p:cNvPr>
          <p:cNvSpPr>
            <a:spLocks noGrp="1"/>
          </p:cNvSpPr>
          <p:nvPr>
            <p:ph type="sldNum" sz="quarter" idx="12"/>
          </p:nvPr>
        </p:nvSpPr>
        <p:spPr/>
        <p:txBody>
          <a:bodyPr/>
          <a:lstStyle/>
          <a:p>
            <a:fld id="{937257EE-0CEF-4D7E-9E69-5277D6172560}" type="slidenum">
              <a:rPr lang="nl-NL" smtClean="0"/>
              <a:t>‹#›</a:t>
            </a:fld>
            <a:endParaRPr lang="nl-NL"/>
          </a:p>
        </p:txBody>
      </p:sp>
    </p:spTree>
    <p:extLst>
      <p:ext uri="{BB962C8B-B14F-4D97-AF65-F5344CB8AC3E}">
        <p14:creationId xmlns:p14="http://schemas.microsoft.com/office/powerpoint/2010/main" val="341755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19C7D9-AB32-EBDC-D83D-910DC1D45FEC}"/>
              </a:ext>
            </a:extLst>
          </p:cNvPr>
          <p:cNvSpPr>
            <a:spLocks noGrp="1"/>
          </p:cNvSpPr>
          <p:nvPr>
            <p:ph type="title"/>
          </p:nvPr>
        </p:nvSpPr>
        <p:spPr/>
        <p:txBody>
          <a:bodyPr/>
          <a:lstStyle/>
          <a:p>
            <a:r>
              <a:rPr lang="en-US"/>
              <a:t>Click to edit Master title style</a:t>
            </a:r>
            <a:endParaRPr lang="nl-NL"/>
          </a:p>
        </p:txBody>
      </p:sp>
      <p:sp>
        <p:nvSpPr>
          <p:cNvPr id="3" name="Date Placeholder 2">
            <a:extLst>
              <a:ext uri="{FF2B5EF4-FFF2-40B4-BE49-F238E27FC236}">
                <a16:creationId xmlns:a16="http://schemas.microsoft.com/office/drawing/2014/main" id="{D85E39E1-C9FD-B23F-93BB-16292FDA2EF5}"/>
              </a:ext>
            </a:extLst>
          </p:cNvPr>
          <p:cNvSpPr>
            <a:spLocks noGrp="1"/>
          </p:cNvSpPr>
          <p:nvPr>
            <p:ph type="dt" sz="half" idx="10"/>
          </p:nvPr>
        </p:nvSpPr>
        <p:spPr/>
        <p:txBody>
          <a:bodyPr/>
          <a:lstStyle/>
          <a:p>
            <a:fld id="{98737DFA-2CEC-4AB1-B162-CBC0212D8A12}" type="datetimeyyyy">
              <a:rPr lang="nl-NL" smtClean="0"/>
              <a:t>2026</a:t>
            </a:fld>
            <a:endParaRPr lang="nl-NL"/>
          </a:p>
        </p:txBody>
      </p:sp>
      <p:sp>
        <p:nvSpPr>
          <p:cNvPr id="4" name="Footer Placeholder 3">
            <a:extLst>
              <a:ext uri="{FF2B5EF4-FFF2-40B4-BE49-F238E27FC236}">
                <a16:creationId xmlns:a16="http://schemas.microsoft.com/office/drawing/2014/main" id="{B7CA10E7-F0D1-C059-4E0E-982FBB2FB0C3}"/>
              </a:ext>
            </a:extLst>
          </p:cNvPr>
          <p:cNvSpPr>
            <a:spLocks noGrp="1"/>
          </p:cNvSpPr>
          <p:nvPr>
            <p:ph type="ftr" sz="quarter" idx="11"/>
          </p:nvPr>
        </p:nvSpPr>
        <p:spPr/>
        <p:txBody>
          <a:bodyPr/>
          <a:lstStyle/>
          <a:p>
            <a:r>
              <a:rPr lang="nl-NL"/>
              <a:t>Introduction to Python </a:t>
            </a:r>
          </a:p>
        </p:txBody>
      </p:sp>
      <p:sp>
        <p:nvSpPr>
          <p:cNvPr id="5" name="Slide Number Placeholder 4">
            <a:extLst>
              <a:ext uri="{FF2B5EF4-FFF2-40B4-BE49-F238E27FC236}">
                <a16:creationId xmlns:a16="http://schemas.microsoft.com/office/drawing/2014/main" id="{E2F340A7-2FCA-33A5-5020-90F6FC30F811}"/>
              </a:ext>
            </a:extLst>
          </p:cNvPr>
          <p:cNvSpPr>
            <a:spLocks noGrp="1"/>
          </p:cNvSpPr>
          <p:nvPr>
            <p:ph type="sldNum" sz="quarter" idx="12"/>
          </p:nvPr>
        </p:nvSpPr>
        <p:spPr/>
        <p:txBody>
          <a:bodyPr/>
          <a:lstStyle/>
          <a:p>
            <a:fld id="{937257EE-0CEF-4D7E-9E69-5277D6172560}" type="slidenum">
              <a:rPr lang="nl-NL" smtClean="0"/>
              <a:t>‹#›</a:t>
            </a:fld>
            <a:endParaRPr lang="nl-NL"/>
          </a:p>
        </p:txBody>
      </p:sp>
    </p:spTree>
    <p:extLst>
      <p:ext uri="{BB962C8B-B14F-4D97-AF65-F5344CB8AC3E}">
        <p14:creationId xmlns:p14="http://schemas.microsoft.com/office/powerpoint/2010/main" val="26197212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5277AE5-10B9-2184-5C36-0E69CCE8EE58}"/>
              </a:ext>
            </a:extLst>
          </p:cNvPr>
          <p:cNvSpPr>
            <a:spLocks noGrp="1"/>
          </p:cNvSpPr>
          <p:nvPr>
            <p:ph type="dt" sz="half" idx="10"/>
          </p:nvPr>
        </p:nvSpPr>
        <p:spPr/>
        <p:txBody>
          <a:bodyPr/>
          <a:lstStyle/>
          <a:p>
            <a:fld id="{061D9DC0-86EB-4B00-AB7F-15FA8C93F29A}" type="datetimeyyyy">
              <a:rPr lang="nl-NL" smtClean="0"/>
              <a:t>2026</a:t>
            </a:fld>
            <a:endParaRPr lang="nl-NL"/>
          </a:p>
        </p:txBody>
      </p:sp>
      <p:sp>
        <p:nvSpPr>
          <p:cNvPr id="3" name="Footer Placeholder 2">
            <a:extLst>
              <a:ext uri="{FF2B5EF4-FFF2-40B4-BE49-F238E27FC236}">
                <a16:creationId xmlns:a16="http://schemas.microsoft.com/office/drawing/2014/main" id="{4D2E625B-DBB2-1B94-35E2-4DE3A1616742}"/>
              </a:ext>
            </a:extLst>
          </p:cNvPr>
          <p:cNvSpPr>
            <a:spLocks noGrp="1"/>
          </p:cNvSpPr>
          <p:nvPr>
            <p:ph type="ftr" sz="quarter" idx="11"/>
          </p:nvPr>
        </p:nvSpPr>
        <p:spPr/>
        <p:txBody>
          <a:bodyPr/>
          <a:lstStyle/>
          <a:p>
            <a:r>
              <a:rPr lang="nl-NL"/>
              <a:t>Introduction to Python </a:t>
            </a:r>
          </a:p>
        </p:txBody>
      </p:sp>
      <p:sp>
        <p:nvSpPr>
          <p:cNvPr id="4" name="Slide Number Placeholder 3">
            <a:extLst>
              <a:ext uri="{FF2B5EF4-FFF2-40B4-BE49-F238E27FC236}">
                <a16:creationId xmlns:a16="http://schemas.microsoft.com/office/drawing/2014/main" id="{054AD80B-1D0F-C7C1-1098-949C07B5C11F}"/>
              </a:ext>
            </a:extLst>
          </p:cNvPr>
          <p:cNvSpPr>
            <a:spLocks noGrp="1"/>
          </p:cNvSpPr>
          <p:nvPr>
            <p:ph type="sldNum" sz="quarter" idx="12"/>
          </p:nvPr>
        </p:nvSpPr>
        <p:spPr/>
        <p:txBody>
          <a:bodyPr/>
          <a:lstStyle/>
          <a:p>
            <a:fld id="{937257EE-0CEF-4D7E-9E69-5277D6172560}" type="slidenum">
              <a:rPr lang="nl-NL" smtClean="0"/>
              <a:t>‹#›</a:t>
            </a:fld>
            <a:endParaRPr lang="nl-NL"/>
          </a:p>
        </p:txBody>
      </p:sp>
    </p:spTree>
    <p:extLst>
      <p:ext uri="{BB962C8B-B14F-4D97-AF65-F5344CB8AC3E}">
        <p14:creationId xmlns:p14="http://schemas.microsoft.com/office/powerpoint/2010/main" val="639974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63E405-D932-4356-1804-989E4CDDB53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nl-NL"/>
          </a:p>
        </p:txBody>
      </p:sp>
      <p:sp>
        <p:nvSpPr>
          <p:cNvPr id="3" name="Content Placeholder 2">
            <a:extLst>
              <a:ext uri="{FF2B5EF4-FFF2-40B4-BE49-F238E27FC236}">
                <a16:creationId xmlns:a16="http://schemas.microsoft.com/office/drawing/2014/main" id="{D19CDD79-A635-6C0C-77FE-22722537F49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Text Placeholder 3">
            <a:extLst>
              <a:ext uri="{FF2B5EF4-FFF2-40B4-BE49-F238E27FC236}">
                <a16:creationId xmlns:a16="http://schemas.microsoft.com/office/drawing/2014/main" id="{17AA58B2-BF86-327B-EEA7-245AFC3282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2D978E3-5475-BFD0-7D55-51123354CC24}"/>
              </a:ext>
            </a:extLst>
          </p:cNvPr>
          <p:cNvSpPr>
            <a:spLocks noGrp="1"/>
          </p:cNvSpPr>
          <p:nvPr>
            <p:ph type="dt" sz="half" idx="10"/>
          </p:nvPr>
        </p:nvSpPr>
        <p:spPr/>
        <p:txBody>
          <a:bodyPr/>
          <a:lstStyle/>
          <a:p>
            <a:fld id="{D2D534CE-64ED-4AD2-8E80-3C328871DE58}" type="datetimeyyyy">
              <a:rPr lang="nl-NL" smtClean="0"/>
              <a:t>2026</a:t>
            </a:fld>
            <a:endParaRPr lang="nl-NL"/>
          </a:p>
        </p:txBody>
      </p:sp>
      <p:sp>
        <p:nvSpPr>
          <p:cNvPr id="6" name="Footer Placeholder 5">
            <a:extLst>
              <a:ext uri="{FF2B5EF4-FFF2-40B4-BE49-F238E27FC236}">
                <a16:creationId xmlns:a16="http://schemas.microsoft.com/office/drawing/2014/main" id="{95EAA283-0066-85C7-35AF-4FE8D9716299}"/>
              </a:ext>
            </a:extLst>
          </p:cNvPr>
          <p:cNvSpPr>
            <a:spLocks noGrp="1"/>
          </p:cNvSpPr>
          <p:nvPr>
            <p:ph type="ftr" sz="quarter" idx="11"/>
          </p:nvPr>
        </p:nvSpPr>
        <p:spPr/>
        <p:txBody>
          <a:bodyPr/>
          <a:lstStyle/>
          <a:p>
            <a:r>
              <a:rPr lang="nl-NL"/>
              <a:t>Introduction to Python </a:t>
            </a:r>
          </a:p>
        </p:txBody>
      </p:sp>
      <p:sp>
        <p:nvSpPr>
          <p:cNvPr id="7" name="Slide Number Placeholder 6">
            <a:extLst>
              <a:ext uri="{FF2B5EF4-FFF2-40B4-BE49-F238E27FC236}">
                <a16:creationId xmlns:a16="http://schemas.microsoft.com/office/drawing/2014/main" id="{A398D4CC-09AD-BB38-BD5F-52E0E60D1CF1}"/>
              </a:ext>
            </a:extLst>
          </p:cNvPr>
          <p:cNvSpPr>
            <a:spLocks noGrp="1"/>
          </p:cNvSpPr>
          <p:nvPr>
            <p:ph type="sldNum" sz="quarter" idx="12"/>
          </p:nvPr>
        </p:nvSpPr>
        <p:spPr/>
        <p:txBody>
          <a:bodyPr/>
          <a:lstStyle/>
          <a:p>
            <a:fld id="{937257EE-0CEF-4D7E-9E69-5277D6172560}" type="slidenum">
              <a:rPr lang="nl-NL" smtClean="0"/>
              <a:t>‹#›</a:t>
            </a:fld>
            <a:endParaRPr lang="nl-NL"/>
          </a:p>
        </p:txBody>
      </p:sp>
    </p:spTree>
    <p:extLst>
      <p:ext uri="{BB962C8B-B14F-4D97-AF65-F5344CB8AC3E}">
        <p14:creationId xmlns:p14="http://schemas.microsoft.com/office/powerpoint/2010/main" val="3522103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CD974-3EFF-6D20-111A-EFBD708687D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nl-NL"/>
          </a:p>
        </p:txBody>
      </p:sp>
      <p:sp>
        <p:nvSpPr>
          <p:cNvPr id="3" name="Picture Placeholder 2">
            <a:extLst>
              <a:ext uri="{FF2B5EF4-FFF2-40B4-BE49-F238E27FC236}">
                <a16:creationId xmlns:a16="http://schemas.microsoft.com/office/drawing/2014/main" id="{BC84BF45-865A-BEF4-7BFF-84FD7767F28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l-NL"/>
          </a:p>
        </p:txBody>
      </p:sp>
      <p:sp>
        <p:nvSpPr>
          <p:cNvPr id="4" name="Text Placeholder 3">
            <a:extLst>
              <a:ext uri="{FF2B5EF4-FFF2-40B4-BE49-F238E27FC236}">
                <a16:creationId xmlns:a16="http://schemas.microsoft.com/office/drawing/2014/main" id="{B5612C10-AD8C-1CC1-B50B-8C7EE6CCC70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C57350B-B870-9E42-D7CD-8EAA38173262}"/>
              </a:ext>
            </a:extLst>
          </p:cNvPr>
          <p:cNvSpPr>
            <a:spLocks noGrp="1"/>
          </p:cNvSpPr>
          <p:nvPr>
            <p:ph type="dt" sz="half" idx="10"/>
          </p:nvPr>
        </p:nvSpPr>
        <p:spPr/>
        <p:txBody>
          <a:bodyPr/>
          <a:lstStyle/>
          <a:p>
            <a:fld id="{439C17AE-BA1F-4247-882B-6213FDD417AF}" type="datetimeyyyy">
              <a:rPr lang="nl-NL" smtClean="0"/>
              <a:t>2026</a:t>
            </a:fld>
            <a:endParaRPr lang="nl-NL"/>
          </a:p>
        </p:txBody>
      </p:sp>
      <p:sp>
        <p:nvSpPr>
          <p:cNvPr id="6" name="Footer Placeholder 5">
            <a:extLst>
              <a:ext uri="{FF2B5EF4-FFF2-40B4-BE49-F238E27FC236}">
                <a16:creationId xmlns:a16="http://schemas.microsoft.com/office/drawing/2014/main" id="{553B5C27-DD08-3586-F1C1-64EB4F67BE28}"/>
              </a:ext>
            </a:extLst>
          </p:cNvPr>
          <p:cNvSpPr>
            <a:spLocks noGrp="1"/>
          </p:cNvSpPr>
          <p:nvPr>
            <p:ph type="ftr" sz="quarter" idx="11"/>
          </p:nvPr>
        </p:nvSpPr>
        <p:spPr/>
        <p:txBody>
          <a:bodyPr/>
          <a:lstStyle/>
          <a:p>
            <a:r>
              <a:rPr lang="nl-NL"/>
              <a:t>Introduction to Python </a:t>
            </a:r>
          </a:p>
        </p:txBody>
      </p:sp>
      <p:sp>
        <p:nvSpPr>
          <p:cNvPr id="7" name="Slide Number Placeholder 6">
            <a:extLst>
              <a:ext uri="{FF2B5EF4-FFF2-40B4-BE49-F238E27FC236}">
                <a16:creationId xmlns:a16="http://schemas.microsoft.com/office/drawing/2014/main" id="{44361CD1-AC21-B8F4-237E-5484757D12F6}"/>
              </a:ext>
            </a:extLst>
          </p:cNvPr>
          <p:cNvSpPr>
            <a:spLocks noGrp="1"/>
          </p:cNvSpPr>
          <p:nvPr>
            <p:ph type="sldNum" sz="quarter" idx="12"/>
          </p:nvPr>
        </p:nvSpPr>
        <p:spPr/>
        <p:txBody>
          <a:bodyPr/>
          <a:lstStyle/>
          <a:p>
            <a:fld id="{937257EE-0CEF-4D7E-9E69-5277D6172560}" type="slidenum">
              <a:rPr lang="nl-NL" smtClean="0"/>
              <a:t>‹#›</a:t>
            </a:fld>
            <a:endParaRPr lang="nl-NL"/>
          </a:p>
        </p:txBody>
      </p:sp>
    </p:spTree>
    <p:extLst>
      <p:ext uri="{BB962C8B-B14F-4D97-AF65-F5344CB8AC3E}">
        <p14:creationId xmlns:p14="http://schemas.microsoft.com/office/powerpoint/2010/main" val="25803090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984F3B-E455-410B-F930-5F40187D88EC}"/>
              </a:ext>
            </a:extLst>
          </p:cNvPr>
          <p:cNvSpPr>
            <a:spLocks noGrp="1"/>
          </p:cNvSpPr>
          <p:nvPr>
            <p:ph type="title"/>
          </p:nvPr>
        </p:nvSpPr>
        <p:spPr/>
        <p:txBody>
          <a:bodyPr/>
          <a:lstStyle/>
          <a:p>
            <a:r>
              <a:rPr lang="en-US"/>
              <a:t>Click to edit Master title style</a:t>
            </a:r>
            <a:endParaRPr lang="nl-NL"/>
          </a:p>
        </p:txBody>
      </p:sp>
      <p:sp>
        <p:nvSpPr>
          <p:cNvPr id="3" name="Vertical Text Placeholder 2">
            <a:extLst>
              <a:ext uri="{FF2B5EF4-FFF2-40B4-BE49-F238E27FC236}">
                <a16:creationId xmlns:a16="http://schemas.microsoft.com/office/drawing/2014/main" id="{BE043454-7FE8-69B5-2338-5EA46D67432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Date Placeholder 3">
            <a:extLst>
              <a:ext uri="{FF2B5EF4-FFF2-40B4-BE49-F238E27FC236}">
                <a16:creationId xmlns:a16="http://schemas.microsoft.com/office/drawing/2014/main" id="{1642C776-A0A0-3798-679C-6BCD4F4DC615}"/>
              </a:ext>
            </a:extLst>
          </p:cNvPr>
          <p:cNvSpPr>
            <a:spLocks noGrp="1"/>
          </p:cNvSpPr>
          <p:nvPr>
            <p:ph type="dt" sz="half" idx="10"/>
          </p:nvPr>
        </p:nvSpPr>
        <p:spPr/>
        <p:txBody>
          <a:bodyPr/>
          <a:lstStyle/>
          <a:p>
            <a:fld id="{2F6013AB-243B-4BA5-B8AF-7B8EB085F204}" type="datetimeyyyy">
              <a:rPr lang="nl-NL" smtClean="0"/>
              <a:t>2026</a:t>
            </a:fld>
            <a:endParaRPr lang="nl-NL"/>
          </a:p>
        </p:txBody>
      </p:sp>
      <p:sp>
        <p:nvSpPr>
          <p:cNvPr id="5" name="Footer Placeholder 4">
            <a:extLst>
              <a:ext uri="{FF2B5EF4-FFF2-40B4-BE49-F238E27FC236}">
                <a16:creationId xmlns:a16="http://schemas.microsoft.com/office/drawing/2014/main" id="{14D64D2D-7CE5-1327-49B5-D0F25ADD3F9B}"/>
              </a:ext>
            </a:extLst>
          </p:cNvPr>
          <p:cNvSpPr>
            <a:spLocks noGrp="1"/>
          </p:cNvSpPr>
          <p:nvPr>
            <p:ph type="ftr" sz="quarter" idx="11"/>
          </p:nvPr>
        </p:nvSpPr>
        <p:spPr/>
        <p:txBody>
          <a:bodyPr/>
          <a:lstStyle/>
          <a:p>
            <a:r>
              <a:rPr lang="nl-NL"/>
              <a:t>Introduction to Python </a:t>
            </a:r>
          </a:p>
        </p:txBody>
      </p:sp>
      <p:sp>
        <p:nvSpPr>
          <p:cNvPr id="6" name="Slide Number Placeholder 5">
            <a:extLst>
              <a:ext uri="{FF2B5EF4-FFF2-40B4-BE49-F238E27FC236}">
                <a16:creationId xmlns:a16="http://schemas.microsoft.com/office/drawing/2014/main" id="{5EDFC27B-244D-437D-5DE3-6B9CB8BBE926}"/>
              </a:ext>
            </a:extLst>
          </p:cNvPr>
          <p:cNvSpPr>
            <a:spLocks noGrp="1"/>
          </p:cNvSpPr>
          <p:nvPr>
            <p:ph type="sldNum" sz="quarter" idx="12"/>
          </p:nvPr>
        </p:nvSpPr>
        <p:spPr/>
        <p:txBody>
          <a:bodyPr/>
          <a:lstStyle/>
          <a:p>
            <a:fld id="{937257EE-0CEF-4D7E-9E69-5277D6172560}" type="slidenum">
              <a:rPr lang="nl-NL" smtClean="0"/>
              <a:t>‹#›</a:t>
            </a:fld>
            <a:endParaRPr lang="nl-NL"/>
          </a:p>
        </p:txBody>
      </p:sp>
    </p:spTree>
    <p:extLst>
      <p:ext uri="{BB962C8B-B14F-4D97-AF65-F5344CB8AC3E}">
        <p14:creationId xmlns:p14="http://schemas.microsoft.com/office/powerpoint/2010/main" val="27730240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92130B6-C164-8EF0-774F-DBC6D576714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nl-NL"/>
          </a:p>
        </p:txBody>
      </p:sp>
      <p:sp>
        <p:nvSpPr>
          <p:cNvPr id="3" name="Vertical Text Placeholder 2">
            <a:extLst>
              <a:ext uri="{FF2B5EF4-FFF2-40B4-BE49-F238E27FC236}">
                <a16:creationId xmlns:a16="http://schemas.microsoft.com/office/drawing/2014/main" id="{B36D7AAF-2482-6979-87AA-BF001B40E74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Date Placeholder 3">
            <a:extLst>
              <a:ext uri="{FF2B5EF4-FFF2-40B4-BE49-F238E27FC236}">
                <a16:creationId xmlns:a16="http://schemas.microsoft.com/office/drawing/2014/main" id="{FBC3CFCC-2008-4B15-FD8E-8BB7C348B4B4}"/>
              </a:ext>
            </a:extLst>
          </p:cNvPr>
          <p:cNvSpPr>
            <a:spLocks noGrp="1"/>
          </p:cNvSpPr>
          <p:nvPr>
            <p:ph type="dt" sz="half" idx="10"/>
          </p:nvPr>
        </p:nvSpPr>
        <p:spPr/>
        <p:txBody>
          <a:bodyPr/>
          <a:lstStyle/>
          <a:p>
            <a:fld id="{99B4BC12-BC17-43B0-B16B-8A49E9357EC6}" type="datetimeyyyy">
              <a:rPr lang="nl-NL" smtClean="0"/>
              <a:t>2026</a:t>
            </a:fld>
            <a:endParaRPr lang="nl-NL"/>
          </a:p>
        </p:txBody>
      </p:sp>
      <p:sp>
        <p:nvSpPr>
          <p:cNvPr id="5" name="Footer Placeholder 4">
            <a:extLst>
              <a:ext uri="{FF2B5EF4-FFF2-40B4-BE49-F238E27FC236}">
                <a16:creationId xmlns:a16="http://schemas.microsoft.com/office/drawing/2014/main" id="{055F7187-7A9F-22D8-EE26-F55B351B23FB}"/>
              </a:ext>
            </a:extLst>
          </p:cNvPr>
          <p:cNvSpPr>
            <a:spLocks noGrp="1"/>
          </p:cNvSpPr>
          <p:nvPr>
            <p:ph type="ftr" sz="quarter" idx="11"/>
          </p:nvPr>
        </p:nvSpPr>
        <p:spPr/>
        <p:txBody>
          <a:bodyPr/>
          <a:lstStyle/>
          <a:p>
            <a:r>
              <a:rPr lang="nl-NL"/>
              <a:t>Introduction to Python </a:t>
            </a:r>
          </a:p>
        </p:txBody>
      </p:sp>
      <p:sp>
        <p:nvSpPr>
          <p:cNvPr id="6" name="Slide Number Placeholder 5">
            <a:extLst>
              <a:ext uri="{FF2B5EF4-FFF2-40B4-BE49-F238E27FC236}">
                <a16:creationId xmlns:a16="http://schemas.microsoft.com/office/drawing/2014/main" id="{08601A5B-5CAE-9C7B-E730-72AA8BDB6DF0}"/>
              </a:ext>
            </a:extLst>
          </p:cNvPr>
          <p:cNvSpPr>
            <a:spLocks noGrp="1"/>
          </p:cNvSpPr>
          <p:nvPr>
            <p:ph type="sldNum" sz="quarter" idx="12"/>
          </p:nvPr>
        </p:nvSpPr>
        <p:spPr/>
        <p:txBody>
          <a:bodyPr/>
          <a:lstStyle/>
          <a:p>
            <a:fld id="{937257EE-0CEF-4D7E-9E69-5277D6172560}" type="slidenum">
              <a:rPr lang="nl-NL" smtClean="0"/>
              <a:t>‹#›</a:t>
            </a:fld>
            <a:endParaRPr lang="nl-NL"/>
          </a:p>
        </p:txBody>
      </p:sp>
    </p:spTree>
    <p:extLst>
      <p:ext uri="{BB962C8B-B14F-4D97-AF65-F5344CB8AC3E}">
        <p14:creationId xmlns:p14="http://schemas.microsoft.com/office/powerpoint/2010/main" val="15477467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C8D0953-0162-9E55-EEF8-4C0D25A93A2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nl-NL" dirty="0"/>
          </a:p>
        </p:txBody>
      </p:sp>
      <p:sp>
        <p:nvSpPr>
          <p:cNvPr id="3" name="Text Placeholder 2">
            <a:extLst>
              <a:ext uri="{FF2B5EF4-FFF2-40B4-BE49-F238E27FC236}">
                <a16:creationId xmlns:a16="http://schemas.microsoft.com/office/drawing/2014/main" id="{C7EE67A3-665A-54FC-E782-F8572962BE6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nl-NL" dirty="0"/>
          </a:p>
        </p:txBody>
      </p:sp>
      <p:sp>
        <p:nvSpPr>
          <p:cNvPr id="4" name="Date Placeholder 3">
            <a:extLst>
              <a:ext uri="{FF2B5EF4-FFF2-40B4-BE49-F238E27FC236}">
                <a16:creationId xmlns:a16="http://schemas.microsoft.com/office/drawing/2014/main" id="{F9F36617-FFD2-6739-790E-371D7AC5CCB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Arial" panose="020B0604020202020204" pitchFamily="34" charset="0"/>
              </a:defRPr>
            </a:lvl1pPr>
          </a:lstStyle>
          <a:p>
            <a:fld id="{174C3042-B9A9-479E-B637-3FEC39063F75}" type="datetimeyyyy">
              <a:rPr lang="nl-NL" smtClean="0"/>
              <a:pPr/>
              <a:t>2026</a:t>
            </a:fld>
            <a:endParaRPr lang="nl-NL" dirty="0"/>
          </a:p>
        </p:txBody>
      </p:sp>
      <p:sp>
        <p:nvSpPr>
          <p:cNvPr id="5" name="Footer Placeholder 4">
            <a:extLst>
              <a:ext uri="{FF2B5EF4-FFF2-40B4-BE49-F238E27FC236}">
                <a16:creationId xmlns:a16="http://schemas.microsoft.com/office/drawing/2014/main" id="{FDE88479-F3C5-3A7F-437D-5C0FEF0E1F4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Arial" panose="020B0604020202020204" pitchFamily="34" charset="0"/>
              </a:defRPr>
            </a:lvl1pPr>
          </a:lstStyle>
          <a:p>
            <a:r>
              <a:rPr lang="nl-NL" dirty="0" err="1"/>
              <a:t>Introduction</a:t>
            </a:r>
            <a:r>
              <a:rPr lang="nl-NL" dirty="0"/>
              <a:t> </a:t>
            </a:r>
            <a:r>
              <a:rPr lang="nl-NL" dirty="0" err="1"/>
              <a:t>to</a:t>
            </a:r>
            <a:r>
              <a:rPr lang="nl-NL" dirty="0"/>
              <a:t> Python </a:t>
            </a:r>
          </a:p>
        </p:txBody>
      </p:sp>
      <p:sp>
        <p:nvSpPr>
          <p:cNvPr id="6" name="Slide Number Placeholder 5">
            <a:extLst>
              <a:ext uri="{FF2B5EF4-FFF2-40B4-BE49-F238E27FC236}">
                <a16:creationId xmlns:a16="http://schemas.microsoft.com/office/drawing/2014/main" id="{8E343497-1FD2-8D46-0743-B9CBAED0DE8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Arial" panose="020B0604020202020204" pitchFamily="34" charset="0"/>
              </a:defRPr>
            </a:lvl1pPr>
          </a:lstStyle>
          <a:p>
            <a:fld id="{937257EE-0CEF-4D7E-9E69-5277D6172560}" type="slidenum">
              <a:rPr lang="nl-NL" smtClean="0"/>
              <a:pPr/>
              <a:t>‹#›</a:t>
            </a:fld>
            <a:endParaRPr lang="nl-NL" dirty="0"/>
          </a:p>
        </p:txBody>
      </p:sp>
    </p:spTree>
    <p:extLst>
      <p:ext uri="{BB962C8B-B14F-4D97-AF65-F5344CB8AC3E}">
        <p14:creationId xmlns:p14="http://schemas.microsoft.com/office/powerpoint/2010/main" val="40822485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www.stackoverflow.com/" TargetMode="External"/><Relationship Id="rId2" Type="http://schemas.openxmlformats.org/officeDocument/2006/relationships/hyperlink" Target="https://www.w3schools.com/python/" TargetMode="External"/><Relationship Id="rId1" Type="http://schemas.openxmlformats.org/officeDocument/2006/relationships/slideLayout" Target="../slideLayouts/slideLayout2.xml"/><Relationship Id="rId4" Type="http://schemas.openxmlformats.org/officeDocument/2006/relationships/hyperlink" Target="https://realpython.com/"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89E373-03F6-7C2F-CE4E-0CC678205B25}"/>
              </a:ext>
            </a:extLst>
          </p:cNvPr>
          <p:cNvSpPr>
            <a:spLocks noGrp="1"/>
          </p:cNvSpPr>
          <p:nvPr>
            <p:ph type="ctrTitle"/>
          </p:nvPr>
        </p:nvSpPr>
        <p:spPr/>
        <p:txBody>
          <a:bodyPr/>
          <a:lstStyle/>
          <a:p>
            <a:r>
              <a:rPr lang="en-US" dirty="0"/>
              <a:t>Introduction to Python</a:t>
            </a:r>
            <a:endParaRPr lang="nl-NL" dirty="0"/>
          </a:p>
        </p:txBody>
      </p:sp>
      <p:sp>
        <p:nvSpPr>
          <p:cNvPr id="3" name="Subtitle 2">
            <a:extLst>
              <a:ext uri="{FF2B5EF4-FFF2-40B4-BE49-F238E27FC236}">
                <a16:creationId xmlns:a16="http://schemas.microsoft.com/office/drawing/2014/main" id="{7BB943DD-A8C7-8C87-9D15-2979A51BFDAB}"/>
              </a:ext>
            </a:extLst>
          </p:cNvPr>
          <p:cNvSpPr>
            <a:spLocks noGrp="1"/>
          </p:cNvSpPr>
          <p:nvPr>
            <p:ph type="subTitle" idx="1"/>
          </p:nvPr>
        </p:nvSpPr>
        <p:spPr/>
        <p:txBody>
          <a:bodyPr/>
          <a:lstStyle/>
          <a:p>
            <a:r>
              <a:rPr lang="en-US" dirty="0"/>
              <a:t>Week 1</a:t>
            </a:r>
            <a:endParaRPr lang="nl-NL" dirty="0"/>
          </a:p>
        </p:txBody>
      </p:sp>
      <p:sp>
        <p:nvSpPr>
          <p:cNvPr id="6" name="Slide Number Placeholder 5">
            <a:extLst>
              <a:ext uri="{FF2B5EF4-FFF2-40B4-BE49-F238E27FC236}">
                <a16:creationId xmlns:a16="http://schemas.microsoft.com/office/drawing/2014/main" id="{EC3E6271-E25A-A75E-AF59-A428CC5E247E}"/>
              </a:ext>
            </a:extLst>
          </p:cNvPr>
          <p:cNvSpPr>
            <a:spLocks noGrp="1"/>
          </p:cNvSpPr>
          <p:nvPr>
            <p:ph type="sldNum" sz="quarter" idx="12"/>
          </p:nvPr>
        </p:nvSpPr>
        <p:spPr/>
        <p:txBody>
          <a:bodyPr/>
          <a:lstStyle/>
          <a:p>
            <a:fld id="{937257EE-0CEF-4D7E-9E69-5277D6172560}" type="slidenum">
              <a:rPr lang="nl-NL" smtClean="0"/>
              <a:t>1</a:t>
            </a:fld>
            <a:endParaRPr lang="nl-NL"/>
          </a:p>
        </p:txBody>
      </p:sp>
    </p:spTree>
    <p:extLst>
      <p:ext uri="{BB962C8B-B14F-4D97-AF65-F5344CB8AC3E}">
        <p14:creationId xmlns:p14="http://schemas.microsoft.com/office/powerpoint/2010/main" val="10922277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12F33F-A141-0F90-6E0C-B391F2959544}"/>
              </a:ext>
            </a:extLst>
          </p:cNvPr>
          <p:cNvSpPr>
            <a:spLocks noGrp="1"/>
          </p:cNvSpPr>
          <p:nvPr>
            <p:ph type="title"/>
          </p:nvPr>
        </p:nvSpPr>
        <p:spPr>
          <a:xfrm>
            <a:off x="545592" y="263097"/>
            <a:ext cx="10515600" cy="1325563"/>
          </a:xfrm>
        </p:spPr>
        <p:txBody>
          <a:bodyPr/>
          <a:lstStyle/>
          <a:p>
            <a:r>
              <a:rPr lang="en-US" b="1" dirty="0"/>
              <a:t>What is Python?</a:t>
            </a:r>
            <a:endParaRPr lang="nl-NL" b="1" dirty="0"/>
          </a:p>
        </p:txBody>
      </p:sp>
      <p:sp>
        <p:nvSpPr>
          <p:cNvPr id="3" name="Content Placeholder 2">
            <a:extLst>
              <a:ext uri="{FF2B5EF4-FFF2-40B4-BE49-F238E27FC236}">
                <a16:creationId xmlns:a16="http://schemas.microsoft.com/office/drawing/2014/main" id="{987FFBB7-D392-3BB1-6E4C-8815E69999CF}"/>
              </a:ext>
            </a:extLst>
          </p:cNvPr>
          <p:cNvSpPr>
            <a:spLocks noGrp="1"/>
          </p:cNvSpPr>
          <p:nvPr>
            <p:ph idx="1"/>
          </p:nvPr>
        </p:nvSpPr>
        <p:spPr>
          <a:xfrm>
            <a:off x="545592" y="1405000"/>
            <a:ext cx="11646408" cy="5316475"/>
          </a:xfrm>
        </p:spPr>
        <p:txBody>
          <a:bodyPr>
            <a:normAutofit/>
          </a:bodyPr>
          <a:lstStyle/>
          <a:p>
            <a:r>
              <a:rPr lang="en-US" sz="2400" dirty="0"/>
              <a:t>It is a programming language</a:t>
            </a:r>
          </a:p>
          <a:p>
            <a:pPr lvl="1"/>
            <a:r>
              <a:rPr lang="en-US" sz="2200" dirty="0"/>
              <a:t>A Python script is readable for human beings</a:t>
            </a:r>
          </a:p>
          <a:p>
            <a:pPr lvl="1"/>
            <a:r>
              <a:rPr lang="en-US" sz="2200" dirty="0"/>
              <a:t>A Python script is not readable for computers: a python script must be translated, before a computer can read and execute it</a:t>
            </a:r>
          </a:p>
          <a:p>
            <a:r>
              <a:rPr lang="en-US" sz="2400" dirty="0"/>
              <a:t>Python is translated in two steps:</a:t>
            </a:r>
          </a:p>
          <a:p>
            <a:pPr marL="914400" lvl="1" indent="-457200">
              <a:buFont typeface="+mj-lt"/>
              <a:buAutoNum type="arabicPeriod"/>
            </a:pPr>
            <a:r>
              <a:rPr lang="en-US" sz="2200" dirty="0"/>
              <a:t>The Python script is translated line by line into so-called byte code </a:t>
            </a:r>
          </a:p>
          <a:p>
            <a:pPr marL="914400" lvl="1" indent="-457200">
              <a:buFont typeface="+mj-lt"/>
              <a:buAutoNum type="arabicPeriod"/>
            </a:pPr>
            <a:r>
              <a:rPr lang="en-US" sz="2200" dirty="0"/>
              <a:t>This byte-code is translated into machine-code</a:t>
            </a:r>
          </a:p>
          <a:p>
            <a:r>
              <a:rPr lang="en-US" sz="2400" dirty="0"/>
              <a:t>Writing code must be precise. Ambiguities, that would be correctly interpreted by humans, will lead to errors in Python</a:t>
            </a:r>
          </a:p>
          <a:p>
            <a:r>
              <a:rPr lang="en-US" sz="2400" dirty="0">
                <a:latin typeface="Courier New" panose="02070309020205020404" pitchFamily="49" charset="0"/>
                <a:cs typeface="Courier New" panose="02070309020205020404" pitchFamily="49" charset="0"/>
              </a:rPr>
              <a:t>We use a so-called monospaced font for code on these slides. This means that all characters take an equal amount of space. Using a monospaced font for code is a common practice</a:t>
            </a:r>
          </a:p>
        </p:txBody>
      </p:sp>
      <p:sp>
        <p:nvSpPr>
          <p:cNvPr id="6" name="Slide Number Placeholder 5">
            <a:extLst>
              <a:ext uri="{FF2B5EF4-FFF2-40B4-BE49-F238E27FC236}">
                <a16:creationId xmlns:a16="http://schemas.microsoft.com/office/drawing/2014/main" id="{007DF11C-323B-CE00-6049-63BBBDB7E345}"/>
              </a:ext>
            </a:extLst>
          </p:cNvPr>
          <p:cNvSpPr>
            <a:spLocks noGrp="1"/>
          </p:cNvSpPr>
          <p:nvPr>
            <p:ph type="sldNum" sz="quarter" idx="12"/>
          </p:nvPr>
        </p:nvSpPr>
        <p:spPr/>
        <p:txBody>
          <a:bodyPr/>
          <a:lstStyle/>
          <a:p>
            <a:fld id="{937257EE-0CEF-4D7E-9E69-5277D6172560}" type="slidenum">
              <a:rPr lang="nl-NL" smtClean="0"/>
              <a:t>2</a:t>
            </a:fld>
            <a:endParaRPr lang="nl-NL"/>
          </a:p>
        </p:txBody>
      </p:sp>
    </p:spTree>
    <p:extLst>
      <p:ext uri="{BB962C8B-B14F-4D97-AF65-F5344CB8AC3E}">
        <p14:creationId xmlns:p14="http://schemas.microsoft.com/office/powerpoint/2010/main" val="8907379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12F33F-A141-0F90-6E0C-B391F2959544}"/>
              </a:ext>
            </a:extLst>
          </p:cNvPr>
          <p:cNvSpPr>
            <a:spLocks noGrp="1"/>
          </p:cNvSpPr>
          <p:nvPr>
            <p:ph type="title"/>
          </p:nvPr>
        </p:nvSpPr>
        <p:spPr>
          <a:xfrm>
            <a:off x="545592" y="263097"/>
            <a:ext cx="10515600" cy="1325563"/>
          </a:xfrm>
        </p:spPr>
        <p:txBody>
          <a:bodyPr/>
          <a:lstStyle/>
          <a:p>
            <a:r>
              <a:rPr lang="en-US" b="1" dirty="0"/>
              <a:t>Why Python?</a:t>
            </a:r>
            <a:endParaRPr lang="nl-NL" b="1" dirty="0"/>
          </a:p>
        </p:txBody>
      </p:sp>
      <p:sp>
        <p:nvSpPr>
          <p:cNvPr id="3" name="Content Placeholder 2">
            <a:extLst>
              <a:ext uri="{FF2B5EF4-FFF2-40B4-BE49-F238E27FC236}">
                <a16:creationId xmlns:a16="http://schemas.microsoft.com/office/drawing/2014/main" id="{987FFBB7-D392-3BB1-6E4C-8815E69999CF}"/>
              </a:ext>
            </a:extLst>
          </p:cNvPr>
          <p:cNvSpPr>
            <a:spLocks noGrp="1"/>
          </p:cNvSpPr>
          <p:nvPr>
            <p:ph idx="1"/>
          </p:nvPr>
        </p:nvSpPr>
        <p:spPr>
          <a:xfrm>
            <a:off x="545592" y="1405000"/>
            <a:ext cx="10515600" cy="5032375"/>
          </a:xfrm>
        </p:spPr>
        <p:txBody>
          <a:bodyPr>
            <a:normAutofit/>
          </a:bodyPr>
          <a:lstStyle/>
          <a:p>
            <a:r>
              <a:rPr lang="en-US" sz="2400" dirty="0"/>
              <a:t>Python forces you to work in a structured way, and this is one of the reasons it is used in places, like universities, where programming is taught</a:t>
            </a:r>
          </a:p>
          <a:p>
            <a:r>
              <a:rPr lang="en-US" sz="2400" dirty="0"/>
              <a:t>Python is hot as it is </a:t>
            </a:r>
            <a:r>
              <a:rPr lang="en-US" sz="2000" dirty="0"/>
              <a:t>used a lot in (packages for) artificial intelligence/machine learning</a:t>
            </a:r>
          </a:p>
          <a:p>
            <a:r>
              <a:rPr lang="en-US" sz="2400" dirty="0"/>
              <a:t>Some trade-offs:</a:t>
            </a:r>
          </a:p>
          <a:p>
            <a:pPr lvl="1"/>
            <a:r>
              <a:rPr lang="en-US" sz="2000" dirty="0"/>
              <a:t>Python is relatively  slow</a:t>
            </a:r>
          </a:p>
          <a:p>
            <a:pPr lvl="1"/>
            <a:r>
              <a:rPr lang="en-US" sz="2000" dirty="0"/>
              <a:t>Python is very expandable</a:t>
            </a:r>
          </a:p>
          <a:p>
            <a:pPr lvl="2"/>
            <a:r>
              <a:rPr lang="en-US" sz="1600" dirty="0"/>
              <a:t>It is easy to let Python cooperate with programs written in faster (e.g. compiled) languages like C, C++, FORTRAN and RUST</a:t>
            </a:r>
          </a:p>
          <a:p>
            <a:pPr lvl="2"/>
            <a:r>
              <a:rPr lang="en-US" sz="1600" dirty="0"/>
              <a:t>There are a lot of packages (extensions) available for Python, and some have faster programming languages under the hood</a:t>
            </a:r>
          </a:p>
        </p:txBody>
      </p:sp>
      <p:sp>
        <p:nvSpPr>
          <p:cNvPr id="6" name="Slide Number Placeholder 5">
            <a:extLst>
              <a:ext uri="{FF2B5EF4-FFF2-40B4-BE49-F238E27FC236}">
                <a16:creationId xmlns:a16="http://schemas.microsoft.com/office/drawing/2014/main" id="{007DF11C-323B-CE00-6049-63BBBDB7E345}"/>
              </a:ext>
            </a:extLst>
          </p:cNvPr>
          <p:cNvSpPr>
            <a:spLocks noGrp="1"/>
          </p:cNvSpPr>
          <p:nvPr>
            <p:ph type="sldNum" sz="quarter" idx="12"/>
          </p:nvPr>
        </p:nvSpPr>
        <p:spPr/>
        <p:txBody>
          <a:bodyPr/>
          <a:lstStyle/>
          <a:p>
            <a:fld id="{937257EE-0CEF-4D7E-9E69-5277D6172560}" type="slidenum">
              <a:rPr lang="nl-NL" smtClean="0">
                <a:solidFill>
                  <a:prstClr val="black">
                    <a:tint val="75000"/>
                  </a:prstClr>
                </a:solidFill>
              </a:rPr>
              <a:pPr/>
              <a:t>3</a:t>
            </a:fld>
            <a:endParaRPr lang="nl-NL">
              <a:solidFill>
                <a:prstClr val="black">
                  <a:tint val="75000"/>
                </a:prstClr>
              </a:solidFill>
            </a:endParaRPr>
          </a:p>
        </p:txBody>
      </p:sp>
    </p:spTree>
    <p:extLst>
      <p:ext uri="{BB962C8B-B14F-4D97-AF65-F5344CB8AC3E}">
        <p14:creationId xmlns:p14="http://schemas.microsoft.com/office/powerpoint/2010/main" val="28433682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12F33F-A141-0F90-6E0C-B391F2959544}"/>
              </a:ext>
            </a:extLst>
          </p:cNvPr>
          <p:cNvSpPr>
            <a:spLocks noGrp="1"/>
          </p:cNvSpPr>
          <p:nvPr>
            <p:ph type="title"/>
          </p:nvPr>
        </p:nvSpPr>
        <p:spPr>
          <a:xfrm>
            <a:off x="545592" y="263097"/>
            <a:ext cx="10515600" cy="1325563"/>
          </a:xfrm>
        </p:spPr>
        <p:txBody>
          <a:bodyPr/>
          <a:lstStyle/>
          <a:p>
            <a:r>
              <a:rPr lang="en-US" b="1" dirty="0"/>
              <a:t>Program for Today</a:t>
            </a:r>
            <a:endParaRPr lang="nl-NL" b="1" dirty="0"/>
          </a:p>
        </p:txBody>
      </p:sp>
      <p:sp>
        <p:nvSpPr>
          <p:cNvPr id="3" name="Content Placeholder 2">
            <a:extLst>
              <a:ext uri="{FF2B5EF4-FFF2-40B4-BE49-F238E27FC236}">
                <a16:creationId xmlns:a16="http://schemas.microsoft.com/office/drawing/2014/main" id="{987FFBB7-D392-3BB1-6E4C-8815E69999CF}"/>
              </a:ext>
            </a:extLst>
          </p:cNvPr>
          <p:cNvSpPr>
            <a:spLocks noGrp="1"/>
          </p:cNvSpPr>
          <p:nvPr>
            <p:ph idx="1"/>
          </p:nvPr>
        </p:nvSpPr>
        <p:spPr>
          <a:xfrm>
            <a:off x="545592" y="1405000"/>
            <a:ext cx="10515600" cy="5032375"/>
          </a:xfrm>
        </p:spPr>
        <p:txBody>
          <a:bodyPr>
            <a:normAutofit/>
          </a:bodyPr>
          <a:lstStyle/>
          <a:p>
            <a:pPr marL="514350" indent="-514350">
              <a:buFont typeface="+mj-lt"/>
              <a:buAutoNum type="arabicPeriod"/>
            </a:pPr>
            <a:r>
              <a:rPr lang="en-US" dirty="0"/>
              <a:t>Organization of the Course </a:t>
            </a:r>
          </a:p>
          <a:p>
            <a:pPr marL="514350" indent="-514350">
              <a:buFont typeface="+mj-lt"/>
              <a:buAutoNum type="arabicPeriod"/>
            </a:pPr>
            <a:r>
              <a:rPr lang="en-US" dirty="0"/>
              <a:t>Python</a:t>
            </a:r>
            <a:endParaRPr lang="nl-NL" dirty="0"/>
          </a:p>
        </p:txBody>
      </p:sp>
      <p:sp>
        <p:nvSpPr>
          <p:cNvPr id="6" name="Slide Number Placeholder 5">
            <a:extLst>
              <a:ext uri="{FF2B5EF4-FFF2-40B4-BE49-F238E27FC236}">
                <a16:creationId xmlns:a16="http://schemas.microsoft.com/office/drawing/2014/main" id="{007DF11C-323B-CE00-6049-63BBBDB7E345}"/>
              </a:ext>
            </a:extLst>
          </p:cNvPr>
          <p:cNvSpPr>
            <a:spLocks noGrp="1"/>
          </p:cNvSpPr>
          <p:nvPr>
            <p:ph type="sldNum" sz="quarter" idx="12"/>
          </p:nvPr>
        </p:nvSpPr>
        <p:spPr/>
        <p:txBody>
          <a:bodyPr/>
          <a:lstStyle/>
          <a:p>
            <a:fld id="{937257EE-0CEF-4D7E-9E69-5277D6172560}" type="slidenum">
              <a:rPr lang="nl-NL" smtClean="0">
                <a:solidFill>
                  <a:prstClr val="black">
                    <a:tint val="75000"/>
                  </a:prstClr>
                </a:solidFill>
              </a:rPr>
              <a:pPr/>
              <a:t>4</a:t>
            </a:fld>
            <a:endParaRPr lang="nl-NL">
              <a:solidFill>
                <a:prstClr val="black">
                  <a:tint val="75000"/>
                </a:prstClr>
              </a:solidFill>
            </a:endParaRPr>
          </a:p>
        </p:txBody>
      </p:sp>
    </p:spTree>
    <p:extLst>
      <p:ext uri="{BB962C8B-B14F-4D97-AF65-F5344CB8AC3E}">
        <p14:creationId xmlns:p14="http://schemas.microsoft.com/office/powerpoint/2010/main" val="35910329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B1B3FE-AF7D-05D4-4B59-EC4B03300AEC}"/>
              </a:ext>
            </a:extLst>
          </p:cNvPr>
          <p:cNvSpPr>
            <a:spLocks noGrp="1"/>
          </p:cNvSpPr>
          <p:nvPr>
            <p:ph type="title"/>
          </p:nvPr>
        </p:nvSpPr>
        <p:spPr/>
        <p:txBody>
          <a:bodyPr/>
          <a:lstStyle/>
          <a:p>
            <a:r>
              <a:rPr lang="nl-NL" dirty="0" err="1"/>
              <a:t>Organization</a:t>
            </a:r>
            <a:r>
              <a:rPr lang="nl-NL" dirty="0"/>
              <a:t> of the course</a:t>
            </a:r>
            <a:endParaRPr lang="en-US" dirty="0"/>
          </a:p>
        </p:txBody>
      </p:sp>
      <p:sp>
        <p:nvSpPr>
          <p:cNvPr id="3" name="Content Placeholder 2">
            <a:extLst>
              <a:ext uri="{FF2B5EF4-FFF2-40B4-BE49-F238E27FC236}">
                <a16:creationId xmlns:a16="http://schemas.microsoft.com/office/drawing/2014/main" id="{C9574478-6336-35BF-A24F-DC1EA3284C06}"/>
              </a:ext>
            </a:extLst>
          </p:cNvPr>
          <p:cNvSpPr>
            <a:spLocks noGrp="1"/>
          </p:cNvSpPr>
          <p:nvPr>
            <p:ph idx="1"/>
          </p:nvPr>
        </p:nvSpPr>
        <p:spPr/>
        <p:txBody>
          <a:bodyPr/>
          <a:lstStyle/>
          <a:p>
            <a:r>
              <a:rPr lang="nl-NL" dirty="0" err="1"/>
              <a:t>Instructors</a:t>
            </a:r>
            <a:endParaRPr lang="nl-NL" dirty="0"/>
          </a:p>
          <a:p>
            <a:r>
              <a:rPr lang="nl-NL" dirty="0"/>
              <a:t>Topics</a:t>
            </a:r>
          </a:p>
          <a:p>
            <a:r>
              <a:rPr lang="nl-NL" dirty="0"/>
              <a:t>Tools</a:t>
            </a:r>
          </a:p>
          <a:p>
            <a:r>
              <a:rPr lang="nl-NL" dirty="0"/>
              <a:t>Communication</a:t>
            </a:r>
          </a:p>
          <a:p>
            <a:r>
              <a:rPr lang="nl-NL" dirty="0" err="1"/>
              <a:t>Study</a:t>
            </a:r>
            <a:r>
              <a:rPr lang="nl-NL" dirty="0"/>
              <a:t> </a:t>
            </a:r>
            <a:r>
              <a:rPr lang="nl-NL" dirty="0" err="1"/>
              <a:t>advice</a:t>
            </a:r>
            <a:endParaRPr lang="nl-NL" dirty="0"/>
          </a:p>
          <a:p>
            <a:r>
              <a:rPr lang="nl-NL" dirty="0" err="1"/>
              <a:t>Pythonanywhere</a:t>
            </a:r>
            <a:endParaRPr lang="nl-NL" dirty="0"/>
          </a:p>
          <a:p>
            <a:r>
              <a:rPr lang="nl-NL" dirty="0" err="1"/>
              <a:t>Assesment</a:t>
            </a:r>
            <a:endParaRPr lang="en-US" dirty="0"/>
          </a:p>
        </p:txBody>
      </p:sp>
      <p:sp>
        <p:nvSpPr>
          <p:cNvPr id="4" name="Slide Number Placeholder 3">
            <a:extLst>
              <a:ext uri="{FF2B5EF4-FFF2-40B4-BE49-F238E27FC236}">
                <a16:creationId xmlns:a16="http://schemas.microsoft.com/office/drawing/2014/main" id="{F13BA340-3A83-A552-5743-962D7E0FD2DB}"/>
              </a:ext>
            </a:extLst>
          </p:cNvPr>
          <p:cNvSpPr>
            <a:spLocks noGrp="1"/>
          </p:cNvSpPr>
          <p:nvPr>
            <p:ph type="sldNum" sz="quarter" idx="12"/>
          </p:nvPr>
        </p:nvSpPr>
        <p:spPr/>
        <p:txBody>
          <a:bodyPr/>
          <a:lstStyle/>
          <a:p>
            <a:fld id="{937257EE-0CEF-4D7E-9E69-5277D6172560}" type="slidenum">
              <a:rPr lang="nl-NL" smtClean="0"/>
              <a:t>5</a:t>
            </a:fld>
            <a:endParaRPr lang="nl-NL"/>
          </a:p>
        </p:txBody>
      </p:sp>
    </p:spTree>
    <p:extLst>
      <p:ext uri="{BB962C8B-B14F-4D97-AF65-F5344CB8AC3E}">
        <p14:creationId xmlns:p14="http://schemas.microsoft.com/office/powerpoint/2010/main" val="18900880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12F33F-A141-0F90-6E0C-B391F2959544}"/>
              </a:ext>
            </a:extLst>
          </p:cNvPr>
          <p:cNvSpPr>
            <a:spLocks noGrp="1"/>
          </p:cNvSpPr>
          <p:nvPr>
            <p:ph type="title"/>
          </p:nvPr>
        </p:nvSpPr>
        <p:spPr>
          <a:xfrm>
            <a:off x="545592" y="263097"/>
            <a:ext cx="10515600" cy="1325563"/>
          </a:xfrm>
        </p:spPr>
        <p:txBody>
          <a:bodyPr/>
          <a:lstStyle/>
          <a:p>
            <a:r>
              <a:rPr lang="en-US" b="1" dirty="0"/>
              <a:t>Instructors</a:t>
            </a:r>
            <a:endParaRPr lang="nl-NL" b="1" dirty="0"/>
          </a:p>
        </p:txBody>
      </p:sp>
      <p:sp>
        <p:nvSpPr>
          <p:cNvPr id="3" name="Content Placeholder 2">
            <a:extLst>
              <a:ext uri="{FF2B5EF4-FFF2-40B4-BE49-F238E27FC236}">
                <a16:creationId xmlns:a16="http://schemas.microsoft.com/office/drawing/2014/main" id="{987FFBB7-D392-3BB1-6E4C-8815E69999CF}"/>
              </a:ext>
            </a:extLst>
          </p:cNvPr>
          <p:cNvSpPr>
            <a:spLocks noGrp="1"/>
          </p:cNvSpPr>
          <p:nvPr>
            <p:ph idx="1"/>
          </p:nvPr>
        </p:nvSpPr>
        <p:spPr>
          <a:xfrm>
            <a:off x="545592" y="1405000"/>
            <a:ext cx="10515600" cy="5032375"/>
          </a:xfrm>
        </p:spPr>
        <p:txBody>
          <a:bodyPr>
            <a:normAutofit/>
          </a:bodyPr>
          <a:lstStyle/>
          <a:p>
            <a:pPr eaLnBrk="0" fontAlgn="base" hangingPunct="0">
              <a:lnSpc>
                <a:spcPct val="100000"/>
              </a:lnSpc>
              <a:spcBef>
                <a:spcPct val="0"/>
              </a:spcBef>
              <a:spcAft>
                <a:spcPct val="0"/>
              </a:spcAft>
            </a:pPr>
            <a:r>
              <a:rPr lang="nl-NL" altLang="nl-NL" b="1" dirty="0">
                <a:latin typeface="Arial" panose="020B0604020202020204" pitchFamily="34" charset="0"/>
              </a:rPr>
              <a:t>Mathijs Janssen </a:t>
            </a:r>
            <a:r>
              <a:rPr lang="nl-NL" altLang="nl-NL" dirty="0">
                <a:latin typeface="Arial" panose="020B0604020202020204" pitchFamily="34" charset="0"/>
              </a:rPr>
              <a:t>(course </a:t>
            </a:r>
            <a:r>
              <a:rPr lang="nl-NL" altLang="nl-NL" dirty="0" err="1">
                <a:latin typeface="Arial" panose="020B0604020202020204" pitchFamily="34" charset="0"/>
              </a:rPr>
              <a:t>coordinator</a:t>
            </a:r>
            <a:r>
              <a:rPr lang="nl-NL" altLang="nl-NL" dirty="0">
                <a:latin typeface="Arial" panose="020B0604020202020204" pitchFamily="34" charset="0"/>
              </a:rPr>
              <a:t>, </a:t>
            </a:r>
            <a:r>
              <a:rPr lang="nl-NL" altLang="nl-NL" dirty="0" err="1">
                <a:latin typeface="Arial" panose="020B0604020202020204" pitchFamily="34" charset="0"/>
              </a:rPr>
              <a:t>lecturer</a:t>
            </a:r>
            <a:r>
              <a:rPr lang="nl-NL" altLang="nl-NL" dirty="0">
                <a:latin typeface="Arial" panose="020B0604020202020204" pitchFamily="34" charset="0"/>
              </a:rPr>
              <a:t>, </a:t>
            </a:r>
            <a:r>
              <a:rPr lang="nl-NL" altLang="nl-NL" dirty="0" err="1">
                <a:latin typeface="Arial" panose="020B0604020202020204" pitchFamily="34" charset="0"/>
              </a:rPr>
              <a:t>instructor</a:t>
            </a:r>
            <a:r>
              <a:rPr lang="nl-NL" altLang="nl-NL" dirty="0">
                <a:latin typeface="Arial" panose="020B0604020202020204" pitchFamily="34" charset="0"/>
              </a:rPr>
              <a:t> </a:t>
            </a:r>
            <a:r>
              <a:rPr lang="nl-NL" altLang="nl-NL" dirty="0" err="1">
                <a:latin typeface="Arial" panose="020B0604020202020204" pitchFamily="34" charset="0"/>
              </a:rPr>
              <a:t>for</a:t>
            </a:r>
            <a:r>
              <a:rPr lang="nl-NL" altLang="nl-NL" dirty="0">
                <a:latin typeface="Arial" panose="020B0604020202020204" pitchFamily="34" charset="0"/>
              </a:rPr>
              <a:t> tutorial </a:t>
            </a:r>
            <a:r>
              <a:rPr lang="nl-NL" altLang="nl-NL" dirty="0" err="1">
                <a:latin typeface="Arial" panose="020B0604020202020204" pitchFamily="34" charset="0"/>
              </a:rPr>
              <a:t>groups</a:t>
            </a:r>
            <a:r>
              <a:rPr lang="nl-NL" altLang="nl-NL" dirty="0">
                <a:latin typeface="Arial" panose="020B0604020202020204" pitchFamily="34" charset="0"/>
              </a:rPr>
              <a:t> </a:t>
            </a:r>
            <a:r>
              <a:rPr lang="en-US" dirty="0"/>
              <a:t>5 and 10</a:t>
            </a:r>
            <a:r>
              <a:rPr lang="nl-NL" altLang="nl-NL" dirty="0">
                <a:latin typeface="Arial" panose="020B0604020202020204" pitchFamily="34" charset="0"/>
              </a:rPr>
              <a:t>)</a:t>
            </a:r>
            <a:r>
              <a:rPr lang="nl-NL" altLang="nl-NL" sz="1400" dirty="0">
                <a:latin typeface="Arial" panose="020B0604020202020204" pitchFamily="34" charset="0"/>
              </a:rPr>
              <a:t> </a:t>
            </a:r>
            <a:endParaRPr lang="nl-NL" altLang="nl-NL" sz="4000" dirty="0">
              <a:latin typeface="Arial" panose="020B0604020202020204" pitchFamily="34" charset="0"/>
            </a:endParaRPr>
          </a:p>
          <a:p>
            <a:pPr eaLnBrk="0" fontAlgn="base" hangingPunct="0">
              <a:lnSpc>
                <a:spcPct val="100000"/>
              </a:lnSpc>
              <a:spcBef>
                <a:spcPct val="0"/>
              </a:spcBef>
              <a:spcAft>
                <a:spcPct val="0"/>
              </a:spcAft>
            </a:pPr>
            <a:r>
              <a:rPr lang="nl-NL" altLang="nl-NL" b="1" dirty="0" err="1"/>
              <a:t>Reza</a:t>
            </a:r>
            <a:r>
              <a:rPr lang="nl-NL" altLang="nl-NL" b="1" dirty="0"/>
              <a:t> </a:t>
            </a:r>
            <a:r>
              <a:rPr lang="nl-NL" altLang="nl-NL" b="1" dirty="0" err="1"/>
              <a:t>Armakan</a:t>
            </a:r>
            <a:r>
              <a:rPr lang="nl-NL" altLang="nl-NL" b="1" dirty="0">
                <a:latin typeface="Arial" panose="020B0604020202020204" pitchFamily="34" charset="0"/>
              </a:rPr>
              <a:t> </a:t>
            </a:r>
            <a:r>
              <a:rPr lang="nl-NL" altLang="nl-NL" dirty="0">
                <a:latin typeface="Arial" panose="020B0604020202020204" pitchFamily="34" charset="0"/>
              </a:rPr>
              <a:t>(</a:t>
            </a:r>
            <a:r>
              <a:rPr lang="nl-NL" altLang="nl-NL" dirty="0" err="1">
                <a:latin typeface="Arial" panose="020B0604020202020204" pitchFamily="34" charset="0"/>
              </a:rPr>
              <a:t>instructor</a:t>
            </a:r>
            <a:r>
              <a:rPr lang="nl-NL" altLang="nl-NL" dirty="0">
                <a:latin typeface="Arial" panose="020B0604020202020204" pitchFamily="34" charset="0"/>
              </a:rPr>
              <a:t> </a:t>
            </a:r>
            <a:r>
              <a:rPr lang="nl-NL" altLang="nl-NL" dirty="0" err="1">
                <a:latin typeface="Arial" panose="020B0604020202020204" pitchFamily="34" charset="0"/>
              </a:rPr>
              <a:t>for</a:t>
            </a:r>
            <a:r>
              <a:rPr lang="nl-NL" altLang="nl-NL" dirty="0">
                <a:latin typeface="Arial" panose="020B0604020202020204" pitchFamily="34" charset="0"/>
              </a:rPr>
              <a:t> tutorial </a:t>
            </a:r>
            <a:r>
              <a:rPr lang="nl-NL" altLang="nl-NL" dirty="0" err="1">
                <a:latin typeface="Arial" panose="020B0604020202020204" pitchFamily="34" charset="0"/>
              </a:rPr>
              <a:t>groups</a:t>
            </a:r>
            <a:r>
              <a:rPr lang="nl-NL" altLang="nl-NL" dirty="0">
                <a:latin typeface="Arial" panose="020B0604020202020204" pitchFamily="34" charset="0"/>
              </a:rPr>
              <a:t> </a:t>
            </a:r>
            <a:r>
              <a:rPr lang="nl-NL" altLang="nl-NL" dirty="0"/>
              <a:t>11, 12, </a:t>
            </a:r>
            <a:r>
              <a:rPr lang="nl-NL" altLang="nl-NL" dirty="0" err="1"/>
              <a:t>and</a:t>
            </a:r>
            <a:r>
              <a:rPr lang="nl-NL" altLang="nl-NL" dirty="0"/>
              <a:t> 13</a:t>
            </a:r>
            <a:r>
              <a:rPr lang="nl-NL" altLang="nl-NL" dirty="0">
                <a:latin typeface="Arial" panose="020B0604020202020204" pitchFamily="34" charset="0"/>
              </a:rPr>
              <a:t>)</a:t>
            </a:r>
          </a:p>
          <a:p>
            <a:pPr eaLnBrk="0" fontAlgn="base" hangingPunct="0">
              <a:lnSpc>
                <a:spcPct val="100000"/>
              </a:lnSpc>
              <a:spcBef>
                <a:spcPct val="0"/>
              </a:spcBef>
              <a:spcAft>
                <a:spcPct val="0"/>
              </a:spcAft>
            </a:pPr>
            <a:r>
              <a:rPr lang="nl-NL" b="1" dirty="0"/>
              <a:t>Alessandro </a:t>
            </a:r>
            <a:r>
              <a:rPr lang="nl-NL" b="1" dirty="0" err="1"/>
              <a:t>Capra</a:t>
            </a:r>
            <a:r>
              <a:rPr lang="nl-NL" b="1" dirty="0"/>
              <a:t> </a:t>
            </a:r>
            <a:r>
              <a:rPr lang="nl-NL" altLang="nl-NL" dirty="0"/>
              <a:t>(</a:t>
            </a:r>
            <a:r>
              <a:rPr lang="nl-NL" altLang="nl-NL" dirty="0" err="1"/>
              <a:t>instructor</a:t>
            </a:r>
            <a:r>
              <a:rPr lang="nl-NL" altLang="nl-NL" dirty="0"/>
              <a:t> </a:t>
            </a:r>
            <a:r>
              <a:rPr lang="nl-NL" altLang="nl-NL" dirty="0" err="1"/>
              <a:t>for</a:t>
            </a:r>
            <a:r>
              <a:rPr lang="nl-NL" altLang="nl-NL" dirty="0"/>
              <a:t> tutorial </a:t>
            </a:r>
            <a:r>
              <a:rPr lang="nl-NL" altLang="nl-NL" dirty="0" err="1"/>
              <a:t>groups</a:t>
            </a:r>
            <a:r>
              <a:rPr lang="nl-NL" altLang="nl-NL" dirty="0"/>
              <a:t> 6, 7, 8 </a:t>
            </a:r>
            <a:r>
              <a:rPr lang="nl-NL" altLang="nl-NL" dirty="0" err="1"/>
              <a:t>and</a:t>
            </a:r>
            <a:r>
              <a:rPr lang="nl-NL" altLang="nl-NL" dirty="0"/>
              <a:t> 9)</a:t>
            </a:r>
          </a:p>
          <a:p>
            <a:pPr eaLnBrk="0" fontAlgn="base" hangingPunct="0">
              <a:lnSpc>
                <a:spcPct val="100000"/>
              </a:lnSpc>
              <a:spcBef>
                <a:spcPct val="0"/>
              </a:spcBef>
              <a:spcAft>
                <a:spcPct val="0"/>
              </a:spcAft>
            </a:pPr>
            <a:r>
              <a:rPr lang="nl-NL" b="1" dirty="0"/>
              <a:t>Oliver </a:t>
            </a:r>
            <a:r>
              <a:rPr lang="nl-NL" b="1" dirty="0" err="1"/>
              <a:t>Feltham</a:t>
            </a:r>
            <a:r>
              <a:rPr lang="nl-NL" b="1" dirty="0"/>
              <a:t> </a:t>
            </a:r>
            <a:r>
              <a:rPr lang="nl-NL" dirty="0"/>
              <a:t>(</a:t>
            </a:r>
            <a:r>
              <a:rPr lang="nl-NL" altLang="nl-NL" dirty="0" err="1"/>
              <a:t>instructor</a:t>
            </a:r>
            <a:r>
              <a:rPr lang="nl-NL" altLang="nl-NL" dirty="0"/>
              <a:t> </a:t>
            </a:r>
            <a:r>
              <a:rPr lang="nl-NL" altLang="nl-NL" dirty="0" err="1"/>
              <a:t>for</a:t>
            </a:r>
            <a:r>
              <a:rPr lang="nl-NL" altLang="nl-NL" dirty="0"/>
              <a:t> tutorial </a:t>
            </a:r>
            <a:r>
              <a:rPr lang="nl-NL" altLang="nl-NL" dirty="0" err="1"/>
              <a:t>groups</a:t>
            </a:r>
            <a:r>
              <a:rPr lang="nl-NL" altLang="nl-NL" dirty="0"/>
              <a:t> 1, 2, 3 </a:t>
            </a:r>
            <a:r>
              <a:rPr lang="nl-NL" altLang="nl-NL" dirty="0" err="1"/>
              <a:t>and</a:t>
            </a:r>
            <a:r>
              <a:rPr lang="nl-NL" altLang="nl-NL" dirty="0"/>
              <a:t> 4)</a:t>
            </a:r>
          </a:p>
          <a:p>
            <a:pPr eaLnBrk="0" fontAlgn="base" hangingPunct="0">
              <a:lnSpc>
                <a:spcPct val="100000"/>
              </a:lnSpc>
              <a:spcBef>
                <a:spcPct val="0"/>
              </a:spcBef>
              <a:spcAft>
                <a:spcPct val="0"/>
              </a:spcAft>
            </a:pPr>
            <a:r>
              <a:rPr lang="nl-NL" altLang="nl-NL" b="1" dirty="0" err="1"/>
              <a:t>Ieva</a:t>
            </a:r>
            <a:r>
              <a:rPr lang="nl-NL" altLang="nl-NL" b="1" dirty="0"/>
              <a:t> </a:t>
            </a:r>
            <a:r>
              <a:rPr lang="nl-NL" altLang="nl-NL" b="1" dirty="0" err="1"/>
              <a:t>Rudzite</a:t>
            </a:r>
            <a:r>
              <a:rPr lang="nl-NL" altLang="nl-NL" dirty="0"/>
              <a:t> </a:t>
            </a:r>
            <a:r>
              <a:rPr lang="nl-NL" altLang="nl-NL" dirty="0" err="1"/>
              <a:t>and</a:t>
            </a:r>
            <a:r>
              <a:rPr lang="nl-NL" altLang="nl-NL" dirty="0"/>
              <a:t> </a:t>
            </a:r>
            <a:r>
              <a:rPr lang="nl-NL" altLang="nl-NL" b="1" dirty="0" err="1"/>
              <a:t>Catalin</a:t>
            </a:r>
            <a:r>
              <a:rPr lang="nl-NL" altLang="nl-NL" b="1" dirty="0"/>
              <a:t> </a:t>
            </a:r>
            <a:r>
              <a:rPr lang="nl-NL" altLang="nl-NL" b="1" dirty="0" err="1"/>
              <a:t>Zaharia</a:t>
            </a:r>
            <a:r>
              <a:rPr lang="nl-NL" altLang="nl-NL" b="1" dirty="0"/>
              <a:t> (</a:t>
            </a:r>
            <a:r>
              <a:rPr lang="nl-NL" altLang="nl-NL" dirty="0" err="1"/>
              <a:t>Discussions</a:t>
            </a:r>
            <a:r>
              <a:rPr lang="nl-NL" altLang="nl-NL" dirty="0"/>
              <a:t> page </a:t>
            </a:r>
            <a:r>
              <a:rPr lang="nl-NL" altLang="nl-NL" dirty="0" err="1"/>
              <a:t>and</a:t>
            </a:r>
            <a:r>
              <a:rPr lang="nl-NL" altLang="nl-NL" dirty="0"/>
              <a:t> email: intropython-eb@uva.nl) </a:t>
            </a:r>
          </a:p>
          <a:p>
            <a:pPr eaLnBrk="0" fontAlgn="base" hangingPunct="0">
              <a:lnSpc>
                <a:spcPct val="100000"/>
              </a:lnSpc>
              <a:spcBef>
                <a:spcPct val="0"/>
              </a:spcBef>
              <a:spcAft>
                <a:spcPct val="0"/>
              </a:spcAft>
            </a:pPr>
            <a:endParaRPr lang="nl-NL" b="1" dirty="0"/>
          </a:p>
        </p:txBody>
      </p:sp>
      <p:sp>
        <p:nvSpPr>
          <p:cNvPr id="6" name="Slide Number Placeholder 5">
            <a:extLst>
              <a:ext uri="{FF2B5EF4-FFF2-40B4-BE49-F238E27FC236}">
                <a16:creationId xmlns:a16="http://schemas.microsoft.com/office/drawing/2014/main" id="{007DF11C-323B-CE00-6049-63BBBDB7E345}"/>
              </a:ext>
            </a:extLst>
          </p:cNvPr>
          <p:cNvSpPr>
            <a:spLocks noGrp="1"/>
          </p:cNvSpPr>
          <p:nvPr>
            <p:ph type="sldNum" sz="quarter" idx="12"/>
          </p:nvPr>
        </p:nvSpPr>
        <p:spPr/>
        <p:txBody>
          <a:bodyPr/>
          <a:lstStyle/>
          <a:p>
            <a:fld id="{937257EE-0CEF-4D7E-9E69-5277D6172560}" type="slidenum">
              <a:rPr lang="nl-NL" smtClean="0">
                <a:solidFill>
                  <a:prstClr val="black">
                    <a:tint val="75000"/>
                  </a:prstClr>
                </a:solidFill>
              </a:rPr>
              <a:pPr/>
              <a:t>6</a:t>
            </a:fld>
            <a:endParaRPr lang="nl-NL">
              <a:solidFill>
                <a:prstClr val="black">
                  <a:tint val="75000"/>
                </a:prstClr>
              </a:solidFill>
            </a:endParaRPr>
          </a:p>
        </p:txBody>
      </p:sp>
    </p:spTree>
    <p:extLst>
      <p:ext uri="{BB962C8B-B14F-4D97-AF65-F5344CB8AC3E}">
        <p14:creationId xmlns:p14="http://schemas.microsoft.com/office/powerpoint/2010/main" val="36565291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12F33F-A141-0F90-6E0C-B391F2959544}"/>
              </a:ext>
            </a:extLst>
          </p:cNvPr>
          <p:cNvSpPr>
            <a:spLocks noGrp="1"/>
          </p:cNvSpPr>
          <p:nvPr>
            <p:ph type="title"/>
          </p:nvPr>
        </p:nvSpPr>
        <p:spPr>
          <a:xfrm>
            <a:off x="545592" y="263097"/>
            <a:ext cx="10515600" cy="1325563"/>
          </a:xfrm>
        </p:spPr>
        <p:txBody>
          <a:bodyPr/>
          <a:lstStyle/>
          <a:p>
            <a:r>
              <a:rPr lang="en-US" b="1" dirty="0"/>
              <a:t>Communication</a:t>
            </a:r>
            <a:endParaRPr lang="nl-NL" b="1" dirty="0"/>
          </a:p>
        </p:txBody>
      </p:sp>
      <p:sp>
        <p:nvSpPr>
          <p:cNvPr id="3" name="Content Placeholder 2">
            <a:extLst>
              <a:ext uri="{FF2B5EF4-FFF2-40B4-BE49-F238E27FC236}">
                <a16:creationId xmlns:a16="http://schemas.microsoft.com/office/drawing/2014/main" id="{987FFBB7-D392-3BB1-6E4C-8815E69999CF}"/>
              </a:ext>
            </a:extLst>
          </p:cNvPr>
          <p:cNvSpPr>
            <a:spLocks noGrp="1"/>
          </p:cNvSpPr>
          <p:nvPr>
            <p:ph idx="1"/>
          </p:nvPr>
        </p:nvSpPr>
        <p:spPr>
          <a:xfrm>
            <a:off x="545592" y="1405000"/>
            <a:ext cx="10938936" cy="5032375"/>
          </a:xfrm>
        </p:spPr>
        <p:txBody>
          <a:bodyPr>
            <a:normAutofit/>
          </a:bodyPr>
          <a:lstStyle/>
          <a:p>
            <a:r>
              <a:rPr lang="en-US" dirty="0"/>
              <a:t>Central to our communication is the discussion board on Canvas</a:t>
            </a:r>
          </a:p>
          <a:p>
            <a:pPr lvl="1"/>
            <a:r>
              <a:rPr lang="en-US" dirty="0"/>
              <a:t>If you have questions about Python, you can ask them via the discussion board</a:t>
            </a:r>
          </a:p>
          <a:p>
            <a:pPr lvl="1"/>
            <a:r>
              <a:rPr lang="en-US" dirty="0"/>
              <a:t>They can be answered and discussed by your fellow students, but your teachers will regularly check the discussion board and solve any loose ends</a:t>
            </a:r>
          </a:p>
          <a:p>
            <a:r>
              <a:rPr lang="en-US" dirty="0"/>
              <a:t>Questions that are more personal can be asked via the mail function of canvas</a:t>
            </a:r>
          </a:p>
        </p:txBody>
      </p:sp>
      <p:sp>
        <p:nvSpPr>
          <p:cNvPr id="6" name="Slide Number Placeholder 5">
            <a:extLst>
              <a:ext uri="{FF2B5EF4-FFF2-40B4-BE49-F238E27FC236}">
                <a16:creationId xmlns:a16="http://schemas.microsoft.com/office/drawing/2014/main" id="{007DF11C-323B-CE00-6049-63BBBDB7E345}"/>
              </a:ext>
            </a:extLst>
          </p:cNvPr>
          <p:cNvSpPr>
            <a:spLocks noGrp="1"/>
          </p:cNvSpPr>
          <p:nvPr>
            <p:ph type="sldNum" sz="quarter" idx="12"/>
          </p:nvPr>
        </p:nvSpPr>
        <p:spPr/>
        <p:txBody>
          <a:bodyPr/>
          <a:lstStyle/>
          <a:p>
            <a:fld id="{937257EE-0CEF-4D7E-9E69-5277D6172560}" type="slidenum">
              <a:rPr lang="nl-NL" smtClean="0">
                <a:solidFill>
                  <a:prstClr val="black">
                    <a:tint val="75000"/>
                  </a:prstClr>
                </a:solidFill>
              </a:rPr>
              <a:pPr/>
              <a:t>7</a:t>
            </a:fld>
            <a:endParaRPr lang="nl-NL">
              <a:solidFill>
                <a:prstClr val="black">
                  <a:tint val="75000"/>
                </a:prstClr>
              </a:solidFill>
            </a:endParaRPr>
          </a:p>
        </p:txBody>
      </p:sp>
    </p:spTree>
    <p:extLst>
      <p:ext uri="{BB962C8B-B14F-4D97-AF65-F5344CB8AC3E}">
        <p14:creationId xmlns:p14="http://schemas.microsoft.com/office/powerpoint/2010/main" val="24167174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12F33F-A141-0F90-6E0C-B391F2959544}"/>
              </a:ext>
            </a:extLst>
          </p:cNvPr>
          <p:cNvSpPr>
            <a:spLocks noGrp="1"/>
          </p:cNvSpPr>
          <p:nvPr>
            <p:ph type="title"/>
          </p:nvPr>
        </p:nvSpPr>
        <p:spPr>
          <a:xfrm>
            <a:off x="545592" y="263097"/>
            <a:ext cx="10515600" cy="1325563"/>
          </a:xfrm>
        </p:spPr>
        <p:txBody>
          <a:bodyPr/>
          <a:lstStyle/>
          <a:p>
            <a:r>
              <a:rPr lang="en-US" b="1" dirty="0"/>
              <a:t>Learning goals</a:t>
            </a:r>
            <a:endParaRPr lang="nl-NL" b="1" dirty="0"/>
          </a:p>
        </p:txBody>
      </p:sp>
      <p:sp>
        <p:nvSpPr>
          <p:cNvPr id="3" name="Content Placeholder 2">
            <a:extLst>
              <a:ext uri="{FF2B5EF4-FFF2-40B4-BE49-F238E27FC236}">
                <a16:creationId xmlns:a16="http://schemas.microsoft.com/office/drawing/2014/main" id="{987FFBB7-D392-3BB1-6E4C-8815E69999CF}"/>
              </a:ext>
            </a:extLst>
          </p:cNvPr>
          <p:cNvSpPr>
            <a:spLocks noGrp="1"/>
          </p:cNvSpPr>
          <p:nvPr>
            <p:ph idx="1"/>
          </p:nvPr>
        </p:nvSpPr>
        <p:spPr>
          <a:xfrm>
            <a:off x="545592" y="1405000"/>
            <a:ext cx="10515600" cy="5032375"/>
          </a:xfrm>
        </p:spPr>
        <p:txBody>
          <a:bodyPr>
            <a:normAutofit/>
          </a:bodyPr>
          <a:lstStyle/>
          <a:p>
            <a:r>
              <a:rPr lang="en-US" dirty="0"/>
              <a:t>Understanding code (Tutorials, lectures), this is exam material</a:t>
            </a:r>
          </a:p>
          <a:p>
            <a:r>
              <a:rPr lang="en-US" dirty="0"/>
              <a:t>Writing code (Tutorials, lectures), this is homework and can lead to a higher grade</a:t>
            </a:r>
          </a:p>
          <a:p>
            <a:r>
              <a:rPr lang="en-US" dirty="0"/>
              <a:t>Getting an idea about Python in the real world, possible guest lectures</a:t>
            </a:r>
          </a:p>
        </p:txBody>
      </p:sp>
      <p:sp>
        <p:nvSpPr>
          <p:cNvPr id="6" name="Slide Number Placeholder 5">
            <a:extLst>
              <a:ext uri="{FF2B5EF4-FFF2-40B4-BE49-F238E27FC236}">
                <a16:creationId xmlns:a16="http://schemas.microsoft.com/office/drawing/2014/main" id="{007DF11C-323B-CE00-6049-63BBBDB7E345}"/>
              </a:ext>
            </a:extLst>
          </p:cNvPr>
          <p:cNvSpPr>
            <a:spLocks noGrp="1"/>
          </p:cNvSpPr>
          <p:nvPr>
            <p:ph type="sldNum" sz="quarter" idx="12"/>
          </p:nvPr>
        </p:nvSpPr>
        <p:spPr/>
        <p:txBody>
          <a:bodyPr/>
          <a:lstStyle/>
          <a:p>
            <a:fld id="{937257EE-0CEF-4D7E-9E69-5277D6172560}" type="slidenum">
              <a:rPr lang="nl-NL" smtClean="0">
                <a:solidFill>
                  <a:prstClr val="black">
                    <a:tint val="75000"/>
                  </a:prstClr>
                </a:solidFill>
              </a:rPr>
              <a:pPr/>
              <a:t>8</a:t>
            </a:fld>
            <a:endParaRPr lang="nl-NL">
              <a:solidFill>
                <a:prstClr val="black">
                  <a:tint val="75000"/>
                </a:prstClr>
              </a:solidFill>
            </a:endParaRPr>
          </a:p>
        </p:txBody>
      </p:sp>
    </p:spTree>
    <p:extLst>
      <p:ext uri="{BB962C8B-B14F-4D97-AF65-F5344CB8AC3E}">
        <p14:creationId xmlns:p14="http://schemas.microsoft.com/office/powerpoint/2010/main" val="35071896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12F33F-A141-0F90-6E0C-B391F2959544}"/>
              </a:ext>
            </a:extLst>
          </p:cNvPr>
          <p:cNvSpPr>
            <a:spLocks noGrp="1"/>
          </p:cNvSpPr>
          <p:nvPr>
            <p:ph type="title"/>
          </p:nvPr>
        </p:nvSpPr>
        <p:spPr>
          <a:xfrm>
            <a:off x="545592" y="263097"/>
            <a:ext cx="10515600" cy="1325563"/>
          </a:xfrm>
        </p:spPr>
        <p:txBody>
          <a:bodyPr/>
          <a:lstStyle/>
          <a:p>
            <a:r>
              <a:rPr lang="en-US" b="1" dirty="0"/>
              <a:t>Tools</a:t>
            </a:r>
            <a:endParaRPr lang="nl-NL" b="1" dirty="0"/>
          </a:p>
        </p:txBody>
      </p:sp>
      <p:sp>
        <p:nvSpPr>
          <p:cNvPr id="3" name="Content Placeholder 2">
            <a:extLst>
              <a:ext uri="{FF2B5EF4-FFF2-40B4-BE49-F238E27FC236}">
                <a16:creationId xmlns:a16="http://schemas.microsoft.com/office/drawing/2014/main" id="{987FFBB7-D392-3BB1-6E4C-8815E69999CF}"/>
              </a:ext>
            </a:extLst>
          </p:cNvPr>
          <p:cNvSpPr>
            <a:spLocks noGrp="1"/>
          </p:cNvSpPr>
          <p:nvPr>
            <p:ph idx="1"/>
          </p:nvPr>
        </p:nvSpPr>
        <p:spPr>
          <a:xfrm>
            <a:off x="545592" y="1405000"/>
            <a:ext cx="11646408" cy="5381694"/>
          </a:xfrm>
        </p:spPr>
        <p:txBody>
          <a:bodyPr>
            <a:normAutofit fontScale="92500" lnSpcReduction="20000"/>
          </a:bodyPr>
          <a:lstStyle/>
          <a:p>
            <a:r>
              <a:rPr lang="en-US" dirty="0"/>
              <a:t>Lectures (beginning of the week)</a:t>
            </a:r>
          </a:p>
          <a:p>
            <a:pPr lvl="1"/>
            <a:r>
              <a:rPr lang="en-US" dirty="0"/>
              <a:t>presentation of material about the python language that you need to know for the exam and that you can use for the programming exercises</a:t>
            </a:r>
          </a:p>
          <a:p>
            <a:pPr lvl="1"/>
            <a:r>
              <a:rPr lang="en-US" dirty="0"/>
              <a:t>Lectures are supported by lecture slides and </a:t>
            </a:r>
            <a:r>
              <a:rPr lang="en-US" dirty="0" err="1"/>
              <a:t>Jupyter</a:t>
            </a:r>
            <a:r>
              <a:rPr lang="en-US" dirty="0"/>
              <a:t> notebooks</a:t>
            </a:r>
          </a:p>
          <a:p>
            <a:pPr lvl="1"/>
            <a:r>
              <a:rPr lang="en-US" dirty="0"/>
              <a:t>Every week, you will get a set of personalized questions and a Python program that you can use to send your answers to our server and that server will tell you immediately whether your answer produce the right results, these questions can be quite complicated</a:t>
            </a:r>
          </a:p>
          <a:p>
            <a:pPr lvl="1"/>
            <a:r>
              <a:rPr lang="en-US" dirty="0"/>
              <a:t>You can send in solutions as often as you want, till the deadline Sunday night 23:59</a:t>
            </a:r>
          </a:p>
          <a:p>
            <a:pPr lvl="1"/>
            <a:r>
              <a:rPr lang="en-US" dirty="0"/>
              <a:t>Your answers will be tested automatically. Your code will be applied to several </a:t>
            </a:r>
            <a:r>
              <a:rPr lang="en-US" dirty="0" err="1"/>
              <a:t>testsets</a:t>
            </a:r>
            <a:r>
              <a:rPr lang="en-US" dirty="0"/>
              <a:t>. If a program produces the right result, you get a point, if it doesn't you won't get a point for that question</a:t>
            </a:r>
          </a:p>
          <a:p>
            <a:pPr lvl="1"/>
            <a:r>
              <a:rPr lang="en-US" dirty="0"/>
              <a:t>At the beginning of the next week, you will get feedback that tells you whether your solution worked correctly and also will give an example how to solve these exercises with the material, you had to study so far</a:t>
            </a:r>
          </a:p>
          <a:p>
            <a:pPr lvl="1"/>
            <a:r>
              <a:rPr lang="en-US" dirty="0"/>
              <a:t>These feedback solutions are also material to learn for the exam</a:t>
            </a:r>
          </a:p>
          <a:p>
            <a:r>
              <a:rPr lang="en-US" dirty="0"/>
              <a:t>DataCamp: a website with videos about the course material. The website will present you with questions, and  instant feedback to your answers</a:t>
            </a:r>
          </a:p>
          <a:p>
            <a:endParaRPr lang="en-US" dirty="0"/>
          </a:p>
        </p:txBody>
      </p:sp>
      <p:sp>
        <p:nvSpPr>
          <p:cNvPr id="6" name="Slide Number Placeholder 5">
            <a:extLst>
              <a:ext uri="{FF2B5EF4-FFF2-40B4-BE49-F238E27FC236}">
                <a16:creationId xmlns:a16="http://schemas.microsoft.com/office/drawing/2014/main" id="{007DF11C-323B-CE00-6049-63BBBDB7E345}"/>
              </a:ext>
            </a:extLst>
          </p:cNvPr>
          <p:cNvSpPr>
            <a:spLocks noGrp="1"/>
          </p:cNvSpPr>
          <p:nvPr>
            <p:ph type="sldNum" sz="quarter" idx="12"/>
          </p:nvPr>
        </p:nvSpPr>
        <p:spPr/>
        <p:txBody>
          <a:bodyPr/>
          <a:lstStyle/>
          <a:p>
            <a:fld id="{937257EE-0CEF-4D7E-9E69-5277D6172560}" type="slidenum">
              <a:rPr lang="nl-NL" smtClean="0">
                <a:solidFill>
                  <a:prstClr val="black">
                    <a:tint val="75000"/>
                  </a:prstClr>
                </a:solidFill>
              </a:rPr>
              <a:pPr/>
              <a:t>9</a:t>
            </a:fld>
            <a:endParaRPr lang="nl-NL">
              <a:solidFill>
                <a:prstClr val="black">
                  <a:tint val="75000"/>
                </a:prstClr>
              </a:solidFill>
            </a:endParaRPr>
          </a:p>
        </p:txBody>
      </p:sp>
    </p:spTree>
    <p:extLst>
      <p:ext uri="{BB962C8B-B14F-4D97-AF65-F5344CB8AC3E}">
        <p14:creationId xmlns:p14="http://schemas.microsoft.com/office/powerpoint/2010/main" val="10181471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12F33F-A141-0F90-6E0C-B391F2959544}"/>
              </a:ext>
            </a:extLst>
          </p:cNvPr>
          <p:cNvSpPr>
            <a:spLocks noGrp="1"/>
          </p:cNvSpPr>
          <p:nvPr>
            <p:ph type="title"/>
          </p:nvPr>
        </p:nvSpPr>
        <p:spPr>
          <a:xfrm>
            <a:off x="545592" y="263097"/>
            <a:ext cx="10515600" cy="1325563"/>
          </a:xfrm>
        </p:spPr>
        <p:txBody>
          <a:bodyPr/>
          <a:lstStyle/>
          <a:p>
            <a:r>
              <a:rPr lang="en-US" b="1" dirty="0"/>
              <a:t>Tools</a:t>
            </a:r>
            <a:endParaRPr lang="nl-NL" b="1" dirty="0"/>
          </a:p>
        </p:txBody>
      </p:sp>
      <p:sp>
        <p:nvSpPr>
          <p:cNvPr id="3" name="Content Placeholder 2">
            <a:extLst>
              <a:ext uri="{FF2B5EF4-FFF2-40B4-BE49-F238E27FC236}">
                <a16:creationId xmlns:a16="http://schemas.microsoft.com/office/drawing/2014/main" id="{987FFBB7-D392-3BB1-6E4C-8815E69999CF}"/>
              </a:ext>
            </a:extLst>
          </p:cNvPr>
          <p:cNvSpPr>
            <a:spLocks noGrp="1"/>
          </p:cNvSpPr>
          <p:nvPr>
            <p:ph idx="1"/>
          </p:nvPr>
        </p:nvSpPr>
        <p:spPr>
          <a:xfrm>
            <a:off x="545592" y="1405000"/>
            <a:ext cx="10515600" cy="5453000"/>
          </a:xfrm>
        </p:spPr>
        <p:txBody>
          <a:bodyPr>
            <a:normAutofit fontScale="92500" lnSpcReduction="20000"/>
          </a:bodyPr>
          <a:lstStyle/>
          <a:p>
            <a:r>
              <a:rPr lang="en-US" dirty="0"/>
              <a:t>Tutorials: here you can work on your homework and discuss problems with your fellow students and the tutors</a:t>
            </a:r>
          </a:p>
          <a:p>
            <a:r>
              <a:rPr lang="en-US" dirty="0"/>
              <a:t>Homework exercises can be more difficult than exam questions and exam questions will be more difficult/complex than DataCamp questions</a:t>
            </a:r>
          </a:p>
          <a:p>
            <a:r>
              <a:rPr lang="en-US" dirty="0"/>
              <a:t>Q&amp;A sessions (at the end of the week): </a:t>
            </a:r>
          </a:p>
          <a:p>
            <a:pPr lvl="1"/>
            <a:r>
              <a:rPr lang="en-US" dirty="0"/>
              <a:t>Tying loose ends</a:t>
            </a:r>
          </a:p>
          <a:p>
            <a:pPr lvl="2"/>
            <a:r>
              <a:rPr lang="en-US" dirty="0"/>
              <a:t>Material we could not deal with in the first lecture of the week</a:t>
            </a:r>
          </a:p>
          <a:p>
            <a:pPr lvl="2"/>
            <a:r>
              <a:rPr lang="en-US" dirty="0"/>
              <a:t>Questions you asked, during lectures, during tutorials and on the discussion board</a:t>
            </a:r>
          </a:p>
          <a:p>
            <a:r>
              <a:rPr lang="en-US" dirty="0"/>
              <a:t>The internet, has tons of well-done material on Python, some examples:</a:t>
            </a:r>
          </a:p>
          <a:p>
            <a:pPr lvl="1"/>
            <a:r>
              <a:rPr lang="en-US" dirty="0">
                <a:hlinkClick r:id="rId2"/>
              </a:rPr>
              <a:t>https://www.w3schools.com/python/</a:t>
            </a:r>
            <a:r>
              <a:rPr lang="en-US" dirty="0"/>
              <a:t> (the level is comparable to DataCamp, but a bit more extensive)</a:t>
            </a:r>
          </a:p>
          <a:p>
            <a:pPr lvl="1"/>
            <a:r>
              <a:rPr lang="en-US" dirty="0">
                <a:hlinkClick r:id="rId3"/>
              </a:rPr>
              <a:t>https://www.</a:t>
            </a:r>
            <a:r>
              <a:rPr lang="nl-NL" dirty="0">
                <a:hlinkClick r:id="rId3"/>
              </a:rPr>
              <a:t>StackOverflow.com</a:t>
            </a:r>
            <a:r>
              <a:rPr lang="nl-NL" dirty="0"/>
              <a:t> (the </a:t>
            </a:r>
            <a:r>
              <a:rPr lang="nl-NL" dirty="0" err="1"/>
              <a:t>holy</a:t>
            </a:r>
            <a:r>
              <a:rPr lang="nl-NL" dirty="0"/>
              <a:t> </a:t>
            </a:r>
            <a:r>
              <a:rPr lang="nl-NL" dirty="0" err="1"/>
              <a:t>grail</a:t>
            </a:r>
            <a:r>
              <a:rPr lang="nl-NL" dirty="0"/>
              <a:t> </a:t>
            </a:r>
            <a:r>
              <a:rPr lang="nl-NL" dirty="0" err="1"/>
              <a:t>if</a:t>
            </a:r>
            <a:r>
              <a:rPr lang="nl-NL" dirty="0"/>
              <a:t> </a:t>
            </a:r>
            <a:r>
              <a:rPr lang="nl-NL" dirty="0" err="1"/>
              <a:t>you</a:t>
            </a:r>
            <a:r>
              <a:rPr lang="nl-NL" dirty="0"/>
              <a:t> </a:t>
            </a:r>
            <a:r>
              <a:rPr lang="nl-NL" dirty="0" err="1"/>
              <a:t>need</a:t>
            </a:r>
            <a:r>
              <a:rPr lang="nl-NL" dirty="0"/>
              <a:t> help </a:t>
            </a:r>
            <a:r>
              <a:rPr lang="nl-NL" dirty="0" err="1"/>
              <a:t>writing</a:t>
            </a:r>
            <a:r>
              <a:rPr lang="nl-NL" dirty="0"/>
              <a:t> programs)</a:t>
            </a:r>
          </a:p>
          <a:p>
            <a:pPr lvl="1"/>
            <a:r>
              <a:rPr lang="nl-NL" dirty="0">
                <a:hlinkClick r:id="rId4"/>
              </a:rPr>
              <a:t>https://realpython.com/</a:t>
            </a:r>
            <a:r>
              <a:rPr lang="nl-NL" dirty="0"/>
              <a:t> (</a:t>
            </a:r>
            <a:r>
              <a:rPr lang="en-US" dirty="0"/>
              <a:t>good tutorials, but not all are free. If you want to become very good, maybe spend some money here</a:t>
            </a:r>
            <a:r>
              <a:rPr lang="nl-NL" dirty="0"/>
              <a:t>)</a:t>
            </a:r>
          </a:p>
          <a:p>
            <a:pPr lvl="1"/>
            <a:endParaRPr lang="en-US" dirty="0"/>
          </a:p>
          <a:p>
            <a:pPr lvl="1"/>
            <a:endParaRPr lang="nl-NL" dirty="0"/>
          </a:p>
        </p:txBody>
      </p:sp>
      <p:sp>
        <p:nvSpPr>
          <p:cNvPr id="6" name="Slide Number Placeholder 5">
            <a:extLst>
              <a:ext uri="{FF2B5EF4-FFF2-40B4-BE49-F238E27FC236}">
                <a16:creationId xmlns:a16="http://schemas.microsoft.com/office/drawing/2014/main" id="{007DF11C-323B-CE00-6049-63BBBDB7E345}"/>
              </a:ext>
            </a:extLst>
          </p:cNvPr>
          <p:cNvSpPr>
            <a:spLocks noGrp="1"/>
          </p:cNvSpPr>
          <p:nvPr>
            <p:ph type="sldNum" sz="quarter" idx="12"/>
          </p:nvPr>
        </p:nvSpPr>
        <p:spPr/>
        <p:txBody>
          <a:bodyPr/>
          <a:lstStyle/>
          <a:p>
            <a:fld id="{937257EE-0CEF-4D7E-9E69-5277D6172560}" type="slidenum">
              <a:rPr lang="nl-NL" smtClean="0">
                <a:solidFill>
                  <a:prstClr val="black">
                    <a:tint val="75000"/>
                  </a:prstClr>
                </a:solidFill>
              </a:rPr>
              <a:pPr/>
              <a:t>10</a:t>
            </a:fld>
            <a:endParaRPr lang="nl-NL">
              <a:solidFill>
                <a:prstClr val="black">
                  <a:tint val="75000"/>
                </a:prstClr>
              </a:solidFill>
            </a:endParaRPr>
          </a:p>
        </p:txBody>
      </p:sp>
    </p:spTree>
    <p:extLst>
      <p:ext uri="{BB962C8B-B14F-4D97-AF65-F5344CB8AC3E}">
        <p14:creationId xmlns:p14="http://schemas.microsoft.com/office/powerpoint/2010/main" val="24095956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12F33F-A141-0F90-6E0C-B391F2959544}"/>
              </a:ext>
            </a:extLst>
          </p:cNvPr>
          <p:cNvSpPr>
            <a:spLocks noGrp="1"/>
          </p:cNvSpPr>
          <p:nvPr>
            <p:ph type="title"/>
          </p:nvPr>
        </p:nvSpPr>
        <p:spPr>
          <a:xfrm>
            <a:off x="545592" y="263098"/>
            <a:ext cx="10515600" cy="894584"/>
          </a:xfrm>
        </p:spPr>
        <p:txBody>
          <a:bodyPr>
            <a:normAutofit/>
          </a:bodyPr>
          <a:lstStyle/>
          <a:p>
            <a:r>
              <a:rPr lang="en-US" b="1" dirty="0"/>
              <a:t>Running Python</a:t>
            </a:r>
            <a:endParaRPr lang="nl-NL" b="1" dirty="0"/>
          </a:p>
        </p:txBody>
      </p:sp>
      <p:sp>
        <p:nvSpPr>
          <p:cNvPr id="3" name="Content Placeholder 2">
            <a:extLst>
              <a:ext uri="{FF2B5EF4-FFF2-40B4-BE49-F238E27FC236}">
                <a16:creationId xmlns:a16="http://schemas.microsoft.com/office/drawing/2014/main" id="{987FFBB7-D392-3BB1-6E4C-8815E69999CF}"/>
              </a:ext>
            </a:extLst>
          </p:cNvPr>
          <p:cNvSpPr>
            <a:spLocks noGrp="1"/>
          </p:cNvSpPr>
          <p:nvPr>
            <p:ph idx="1"/>
          </p:nvPr>
        </p:nvSpPr>
        <p:spPr>
          <a:xfrm>
            <a:off x="629174" y="1266738"/>
            <a:ext cx="11562826" cy="5591262"/>
          </a:xfrm>
        </p:spPr>
        <p:txBody>
          <a:bodyPr>
            <a:normAutofit/>
          </a:bodyPr>
          <a:lstStyle/>
          <a:p>
            <a:r>
              <a:rPr lang="en-US" sz="3200" dirty="0"/>
              <a:t>There are a lot of options, but we will only mention a few</a:t>
            </a:r>
          </a:p>
          <a:p>
            <a:pPr lvl="1"/>
            <a:r>
              <a:rPr lang="en-US" sz="2800" dirty="0"/>
              <a:t>Notebooks can be run in the browser on </a:t>
            </a:r>
            <a:r>
              <a:rPr lang="en-US" sz="2800" dirty="0" err="1"/>
              <a:t>Colab</a:t>
            </a:r>
            <a:r>
              <a:rPr lang="en-US" sz="2800" dirty="0"/>
              <a:t> (https://colab.research.google.com/), If you want to be fancier have a look at the Anaconda project (https://anaconda.org/anaconda/anaconda-project)</a:t>
            </a:r>
          </a:p>
          <a:p>
            <a:pPr lvl="1"/>
            <a:r>
              <a:rPr lang="en-US" sz="2800" dirty="0"/>
              <a:t>We advise you to use </a:t>
            </a:r>
            <a:r>
              <a:rPr lang="en-US" sz="2800" i="1" dirty="0" err="1"/>
              <a:t>Pythonanywhere</a:t>
            </a:r>
            <a:r>
              <a:rPr lang="en-US" sz="2800" i="1" dirty="0"/>
              <a:t> for writing and testing your Python programs for the homework</a:t>
            </a:r>
          </a:p>
          <a:p>
            <a:pPr lvl="2"/>
            <a:r>
              <a:rPr lang="en-US" sz="2400" i="1" dirty="0" err="1"/>
              <a:t>Pythonanywhere</a:t>
            </a:r>
            <a:r>
              <a:rPr lang="en-US" sz="2400" i="1" dirty="0"/>
              <a:t> </a:t>
            </a:r>
            <a:r>
              <a:rPr lang="en-US" sz="2400" dirty="0"/>
              <a:t>runs in your browser</a:t>
            </a:r>
          </a:p>
          <a:p>
            <a:pPr lvl="2"/>
            <a:r>
              <a:rPr lang="en-US" sz="2400" dirty="0" err="1"/>
              <a:t>Pythonanywhere</a:t>
            </a:r>
            <a:r>
              <a:rPr lang="en-US" sz="2400" dirty="0"/>
              <a:t> is very easy to set up and use and your teachers can help you with it</a:t>
            </a:r>
          </a:p>
          <a:p>
            <a:r>
              <a:rPr lang="en-US" sz="3200" dirty="0"/>
              <a:t>You are free to use other systems to run Python, but we cannot always offer help. There are just too many options</a:t>
            </a:r>
            <a:endParaRPr lang="nl-NL" sz="3200" dirty="0"/>
          </a:p>
        </p:txBody>
      </p:sp>
      <p:sp>
        <p:nvSpPr>
          <p:cNvPr id="6" name="Slide Number Placeholder 5">
            <a:extLst>
              <a:ext uri="{FF2B5EF4-FFF2-40B4-BE49-F238E27FC236}">
                <a16:creationId xmlns:a16="http://schemas.microsoft.com/office/drawing/2014/main" id="{007DF11C-323B-CE00-6049-63BBBDB7E345}"/>
              </a:ext>
            </a:extLst>
          </p:cNvPr>
          <p:cNvSpPr>
            <a:spLocks noGrp="1"/>
          </p:cNvSpPr>
          <p:nvPr>
            <p:ph type="sldNum" sz="quarter" idx="12"/>
          </p:nvPr>
        </p:nvSpPr>
        <p:spPr/>
        <p:txBody>
          <a:bodyPr/>
          <a:lstStyle/>
          <a:p>
            <a:fld id="{937257EE-0CEF-4D7E-9E69-5277D6172560}" type="slidenum">
              <a:rPr lang="nl-NL" smtClean="0">
                <a:solidFill>
                  <a:prstClr val="black">
                    <a:tint val="75000"/>
                  </a:prstClr>
                </a:solidFill>
              </a:rPr>
              <a:pPr/>
              <a:t>11</a:t>
            </a:fld>
            <a:endParaRPr lang="nl-NL">
              <a:solidFill>
                <a:prstClr val="black">
                  <a:tint val="75000"/>
                </a:prstClr>
              </a:solidFill>
            </a:endParaRPr>
          </a:p>
        </p:txBody>
      </p:sp>
    </p:spTree>
    <p:extLst>
      <p:ext uri="{BB962C8B-B14F-4D97-AF65-F5344CB8AC3E}">
        <p14:creationId xmlns:p14="http://schemas.microsoft.com/office/powerpoint/2010/main" val="31916190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28B8E9-2339-CCCD-4F9A-FE49F10B2A9D}"/>
              </a:ext>
            </a:extLst>
          </p:cNvPr>
          <p:cNvSpPr>
            <a:spLocks noGrp="1"/>
          </p:cNvSpPr>
          <p:nvPr>
            <p:ph type="title"/>
          </p:nvPr>
        </p:nvSpPr>
        <p:spPr/>
        <p:txBody>
          <a:bodyPr/>
          <a:lstStyle/>
          <a:p>
            <a:r>
              <a:rPr lang="en-US" dirty="0"/>
              <a:t>Study advice</a:t>
            </a:r>
          </a:p>
        </p:txBody>
      </p:sp>
      <p:sp>
        <p:nvSpPr>
          <p:cNvPr id="3" name="Content Placeholder 2">
            <a:extLst>
              <a:ext uri="{FF2B5EF4-FFF2-40B4-BE49-F238E27FC236}">
                <a16:creationId xmlns:a16="http://schemas.microsoft.com/office/drawing/2014/main" id="{2E018F85-4C7E-B2D1-75DC-F75F00C4D88B}"/>
              </a:ext>
            </a:extLst>
          </p:cNvPr>
          <p:cNvSpPr>
            <a:spLocks noGrp="1"/>
          </p:cNvSpPr>
          <p:nvPr>
            <p:ph idx="1"/>
          </p:nvPr>
        </p:nvSpPr>
        <p:spPr/>
        <p:txBody>
          <a:bodyPr/>
          <a:lstStyle/>
          <a:p>
            <a:r>
              <a:rPr lang="en-US" dirty="0"/>
              <a:t>Before the lecture, study the DataCamp material</a:t>
            </a:r>
          </a:p>
          <a:p>
            <a:r>
              <a:rPr lang="en-US" dirty="0"/>
              <a:t>After the lecture have a good look again at the notebook and the slides for that week</a:t>
            </a:r>
          </a:p>
          <a:p>
            <a:r>
              <a:rPr lang="en-US" dirty="0"/>
              <a:t>Play with the notebooks. Run the code, change the code and run it again</a:t>
            </a:r>
          </a:p>
          <a:p>
            <a:r>
              <a:rPr lang="en-US" dirty="0"/>
              <a:t>Come to the tutorials and do your homework exercises</a:t>
            </a:r>
          </a:p>
          <a:p>
            <a:r>
              <a:rPr lang="en-US" dirty="0"/>
              <a:t>If you don't understand something, google for a solution, and ask a question on the discussion board</a:t>
            </a:r>
          </a:p>
        </p:txBody>
      </p:sp>
      <p:sp>
        <p:nvSpPr>
          <p:cNvPr id="4" name="Slide Number Placeholder 3">
            <a:extLst>
              <a:ext uri="{FF2B5EF4-FFF2-40B4-BE49-F238E27FC236}">
                <a16:creationId xmlns:a16="http://schemas.microsoft.com/office/drawing/2014/main" id="{9468769B-FCF7-B98C-CE82-92EE577B3C19}"/>
              </a:ext>
            </a:extLst>
          </p:cNvPr>
          <p:cNvSpPr>
            <a:spLocks noGrp="1"/>
          </p:cNvSpPr>
          <p:nvPr>
            <p:ph type="sldNum" sz="quarter" idx="12"/>
          </p:nvPr>
        </p:nvSpPr>
        <p:spPr/>
        <p:txBody>
          <a:bodyPr/>
          <a:lstStyle/>
          <a:p>
            <a:fld id="{937257EE-0CEF-4D7E-9E69-5277D6172560}" type="slidenum">
              <a:rPr lang="nl-NL" smtClean="0"/>
              <a:t>12</a:t>
            </a:fld>
            <a:endParaRPr lang="nl-NL"/>
          </a:p>
        </p:txBody>
      </p:sp>
    </p:spTree>
    <p:extLst>
      <p:ext uri="{BB962C8B-B14F-4D97-AF65-F5344CB8AC3E}">
        <p14:creationId xmlns:p14="http://schemas.microsoft.com/office/powerpoint/2010/main" val="40033275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12F33F-A141-0F90-6E0C-B391F2959544}"/>
              </a:ext>
            </a:extLst>
          </p:cNvPr>
          <p:cNvSpPr>
            <a:spLocks noGrp="1"/>
          </p:cNvSpPr>
          <p:nvPr>
            <p:ph type="title"/>
          </p:nvPr>
        </p:nvSpPr>
        <p:spPr>
          <a:xfrm>
            <a:off x="545592" y="263097"/>
            <a:ext cx="10515600" cy="1325563"/>
          </a:xfrm>
        </p:spPr>
        <p:txBody>
          <a:bodyPr/>
          <a:lstStyle/>
          <a:p>
            <a:r>
              <a:rPr lang="en-US" b="1" dirty="0"/>
              <a:t>Assessment</a:t>
            </a:r>
          </a:p>
        </p:txBody>
      </p:sp>
      <p:sp>
        <p:nvSpPr>
          <p:cNvPr id="3" name="Content Placeholder 2">
            <a:extLst>
              <a:ext uri="{FF2B5EF4-FFF2-40B4-BE49-F238E27FC236}">
                <a16:creationId xmlns:a16="http://schemas.microsoft.com/office/drawing/2014/main" id="{987FFBB7-D392-3BB1-6E4C-8815E69999CF}"/>
              </a:ext>
            </a:extLst>
          </p:cNvPr>
          <p:cNvSpPr>
            <a:spLocks noGrp="1"/>
          </p:cNvSpPr>
          <p:nvPr>
            <p:ph idx="1"/>
          </p:nvPr>
        </p:nvSpPr>
        <p:spPr>
          <a:xfrm>
            <a:off x="545592" y="1405000"/>
            <a:ext cx="10515600" cy="5032375"/>
          </a:xfrm>
        </p:spPr>
        <p:txBody>
          <a:bodyPr>
            <a:normAutofit fontScale="85000" lnSpcReduction="20000"/>
          </a:bodyPr>
          <a:lstStyle/>
          <a:p>
            <a:r>
              <a:rPr lang="en-US" dirty="0">
                <a:latin typeface="Arial" panose="020B0604020202020204" pitchFamily="34" charset="0"/>
              </a:rPr>
              <a:t>Midterm and Final exam </a:t>
            </a:r>
          </a:p>
          <a:p>
            <a:r>
              <a:rPr lang="en-US" dirty="0">
                <a:latin typeface="Arial" panose="020B0604020202020204" pitchFamily="34" charset="0"/>
              </a:rPr>
              <a:t>Multiple choice</a:t>
            </a:r>
          </a:p>
          <a:p>
            <a:pPr lvl="1"/>
            <a:r>
              <a:rPr lang="en-US" dirty="0">
                <a:latin typeface="Arial" panose="020B0604020202020204" pitchFamily="34" charset="0"/>
              </a:rPr>
              <a:t>Questions will test your ability to understand code</a:t>
            </a:r>
          </a:p>
          <a:p>
            <a:pPr lvl="2"/>
            <a:r>
              <a:rPr lang="en-US" dirty="0">
                <a:latin typeface="Arial" panose="020B0604020202020204" pitchFamily="34" charset="0"/>
              </a:rPr>
              <a:t>Examples:</a:t>
            </a:r>
          </a:p>
          <a:p>
            <a:pPr lvl="3"/>
            <a:r>
              <a:rPr lang="en-US" dirty="0">
                <a:latin typeface="Arial" panose="020B0604020202020204" pitchFamily="34" charset="0"/>
              </a:rPr>
              <a:t>Which code fragment will print the following output</a:t>
            </a:r>
          </a:p>
          <a:p>
            <a:pPr lvl="3"/>
            <a:r>
              <a:rPr lang="en-US" dirty="0">
                <a:latin typeface="Arial" panose="020B0604020202020204" pitchFamily="34" charset="0"/>
              </a:rPr>
              <a:t>What will be printed by the following code fragment </a:t>
            </a:r>
          </a:p>
          <a:p>
            <a:pPr lvl="3"/>
            <a:r>
              <a:rPr lang="en-US" dirty="0">
                <a:latin typeface="Arial" panose="020B0604020202020204" pitchFamily="34" charset="0"/>
              </a:rPr>
              <a:t>Which code fragment prints the same output as the following code fragment</a:t>
            </a:r>
          </a:p>
          <a:p>
            <a:pPr lvl="3"/>
            <a:r>
              <a:rPr lang="en-US" dirty="0">
                <a:latin typeface="Arial" panose="020B0604020202020204" pitchFamily="34" charset="0"/>
              </a:rPr>
              <a:t>Of the following code fragments, one prints an output that differs from the other fragments</a:t>
            </a:r>
          </a:p>
          <a:p>
            <a:pPr lvl="3"/>
            <a:r>
              <a:rPr lang="en-US" dirty="0">
                <a:latin typeface="Arial" panose="020B0604020202020204" pitchFamily="34" charset="0"/>
              </a:rPr>
              <a:t>Which of the following code fragments solves the following problem correctly</a:t>
            </a:r>
          </a:p>
          <a:p>
            <a:pPr lvl="2"/>
            <a:r>
              <a:rPr lang="en-US" dirty="0">
                <a:latin typeface="Arial" panose="020B0604020202020204" pitchFamily="34" charset="0"/>
              </a:rPr>
              <a:t>Options can include:</a:t>
            </a:r>
          </a:p>
          <a:p>
            <a:pPr lvl="3"/>
            <a:r>
              <a:rPr lang="en-US" dirty="0">
                <a:latin typeface="Arial" panose="020B0604020202020204" pitchFamily="34" charset="0"/>
              </a:rPr>
              <a:t>None of the above</a:t>
            </a:r>
          </a:p>
          <a:p>
            <a:pPr lvl="3"/>
            <a:r>
              <a:rPr lang="en-US" dirty="0">
                <a:latin typeface="Arial" panose="020B0604020202020204" pitchFamily="34" charset="0"/>
              </a:rPr>
              <a:t>Both</a:t>
            </a:r>
          </a:p>
          <a:p>
            <a:pPr lvl="3"/>
            <a:r>
              <a:rPr lang="en-US" dirty="0">
                <a:latin typeface="Arial" panose="020B0604020202020204" pitchFamily="34" charset="0"/>
              </a:rPr>
              <a:t>All</a:t>
            </a:r>
          </a:p>
          <a:p>
            <a:pPr lvl="3"/>
            <a:r>
              <a:rPr lang="en-US" dirty="0">
                <a:latin typeface="Arial" panose="020B0604020202020204" pitchFamily="34" charset="0"/>
              </a:rPr>
              <a:t>An error</a:t>
            </a:r>
          </a:p>
          <a:p>
            <a:pPr lvl="1"/>
            <a:r>
              <a:rPr lang="en-US" dirty="0">
                <a:latin typeface="Arial" panose="020B0604020202020204" pitchFamily="34" charset="0"/>
              </a:rPr>
              <a:t>You're allowed to use one (double-sided) A4-cheatsheet during the exam</a:t>
            </a:r>
          </a:p>
          <a:p>
            <a:pPr lvl="2"/>
            <a:r>
              <a:rPr lang="en-US" dirty="0">
                <a:latin typeface="Arial" panose="020B0604020202020204" pitchFamily="34" charset="0"/>
              </a:rPr>
              <a:t>Making a good cheat sheet will help you to learn the material for the exam, and maybe you won't need it during the exam anymore</a:t>
            </a:r>
          </a:p>
          <a:p>
            <a:r>
              <a:rPr lang="en-US" dirty="0"/>
              <a:t>Final exam grade must be at least 5.0</a:t>
            </a:r>
          </a:p>
          <a:p>
            <a:r>
              <a:rPr lang="en-US" dirty="0"/>
              <a:t>Total grade must be at least 5.5</a:t>
            </a:r>
            <a:endParaRPr lang="nl-NL" dirty="0"/>
          </a:p>
        </p:txBody>
      </p:sp>
      <p:sp>
        <p:nvSpPr>
          <p:cNvPr id="6" name="Slide Number Placeholder 5">
            <a:extLst>
              <a:ext uri="{FF2B5EF4-FFF2-40B4-BE49-F238E27FC236}">
                <a16:creationId xmlns:a16="http://schemas.microsoft.com/office/drawing/2014/main" id="{007DF11C-323B-CE00-6049-63BBBDB7E345}"/>
              </a:ext>
            </a:extLst>
          </p:cNvPr>
          <p:cNvSpPr>
            <a:spLocks noGrp="1"/>
          </p:cNvSpPr>
          <p:nvPr>
            <p:ph type="sldNum" sz="quarter" idx="12"/>
          </p:nvPr>
        </p:nvSpPr>
        <p:spPr/>
        <p:txBody>
          <a:bodyPr/>
          <a:lstStyle/>
          <a:p>
            <a:fld id="{937257EE-0CEF-4D7E-9E69-5277D6172560}" type="slidenum">
              <a:rPr lang="nl-NL" smtClean="0">
                <a:solidFill>
                  <a:prstClr val="black">
                    <a:tint val="75000"/>
                  </a:prstClr>
                </a:solidFill>
              </a:rPr>
              <a:pPr/>
              <a:t>13</a:t>
            </a:fld>
            <a:endParaRPr lang="nl-NL">
              <a:solidFill>
                <a:prstClr val="black">
                  <a:tint val="75000"/>
                </a:prstClr>
              </a:solidFill>
            </a:endParaRPr>
          </a:p>
        </p:txBody>
      </p:sp>
    </p:spTree>
    <p:extLst>
      <p:ext uri="{BB962C8B-B14F-4D97-AF65-F5344CB8AC3E}">
        <p14:creationId xmlns:p14="http://schemas.microsoft.com/office/powerpoint/2010/main" val="24309718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3">
                                            <p:txEl>
                                              <p:pRg st="17" end="1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34D6F2-359A-AAF1-6851-66D2E5427E64}"/>
              </a:ext>
            </a:extLst>
          </p:cNvPr>
          <p:cNvSpPr>
            <a:spLocks noGrp="1"/>
          </p:cNvSpPr>
          <p:nvPr>
            <p:ph type="title"/>
          </p:nvPr>
        </p:nvSpPr>
        <p:spPr/>
        <p:txBody>
          <a:bodyPr/>
          <a:lstStyle/>
          <a:p>
            <a:r>
              <a:rPr lang="nl-NL" dirty="0"/>
              <a:t>Python</a:t>
            </a:r>
            <a:endParaRPr lang="en-US" dirty="0"/>
          </a:p>
        </p:txBody>
      </p:sp>
      <p:sp>
        <p:nvSpPr>
          <p:cNvPr id="3" name="Content Placeholder 2">
            <a:extLst>
              <a:ext uri="{FF2B5EF4-FFF2-40B4-BE49-F238E27FC236}">
                <a16:creationId xmlns:a16="http://schemas.microsoft.com/office/drawing/2014/main" id="{3999E717-70F5-1352-9D48-C0F7C587561E}"/>
              </a:ext>
            </a:extLst>
          </p:cNvPr>
          <p:cNvSpPr>
            <a:spLocks noGrp="1"/>
          </p:cNvSpPr>
          <p:nvPr>
            <p:ph idx="1"/>
          </p:nvPr>
        </p:nvSpPr>
        <p:spPr/>
        <p:txBody>
          <a:bodyPr/>
          <a:lstStyle/>
          <a:p>
            <a:r>
              <a:rPr lang="nl-NL" dirty="0" err="1"/>
              <a:t>Logical</a:t>
            </a:r>
            <a:r>
              <a:rPr lang="nl-NL" dirty="0"/>
              <a:t> </a:t>
            </a:r>
            <a:r>
              <a:rPr lang="nl-NL" dirty="0" err="1"/>
              <a:t>and</a:t>
            </a:r>
            <a:r>
              <a:rPr lang="nl-NL" dirty="0"/>
              <a:t> </a:t>
            </a:r>
            <a:r>
              <a:rPr lang="nl-NL" dirty="0" err="1"/>
              <a:t>physical</a:t>
            </a:r>
            <a:r>
              <a:rPr lang="nl-NL" dirty="0"/>
              <a:t> </a:t>
            </a:r>
            <a:r>
              <a:rPr lang="nl-NL" dirty="0" err="1"/>
              <a:t>lines</a:t>
            </a:r>
            <a:r>
              <a:rPr lang="nl-NL" dirty="0"/>
              <a:t> of code</a:t>
            </a:r>
          </a:p>
          <a:p>
            <a:r>
              <a:rPr lang="nl-NL" dirty="0" err="1"/>
              <a:t>Comments</a:t>
            </a:r>
            <a:endParaRPr lang="nl-NL" dirty="0"/>
          </a:p>
          <a:p>
            <a:r>
              <a:rPr lang="nl-NL" dirty="0" err="1"/>
              <a:t>Objects</a:t>
            </a:r>
            <a:endParaRPr lang="nl-NL" dirty="0"/>
          </a:p>
          <a:p>
            <a:r>
              <a:rPr lang="nl-NL" dirty="0"/>
              <a:t>Operators</a:t>
            </a:r>
            <a:endParaRPr lang="en-US" dirty="0"/>
          </a:p>
        </p:txBody>
      </p:sp>
      <p:sp>
        <p:nvSpPr>
          <p:cNvPr id="4" name="Slide Number Placeholder 3">
            <a:extLst>
              <a:ext uri="{FF2B5EF4-FFF2-40B4-BE49-F238E27FC236}">
                <a16:creationId xmlns:a16="http://schemas.microsoft.com/office/drawing/2014/main" id="{103D75B9-FE7C-C31C-3CD0-4AB2D2F09751}"/>
              </a:ext>
            </a:extLst>
          </p:cNvPr>
          <p:cNvSpPr>
            <a:spLocks noGrp="1"/>
          </p:cNvSpPr>
          <p:nvPr>
            <p:ph type="sldNum" sz="quarter" idx="12"/>
          </p:nvPr>
        </p:nvSpPr>
        <p:spPr/>
        <p:txBody>
          <a:bodyPr/>
          <a:lstStyle/>
          <a:p>
            <a:fld id="{937257EE-0CEF-4D7E-9E69-5277D6172560}" type="slidenum">
              <a:rPr lang="nl-NL" smtClean="0"/>
              <a:t>14</a:t>
            </a:fld>
            <a:endParaRPr lang="nl-NL"/>
          </a:p>
        </p:txBody>
      </p:sp>
    </p:spTree>
    <p:extLst>
      <p:ext uri="{BB962C8B-B14F-4D97-AF65-F5344CB8AC3E}">
        <p14:creationId xmlns:p14="http://schemas.microsoft.com/office/powerpoint/2010/main" val="16624800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92B671-CA19-6615-9BA1-D7D6388D93FB}"/>
              </a:ext>
            </a:extLst>
          </p:cNvPr>
          <p:cNvSpPr>
            <a:spLocks noGrp="1"/>
          </p:cNvSpPr>
          <p:nvPr>
            <p:ph type="title"/>
          </p:nvPr>
        </p:nvSpPr>
        <p:spPr/>
        <p:txBody>
          <a:bodyPr/>
          <a:lstStyle/>
          <a:p>
            <a:r>
              <a:rPr lang="nl-NL" dirty="0" err="1"/>
              <a:t>Logical</a:t>
            </a:r>
            <a:r>
              <a:rPr lang="nl-NL" dirty="0"/>
              <a:t> </a:t>
            </a:r>
            <a:r>
              <a:rPr lang="nl-NL" dirty="0" err="1"/>
              <a:t>lines</a:t>
            </a:r>
            <a:r>
              <a:rPr lang="nl-NL" dirty="0"/>
              <a:t> of codes</a:t>
            </a:r>
            <a:endParaRPr lang="en-US" dirty="0"/>
          </a:p>
        </p:txBody>
      </p:sp>
      <p:sp>
        <p:nvSpPr>
          <p:cNvPr id="3" name="Content Placeholder 2">
            <a:extLst>
              <a:ext uri="{FF2B5EF4-FFF2-40B4-BE49-F238E27FC236}">
                <a16:creationId xmlns:a16="http://schemas.microsoft.com/office/drawing/2014/main" id="{CA6DADF3-CF99-D724-E295-71EB2EFC6F0B}"/>
              </a:ext>
            </a:extLst>
          </p:cNvPr>
          <p:cNvSpPr>
            <a:spLocks noGrp="1"/>
          </p:cNvSpPr>
          <p:nvPr>
            <p:ph idx="1"/>
          </p:nvPr>
        </p:nvSpPr>
        <p:spPr/>
        <p:txBody>
          <a:bodyPr>
            <a:normAutofit/>
          </a:bodyPr>
          <a:lstStyle/>
          <a:p>
            <a:r>
              <a:rPr lang="nl-NL" dirty="0"/>
              <a:t>A Python program </a:t>
            </a:r>
            <a:r>
              <a:rPr lang="nl-NL" dirty="0" err="1"/>
              <a:t>consists</a:t>
            </a:r>
            <a:r>
              <a:rPr lang="nl-NL" dirty="0"/>
              <a:t> of</a:t>
            </a:r>
          </a:p>
          <a:p>
            <a:pPr lvl="1"/>
            <a:r>
              <a:rPr lang="nl-NL" dirty="0" err="1"/>
              <a:t>Logical</a:t>
            </a:r>
            <a:r>
              <a:rPr lang="nl-NL" dirty="0"/>
              <a:t> </a:t>
            </a:r>
            <a:r>
              <a:rPr lang="nl-NL" dirty="0" err="1"/>
              <a:t>lines</a:t>
            </a:r>
            <a:r>
              <a:rPr lang="nl-NL" dirty="0"/>
              <a:t> of code</a:t>
            </a:r>
          </a:p>
          <a:p>
            <a:r>
              <a:rPr lang="nl-NL" dirty="0"/>
              <a:t>Simple statements </a:t>
            </a:r>
            <a:r>
              <a:rPr lang="nl-NL" dirty="0" err="1"/>
              <a:t>consist</a:t>
            </a:r>
            <a:r>
              <a:rPr lang="nl-NL" dirty="0"/>
              <a:t> of </a:t>
            </a:r>
            <a:r>
              <a:rPr lang="nl-NL" dirty="0" err="1"/>
              <a:t>one</a:t>
            </a:r>
            <a:r>
              <a:rPr lang="nl-NL" dirty="0"/>
              <a:t> </a:t>
            </a:r>
            <a:r>
              <a:rPr lang="nl-NL" dirty="0" err="1"/>
              <a:t>logical</a:t>
            </a:r>
            <a:r>
              <a:rPr lang="nl-NL" dirty="0"/>
              <a:t> line of code</a:t>
            </a:r>
          </a:p>
          <a:p>
            <a:pPr marL="457200" lvl="1" indent="0">
              <a:buNone/>
            </a:pPr>
            <a:r>
              <a:rPr lang="nl-NL" dirty="0">
                <a:latin typeface="Courier New" panose="02070309020205020404" pitchFamily="49" charset="0"/>
                <a:cs typeface="Courier New" panose="02070309020205020404" pitchFamily="49" charset="0"/>
              </a:rPr>
              <a:t>a = 1</a:t>
            </a:r>
          </a:p>
          <a:p>
            <a:r>
              <a:rPr lang="nl-NL" dirty="0"/>
              <a:t>Compound statements </a:t>
            </a:r>
            <a:r>
              <a:rPr lang="nl-NL" dirty="0" err="1"/>
              <a:t>consist</a:t>
            </a:r>
            <a:r>
              <a:rPr lang="nl-NL" dirty="0"/>
              <a:t> of </a:t>
            </a:r>
            <a:r>
              <a:rPr lang="nl-NL" dirty="0" err="1"/>
              <a:t>several</a:t>
            </a:r>
            <a:r>
              <a:rPr lang="nl-NL" dirty="0"/>
              <a:t> </a:t>
            </a:r>
            <a:r>
              <a:rPr lang="nl-NL" dirty="0" err="1"/>
              <a:t>logical</a:t>
            </a:r>
            <a:r>
              <a:rPr lang="nl-NL" dirty="0"/>
              <a:t> </a:t>
            </a:r>
            <a:r>
              <a:rPr lang="nl-NL" dirty="0" err="1"/>
              <a:t>lines</a:t>
            </a:r>
            <a:r>
              <a:rPr lang="nl-NL" dirty="0"/>
              <a:t> of code</a:t>
            </a:r>
          </a:p>
          <a:p>
            <a:pPr marL="457200" lvl="1" indent="0">
              <a:buNone/>
            </a:pPr>
            <a:r>
              <a:rPr lang="nl-NL" dirty="0" err="1">
                <a:latin typeface="Courier New" panose="02070309020205020404" pitchFamily="49" charset="0"/>
                <a:cs typeface="Courier New" panose="02070309020205020404" pitchFamily="49" charset="0"/>
              </a:rPr>
              <a:t>if</a:t>
            </a:r>
            <a:r>
              <a:rPr lang="nl-NL" dirty="0">
                <a:latin typeface="Courier New" panose="02070309020205020404" pitchFamily="49" charset="0"/>
                <a:cs typeface="Courier New" panose="02070309020205020404" pitchFamily="49" charset="0"/>
              </a:rPr>
              <a:t> a &gt; 0:</a:t>
            </a:r>
            <a:br>
              <a:rPr lang="nl-NL" dirty="0">
                <a:latin typeface="Courier New" panose="02070309020205020404" pitchFamily="49" charset="0"/>
                <a:cs typeface="Courier New" panose="02070309020205020404" pitchFamily="49" charset="0"/>
              </a:rPr>
            </a:br>
            <a:r>
              <a:rPr lang="nl-NL" dirty="0">
                <a:latin typeface="Courier New" panose="02070309020205020404" pitchFamily="49" charset="0"/>
                <a:cs typeface="Courier New" panose="02070309020205020404" pitchFamily="49" charset="0"/>
              </a:rPr>
              <a:t>    print("a is </a:t>
            </a:r>
            <a:r>
              <a:rPr lang="nl-NL" dirty="0" err="1">
                <a:latin typeface="Courier New" panose="02070309020205020404" pitchFamily="49" charset="0"/>
                <a:cs typeface="Courier New" panose="02070309020205020404" pitchFamily="49" charset="0"/>
              </a:rPr>
              <a:t>positive</a:t>
            </a:r>
            <a:r>
              <a:rPr lang="nl-NL" dirty="0">
                <a:latin typeface="Courier New" panose="02070309020205020404" pitchFamily="49" charset="0"/>
                <a:cs typeface="Courier New" panose="02070309020205020404" pitchFamily="49" charset="0"/>
              </a:rPr>
              <a:t>")</a:t>
            </a:r>
            <a:br>
              <a:rPr lang="nl-NL" dirty="0">
                <a:latin typeface="Courier New" panose="02070309020205020404" pitchFamily="49" charset="0"/>
                <a:cs typeface="Courier New" panose="02070309020205020404" pitchFamily="49" charset="0"/>
              </a:rPr>
            </a:br>
            <a:r>
              <a:rPr lang="nl-NL" dirty="0" err="1">
                <a:latin typeface="Courier New" panose="02070309020205020404" pitchFamily="49" charset="0"/>
                <a:cs typeface="Courier New" panose="02070309020205020404" pitchFamily="49" charset="0"/>
              </a:rPr>
              <a:t>else</a:t>
            </a:r>
            <a:r>
              <a:rPr lang="nl-NL" dirty="0">
                <a:latin typeface="Courier New" panose="02070309020205020404" pitchFamily="49" charset="0"/>
                <a:cs typeface="Courier New" panose="02070309020205020404" pitchFamily="49" charset="0"/>
              </a:rPr>
              <a:t>:</a:t>
            </a:r>
            <a:br>
              <a:rPr lang="nl-NL" dirty="0">
                <a:latin typeface="Courier New" panose="02070309020205020404" pitchFamily="49" charset="0"/>
                <a:cs typeface="Courier New" panose="02070309020205020404" pitchFamily="49" charset="0"/>
              </a:rPr>
            </a:br>
            <a:r>
              <a:rPr lang="nl-NL" dirty="0">
                <a:latin typeface="Courier New" panose="02070309020205020404" pitchFamily="49" charset="0"/>
                <a:cs typeface="Courier New" panose="02070309020205020404" pitchFamily="49" charset="0"/>
              </a:rPr>
              <a:t>    print("a zero or </a:t>
            </a:r>
            <a:r>
              <a:rPr lang="nl-NL" dirty="0" err="1">
                <a:latin typeface="Courier New" panose="02070309020205020404" pitchFamily="49" charset="0"/>
                <a:cs typeface="Courier New" panose="02070309020205020404" pitchFamily="49" charset="0"/>
              </a:rPr>
              <a:t>negative</a:t>
            </a:r>
            <a:r>
              <a:rPr lang="nl-NL" dirty="0">
                <a:latin typeface="Courier New" panose="02070309020205020404" pitchFamily="49" charset="0"/>
                <a:cs typeface="Courier New" panose="02070309020205020404" pitchFamily="49" charset="0"/>
              </a:rPr>
              <a:t>") </a:t>
            </a:r>
          </a:p>
        </p:txBody>
      </p:sp>
      <p:sp>
        <p:nvSpPr>
          <p:cNvPr id="4" name="Slide Number Placeholder 3">
            <a:extLst>
              <a:ext uri="{FF2B5EF4-FFF2-40B4-BE49-F238E27FC236}">
                <a16:creationId xmlns:a16="http://schemas.microsoft.com/office/drawing/2014/main" id="{81C2AC9F-C44F-DAE2-6F18-A5986A60A257}"/>
              </a:ext>
            </a:extLst>
          </p:cNvPr>
          <p:cNvSpPr>
            <a:spLocks noGrp="1"/>
          </p:cNvSpPr>
          <p:nvPr>
            <p:ph type="sldNum" sz="quarter" idx="12"/>
          </p:nvPr>
        </p:nvSpPr>
        <p:spPr/>
        <p:txBody>
          <a:bodyPr/>
          <a:lstStyle/>
          <a:p>
            <a:fld id="{937257EE-0CEF-4D7E-9E69-5277D6172560}" type="slidenum">
              <a:rPr lang="nl-NL" smtClean="0"/>
              <a:t>15</a:t>
            </a:fld>
            <a:endParaRPr lang="nl-NL"/>
          </a:p>
        </p:txBody>
      </p:sp>
    </p:spTree>
    <p:extLst>
      <p:ext uri="{BB962C8B-B14F-4D97-AF65-F5344CB8AC3E}">
        <p14:creationId xmlns:p14="http://schemas.microsoft.com/office/powerpoint/2010/main" val="23263325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92B671-CA19-6615-9BA1-D7D6388D93FB}"/>
              </a:ext>
            </a:extLst>
          </p:cNvPr>
          <p:cNvSpPr>
            <a:spLocks noGrp="1"/>
          </p:cNvSpPr>
          <p:nvPr>
            <p:ph type="title"/>
          </p:nvPr>
        </p:nvSpPr>
        <p:spPr/>
        <p:txBody>
          <a:bodyPr/>
          <a:lstStyle/>
          <a:p>
            <a:r>
              <a:rPr lang="nl-NL" dirty="0" err="1"/>
              <a:t>Physical</a:t>
            </a:r>
            <a:r>
              <a:rPr lang="nl-NL" dirty="0"/>
              <a:t> </a:t>
            </a:r>
            <a:r>
              <a:rPr lang="nl-NL" dirty="0" err="1"/>
              <a:t>lines</a:t>
            </a:r>
            <a:r>
              <a:rPr lang="nl-NL" dirty="0"/>
              <a:t> of code</a:t>
            </a:r>
            <a:endParaRPr lang="en-US" dirty="0"/>
          </a:p>
        </p:txBody>
      </p:sp>
      <p:sp>
        <p:nvSpPr>
          <p:cNvPr id="3" name="Content Placeholder 2">
            <a:extLst>
              <a:ext uri="{FF2B5EF4-FFF2-40B4-BE49-F238E27FC236}">
                <a16:creationId xmlns:a16="http://schemas.microsoft.com/office/drawing/2014/main" id="{CA6DADF3-CF99-D724-E295-71EB2EFC6F0B}"/>
              </a:ext>
            </a:extLst>
          </p:cNvPr>
          <p:cNvSpPr>
            <a:spLocks noGrp="1"/>
          </p:cNvSpPr>
          <p:nvPr>
            <p:ph idx="1"/>
          </p:nvPr>
        </p:nvSpPr>
        <p:spPr>
          <a:xfrm>
            <a:off x="838199" y="1825625"/>
            <a:ext cx="11158057" cy="4351338"/>
          </a:xfrm>
        </p:spPr>
        <p:txBody>
          <a:bodyPr>
            <a:normAutofit fontScale="85000" lnSpcReduction="20000"/>
          </a:bodyPr>
          <a:lstStyle/>
          <a:p>
            <a:r>
              <a:rPr lang="nl-NL" dirty="0"/>
              <a:t>In the </a:t>
            </a:r>
            <a:r>
              <a:rPr lang="nl-NL" dirty="0" err="1"/>
              <a:t>previous</a:t>
            </a:r>
            <a:r>
              <a:rPr lang="nl-NL" dirty="0"/>
              <a:t> slide </a:t>
            </a:r>
            <a:r>
              <a:rPr lang="nl-NL" dirty="0" err="1"/>
              <a:t>every</a:t>
            </a:r>
            <a:r>
              <a:rPr lang="nl-NL" dirty="0"/>
              <a:t> </a:t>
            </a:r>
            <a:r>
              <a:rPr lang="nl-NL" dirty="0" err="1"/>
              <a:t>logical</a:t>
            </a:r>
            <a:r>
              <a:rPr lang="nl-NL" dirty="0"/>
              <a:t> line was </a:t>
            </a:r>
            <a:r>
              <a:rPr lang="nl-NL" dirty="0" err="1"/>
              <a:t>one</a:t>
            </a:r>
            <a:r>
              <a:rPr lang="nl-NL" dirty="0"/>
              <a:t> </a:t>
            </a:r>
            <a:r>
              <a:rPr lang="nl-NL" dirty="0" err="1"/>
              <a:t>physical</a:t>
            </a:r>
            <a:r>
              <a:rPr lang="nl-NL" dirty="0"/>
              <a:t> line</a:t>
            </a:r>
          </a:p>
          <a:p>
            <a:r>
              <a:rPr lang="nl-NL" dirty="0" err="1"/>
              <a:t>Two</a:t>
            </a:r>
            <a:r>
              <a:rPr lang="nl-NL" dirty="0"/>
              <a:t> or more </a:t>
            </a:r>
            <a:r>
              <a:rPr lang="nl-NL" dirty="0" err="1"/>
              <a:t>physical</a:t>
            </a:r>
            <a:r>
              <a:rPr lang="nl-NL" dirty="0"/>
              <a:t> </a:t>
            </a:r>
            <a:r>
              <a:rPr lang="nl-NL" dirty="0" err="1"/>
              <a:t>lines</a:t>
            </a:r>
            <a:r>
              <a:rPr lang="nl-NL" dirty="0"/>
              <a:t> </a:t>
            </a:r>
            <a:r>
              <a:rPr lang="nl-NL" dirty="0" err="1"/>
              <a:t>can</a:t>
            </a:r>
            <a:r>
              <a:rPr lang="nl-NL" dirty="0"/>
              <a:t> </a:t>
            </a:r>
            <a:r>
              <a:rPr lang="nl-NL" dirty="0" err="1"/>
              <a:t>be</a:t>
            </a:r>
            <a:r>
              <a:rPr lang="nl-NL" dirty="0"/>
              <a:t> </a:t>
            </a:r>
            <a:r>
              <a:rPr lang="nl-NL" dirty="0" err="1"/>
              <a:t>joined</a:t>
            </a:r>
            <a:r>
              <a:rPr lang="nl-NL" dirty="0"/>
              <a:t> </a:t>
            </a:r>
            <a:r>
              <a:rPr lang="nl-NL" dirty="0" err="1"/>
              <a:t>into</a:t>
            </a:r>
            <a:r>
              <a:rPr lang="nl-NL" dirty="0"/>
              <a:t> </a:t>
            </a:r>
            <a:r>
              <a:rPr lang="nl-NL" dirty="0" err="1"/>
              <a:t>one</a:t>
            </a:r>
            <a:r>
              <a:rPr lang="nl-NL" dirty="0"/>
              <a:t> </a:t>
            </a:r>
            <a:r>
              <a:rPr lang="nl-NL" dirty="0" err="1"/>
              <a:t>logical</a:t>
            </a:r>
            <a:r>
              <a:rPr lang="nl-NL" dirty="0"/>
              <a:t> line </a:t>
            </a:r>
            <a:r>
              <a:rPr lang="nl-NL" dirty="0" err="1"/>
              <a:t>with</a:t>
            </a:r>
            <a:r>
              <a:rPr lang="nl-NL" dirty="0"/>
              <a:t> the help of backward </a:t>
            </a:r>
            <a:r>
              <a:rPr lang="nl-NL" dirty="0" err="1"/>
              <a:t>slashes</a:t>
            </a:r>
            <a:r>
              <a:rPr lang="nl-NL" dirty="0"/>
              <a:t>, </a:t>
            </a:r>
            <a:r>
              <a:rPr lang="nl-NL" dirty="0" err="1"/>
              <a:t>this</a:t>
            </a:r>
            <a:r>
              <a:rPr lang="nl-NL" dirty="0"/>
              <a:t> is </a:t>
            </a:r>
            <a:r>
              <a:rPr lang="nl-NL" dirty="0" err="1"/>
              <a:t>called</a:t>
            </a:r>
            <a:r>
              <a:rPr lang="nl-NL" dirty="0"/>
              <a:t> explicit line </a:t>
            </a:r>
            <a:r>
              <a:rPr lang="nl-NL" dirty="0" err="1"/>
              <a:t>joining</a:t>
            </a:r>
            <a:r>
              <a:rPr lang="nl-NL" dirty="0"/>
              <a:t>:</a:t>
            </a:r>
          </a:p>
          <a:p>
            <a:pPr marL="457200" lvl="1" indent="0">
              <a:buNone/>
            </a:pPr>
            <a:r>
              <a:rPr lang="nl-NL" dirty="0">
                <a:latin typeface="Courier New" panose="02070309020205020404" pitchFamily="49" charset="0"/>
                <a:cs typeface="Courier New" panose="02070309020205020404" pitchFamily="49" charset="0"/>
              </a:rPr>
              <a:t>a = '</a:t>
            </a:r>
            <a:r>
              <a:rPr lang="en-US" dirty="0">
                <a:latin typeface="Courier New" panose="02070309020205020404" pitchFamily="49" charset="0"/>
                <a:cs typeface="Courier New" panose="02070309020205020404" pitchFamily="49" charset="0"/>
              </a:rPr>
              <a:t>Two or more physical lines can be joined' +\</a:t>
            </a:r>
          </a:p>
          <a:p>
            <a:pPr marL="457200" lvl="1" indent="0">
              <a:buNone/>
            </a:pPr>
            <a:r>
              <a:rPr lang="en-US" dirty="0">
                <a:latin typeface="Courier New" panose="02070309020205020404" pitchFamily="49" charset="0"/>
                <a:cs typeface="Courier New" panose="02070309020205020404" pitchFamily="49" charset="0"/>
              </a:rPr>
              <a:t>    '</a:t>
            </a:r>
            <a:r>
              <a:rPr lang="nl-NL" dirty="0"/>
              <a:t> </a:t>
            </a:r>
            <a:r>
              <a:rPr lang="nl-NL" dirty="0" err="1">
                <a:latin typeface="Courier New" panose="02070309020205020404" pitchFamily="49" charset="0"/>
                <a:cs typeface="Courier New" panose="02070309020205020404" pitchFamily="49" charset="0"/>
              </a:rPr>
              <a:t>into</a:t>
            </a:r>
            <a:r>
              <a:rPr lang="nl-NL" dirty="0">
                <a:latin typeface="Courier New" panose="02070309020205020404" pitchFamily="49" charset="0"/>
                <a:cs typeface="Courier New" panose="02070309020205020404" pitchFamily="49" charset="0"/>
              </a:rPr>
              <a:t> </a:t>
            </a:r>
            <a:r>
              <a:rPr lang="nl-NL" dirty="0" err="1">
                <a:latin typeface="Courier New" panose="02070309020205020404" pitchFamily="49" charset="0"/>
                <a:cs typeface="Courier New" panose="02070309020205020404" pitchFamily="49" charset="0"/>
              </a:rPr>
              <a:t>one</a:t>
            </a:r>
            <a:r>
              <a:rPr lang="nl-NL" dirty="0">
                <a:latin typeface="Courier New" panose="02070309020205020404" pitchFamily="49" charset="0"/>
                <a:cs typeface="Courier New" panose="02070309020205020404" pitchFamily="49" charset="0"/>
              </a:rPr>
              <a:t> </a:t>
            </a:r>
            <a:r>
              <a:rPr lang="nl-NL" dirty="0" err="1">
                <a:latin typeface="Courier New" panose="02070309020205020404" pitchFamily="49" charset="0"/>
                <a:cs typeface="Courier New" panose="02070309020205020404" pitchFamily="49" charset="0"/>
              </a:rPr>
              <a:t>logical</a:t>
            </a:r>
            <a:r>
              <a:rPr lang="nl-NL" dirty="0">
                <a:latin typeface="Courier New" panose="02070309020205020404" pitchFamily="49" charset="0"/>
                <a:cs typeface="Courier New" panose="02070309020205020404" pitchFamily="49" charset="0"/>
              </a:rPr>
              <a:t> line</a:t>
            </a:r>
            <a:r>
              <a:rPr lang="en-US" dirty="0">
                <a:latin typeface="Courier New" panose="02070309020205020404" pitchFamily="49" charset="0"/>
                <a:cs typeface="Courier New" panose="02070309020205020404" pitchFamily="49" charset="0"/>
              </a:rPr>
              <a:t> with the help of backward slashes</a:t>
            </a:r>
            <a:r>
              <a:rPr lang="nl-NL" dirty="0">
                <a:latin typeface="Courier New" panose="02070309020205020404" pitchFamily="49" charset="0"/>
                <a:cs typeface="Courier New" panose="02070309020205020404" pitchFamily="49" charset="0"/>
              </a:rPr>
              <a:t>'</a:t>
            </a:r>
          </a:p>
          <a:p>
            <a:r>
              <a:rPr lang="nl-NL" dirty="0" err="1"/>
              <a:t>Sometimes</a:t>
            </a:r>
            <a:r>
              <a:rPr lang="nl-NL" dirty="0"/>
              <a:t> </a:t>
            </a:r>
            <a:r>
              <a:rPr lang="nl-NL" dirty="0" err="1"/>
              <a:t>one</a:t>
            </a:r>
            <a:r>
              <a:rPr lang="nl-NL" dirty="0"/>
              <a:t> </a:t>
            </a:r>
            <a:r>
              <a:rPr lang="nl-NL" dirty="0" err="1"/>
              <a:t>can</a:t>
            </a:r>
            <a:r>
              <a:rPr lang="nl-NL" dirty="0"/>
              <a:t> </a:t>
            </a:r>
            <a:r>
              <a:rPr lang="nl-NL" dirty="0" err="1"/>
              <a:t>use</a:t>
            </a:r>
            <a:r>
              <a:rPr lang="nl-NL" dirty="0"/>
              <a:t> </a:t>
            </a:r>
            <a:r>
              <a:rPr lang="nl-NL" dirty="0" err="1"/>
              <a:t>parts</a:t>
            </a:r>
            <a:r>
              <a:rPr lang="nl-NL" dirty="0"/>
              <a:t> of a </a:t>
            </a:r>
            <a:r>
              <a:rPr lang="nl-NL" dirty="0" err="1"/>
              <a:t>logical</a:t>
            </a:r>
            <a:r>
              <a:rPr lang="nl-NL" dirty="0"/>
              <a:t> line </a:t>
            </a:r>
            <a:r>
              <a:rPr lang="nl-NL" dirty="0" err="1"/>
              <a:t>inside</a:t>
            </a:r>
            <a:r>
              <a:rPr lang="nl-NL" dirty="0"/>
              <a:t> a pair of parentheses, or square </a:t>
            </a:r>
            <a:r>
              <a:rPr lang="nl-NL" dirty="0" err="1"/>
              <a:t>brackets</a:t>
            </a:r>
            <a:r>
              <a:rPr lang="nl-NL" dirty="0"/>
              <a:t>, or </a:t>
            </a:r>
            <a:r>
              <a:rPr lang="nl-NL" dirty="0" err="1"/>
              <a:t>curly</a:t>
            </a:r>
            <a:r>
              <a:rPr lang="nl-NL" dirty="0"/>
              <a:t> </a:t>
            </a:r>
            <a:r>
              <a:rPr lang="nl-NL" dirty="0" err="1"/>
              <a:t>brackets</a:t>
            </a:r>
            <a:r>
              <a:rPr lang="nl-NL" dirty="0"/>
              <a:t>, </a:t>
            </a:r>
            <a:r>
              <a:rPr lang="nl-NL" dirty="0" err="1"/>
              <a:t>to</a:t>
            </a:r>
            <a:r>
              <a:rPr lang="nl-NL" dirty="0"/>
              <a:t> </a:t>
            </a:r>
            <a:r>
              <a:rPr lang="nl-NL" dirty="0" err="1"/>
              <a:t>join</a:t>
            </a:r>
            <a:r>
              <a:rPr lang="nl-NL" dirty="0"/>
              <a:t> </a:t>
            </a:r>
            <a:r>
              <a:rPr lang="nl-NL" dirty="0" err="1"/>
              <a:t>physical</a:t>
            </a:r>
            <a:r>
              <a:rPr lang="nl-NL" dirty="0"/>
              <a:t> </a:t>
            </a:r>
            <a:r>
              <a:rPr lang="nl-NL" dirty="0" err="1"/>
              <a:t>lines</a:t>
            </a:r>
            <a:r>
              <a:rPr lang="nl-NL" dirty="0"/>
              <a:t>, </a:t>
            </a:r>
            <a:r>
              <a:rPr lang="nl-NL" dirty="0" err="1"/>
              <a:t>this</a:t>
            </a:r>
            <a:r>
              <a:rPr lang="nl-NL" dirty="0"/>
              <a:t> is </a:t>
            </a:r>
            <a:r>
              <a:rPr lang="nl-NL" dirty="0" err="1"/>
              <a:t>called</a:t>
            </a:r>
            <a:r>
              <a:rPr lang="nl-NL" dirty="0"/>
              <a:t> </a:t>
            </a:r>
            <a:r>
              <a:rPr lang="nl-NL" dirty="0" err="1"/>
              <a:t>implicit</a:t>
            </a:r>
            <a:r>
              <a:rPr lang="nl-NL" dirty="0"/>
              <a:t> </a:t>
            </a:r>
            <a:r>
              <a:rPr lang="nl-NL" dirty="0" err="1"/>
              <a:t>joining</a:t>
            </a:r>
            <a:endParaRPr lang="nl-NL" dirty="0"/>
          </a:p>
          <a:p>
            <a:pPr marL="457200" lvl="1" indent="0">
              <a:buNone/>
            </a:pPr>
            <a:r>
              <a:rPr lang="nl-NL" dirty="0">
                <a:latin typeface="Courier New" panose="02070309020205020404" pitchFamily="49" charset="0"/>
                <a:cs typeface="Courier New" panose="02070309020205020404" pitchFamily="49" charset="0"/>
              </a:rPr>
              <a:t>a = ['</a:t>
            </a:r>
            <a:r>
              <a:rPr lang="en-US" dirty="0">
                <a:latin typeface="Courier New" panose="02070309020205020404" pitchFamily="49" charset="0"/>
                <a:cs typeface="Courier New" panose="02070309020205020404" pitchFamily="49" charset="0"/>
              </a:rPr>
              <a:t>Sometimes one can use parts of a logical line inside a',</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'pair of parentheses, or </a:t>
            </a:r>
            <a:r>
              <a:rPr lang="nl-NL" dirty="0">
                <a:latin typeface="Courier New" panose="02070309020205020404" pitchFamily="49" charset="0"/>
                <a:cs typeface="Courier New" panose="02070309020205020404" pitchFamily="49" charset="0"/>
              </a:rPr>
              <a:t>square </a:t>
            </a:r>
            <a:r>
              <a:rPr lang="nl-NL" dirty="0" err="1">
                <a:latin typeface="Courier New" panose="02070309020205020404" pitchFamily="49" charset="0"/>
                <a:cs typeface="Courier New" panose="02070309020205020404" pitchFamily="49" charset="0"/>
              </a:rPr>
              <a:t>brackets</a:t>
            </a:r>
            <a:r>
              <a:rPr lang="nl-NL" dirty="0">
                <a:latin typeface="Courier New" panose="02070309020205020404" pitchFamily="49" charset="0"/>
                <a:cs typeface="Courier New" panose="02070309020205020404" pitchFamily="49" charset="0"/>
              </a:rPr>
              <a:t>, or </a:t>
            </a:r>
            <a:r>
              <a:rPr lang="nl-NL" dirty="0" err="1">
                <a:latin typeface="Courier New" panose="02070309020205020404" pitchFamily="49" charset="0"/>
                <a:cs typeface="Courier New" panose="02070309020205020404" pitchFamily="49" charset="0"/>
              </a:rPr>
              <a:t>curly</a:t>
            </a:r>
            <a:r>
              <a:rPr lang="nl-NL" dirty="0">
                <a:latin typeface="Courier New" panose="02070309020205020404" pitchFamily="49" charset="0"/>
                <a:cs typeface="Courier New" panose="02070309020205020404" pitchFamily="49" charset="0"/>
              </a:rPr>
              <a:t> </a:t>
            </a:r>
            <a:r>
              <a:rPr lang="nl-NL" dirty="0" err="1">
                <a:latin typeface="Courier New" panose="02070309020205020404" pitchFamily="49" charset="0"/>
                <a:cs typeface="Courier New" panose="02070309020205020404" pitchFamily="49" charset="0"/>
              </a:rPr>
              <a:t>brackets</a:t>
            </a:r>
            <a:r>
              <a:rPr lang="nl-NL" dirty="0">
                <a:latin typeface="Courier New" panose="02070309020205020404" pitchFamily="49" charset="0"/>
                <a:cs typeface="Courier New" panose="02070309020205020404" pitchFamily="49" charset="0"/>
              </a:rPr>
              <a:t>, </a:t>
            </a:r>
            <a:r>
              <a:rPr lang="en-US" dirty="0">
                <a:latin typeface="Courier New" panose="02070309020205020404" pitchFamily="49" charset="0"/>
                <a:cs typeface="Courier New" panose="02070309020205020404" pitchFamily="49" charset="0"/>
              </a:rPr>
              <a:t>',</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a:t>
            </a:r>
            <a:r>
              <a:rPr lang="nl-NL" dirty="0" err="1">
                <a:latin typeface="Courier New" panose="02070309020205020404" pitchFamily="49" charset="0"/>
                <a:cs typeface="Courier New" panose="02070309020205020404" pitchFamily="49" charset="0"/>
              </a:rPr>
              <a:t>to</a:t>
            </a:r>
            <a:r>
              <a:rPr lang="nl-NL" dirty="0">
                <a:latin typeface="Courier New" panose="02070309020205020404" pitchFamily="49" charset="0"/>
                <a:cs typeface="Courier New" panose="02070309020205020404" pitchFamily="49" charset="0"/>
              </a:rPr>
              <a:t> </a:t>
            </a:r>
            <a:r>
              <a:rPr lang="nl-NL" dirty="0" err="1">
                <a:latin typeface="Courier New" panose="02070309020205020404" pitchFamily="49" charset="0"/>
                <a:cs typeface="Courier New" panose="02070309020205020404" pitchFamily="49" charset="0"/>
              </a:rPr>
              <a:t>join</a:t>
            </a:r>
            <a:r>
              <a:rPr lang="nl-NL" dirty="0">
                <a:latin typeface="Courier New" panose="02070309020205020404" pitchFamily="49" charset="0"/>
                <a:cs typeface="Courier New" panose="02070309020205020404" pitchFamily="49" charset="0"/>
              </a:rPr>
              <a:t> </a:t>
            </a:r>
            <a:r>
              <a:rPr lang="nl-NL" dirty="0" err="1">
                <a:latin typeface="Courier New" panose="02070309020205020404" pitchFamily="49" charset="0"/>
                <a:cs typeface="Courier New" panose="02070309020205020404" pitchFamily="49" charset="0"/>
              </a:rPr>
              <a:t>physical</a:t>
            </a:r>
            <a:r>
              <a:rPr lang="nl-NL" dirty="0">
                <a:latin typeface="Courier New" panose="02070309020205020404" pitchFamily="49" charset="0"/>
                <a:cs typeface="Courier New" panose="02070309020205020404" pitchFamily="49" charset="0"/>
              </a:rPr>
              <a:t> </a:t>
            </a:r>
            <a:r>
              <a:rPr lang="nl-NL" dirty="0" err="1">
                <a:latin typeface="Courier New" panose="02070309020205020404" pitchFamily="49" charset="0"/>
                <a:cs typeface="Courier New" panose="02070309020205020404" pitchFamily="49" charset="0"/>
              </a:rPr>
              <a:t>lines</a:t>
            </a:r>
            <a:r>
              <a:rPr lang="nl-NL" dirty="0"/>
              <a:t> , </a:t>
            </a:r>
            <a:r>
              <a:rPr lang="nl-NL" dirty="0" err="1">
                <a:latin typeface="Courier New" panose="02070309020205020404" pitchFamily="49" charset="0"/>
                <a:cs typeface="Courier New" panose="02070309020205020404" pitchFamily="49" charset="0"/>
              </a:rPr>
              <a:t>this</a:t>
            </a:r>
            <a:r>
              <a:rPr lang="nl-NL" dirty="0">
                <a:latin typeface="Courier New" panose="02070309020205020404" pitchFamily="49" charset="0"/>
                <a:cs typeface="Courier New" panose="02070309020205020404" pitchFamily="49" charset="0"/>
              </a:rPr>
              <a:t> is </a:t>
            </a:r>
            <a:r>
              <a:rPr lang="nl-NL" dirty="0" err="1">
                <a:latin typeface="Courier New" panose="02070309020205020404" pitchFamily="49" charset="0"/>
                <a:cs typeface="Courier New" panose="02070309020205020404" pitchFamily="49" charset="0"/>
              </a:rPr>
              <a:t>called</a:t>
            </a:r>
            <a:r>
              <a:rPr lang="nl-NL" dirty="0">
                <a:latin typeface="Courier New" panose="02070309020205020404" pitchFamily="49" charset="0"/>
                <a:cs typeface="Courier New" panose="02070309020205020404" pitchFamily="49" charset="0"/>
              </a:rPr>
              <a:t> </a:t>
            </a:r>
            <a:r>
              <a:rPr lang="nl-NL" dirty="0" err="1">
                <a:latin typeface="Courier New" panose="02070309020205020404" pitchFamily="49" charset="0"/>
                <a:cs typeface="Courier New" panose="02070309020205020404" pitchFamily="49" charset="0"/>
              </a:rPr>
              <a:t>implicite</a:t>
            </a:r>
            <a:r>
              <a:rPr lang="nl-NL" dirty="0">
                <a:latin typeface="Courier New" panose="02070309020205020404" pitchFamily="49" charset="0"/>
                <a:cs typeface="Courier New" panose="02070309020205020404" pitchFamily="49" charset="0"/>
              </a:rPr>
              <a:t> </a:t>
            </a:r>
            <a:r>
              <a:rPr lang="nl-NL" dirty="0" err="1">
                <a:latin typeface="Courier New" panose="02070309020205020404" pitchFamily="49" charset="0"/>
                <a:cs typeface="Courier New" panose="02070309020205020404" pitchFamily="49" charset="0"/>
              </a:rPr>
              <a:t>joining</a:t>
            </a:r>
            <a:r>
              <a:rPr lang="en-US" dirty="0">
                <a:latin typeface="Courier New" panose="02070309020205020404" pitchFamily="49" charset="0"/>
                <a:cs typeface="Courier New" panose="02070309020205020404" pitchFamily="49" charset="0"/>
              </a:rPr>
              <a:t> </a:t>
            </a:r>
            <a:r>
              <a:rPr lang="nl-NL" dirty="0">
                <a:latin typeface="Courier New" panose="02070309020205020404" pitchFamily="49" charset="0"/>
                <a:cs typeface="Courier New" panose="02070309020205020404" pitchFamily="49" charset="0"/>
              </a:rPr>
              <a:t>']</a:t>
            </a:r>
          </a:p>
          <a:p>
            <a:r>
              <a:rPr lang="nl-NL" dirty="0"/>
              <a:t>These </a:t>
            </a:r>
            <a:r>
              <a:rPr lang="nl-NL" dirty="0" err="1"/>
              <a:t>examples</a:t>
            </a:r>
            <a:r>
              <a:rPr lang="nl-NL" dirty="0"/>
              <a:t> of </a:t>
            </a:r>
            <a:r>
              <a:rPr lang="nl-NL" dirty="0" err="1"/>
              <a:t>joining</a:t>
            </a:r>
            <a:r>
              <a:rPr lang="nl-NL" dirty="0"/>
              <a:t> are easy </a:t>
            </a:r>
            <a:r>
              <a:rPr lang="nl-NL" dirty="0" err="1"/>
              <a:t>to</a:t>
            </a:r>
            <a:r>
              <a:rPr lang="nl-NL" dirty="0"/>
              <a:t> follow, but the </a:t>
            </a:r>
            <a:r>
              <a:rPr lang="nl-NL" dirty="0" err="1"/>
              <a:t>precise</a:t>
            </a:r>
            <a:r>
              <a:rPr lang="nl-NL" dirty="0"/>
              <a:t> </a:t>
            </a:r>
            <a:r>
              <a:rPr lang="nl-NL" dirty="0" err="1"/>
              <a:t>rules</a:t>
            </a:r>
            <a:r>
              <a:rPr lang="nl-NL" dirty="0"/>
              <a:t> of </a:t>
            </a:r>
            <a:r>
              <a:rPr lang="nl-NL" dirty="0" err="1"/>
              <a:t>the</a:t>
            </a:r>
            <a:r>
              <a:rPr lang="nl-NL" dirty="0"/>
              <a:t> explicit </a:t>
            </a:r>
            <a:r>
              <a:rPr lang="nl-NL" dirty="0" err="1"/>
              <a:t>and</a:t>
            </a:r>
            <a:r>
              <a:rPr lang="nl-NL" dirty="0"/>
              <a:t> </a:t>
            </a:r>
            <a:r>
              <a:rPr lang="nl-NL" dirty="0" err="1"/>
              <a:t>implicit</a:t>
            </a:r>
            <a:r>
              <a:rPr lang="nl-NL" dirty="0"/>
              <a:t> </a:t>
            </a:r>
            <a:r>
              <a:rPr lang="nl-NL" dirty="0" err="1"/>
              <a:t>joining</a:t>
            </a:r>
            <a:r>
              <a:rPr lang="nl-NL" dirty="0"/>
              <a:t> are a bit more </a:t>
            </a:r>
            <a:r>
              <a:rPr lang="nl-NL" dirty="0" err="1"/>
              <a:t>complicated</a:t>
            </a:r>
            <a:r>
              <a:rPr lang="nl-NL" dirty="0"/>
              <a:t>. </a:t>
            </a:r>
            <a:r>
              <a:rPr lang="nl-NL" dirty="0" err="1"/>
              <a:t>However</a:t>
            </a:r>
            <a:r>
              <a:rPr lang="nl-NL" dirty="0"/>
              <a:t>, in the </a:t>
            </a:r>
            <a:r>
              <a:rPr lang="nl-NL" dirty="0" err="1"/>
              <a:t>exam</a:t>
            </a:r>
            <a:r>
              <a:rPr lang="nl-NL" dirty="0"/>
              <a:t> </a:t>
            </a:r>
            <a:r>
              <a:rPr lang="nl-NL" dirty="0" err="1"/>
              <a:t>material</a:t>
            </a:r>
            <a:r>
              <a:rPr lang="nl-NL" dirty="0"/>
              <a:t> </a:t>
            </a:r>
            <a:r>
              <a:rPr lang="nl-NL" dirty="0" err="1"/>
              <a:t>you</a:t>
            </a:r>
            <a:r>
              <a:rPr lang="nl-NL" dirty="0"/>
              <a:t> </a:t>
            </a:r>
            <a:r>
              <a:rPr lang="nl-NL" dirty="0" err="1"/>
              <a:t>can</a:t>
            </a:r>
            <a:r>
              <a:rPr lang="nl-NL" dirty="0"/>
              <a:t> </a:t>
            </a:r>
            <a:r>
              <a:rPr lang="nl-NL" dirty="0" err="1"/>
              <a:t>always</a:t>
            </a:r>
            <a:r>
              <a:rPr lang="nl-NL" dirty="0"/>
              <a:t> </a:t>
            </a:r>
            <a:r>
              <a:rPr lang="nl-NL" dirty="0" err="1"/>
              <a:t>assume</a:t>
            </a:r>
            <a:r>
              <a:rPr lang="nl-NL" dirty="0"/>
              <a:t> the </a:t>
            </a:r>
            <a:r>
              <a:rPr lang="nl-NL" dirty="0" err="1"/>
              <a:t>rules</a:t>
            </a:r>
            <a:r>
              <a:rPr lang="nl-NL" dirty="0"/>
              <a:t> </a:t>
            </a:r>
            <a:r>
              <a:rPr lang="nl-NL" dirty="0" err="1"/>
              <a:t>for</a:t>
            </a:r>
            <a:r>
              <a:rPr lang="nl-NL" dirty="0"/>
              <a:t> </a:t>
            </a:r>
            <a:r>
              <a:rPr lang="nl-NL" dirty="0" err="1"/>
              <a:t>joining</a:t>
            </a:r>
            <a:r>
              <a:rPr lang="nl-NL" dirty="0"/>
              <a:t> are </a:t>
            </a:r>
            <a:r>
              <a:rPr lang="nl-NL" dirty="0" err="1"/>
              <a:t>applied</a:t>
            </a:r>
            <a:r>
              <a:rPr lang="nl-NL" dirty="0"/>
              <a:t> </a:t>
            </a:r>
            <a:r>
              <a:rPr lang="nl-NL" dirty="0" err="1"/>
              <a:t>correctly</a:t>
            </a:r>
            <a:endParaRPr lang="en-US" dirty="0"/>
          </a:p>
        </p:txBody>
      </p:sp>
      <p:sp>
        <p:nvSpPr>
          <p:cNvPr id="4" name="Slide Number Placeholder 3">
            <a:extLst>
              <a:ext uri="{FF2B5EF4-FFF2-40B4-BE49-F238E27FC236}">
                <a16:creationId xmlns:a16="http://schemas.microsoft.com/office/drawing/2014/main" id="{81C2AC9F-C44F-DAE2-6F18-A5986A60A257}"/>
              </a:ext>
            </a:extLst>
          </p:cNvPr>
          <p:cNvSpPr>
            <a:spLocks noGrp="1"/>
          </p:cNvSpPr>
          <p:nvPr>
            <p:ph type="sldNum" sz="quarter" idx="12"/>
          </p:nvPr>
        </p:nvSpPr>
        <p:spPr/>
        <p:txBody>
          <a:bodyPr/>
          <a:lstStyle/>
          <a:p>
            <a:fld id="{937257EE-0CEF-4D7E-9E69-5277D6172560}" type="slidenum">
              <a:rPr lang="nl-NL" smtClean="0"/>
              <a:t>16</a:t>
            </a:fld>
            <a:endParaRPr lang="nl-NL"/>
          </a:p>
        </p:txBody>
      </p:sp>
    </p:spTree>
    <p:extLst>
      <p:ext uri="{BB962C8B-B14F-4D97-AF65-F5344CB8AC3E}">
        <p14:creationId xmlns:p14="http://schemas.microsoft.com/office/powerpoint/2010/main" val="4626011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C6B878-DF77-6F44-F64A-EFB433F6B1AE}"/>
              </a:ext>
            </a:extLst>
          </p:cNvPr>
          <p:cNvSpPr>
            <a:spLocks noGrp="1"/>
          </p:cNvSpPr>
          <p:nvPr>
            <p:ph type="title"/>
          </p:nvPr>
        </p:nvSpPr>
        <p:spPr/>
        <p:txBody>
          <a:bodyPr/>
          <a:lstStyle/>
          <a:p>
            <a:r>
              <a:rPr lang="nl-NL" dirty="0" err="1"/>
              <a:t>Comments</a:t>
            </a:r>
            <a:endParaRPr lang="en-US" dirty="0"/>
          </a:p>
        </p:txBody>
      </p:sp>
      <p:sp>
        <p:nvSpPr>
          <p:cNvPr id="3" name="Content Placeholder 2">
            <a:extLst>
              <a:ext uri="{FF2B5EF4-FFF2-40B4-BE49-F238E27FC236}">
                <a16:creationId xmlns:a16="http://schemas.microsoft.com/office/drawing/2014/main" id="{638FFD67-6E87-F988-6115-20413F409841}"/>
              </a:ext>
            </a:extLst>
          </p:cNvPr>
          <p:cNvSpPr>
            <a:spLocks noGrp="1"/>
          </p:cNvSpPr>
          <p:nvPr>
            <p:ph idx="1"/>
          </p:nvPr>
        </p:nvSpPr>
        <p:spPr>
          <a:xfrm>
            <a:off x="838200" y="1825624"/>
            <a:ext cx="10972800" cy="5032375"/>
          </a:xfrm>
        </p:spPr>
        <p:txBody>
          <a:bodyPr>
            <a:normAutofit/>
          </a:bodyPr>
          <a:lstStyle/>
          <a:p>
            <a:pPr marL="457200" lvl="1" indent="0">
              <a:buNone/>
            </a:pPr>
            <a:r>
              <a:rPr lang="en-US" dirty="0">
                <a:latin typeface="Courier New" panose="02070309020205020404" pitchFamily="49" charset="0"/>
                <a:cs typeface="Courier New" panose="02070309020205020404" pitchFamily="49" charset="0"/>
              </a:rPr>
              <a:t># This whole physical line is a comment</a:t>
            </a:r>
          </a:p>
          <a:p>
            <a:pPr marL="457200" lvl="1" indent="0">
              <a:buNone/>
            </a:pPr>
            <a:r>
              <a:rPr lang="en-US" dirty="0">
                <a:latin typeface="Courier New" panose="02070309020205020404" pitchFamily="49" charset="0"/>
                <a:cs typeface="Courier New" panose="02070309020205020404" pitchFamily="49" charset="0"/>
              </a:rPr>
              <a:t>a = 1 # Everything after the hashtag (#) is a comment</a:t>
            </a:r>
          </a:p>
          <a:p>
            <a:pPr marL="457200" lvl="1" indent="0">
              <a:buNone/>
            </a:pPr>
            <a:r>
              <a:rPr lang="en-US" dirty="0">
                <a:latin typeface="Courier New" panose="02070309020205020404" pitchFamily="49" charset="0"/>
                <a:cs typeface="Courier New" panose="02070309020205020404" pitchFamily="49" charset="0"/>
              </a:rPr>
              <a:t># This is a </a:t>
            </a:r>
          </a:p>
          <a:p>
            <a:pPr marL="457200" lvl="1" indent="0">
              <a:buNone/>
            </a:pPr>
            <a:r>
              <a:rPr lang="en-US" dirty="0">
                <a:latin typeface="Courier New" panose="02070309020205020404" pitchFamily="49" charset="0"/>
                <a:cs typeface="Courier New" panose="02070309020205020404" pitchFamily="49" charset="0"/>
              </a:rPr>
              <a:t># multiline comment</a:t>
            </a:r>
          </a:p>
          <a:p>
            <a:endParaRPr lang="en-US" dirty="0">
              <a:cs typeface="Arial" panose="020B0604020202020204" pitchFamily="34" charset="0"/>
            </a:endParaRPr>
          </a:p>
        </p:txBody>
      </p:sp>
      <p:sp>
        <p:nvSpPr>
          <p:cNvPr id="4" name="Slide Number Placeholder 3">
            <a:extLst>
              <a:ext uri="{FF2B5EF4-FFF2-40B4-BE49-F238E27FC236}">
                <a16:creationId xmlns:a16="http://schemas.microsoft.com/office/drawing/2014/main" id="{90C7BD97-7D85-EE4C-DF5D-175C4587DED3}"/>
              </a:ext>
            </a:extLst>
          </p:cNvPr>
          <p:cNvSpPr>
            <a:spLocks noGrp="1"/>
          </p:cNvSpPr>
          <p:nvPr>
            <p:ph type="sldNum" sz="quarter" idx="12"/>
          </p:nvPr>
        </p:nvSpPr>
        <p:spPr/>
        <p:txBody>
          <a:bodyPr/>
          <a:lstStyle/>
          <a:p>
            <a:fld id="{937257EE-0CEF-4D7E-9E69-5277D6172560}" type="slidenum">
              <a:rPr lang="nl-NL" smtClean="0"/>
              <a:t>17</a:t>
            </a:fld>
            <a:endParaRPr lang="nl-NL"/>
          </a:p>
        </p:txBody>
      </p:sp>
    </p:spTree>
    <p:extLst>
      <p:ext uri="{BB962C8B-B14F-4D97-AF65-F5344CB8AC3E}">
        <p14:creationId xmlns:p14="http://schemas.microsoft.com/office/powerpoint/2010/main" val="36893581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12F33F-A141-0F90-6E0C-B391F2959544}"/>
              </a:ext>
            </a:extLst>
          </p:cNvPr>
          <p:cNvSpPr>
            <a:spLocks noGrp="1"/>
          </p:cNvSpPr>
          <p:nvPr>
            <p:ph type="title"/>
          </p:nvPr>
        </p:nvSpPr>
        <p:spPr>
          <a:xfrm>
            <a:off x="545592" y="263097"/>
            <a:ext cx="10515600" cy="1325563"/>
          </a:xfrm>
        </p:spPr>
        <p:txBody>
          <a:bodyPr/>
          <a:lstStyle/>
          <a:p>
            <a:r>
              <a:rPr lang="en-US" b="1" dirty="0"/>
              <a:t>Objects</a:t>
            </a:r>
            <a:endParaRPr lang="nl-NL" b="1" dirty="0"/>
          </a:p>
        </p:txBody>
      </p:sp>
      <p:sp>
        <p:nvSpPr>
          <p:cNvPr id="3" name="Content Placeholder 2">
            <a:extLst>
              <a:ext uri="{FF2B5EF4-FFF2-40B4-BE49-F238E27FC236}">
                <a16:creationId xmlns:a16="http://schemas.microsoft.com/office/drawing/2014/main" id="{987FFBB7-D392-3BB1-6E4C-8815E69999CF}"/>
              </a:ext>
            </a:extLst>
          </p:cNvPr>
          <p:cNvSpPr>
            <a:spLocks noGrp="1"/>
          </p:cNvSpPr>
          <p:nvPr>
            <p:ph idx="1"/>
          </p:nvPr>
        </p:nvSpPr>
        <p:spPr>
          <a:xfrm>
            <a:off x="0" y="1405001"/>
            <a:ext cx="12192000" cy="5453000"/>
          </a:xfrm>
        </p:spPr>
        <p:txBody>
          <a:bodyPr>
            <a:normAutofit/>
          </a:bodyPr>
          <a:lstStyle/>
          <a:p>
            <a:r>
              <a:rPr lang="en-GB" sz="2600" dirty="0"/>
              <a:t>Every object has exactly one unique id that cannot be changed</a:t>
            </a:r>
          </a:p>
          <a:p>
            <a:r>
              <a:rPr lang="en-GB" sz="2600" dirty="0"/>
              <a:t>Every object has exactly one type that cannot be changed</a:t>
            </a:r>
          </a:p>
          <a:p>
            <a:r>
              <a:rPr lang="en-US" sz="2600" dirty="0"/>
              <a:t>Every objects has exactly one value</a:t>
            </a:r>
            <a:endParaRPr lang="en-GB" sz="2600" dirty="0"/>
          </a:p>
          <a:p>
            <a:r>
              <a:rPr lang="en-GB" sz="2600" dirty="0"/>
              <a:t>The type of an object defines which type of value can be stored in the object</a:t>
            </a:r>
          </a:p>
          <a:p>
            <a:r>
              <a:rPr lang="en-GB" sz="2600" dirty="0"/>
              <a:t>The type of an object defines whether a value is mutable or is immutable</a:t>
            </a:r>
          </a:p>
          <a:p>
            <a:r>
              <a:rPr lang="en-GB" sz="2600" dirty="0"/>
              <a:t>The value of a mutable objects can be changed, the value of an immutable object cannot be changed</a:t>
            </a:r>
          </a:p>
          <a:p>
            <a:r>
              <a:rPr lang="en-US" sz="2600" dirty="0"/>
              <a:t>An Object can have zero, one or more names bound/referring to it</a:t>
            </a:r>
          </a:p>
          <a:p>
            <a:pPr lvl="1"/>
            <a:r>
              <a:rPr lang="en-US" sz="2600" dirty="0"/>
              <a:t>A name can only refer to one object, at any time</a:t>
            </a:r>
          </a:p>
          <a:p>
            <a:pPr lvl="1"/>
            <a:r>
              <a:rPr lang="en-US" sz="2600" dirty="0"/>
              <a:t>Names can be unbound from an object and bound to another object any time</a:t>
            </a:r>
          </a:p>
          <a:p>
            <a:pPr lvl="1"/>
            <a:endParaRPr lang="en-US" dirty="0"/>
          </a:p>
        </p:txBody>
      </p:sp>
      <p:sp>
        <p:nvSpPr>
          <p:cNvPr id="6" name="Slide Number Placeholder 5">
            <a:extLst>
              <a:ext uri="{FF2B5EF4-FFF2-40B4-BE49-F238E27FC236}">
                <a16:creationId xmlns:a16="http://schemas.microsoft.com/office/drawing/2014/main" id="{007DF11C-323B-CE00-6049-63BBBDB7E345}"/>
              </a:ext>
            </a:extLst>
          </p:cNvPr>
          <p:cNvSpPr>
            <a:spLocks noGrp="1"/>
          </p:cNvSpPr>
          <p:nvPr>
            <p:ph type="sldNum" sz="quarter" idx="12"/>
          </p:nvPr>
        </p:nvSpPr>
        <p:spPr/>
        <p:txBody>
          <a:bodyPr/>
          <a:lstStyle/>
          <a:p>
            <a:fld id="{937257EE-0CEF-4D7E-9E69-5277D6172560}" type="slidenum">
              <a:rPr lang="nl-NL" smtClean="0">
                <a:solidFill>
                  <a:prstClr val="black">
                    <a:tint val="75000"/>
                  </a:prstClr>
                </a:solidFill>
              </a:rPr>
              <a:pPr/>
              <a:t>18</a:t>
            </a:fld>
            <a:endParaRPr lang="nl-NL" dirty="0">
              <a:solidFill>
                <a:prstClr val="black">
                  <a:tint val="75000"/>
                </a:prstClr>
              </a:solidFill>
            </a:endParaRPr>
          </a:p>
        </p:txBody>
      </p:sp>
    </p:spTree>
    <p:extLst>
      <p:ext uri="{BB962C8B-B14F-4D97-AF65-F5344CB8AC3E}">
        <p14:creationId xmlns:p14="http://schemas.microsoft.com/office/powerpoint/2010/main" val="4539216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12F33F-A141-0F90-6E0C-B391F2959544}"/>
              </a:ext>
            </a:extLst>
          </p:cNvPr>
          <p:cNvSpPr>
            <a:spLocks noGrp="1"/>
          </p:cNvSpPr>
          <p:nvPr>
            <p:ph type="title"/>
          </p:nvPr>
        </p:nvSpPr>
        <p:spPr>
          <a:xfrm>
            <a:off x="545592" y="263097"/>
            <a:ext cx="10515600" cy="1325563"/>
          </a:xfrm>
        </p:spPr>
        <p:txBody>
          <a:bodyPr/>
          <a:lstStyle/>
          <a:p>
            <a:r>
              <a:rPr lang="en-US" b="1" dirty="0"/>
              <a:t>Objects</a:t>
            </a:r>
            <a:endParaRPr lang="nl-NL" b="1" dirty="0"/>
          </a:p>
        </p:txBody>
      </p:sp>
      <p:sp>
        <p:nvSpPr>
          <p:cNvPr id="3" name="Content Placeholder 2">
            <a:extLst>
              <a:ext uri="{FF2B5EF4-FFF2-40B4-BE49-F238E27FC236}">
                <a16:creationId xmlns:a16="http://schemas.microsoft.com/office/drawing/2014/main" id="{987FFBB7-D392-3BB1-6E4C-8815E69999CF}"/>
              </a:ext>
            </a:extLst>
          </p:cNvPr>
          <p:cNvSpPr>
            <a:spLocks noGrp="1"/>
          </p:cNvSpPr>
          <p:nvPr>
            <p:ph idx="1"/>
          </p:nvPr>
        </p:nvSpPr>
        <p:spPr>
          <a:xfrm>
            <a:off x="0" y="1405001"/>
            <a:ext cx="12192000" cy="5453000"/>
          </a:xfrm>
        </p:spPr>
        <p:txBody>
          <a:bodyPr>
            <a:normAutofit/>
          </a:bodyPr>
          <a:lstStyle/>
          <a:p>
            <a:r>
              <a:rPr lang="en-GB" sz="2600" dirty="0"/>
              <a:t>An object can be deleted</a:t>
            </a:r>
          </a:p>
          <a:p>
            <a:pPr lvl="1"/>
            <a:r>
              <a:rPr lang="en-GB" sz="2600" dirty="0"/>
              <a:t>By using a </a:t>
            </a:r>
            <a:r>
              <a:rPr lang="en-GB" sz="2600" dirty="0">
                <a:latin typeface="Courier New" panose="02070309020205020404" pitchFamily="49" charset="0"/>
                <a:cs typeface="Courier New" panose="02070309020205020404" pitchFamily="49" charset="0"/>
              </a:rPr>
              <a:t>del</a:t>
            </a:r>
            <a:r>
              <a:rPr lang="en-GB" sz="2600" dirty="0"/>
              <a:t> statement: </a:t>
            </a:r>
            <a:r>
              <a:rPr lang="en-GB" sz="2600" dirty="0">
                <a:latin typeface="Courier New" panose="02070309020205020404" pitchFamily="49" charset="0"/>
                <a:cs typeface="Courier New" panose="02070309020205020404" pitchFamily="49" charset="0"/>
              </a:rPr>
              <a:t>del(</a:t>
            </a:r>
            <a:r>
              <a:rPr lang="en-GB" sz="2600" dirty="0" err="1">
                <a:latin typeface="Courier New" panose="02070309020205020404" pitchFamily="49" charset="0"/>
                <a:cs typeface="Courier New" panose="02070309020205020404" pitchFamily="49" charset="0"/>
              </a:rPr>
              <a:t>name_of_object</a:t>
            </a:r>
            <a:r>
              <a:rPr lang="en-GB" sz="2600" dirty="0">
                <a:latin typeface="Courier New" panose="02070309020205020404" pitchFamily="49" charset="0"/>
                <a:cs typeface="Courier New" panose="02070309020205020404" pitchFamily="49" charset="0"/>
              </a:rPr>
              <a:t>)</a:t>
            </a:r>
          </a:p>
          <a:p>
            <a:pPr lvl="1"/>
            <a:r>
              <a:rPr lang="en-GB" sz="2600" dirty="0"/>
              <a:t>When an object is not referred to, not by a name or anything else, it can no longer be used in a program and </a:t>
            </a:r>
            <a:r>
              <a:rPr lang="en-US" sz="2600" dirty="0">
                <a:solidFill>
                  <a:srgbClr val="000000"/>
                </a:solidFill>
              </a:rPr>
              <a:t>Python's garbage collection will automatically remove the object</a:t>
            </a:r>
          </a:p>
          <a:p>
            <a:pPr lvl="1"/>
            <a:r>
              <a:rPr lang="en-US" sz="2600" dirty="0"/>
              <a:t>Objects created in a program [function], will only exist during the lifetime of the program [function], and will be automatically deleted when the program [function] ends</a:t>
            </a:r>
          </a:p>
          <a:p>
            <a:r>
              <a:rPr lang="en-GB" sz="3000" dirty="0"/>
              <a:t>Everything in Python is an object</a:t>
            </a:r>
            <a:r>
              <a:rPr lang="en-US" sz="3000" dirty="0"/>
              <a:t> </a:t>
            </a:r>
          </a:p>
          <a:p>
            <a:pPr lvl="1"/>
            <a:endParaRPr lang="en-US" dirty="0"/>
          </a:p>
        </p:txBody>
      </p:sp>
      <p:sp>
        <p:nvSpPr>
          <p:cNvPr id="6" name="Slide Number Placeholder 5">
            <a:extLst>
              <a:ext uri="{FF2B5EF4-FFF2-40B4-BE49-F238E27FC236}">
                <a16:creationId xmlns:a16="http://schemas.microsoft.com/office/drawing/2014/main" id="{007DF11C-323B-CE00-6049-63BBBDB7E345}"/>
              </a:ext>
            </a:extLst>
          </p:cNvPr>
          <p:cNvSpPr>
            <a:spLocks noGrp="1"/>
          </p:cNvSpPr>
          <p:nvPr>
            <p:ph type="sldNum" sz="quarter" idx="12"/>
          </p:nvPr>
        </p:nvSpPr>
        <p:spPr/>
        <p:txBody>
          <a:bodyPr/>
          <a:lstStyle/>
          <a:p>
            <a:fld id="{937257EE-0CEF-4D7E-9E69-5277D6172560}" type="slidenum">
              <a:rPr lang="nl-NL" smtClean="0">
                <a:solidFill>
                  <a:prstClr val="black">
                    <a:tint val="75000"/>
                  </a:prstClr>
                </a:solidFill>
              </a:rPr>
              <a:pPr/>
              <a:t>19</a:t>
            </a:fld>
            <a:endParaRPr lang="nl-NL" dirty="0">
              <a:solidFill>
                <a:prstClr val="black">
                  <a:tint val="75000"/>
                </a:prstClr>
              </a:solidFill>
            </a:endParaRPr>
          </a:p>
        </p:txBody>
      </p:sp>
    </p:spTree>
    <p:extLst>
      <p:ext uri="{BB962C8B-B14F-4D97-AF65-F5344CB8AC3E}">
        <p14:creationId xmlns:p14="http://schemas.microsoft.com/office/powerpoint/2010/main" val="9713045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12F33F-A141-0F90-6E0C-B391F2959544}"/>
              </a:ext>
            </a:extLst>
          </p:cNvPr>
          <p:cNvSpPr>
            <a:spLocks noGrp="1"/>
          </p:cNvSpPr>
          <p:nvPr>
            <p:ph type="title"/>
          </p:nvPr>
        </p:nvSpPr>
        <p:spPr>
          <a:xfrm>
            <a:off x="545592" y="263097"/>
            <a:ext cx="10515600" cy="1325563"/>
          </a:xfrm>
        </p:spPr>
        <p:txBody>
          <a:bodyPr/>
          <a:lstStyle/>
          <a:p>
            <a:r>
              <a:rPr lang="en-US" b="1" dirty="0"/>
              <a:t>Assignment statements (I)</a:t>
            </a:r>
            <a:r>
              <a:rPr lang="en-US" dirty="0"/>
              <a:t> </a:t>
            </a:r>
            <a:endParaRPr lang="nl-NL" b="1" dirty="0"/>
          </a:p>
        </p:txBody>
      </p:sp>
      <p:sp>
        <p:nvSpPr>
          <p:cNvPr id="3" name="Content Placeholder 2">
            <a:extLst>
              <a:ext uri="{FF2B5EF4-FFF2-40B4-BE49-F238E27FC236}">
                <a16:creationId xmlns:a16="http://schemas.microsoft.com/office/drawing/2014/main" id="{987FFBB7-D392-3BB1-6E4C-8815E69999CF}"/>
              </a:ext>
            </a:extLst>
          </p:cNvPr>
          <p:cNvSpPr>
            <a:spLocks noGrp="1"/>
          </p:cNvSpPr>
          <p:nvPr>
            <p:ph idx="1"/>
          </p:nvPr>
        </p:nvSpPr>
        <p:spPr>
          <a:xfrm>
            <a:off x="545591" y="1689100"/>
            <a:ext cx="10722484" cy="5032375"/>
          </a:xfrm>
        </p:spPr>
        <p:txBody>
          <a:bodyPr>
            <a:normAutofit fontScale="92500" lnSpcReduction="20000"/>
          </a:bodyPr>
          <a:lstStyle/>
          <a:p>
            <a:r>
              <a:rPr lang="en-US" dirty="0"/>
              <a:t>A common way to create an object is using an assignment statement, e.g.</a:t>
            </a:r>
          </a:p>
          <a:p>
            <a:pPr marL="457200" lvl="1" indent="0">
              <a:buNone/>
            </a:pPr>
            <a:r>
              <a:rPr lang="en-US" dirty="0"/>
              <a:t> </a:t>
            </a:r>
            <a:r>
              <a:rPr lang="en-US" dirty="0">
                <a:latin typeface="Courier New" panose="02070309020205020404" pitchFamily="49" charset="0"/>
                <a:cs typeface="Courier New" panose="02070309020205020404" pitchFamily="49" charset="0"/>
              </a:rPr>
              <a:t>name_1 = 300</a:t>
            </a:r>
          </a:p>
          <a:p>
            <a:r>
              <a:rPr lang="en-US" dirty="0"/>
              <a:t>To follow exactly what Python will do, it is best to read these assignment statements from right to left:</a:t>
            </a:r>
          </a:p>
          <a:p>
            <a:pPr lvl="1"/>
            <a:r>
              <a:rPr lang="en-US" dirty="0"/>
              <a:t>Python creates a new object with value 300, type int, and a unique id</a:t>
            </a:r>
          </a:p>
          <a:p>
            <a:pPr lvl="1"/>
            <a:r>
              <a:rPr lang="en-US" dirty="0"/>
              <a:t>Python infers the object type from the value on the right side of the assignment statement. In this case the type will be </a:t>
            </a:r>
            <a:r>
              <a:rPr lang="en-US" dirty="0">
                <a:latin typeface="Courier New" panose="02070309020205020404" pitchFamily="49" charset="0"/>
                <a:cs typeface="Courier New" panose="02070309020205020404" pitchFamily="49" charset="0"/>
              </a:rPr>
              <a:t>int</a:t>
            </a:r>
            <a:r>
              <a:rPr lang="en-US" dirty="0"/>
              <a:t> (integer)</a:t>
            </a:r>
          </a:p>
          <a:p>
            <a:pPr lvl="1"/>
            <a:r>
              <a:rPr lang="en-US" dirty="0"/>
              <a:t>Python binds the name on the left side of the assignment statement </a:t>
            </a:r>
            <a:r>
              <a:rPr lang="en-US" sz="2300" dirty="0">
                <a:latin typeface="Courier New" panose="02070309020205020404" pitchFamily="49" charset="0"/>
                <a:cs typeface="Courier New" panose="02070309020205020404" pitchFamily="49" charset="0"/>
              </a:rPr>
              <a:t>name_1</a:t>
            </a:r>
            <a:r>
              <a:rPr lang="en-US" dirty="0"/>
              <a:t> to this newly created object</a:t>
            </a:r>
          </a:p>
          <a:p>
            <a:r>
              <a:rPr lang="en-US" dirty="0"/>
              <a:t>We have created an object with the name </a:t>
            </a:r>
            <a:r>
              <a:rPr lang="en-US" dirty="0">
                <a:latin typeface="Courier New" panose="02070309020205020404" pitchFamily="49" charset="0"/>
                <a:cs typeface="Courier New" panose="02070309020205020404" pitchFamily="49" charset="0"/>
              </a:rPr>
              <a:t>name_1 </a:t>
            </a:r>
            <a:r>
              <a:rPr lang="en-US" dirty="0"/>
              <a:t>and we can now display the value, the type and the id of the object:</a:t>
            </a:r>
          </a:p>
          <a:p>
            <a:pPr marL="457200" lvl="1" indent="0">
              <a:buNone/>
            </a:pPr>
            <a:r>
              <a:rPr lang="en-US" dirty="0">
                <a:latin typeface="Courier New" panose="02070309020205020404" pitchFamily="49" charset="0"/>
                <a:cs typeface="Courier New" panose="02070309020205020404" pitchFamily="49" charset="0"/>
              </a:rPr>
              <a:t>print (name_1)</a:t>
            </a:r>
          </a:p>
          <a:p>
            <a:pPr marL="457200" lvl="1" indent="0">
              <a:buNone/>
            </a:pPr>
            <a:r>
              <a:rPr lang="en-US" dirty="0">
                <a:latin typeface="Courier New" panose="02070309020205020404" pitchFamily="49" charset="0"/>
                <a:cs typeface="Courier New" panose="02070309020205020404" pitchFamily="49" charset="0"/>
              </a:rPr>
              <a:t>print (type(name_1))</a:t>
            </a:r>
          </a:p>
          <a:p>
            <a:pPr marL="457200" lvl="1" indent="0">
              <a:buNone/>
            </a:pPr>
            <a:r>
              <a:rPr lang="en-US" dirty="0">
                <a:latin typeface="Courier New" panose="02070309020205020404" pitchFamily="49" charset="0"/>
                <a:cs typeface="Courier New" panose="02070309020205020404" pitchFamily="49" charset="0"/>
              </a:rPr>
              <a:t>print (id(name_1))</a:t>
            </a:r>
            <a:r>
              <a:rPr lang="en-US" dirty="0"/>
              <a:t>  </a:t>
            </a:r>
            <a:endParaRPr lang="en-US" dirty="0">
              <a:latin typeface="Courier New" panose="02070309020205020404" pitchFamily="49" charset="0"/>
              <a:cs typeface="Courier New" panose="02070309020205020404" pitchFamily="49" charset="0"/>
            </a:endParaRPr>
          </a:p>
        </p:txBody>
      </p:sp>
      <p:sp>
        <p:nvSpPr>
          <p:cNvPr id="6" name="Slide Number Placeholder 5">
            <a:extLst>
              <a:ext uri="{FF2B5EF4-FFF2-40B4-BE49-F238E27FC236}">
                <a16:creationId xmlns:a16="http://schemas.microsoft.com/office/drawing/2014/main" id="{007DF11C-323B-CE00-6049-63BBBDB7E345}"/>
              </a:ext>
            </a:extLst>
          </p:cNvPr>
          <p:cNvSpPr>
            <a:spLocks noGrp="1"/>
          </p:cNvSpPr>
          <p:nvPr>
            <p:ph type="sldNum" sz="quarter" idx="12"/>
          </p:nvPr>
        </p:nvSpPr>
        <p:spPr/>
        <p:txBody>
          <a:bodyPr/>
          <a:lstStyle/>
          <a:p>
            <a:fld id="{937257EE-0CEF-4D7E-9E69-5277D6172560}" type="slidenum">
              <a:rPr lang="nl-NL" smtClean="0">
                <a:solidFill>
                  <a:prstClr val="black">
                    <a:tint val="75000"/>
                  </a:prstClr>
                </a:solidFill>
              </a:rPr>
              <a:pPr/>
              <a:t>20</a:t>
            </a:fld>
            <a:endParaRPr lang="nl-NL">
              <a:solidFill>
                <a:prstClr val="black">
                  <a:tint val="75000"/>
                </a:prstClr>
              </a:solidFill>
            </a:endParaRPr>
          </a:p>
        </p:txBody>
      </p:sp>
    </p:spTree>
    <p:extLst>
      <p:ext uri="{BB962C8B-B14F-4D97-AF65-F5344CB8AC3E}">
        <p14:creationId xmlns:p14="http://schemas.microsoft.com/office/powerpoint/2010/main" val="19206251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12F33F-A141-0F90-6E0C-B391F2959544}"/>
              </a:ext>
            </a:extLst>
          </p:cNvPr>
          <p:cNvSpPr>
            <a:spLocks noGrp="1"/>
          </p:cNvSpPr>
          <p:nvPr>
            <p:ph type="title"/>
          </p:nvPr>
        </p:nvSpPr>
        <p:spPr>
          <a:xfrm>
            <a:off x="545592" y="263097"/>
            <a:ext cx="10515600" cy="1325563"/>
          </a:xfrm>
        </p:spPr>
        <p:txBody>
          <a:bodyPr/>
          <a:lstStyle/>
          <a:p>
            <a:r>
              <a:rPr lang="en-US" b="1" dirty="0"/>
              <a:t>Using assignment statements to create objects(II)</a:t>
            </a:r>
            <a:r>
              <a:rPr lang="en-US" dirty="0"/>
              <a:t> </a:t>
            </a:r>
            <a:endParaRPr lang="nl-NL" b="1" dirty="0"/>
          </a:p>
        </p:txBody>
      </p:sp>
      <p:sp>
        <p:nvSpPr>
          <p:cNvPr id="3" name="Content Placeholder 2">
            <a:extLst>
              <a:ext uri="{FF2B5EF4-FFF2-40B4-BE49-F238E27FC236}">
                <a16:creationId xmlns:a16="http://schemas.microsoft.com/office/drawing/2014/main" id="{987FFBB7-D392-3BB1-6E4C-8815E69999CF}"/>
              </a:ext>
            </a:extLst>
          </p:cNvPr>
          <p:cNvSpPr>
            <a:spLocks noGrp="1"/>
          </p:cNvSpPr>
          <p:nvPr>
            <p:ph idx="1"/>
          </p:nvPr>
        </p:nvSpPr>
        <p:spPr>
          <a:xfrm>
            <a:off x="545592" y="1689100"/>
            <a:ext cx="10515600" cy="5032375"/>
          </a:xfrm>
        </p:spPr>
        <p:txBody>
          <a:bodyPr>
            <a:normAutofit/>
          </a:bodyPr>
          <a:lstStyle/>
          <a:p>
            <a:r>
              <a:rPr lang="en-US" dirty="0"/>
              <a:t>Let's now create a second object with value 300 and type int</a:t>
            </a:r>
          </a:p>
          <a:p>
            <a:pPr marL="457200" lvl="1" indent="0">
              <a:buNone/>
            </a:pPr>
            <a:r>
              <a:rPr lang="en-US" dirty="0">
                <a:latin typeface="Courier New" panose="02070309020205020404" pitchFamily="49" charset="0"/>
                <a:cs typeface="Courier New" panose="02070309020205020404" pitchFamily="49" charset="0"/>
              </a:rPr>
              <a:t>name_2 = 300</a:t>
            </a:r>
          </a:p>
          <a:p>
            <a:r>
              <a:rPr lang="en-US" dirty="0">
                <a:cs typeface="Arial" panose="020B0604020202020204" pitchFamily="34" charset="0"/>
              </a:rPr>
              <a:t>We can show, that </a:t>
            </a:r>
            <a:r>
              <a:rPr lang="en-US" dirty="0">
                <a:latin typeface="Courier New" panose="02070309020205020404" pitchFamily="49" charset="0"/>
                <a:cs typeface="Courier New" panose="02070309020205020404" pitchFamily="49" charset="0"/>
              </a:rPr>
              <a:t>name_1</a:t>
            </a:r>
            <a:r>
              <a:rPr lang="en-US" dirty="0">
                <a:cs typeface="Arial" panose="020B0604020202020204" pitchFamily="34" charset="0"/>
              </a:rPr>
              <a:t>, and</a:t>
            </a:r>
            <a:r>
              <a:rPr lang="en-US" dirty="0">
                <a:latin typeface="Courier New" panose="02070309020205020404" pitchFamily="49" charset="0"/>
                <a:cs typeface="Courier New" panose="02070309020205020404" pitchFamily="49" charset="0"/>
              </a:rPr>
              <a:t> name_2 </a:t>
            </a:r>
            <a:r>
              <a:rPr lang="en-US" dirty="0">
                <a:cs typeface="Arial" panose="020B0604020202020204" pitchFamily="34" charset="0"/>
              </a:rPr>
              <a:t>refer to objects that have the same value, and the same type, but have different id's</a:t>
            </a:r>
          </a:p>
          <a:p>
            <a:pPr marL="457200" lvl="1" indent="0">
              <a:buNone/>
            </a:pPr>
            <a:r>
              <a:rPr lang="en-US" dirty="0">
                <a:latin typeface="Courier New" panose="02070309020205020404" pitchFamily="49" charset="0"/>
                <a:cs typeface="Courier New" panose="02070309020205020404" pitchFamily="49" charset="0"/>
              </a:rPr>
              <a:t>print(name_1 == name_2)</a:t>
            </a:r>
          </a:p>
          <a:p>
            <a:pPr marL="457200" lvl="1" indent="0">
              <a:buNone/>
            </a:pPr>
            <a:r>
              <a:rPr lang="en-US" dirty="0">
                <a:latin typeface="Courier New" panose="02070309020205020404" pitchFamily="49" charset="0"/>
                <a:cs typeface="Courier New" panose="02070309020205020404" pitchFamily="49" charset="0"/>
              </a:rPr>
              <a:t>print(type(name_1) == type(name_2))</a:t>
            </a:r>
          </a:p>
          <a:p>
            <a:pPr marL="457200" lvl="1" indent="0">
              <a:buNone/>
            </a:pPr>
            <a:r>
              <a:rPr lang="en-US" dirty="0">
                <a:latin typeface="Courier New" panose="02070309020205020404" pitchFamily="49" charset="0"/>
                <a:cs typeface="Courier New" panose="02070309020205020404" pitchFamily="49" charset="0"/>
              </a:rPr>
              <a:t>print(id(name_1) != id(name_2)) </a:t>
            </a:r>
            <a:br>
              <a:rPr lang="en-US" dirty="0">
                <a:latin typeface="Courier New" panose="02070309020205020404" pitchFamily="49" charset="0"/>
                <a:cs typeface="Courier New" panose="02070309020205020404" pitchFamily="49" charset="0"/>
              </a:rPr>
            </a:br>
            <a:r>
              <a:rPr lang="en-US" dirty="0">
                <a:cs typeface="Arial" panose="020B0604020202020204" pitchFamily="34" charset="0"/>
              </a:rPr>
              <a:t>or shorter:</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print(name_1 not is name_2)</a:t>
            </a:r>
          </a:p>
          <a:p>
            <a:pPr marL="457200" lvl="1" indent="0">
              <a:buNone/>
            </a:pPr>
            <a:endParaRPr lang="en-US" dirty="0">
              <a:latin typeface="Courier New" panose="02070309020205020404" pitchFamily="49" charset="0"/>
              <a:cs typeface="Courier New" panose="02070309020205020404" pitchFamily="49" charset="0"/>
            </a:endParaRPr>
          </a:p>
        </p:txBody>
      </p:sp>
      <p:sp>
        <p:nvSpPr>
          <p:cNvPr id="6" name="Slide Number Placeholder 5">
            <a:extLst>
              <a:ext uri="{FF2B5EF4-FFF2-40B4-BE49-F238E27FC236}">
                <a16:creationId xmlns:a16="http://schemas.microsoft.com/office/drawing/2014/main" id="{007DF11C-323B-CE00-6049-63BBBDB7E345}"/>
              </a:ext>
            </a:extLst>
          </p:cNvPr>
          <p:cNvSpPr>
            <a:spLocks noGrp="1"/>
          </p:cNvSpPr>
          <p:nvPr>
            <p:ph type="sldNum" sz="quarter" idx="12"/>
          </p:nvPr>
        </p:nvSpPr>
        <p:spPr/>
        <p:txBody>
          <a:bodyPr/>
          <a:lstStyle/>
          <a:p>
            <a:fld id="{937257EE-0CEF-4D7E-9E69-5277D6172560}" type="slidenum">
              <a:rPr lang="nl-NL" smtClean="0">
                <a:solidFill>
                  <a:prstClr val="black">
                    <a:tint val="75000"/>
                  </a:prstClr>
                </a:solidFill>
              </a:rPr>
              <a:pPr/>
              <a:t>21</a:t>
            </a:fld>
            <a:endParaRPr lang="nl-NL">
              <a:solidFill>
                <a:prstClr val="black">
                  <a:tint val="75000"/>
                </a:prstClr>
              </a:solidFill>
            </a:endParaRPr>
          </a:p>
        </p:txBody>
      </p:sp>
    </p:spTree>
    <p:extLst>
      <p:ext uri="{BB962C8B-B14F-4D97-AF65-F5344CB8AC3E}">
        <p14:creationId xmlns:p14="http://schemas.microsoft.com/office/powerpoint/2010/main" val="26573998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12F33F-A141-0F90-6E0C-B391F2959544}"/>
              </a:ext>
            </a:extLst>
          </p:cNvPr>
          <p:cNvSpPr>
            <a:spLocks noGrp="1"/>
          </p:cNvSpPr>
          <p:nvPr>
            <p:ph type="title"/>
          </p:nvPr>
        </p:nvSpPr>
        <p:spPr>
          <a:xfrm>
            <a:off x="545592" y="263097"/>
            <a:ext cx="10515600" cy="1325563"/>
          </a:xfrm>
        </p:spPr>
        <p:txBody>
          <a:bodyPr/>
          <a:lstStyle/>
          <a:p>
            <a:r>
              <a:rPr lang="en-US" b="1" dirty="0"/>
              <a:t>Using assignment statements to create objects(III)</a:t>
            </a:r>
            <a:r>
              <a:rPr lang="en-US" dirty="0"/>
              <a:t> </a:t>
            </a:r>
            <a:endParaRPr lang="nl-NL" b="1" dirty="0"/>
          </a:p>
        </p:txBody>
      </p:sp>
      <p:sp>
        <p:nvSpPr>
          <p:cNvPr id="3" name="Content Placeholder 2">
            <a:extLst>
              <a:ext uri="{FF2B5EF4-FFF2-40B4-BE49-F238E27FC236}">
                <a16:creationId xmlns:a16="http://schemas.microsoft.com/office/drawing/2014/main" id="{987FFBB7-D392-3BB1-6E4C-8815E69999CF}"/>
              </a:ext>
            </a:extLst>
          </p:cNvPr>
          <p:cNvSpPr>
            <a:spLocks noGrp="1"/>
          </p:cNvSpPr>
          <p:nvPr>
            <p:ph idx="1"/>
          </p:nvPr>
        </p:nvSpPr>
        <p:spPr>
          <a:xfrm>
            <a:off x="545592" y="1689100"/>
            <a:ext cx="11646408" cy="5032375"/>
          </a:xfrm>
        </p:spPr>
        <p:txBody>
          <a:bodyPr>
            <a:normAutofit/>
          </a:bodyPr>
          <a:lstStyle/>
          <a:p>
            <a:r>
              <a:rPr lang="en-US" dirty="0">
                <a:cs typeface="Arial" panose="020B0604020202020204" pitchFamily="34" charset="0"/>
              </a:rPr>
              <a:t>You can also create an object and give it two (or more) names:</a:t>
            </a:r>
          </a:p>
          <a:p>
            <a:pPr marL="457200" lvl="1" indent="0">
              <a:buNone/>
            </a:pPr>
            <a:r>
              <a:rPr lang="en-US" dirty="0">
                <a:latin typeface="Courier New" panose="02070309020205020404" pitchFamily="49" charset="0"/>
                <a:cs typeface="Courier New" panose="02070309020205020404" pitchFamily="49" charset="0"/>
              </a:rPr>
              <a:t>name_3 = 300</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name_4 = name_3</a:t>
            </a:r>
          </a:p>
          <a:p>
            <a:pPr marL="457200" lvl="1" indent="0">
              <a:buNone/>
            </a:pPr>
            <a:r>
              <a:rPr lang="en-US" sz="2000" dirty="0">
                <a:latin typeface="Courier New" panose="02070309020205020404" pitchFamily="49" charset="0"/>
                <a:cs typeface="Courier New" panose="02070309020205020404" pitchFamily="49" charset="0"/>
              </a:rPr>
              <a:t>name_5 = name_3</a:t>
            </a:r>
          </a:p>
          <a:p>
            <a:pPr marL="457200" lvl="1" indent="0">
              <a:buNone/>
            </a:pPr>
            <a:r>
              <a:rPr lang="en-US" sz="2000" dirty="0">
                <a:latin typeface="Courier New" panose="02070309020205020404" pitchFamily="49" charset="0"/>
                <a:cs typeface="Courier New" panose="02070309020205020404" pitchFamily="49" charset="0"/>
              </a:rPr>
              <a:t>name_6 = name_4</a:t>
            </a:r>
          </a:p>
          <a:p>
            <a:pPr marL="457200" lvl="1" indent="0">
              <a:buNone/>
            </a:pPr>
            <a:r>
              <a:rPr lang="en-US" sz="2000" dirty="0">
                <a:cs typeface="Arial" panose="020B0604020202020204" pitchFamily="34" charset="0"/>
              </a:rPr>
              <a:t>or shorter:</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name_3 = name_4 = name_5 = name_6 = 300</a:t>
            </a:r>
          </a:p>
          <a:p>
            <a:pPr marL="457200" lvl="1" indent="0">
              <a:buNone/>
            </a:pPr>
            <a:endParaRPr lang="en-US" sz="2000" dirty="0">
              <a:latin typeface="Courier New" panose="02070309020205020404" pitchFamily="49" charset="0"/>
              <a:cs typeface="Courier New" panose="02070309020205020404" pitchFamily="49" charset="0"/>
            </a:endParaRPr>
          </a:p>
          <a:p>
            <a:r>
              <a:rPr lang="en-US" dirty="0">
                <a:cs typeface="Arial" panose="020B0604020202020204" pitchFamily="34" charset="0"/>
              </a:rPr>
              <a:t>We can show, that </a:t>
            </a:r>
            <a:r>
              <a:rPr lang="en-US" dirty="0">
                <a:latin typeface="Courier New" panose="02070309020205020404" pitchFamily="49" charset="0"/>
                <a:cs typeface="Courier New" panose="02070309020205020404" pitchFamily="49" charset="0"/>
              </a:rPr>
              <a:t>name_3</a:t>
            </a:r>
            <a:r>
              <a:rPr lang="en-US" dirty="0">
                <a:cs typeface="Arial" panose="020B0604020202020204" pitchFamily="34" charset="0"/>
              </a:rPr>
              <a:t>, that </a:t>
            </a:r>
            <a:r>
              <a:rPr lang="en-US" dirty="0">
                <a:latin typeface="Courier New" panose="02070309020205020404" pitchFamily="49" charset="0"/>
                <a:cs typeface="Courier New" panose="02070309020205020404" pitchFamily="49" charset="0"/>
              </a:rPr>
              <a:t>name_4</a:t>
            </a:r>
            <a:r>
              <a:rPr lang="en-US" dirty="0">
                <a:cs typeface="Arial" panose="020B0604020202020204" pitchFamily="34" charset="0"/>
              </a:rPr>
              <a:t>, that </a:t>
            </a:r>
            <a:r>
              <a:rPr lang="en-US" dirty="0">
                <a:latin typeface="Courier New" panose="02070309020205020404" pitchFamily="49" charset="0"/>
                <a:cs typeface="Courier New" panose="02070309020205020404" pitchFamily="49" charset="0"/>
              </a:rPr>
              <a:t>name_5</a:t>
            </a:r>
            <a:r>
              <a:rPr lang="en-US" dirty="0">
                <a:cs typeface="Arial" panose="020B0604020202020204" pitchFamily="34" charset="0"/>
              </a:rPr>
              <a:t>, and</a:t>
            </a:r>
            <a:r>
              <a:rPr lang="en-US" dirty="0">
                <a:latin typeface="Courier New" panose="02070309020205020404" pitchFamily="49" charset="0"/>
                <a:cs typeface="Courier New" panose="02070309020205020404" pitchFamily="49" charset="0"/>
              </a:rPr>
              <a:t> name_6 </a:t>
            </a:r>
            <a:r>
              <a:rPr lang="en-US" dirty="0">
                <a:cs typeface="Arial" panose="020B0604020202020204" pitchFamily="34" charset="0"/>
              </a:rPr>
              <a:t>all refer to the same object, and have the same value and type:</a:t>
            </a:r>
          </a:p>
          <a:p>
            <a:pPr marL="457200" lvl="1" indent="0">
              <a:buNone/>
            </a:pPr>
            <a:r>
              <a:rPr lang="en-US" sz="2000" dirty="0">
                <a:latin typeface="Courier New" panose="02070309020205020404" pitchFamily="49" charset="0"/>
                <a:cs typeface="Courier New" panose="02070309020205020404" pitchFamily="49" charset="0"/>
              </a:rPr>
              <a:t>print(name_3 == name_4 == name_5 == name_6)</a:t>
            </a:r>
          </a:p>
          <a:p>
            <a:pPr marL="457200" lvl="1" indent="0">
              <a:buNone/>
            </a:pPr>
            <a:r>
              <a:rPr lang="en-US" sz="2000" dirty="0">
                <a:latin typeface="Courier New" panose="02070309020205020404" pitchFamily="49" charset="0"/>
                <a:cs typeface="Courier New" panose="02070309020205020404" pitchFamily="49" charset="0"/>
              </a:rPr>
              <a:t>print(type(name_3) == type(name_4) == type(name_5) == type(name_6))</a:t>
            </a:r>
          </a:p>
          <a:p>
            <a:pPr marL="457200" lvl="1" indent="0">
              <a:buNone/>
            </a:pPr>
            <a:r>
              <a:rPr lang="en-US" sz="2000" dirty="0">
                <a:latin typeface="Courier New" panose="02070309020205020404" pitchFamily="49" charset="0"/>
                <a:cs typeface="Courier New" panose="02070309020205020404" pitchFamily="49" charset="0"/>
              </a:rPr>
              <a:t>print(name_3 is name_4 is name_5 is name_6)</a:t>
            </a:r>
            <a:endParaRPr lang="en-US" dirty="0">
              <a:latin typeface="Courier New" panose="02070309020205020404" pitchFamily="49" charset="0"/>
              <a:cs typeface="Courier New" panose="02070309020205020404" pitchFamily="49" charset="0"/>
            </a:endParaRPr>
          </a:p>
        </p:txBody>
      </p:sp>
      <p:sp>
        <p:nvSpPr>
          <p:cNvPr id="6" name="Slide Number Placeholder 5">
            <a:extLst>
              <a:ext uri="{FF2B5EF4-FFF2-40B4-BE49-F238E27FC236}">
                <a16:creationId xmlns:a16="http://schemas.microsoft.com/office/drawing/2014/main" id="{007DF11C-323B-CE00-6049-63BBBDB7E345}"/>
              </a:ext>
            </a:extLst>
          </p:cNvPr>
          <p:cNvSpPr>
            <a:spLocks noGrp="1"/>
          </p:cNvSpPr>
          <p:nvPr>
            <p:ph type="sldNum" sz="quarter" idx="12"/>
          </p:nvPr>
        </p:nvSpPr>
        <p:spPr/>
        <p:txBody>
          <a:bodyPr/>
          <a:lstStyle/>
          <a:p>
            <a:fld id="{937257EE-0CEF-4D7E-9E69-5277D6172560}" type="slidenum">
              <a:rPr lang="nl-NL" smtClean="0">
                <a:solidFill>
                  <a:prstClr val="black">
                    <a:tint val="75000"/>
                  </a:prstClr>
                </a:solidFill>
              </a:rPr>
              <a:pPr/>
              <a:t>22</a:t>
            </a:fld>
            <a:endParaRPr lang="nl-NL">
              <a:solidFill>
                <a:prstClr val="black">
                  <a:tint val="75000"/>
                </a:prstClr>
              </a:solidFill>
            </a:endParaRPr>
          </a:p>
        </p:txBody>
      </p:sp>
    </p:spTree>
    <p:extLst>
      <p:ext uri="{BB962C8B-B14F-4D97-AF65-F5344CB8AC3E}">
        <p14:creationId xmlns:p14="http://schemas.microsoft.com/office/powerpoint/2010/main" val="15034302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12F33F-A141-0F90-6E0C-B391F2959544}"/>
              </a:ext>
            </a:extLst>
          </p:cNvPr>
          <p:cNvSpPr>
            <a:spLocks noGrp="1"/>
          </p:cNvSpPr>
          <p:nvPr>
            <p:ph type="title"/>
          </p:nvPr>
        </p:nvSpPr>
        <p:spPr>
          <a:xfrm>
            <a:off x="545592" y="263097"/>
            <a:ext cx="10515600" cy="1325563"/>
          </a:xfrm>
        </p:spPr>
        <p:txBody>
          <a:bodyPr/>
          <a:lstStyle/>
          <a:p>
            <a:r>
              <a:rPr lang="en-US" b="1" dirty="0"/>
              <a:t>Types of objects </a:t>
            </a:r>
            <a:endParaRPr lang="nl-NL" b="1" dirty="0"/>
          </a:p>
        </p:txBody>
      </p:sp>
      <p:sp>
        <p:nvSpPr>
          <p:cNvPr id="3" name="Content Placeholder 2">
            <a:extLst>
              <a:ext uri="{FF2B5EF4-FFF2-40B4-BE49-F238E27FC236}">
                <a16:creationId xmlns:a16="http://schemas.microsoft.com/office/drawing/2014/main" id="{987FFBB7-D392-3BB1-6E4C-8815E69999CF}"/>
              </a:ext>
            </a:extLst>
          </p:cNvPr>
          <p:cNvSpPr>
            <a:spLocks noGrp="1"/>
          </p:cNvSpPr>
          <p:nvPr>
            <p:ph idx="1"/>
          </p:nvPr>
        </p:nvSpPr>
        <p:spPr>
          <a:xfrm>
            <a:off x="545592" y="1405000"/>
            <a:ext cx="10515600" cy="5032375"/>
          </a:xfrm>
        </p:spPr>
        <p:txBody>
          <a:bodyPr>
            <a:normAutofit/>
          </a:bodyPr>
          <a:lstStyle/>
          <a:p>
            <a:r>
              <a:rPr lang="nl-NL" sz="2400" dirty="0"/>
              <a:t>Integer</a:t>
            </a:r>
          </a:p>
          <a:p>
            <a:pPr marL="457200" lvl="1" indent="0">
              <a:buNone/>
            </a:pPr>
            <a:r>
              <a:rPr lang="nl-NL" dirty="0">
                <a:latin typeface="Courier New" panose="02070309020205020404" pitchFamily="49" charset="0"/>
                <a:cs typeface="Courier New" panose="02070309020205020404" pitchFamily="49" charset="0"/>
              </a:rPr>
              <a:t>var_1 = 123</a:t>
            </a:r>
          </a:p>
          <a:p>
            <a:pPr marL="457200" lvl="1" indent="0">
              <a:buNone/>
            </a:pPr>
            <a:r>
              <a:rPr lang="nl-NL" dirty="0">
                <a:latin typeface="Courier New" panose="02070309020205020404" pitchFamily="49" charset="0"/>
                <a:cs typeface="Courier New" panose="02070309020205020404" pitchFamily="49" charset="0"/>
              </a:rPr>
              <a:t>print(type(var_1) == int)</a:t>
            </a:r>
          </a:p>
          <a:p>
            <a:r>
              <a:rPr lang="nl-NL" sz="2400" dirty="0" err="1"/>
              <a:t>Floating</a:t>
            </a:r>
            <a:r>
              <a:rPr lang="nl-NL" sz="2400" dirty="0"/>
              <a:t> point </a:t>
            </a:r>
            <a:r>
              <a:rPr lang="nl-NL" sz="2400" dirty="0" err="1"/>
              <a:t>number</a:t>
            </a:r>
            <a:endParaRPr lang="nl-NL" sz="2400" dirty="0"/>
          </a:p>
          <a:p>
            <a:pPr marL="457200" lvl="1" indent="0">
              <a:buNone/>
            </a:pPr>
            <a:r>
              <a:rPr lang="nl-NL" dirty="0">
                <a:latin typeface="Courier New" panose="02070309020205020404" pitchFamily="49" charset="0"/>
                <a:cs typeface="Courier New" panose="02070309020205020404" pitchFamily="49" charset="0"/>
              </a:rPr>
              <a:t>var_1 = 123.3</a:t>
            </a:r>
          </a:p>
          <a:p>
            <a:pPr marL="457200" lvl="1" indent="0">
              <a:buNone/>
            </a:pPr>
            <a:r>
              <a:rPr lang="nl-NL" dirty="0">
                <a:latin typeface="Courier New" panose="02070309020205020404" pitchFamily="49" charset="0"/>
                <a:cs typeface="Courier New" panose="02070309020205020404" pitchFamily="49" charset="0"/>
              </a:rPr>
              <a:t>print(type(var_1) == </a:t>
            </a:r>
            <a:r>
              <a:rPr lang="nl-NL" dirty="0" err="1">
                <a:latin typeface="Courier New" panose="02070309020205020404" pitchFamily="49" charset="0"/>
                <a:cs typeface="Courier New" panose="02070309020205020404" pitchFamily="49" charset="0"/>
              </a:rPr>
              <a:t>float</a:t>
            </a:r>
            <a:r>
              <a:rPr lang="nl-NL" dirty="0">
                <a:latin typeface="Courier New" panose="02070309020205020404" pitchFamily="49" charset="0"/>
                <a:cs typeface="Courier New" panose="02070309020205020404" pitchFamily="49" charset="0"/>
              </a:rPr>
              <a:t>)</a:t>
            </a:r>
          </a:p>
          <a:p>
            <a:r>
              <a:rPr lang="nl-NL" sz="2400" dirty="0"/>
              <a:t>String</a:t>
            </a:r>
          </a:p>
          <a:p>
            <a:pPr marL="457200" lvl="1" indent="0">
              <a:buNone/>
            </a:pPr>
            <a:r>
              <a:rPr lang="nl-NL" dirty="0">
                <a:latin typeface="Courier New" panose="02070309020205020404" pitchFamily="49" charset="0"/>
                <a:cs typeface="Courier New" panose="02070309020205020404" pitchFamily="49" charset="0"/>
              </a:rPr>
              <a:t>var_1 = '123'</a:t>
            </a:r>
          </a:p>
          <a:p>
            <a:pPr marL="457200" lvl="1" indent="0">
              <a:buNone/>
            </a:pPr>
            <a:r>
              <a:rPr lang="nl-NL" dirty="0">
                <a:latin typeface="Courier New" panose="02070309020205020404" pitchFamily="49" charset="0"/>
                <a:cs typeface="Courier New" panose="02070309020205020404" pitchFamily="49" charset="0"/>
              </a:rPr>
              <a:t>print(type(var_1) == </a:t>
            </a:r>
            <a:r>
              <a:rPr lang="nl-NL" dirty="0" err="1">
                <a:latin typeface="Courier New" panose="02070309020205020404" pitchFamily="49" charset="0"/>
                <a:cs typeface="Courier New" panose="02070309020205020404" pitchFamily="49" charset="0"/>
              </a:rPr>
              <a:t>str</a:t>
            </a:r>
            <a:r>
              <a:rPr lang="nl-NL" dirty="0">
                <a:latin typeface="Courier New" panose="02070309020205020404" pitchFamily="49" charset="0"/>
                <a:cs typeface="Courier New" panose="02070309020205020404" pitchFamily="49" charset="0"/>
              </a:rPr>
              <a:t>)</a:t>
            </a:r>
          </a:p>
          <a:p>
            <a:r>
              <a:rPr lang="nl-NL" sz="2400" dirty="0" err="1"/>
              <a:t>Boolean</a:t>
            </a:r>
            <a:endParaRPr lang="nl-NL" sz="2400" dirty="0"/>
          </a:p>
          <a:p>
            <a:pPr marL="457200" lvl="1" indent="0">
              <a:buNone/>
            </a:pPr>
            <a:r>
              <a:rPr lang="nl-NL" dirty="0">
                <a:latin typeface="Courier New" panose="02070309020205020404" pitchFamily="49" charset="0"/>
                <a:cs typeface="Courier New" panose="02070309020205020404" pitchFamily="49" charset="0"/>
              </a:rPr>
              <a:t>var_1 = True</a:t>
            </a:r>
          </a:p>
          <a:p>
            <a:pPr marL="457200" lvl="1" indent="0">
              <a:buNone/>
            </a:pPr>
            <a:r>
              <a:rPr lang="nl-NL" dirty="0">
                <a:latin typeface="Courier New" panose="02070309020205020404" pitchFamily="49" charset="0"/>
                <a:cs typeface="Courier New" panose="02070309020205020404" pitchFamily="49" charset="0"/>
              </a:rPr>
              <a:t>print(type(var_1) == </a:t>
            </a:r>
            <a:r>
              <a:rPr lang="nl-NL" dirty="0" err="1">
                <a:latin typeface="Courier New" panose="02070309020205020404" pitchFamily="49" charset="0"/>
                <a:cs typeface="Courier New" panose="02070309020205020404" pitchFamily="49" charset="0"/>
              </a:rPr>
              <a:t>bool</a:t>
            </a:r>
            <a:r>
              <a:rPr lang="nl-NL" dirty="0">
                <a:latin typeface="Courier New" panose="02070309020205020404" pitchFamily="49" charset="0"/>
                <a:cs typeface="Courier New" panose="02070309020205020404" pitchFamily="49" charset="0"/>
              </a:rPr>
              <a:t>)</a:t>
            </a:r>
          </a:p>
          <a:p>
            <a:endParaRPr lang="nl-NL" dirty="0">
              <a:latin typeface="Courier New" panose="02070309020205020404" pitchFamily="49" charset="0"/>
              <a:cs typeface="Courier New" panose="02070309020205020404" pitchFamily="49" charset="0"/>
            </a:endParaRPr>
          </a:p>
        </p:txBody>
      </p:sp>
      <p:sp>
        <p:nvSpPr>
          <p:cNvPr id="6" name="Slide Number Placeholder 5">
            <a:extLst>
              <a:ext uri="{FF2B5EF4-FFF2-40B4-BE49-F238E27FC236}">
                <a16:creationId xmlns:a16="http://schemas.microsoft.com/office/drawing/2014/main" id="{007DF11C-323B-CE00-6049-63BBBDB7E345}"/>
              </a:ext>
            </a:extLst>
          </p:cNvPr>
          <p:cNvSpPr>
            <a:spLocks noGrp="1"/>
          </p:cNvSpPr>
          <p:nvPr>
            <p:ph type="sldNum" sz="quarter" idx="12"/>
          </p:nvPr>
        </p:nvSpPr>
        <p:spPr/>
        <p:txBody>
          <a:bodyPr/>
          <a:lstStyle/>
          <a:p>
            <a:fld id="{937257EE-0CEF-4D7E-9E69-5277D6172560}" type="slidenum">
              <a:rPr lang="nl-NL" smtClean="0">
                <a:solidFill>
                  <a:prstClr val="black">
                    <a:tint val="75000"/>
                  </a:prstClr>
                </a:solidFill>
              </a:rPr>
              <a:pPr/>
              <a:t>23</a:t>
            </a:fld>
            <a:endParaRPr lang="nl-NL">
              <a:solidFill>
                <a:prstClr val="black">
                  <a:tint val="75000"/>
                </a:prstClr>
              </a:solidFill>
            </a:endParaRPr>
          </a:p>
        </p:txBody>
      </p:sp>
    </p:spTree>
    <p:extLst>
      <p:ext uri="{BB962C8B-B14F-4D97-AF65-F5344CB8AC3E}">
        <p14:creationId xmlns:p14="http://schemas.microsoft.com/office/powerpoint/2010/main" val="15650701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12F33F-A141-0F90-6E0C-B391F2959544}"/>
              </a:ext>
            </a:extLst>
          </p:cNvPr>
          <p:cNvSpPr>
            <a:spLocks noGrp="1"/>
          </p:cNvSpPr>
          <p:nvPr>
            <p:ph type="title"/>
          </p:nvPr>
        </p:nvSpPr>
        <p:spPr>
          <a:xfrm>
            <a:off x="545592" y="263097"/>
            <a:ext cx="10515600" cy="1325563"/>
          </a:xfrm>
        </p:spPr>
        <p:txBody>
          <a:bodyPr/>
          <a:lstStyle/>
          <a:p>
            <a:r>
              <a:rPr lang="en-US" b="1" dirty="0"/>
              <a:t>Types of objects</a:t>
            </a:r>
            <a:endParaRPr lang="nl-NL" b="1" dirty="0"/>
          </a:p>
        </p:txBody>
      </p:sp>
      <p:sp>
        <p:nvSpPr>
          <p:cNvPr id="3" name="Content Placeholder 2">
            <a:extLst>
              <a:ext uri="{FF2B5EF4-FFF2-40B4-BE49-F238E27FC236}">
                <a16:creationId xmlns:a16="http://schemas.microsoft.com/office/drawing/2014/main" id="{987FFBB7-D392-3BB1-6E4C-8815E69999CF}"/>
              </a:ext>
            </a:extLst>
          </p:cNvPr>
          <p:cNvSpPr>
            <a:spLocks noGrp="1"/>
          </p:cNvSpPr>
          <p:nvPr>
            <p:ph idx="1"/>
          </p:nvPr>
        </p:nvSpPr>
        <p:spPr>
          <a:xfrm>
            <a:off x="545592" y="1405000"/>
            <a:ext cx="10515600" cy="5032375"/>
          </a:xfrm>
        </p:spPr>
        <p:txBody>
          <a:bodyPr>
            <a:normAutofit lnSpcReduction="10000"/>
          </a:bodyPr>
          <a:lstStyle/>
          <a:p>
            <a:r>
              <a:rPr lang="nl-NL" sz="2400" dirty="0" err="1"/>
              <a:t>Tuple</a:t>
            </a:r>
            <a:endParaRPr lang="nl-NL" sz="2400" dirty="0"/>
          </a:p>
          <a:p>
            <a:pPr marL="457200" lvl="1" indent="0">
              <a:buNone/>
            </a:pPr>
            <a:r>
              <a:rPr lang="nl-NL" dirty="0">
                <a:latin typeface="Courier New" panose="02070309020205020404" pitchFamily="49" charset="0"/>
                <a:cs typeface="Courier New" panose="02070309020205020404" pitchFamily="49" charset="0"/>
              </a:rPr>
              <a:t>var_1 = ('123', 123)</a:t>
            </a:r>
          </a:p>
          <a:p>
            <a:pPr marL="457200" lvl="1" indent="0">
              <a:buNone/>
            </a:pPr>
            <a:r>
              <a:rPr lang="nl-NL" dirty="0">
                <a:latin typeface="Courier New" panose="02070309020205020404" pitchFamily="49" charset="0"/>
                <a:cs typeface="Courier New" panose="02070309020205020404" pitchFamily="49" charset="0"/>
              </a:rPr>
              <a:t>print(type(var_1) == </a:t>
            </a:r>
            <a:r>
              <a:rPr lang="nl-NL" dirty="0" err="1">
                <a:latin typeface="Courier New" panose="02070309020205020404" pitchFamily="49" charset="0"/>
                <a:cs typeface="Courier New" panose="02070309020205020404" pitchFamily="49" charset="0"/>
              </a:rPr>
              <a:t>tuple</a:t>
            </a:r>
            <a:r>
              <a:rPr lang="nl-NL" dirty="0">
                <a:latin typeface="Courier New" panose="02070309020205020404" pitchFamily="49" charset="0"/>
                <a:cs typeface="Courier New" panose="02070309020205020404" pitchFamily="49" charset="0"/>
              </a:rPr>
              <a:t>)</a:t>
            </a:r>
            <a:endParaRPr lang="nl-NL" dirty="0"/>
          </a:p>
          <a:p>
            <a:r>
              <a:rPr lang="nl-NL" dirty="0"/>
              <a:t>List</a:t>
            </a:r>
          </a:p>
          <a:p>
            <a:pPr marL="457200" lvl="1" indent="0">
              <a:buNone/>
            </a:pPr>
            <a:r>
              <a:rPr lang="nl-NL" dirty="0">
                <a:latin typeface="Courier New" panose="02070309020205020404" pitchFamily="49" charset="0"/>
                <a:cs typeface="Courier New" panose="02070309020205020404" pitchFamily="49" charset="0"/>
              </a:rPr>
              <a:t>var_1 = [123, '123']</a:t>
            </a:r>
          </a:p>
          <a:p>
            <a:pPr marL="457200" lvl="1" indent="0">
              <a:buNone/>
            </a:pPr>
            <a:r>
              <a:rPr lang="nl-NL" dirty="0">
                <a:latin typeface="Courier New" panose="02070309020205020404" pitchFamily="49" charset="0"/>
                <a:cs typeface="Courier New" panose="02070309020205020404" pitchFamily="49" charset="0"/>
              </a:rPr>
              <a:t>print(type(var_1) == list)</a:t>
            </a:r>
          </a:p>
          <a:p>
            <a:r>
              <a:rPr lang="nl-NL" dirty="0"/>
              <a:t>Dictionary</a:t>
            </a:r>
          </a:p>
          <a:p>
            <a:pPr marL="457200" lvl="1" indent="0">
              <a:buNone/>
            </a:pPr>
            <a:r>
              <a:rPr lang="nl-NL" dirty="0">
                <a:latin typeface="Courier New" panose="02070309020205020404" pitchFamily="49" charset="0"/>
                <a:cs typeface="Courier New" panose="02070309020205020404" pitchFamily="49" charset="0"/>
              </a:rPr>
              <a:t>var_1 = {'key_1': 'elem_1', 'key_2': 'elem_2'}</a:t>
            </a:r>
          </a:p>
          <a:p>
            <a:pPr marL="457200" lvl="1" indent="0">
              <a:buNone/>
            </a:pPr>
            <a:r>
              <a:rPr lang="nl-NL" dirty="0">
                <a:latin typeface="Courier New" panose="02070309020205020404" pitchFamily="49" charset="0"/>
                <a:cs typeface="Courier New" panose="02070309020205020404" pitchFamily="49" charset="0"/>
              </a:rPr>
              <a:t>print(type(var_1) == </a:t>
            </a:r>
            <a:r>
              <a:rPr lang="nl-NL" dirty="0" err="1">
                <a:latin typeface="Courier New" panose="02070309020205020404" pitchFamily="49" charset="0"/>
                <a:cs typeface="Courier New" panose="02070309020205020404" pitchFamily="49" charset="0"/>
              </a:rPr>
              <a:t>dict</a:t>
            </a:r>
            <a:r>
              <a:rPr lang="nl-NL" dirty="0">
                <a:latin typeface="Courier New" panose="02070309020205020404" pitchFamily="49" charset="0"/>
                <a:cs typeface="Courier New" panose="02070309020205020404" pitchFamily="49" charset="0"/>
              </a:rPr>
              <a:t>) </a:t>
            </a:r>
          </a:p>
          <a:p>
            <a:r>
              <a:rPr lang="nl-NL" dirty="0"/>
              <a:t>Set</a:t>
            </a:r>
          </a:p>
          <a:p>
            <a:pPr marL="457200" lvl="1" indent="0">
              <a:buNone/>
            </a:pPr>
            <a:r>
              <a:rPr lang="nl-NL" dirty="0">
                <a:latin typeface="Courier New" panose="02070309020205020404" pitchFamily="49" charset="0"/>
                <a:cs typeface="Courier New" panose="02070309020205020404" pitchFamily="49" charset="0"/>
              </a:rPr>
              <a:t>var_1 = {123, '123'}</a:t>
            </a:r>
          </a:p>
          <a:p>
            <a:pPr marL="457200" lvl="1" indent="0">
              <a:buNone/>
            </a:pPr>
            <a:r>
              <a:rPr lang="nl-NL" dirty="0">
                <a:latin typeface="Courier New" panose="02070309020205020404" pitchFamily="49" charset="0"/>
                <a:cs typeface="Courier New" panose="02070309020205020404" pitchFamily="49" charset="0"/>
              </a:rPr>
              <a:t>print(type(var_1) == set)</a:t>
            </a:r>
          </a:p>
        </p:txBody>
      </p:sp>
      <p:sp>
        <p:nvSpPr>
          <p:cNvPr id="6" name="Slide Number Placeholder 5">
            <a:extLst>
              <a:ext uri="{FF2B5EF4-FFF2-40B4-BE49-F238E27FC236}">
                <a16:creationId xmlns:a16="http://schemas.microsoft.com/office/drawing/2014/main" id="{007DF11C-323B-CE00-6049-63BBBDB7E345}"/>
              </a:ext>
            </a:extLst>
          </p:cNvPr>
          <p:cNvSpPr>
            <a:spLocks noGrp="1"/>
          </p:cNvSpPr>
          <p:nvPr>
            <p:ph type="sldNum" sz="quarter" idx="12"/>
          </p:nvPr>
        </p:nvSpPr>
        <p:spPr/>
        <p:txBody>
          <a:bodyPr/>
          <a:lstStyle/>
          <a:p>
            <a:fld id="{937257EE-0CEF-4D7E-9E69-5277D6172560}" type="slidenum">
              <a:rPr lang="nl-NL" smtClean="0">
                <a:solidFill>
                  <a:prstClr val="black">
                    <a:tint val="75000"/>
                  </a:prstClr>
                </a:solidFill>
              </a:rPr>
              <a:pPr/>
              <a:t>24</a:t>
            </a:fld>
            <a:endParaRPr lang="nl-NL">
              <a:solidFill>
                <a:prstClr val="black">
                  <a:tint val="75000"/>
                </a:prstClr>
              </a:solidFill>
            </a:endParaRPr>
          </a:p>
        </p:txBody>
      </p:sp>
    </p:spTree>
    <p:extLst>
      <p:ext uri="{BB962C8B-B14F-4D97-AF65-F5344CB8AC3E}">
        <p14:creationId xmlns:p14="http://schemas.microsoft.com/office/powerpoint/2010/main" val="8345135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B80C6E-157A-AEF4-A8D7-70BB8F6F8907}"/>
              </a:ext>
            </a:extLst>
          </p:cNvPr>
          <p:cNvSpPr>
            <a:spLocks noGrp="1"/>
          </p:cNvSpPr>
          <p:nvPr>
            <p:ph type="title"/>
          </p:nvPr>
        </p:nvSpPr>
        <p:spPr/>
        <p:txBody>
          <a:bodyPr/>
          <a:lstStyle/>
          <a:p>
            <a:r>
              <a:rPr lang="nl-NL" dirty="0"/>
              <a:t>Question</a:t>
            </a:r>
            <a:endParaRPr lang="en-US" dirty="0"/>
          </a:p>
        </p:txBody>
      </p:sp>
      <p:sp>
        <p:nvSpPr>
          <p:cNvPr id="3" name="Content Placeholder 2">
            <a:extLst>
              <a:ext uri="{FF2B5EF4-FFF2-40B4-BE49-F238E27FC236}">
                <a16:creationId xmlns:a16="http://schemas.microsoft.com/office/drawing/2014/main" id="{1A0870EE-22D8-B04D-13E8-BF0667F7CB62}"/>
              </a:ext>
            </a:extLst>
          </p:cNvPr>
          <p:cNvSpPr>
            <a:spLocks noGrp="1"/>
          </p:cNvSpPr>
          <p:nvPr>
            <p:ph idx="1"/>
          </p:nvPr>
        </p:nvSpPr>
        <p:spPr>
          <a:xfrm>
            <a:off x="838200" y="1825624"/>
            <a:ext cx="10515600" cy="5032375"/>
          </a:xfrm>
        </p:spPr>
        <p:txBody>
          <a:bodyPr/>
          <a:lstStyle/>
          <a:p>
            <a:r>
              <a:rPr lang="nl-NL" dirty="0" err="1"/>
              <a:t>Which</a:t>
            </a:r>
            <a:r>
              <a:rPr lang="nl-NL" dirty="0"/>
              <a:t> of the </a:t>
            </a:r>
            <a:r>
              <a:rPr lang="nl-NL" dirty="0" err="1"/>
              <a:t>following</a:t>
            </a:r>
            <a:r>
              <a:rPr lang="nl-NL" dirty="0"/>
              <a:t> statements is correct:</a:t>
            </a:r>
          </a:p>
          <a:p>
            <a:pPr marL="971550" lvl="1" indent="-514350">
              <a:buFont typeface="+mj-lt"/>
              <a:buAutoNum type="romanUcPeriod"/>
            </a:pPr>
            <a:r>
              <a:rPr lang="nl-NL" dirty="0" err="1"/>
              <a:t>Two</a:t>
            </a:r>
            <a:r>
              <a:rPr lang="nl-NL" dirty="0"/>
              <a:t> </a:t>
            </a:r>
            <a:r>
              <a:rPr lang="nl-NL" dirty="0" err="1"/>
              <a:t>objects</a:t>
            </a:r>
            <a:r>
              <a:rPr lang="nl-NL" dirty="0"/>
              <a:t> </a:t>
            </a:r>
            <a:r>
              <a:rPr lang="nl-NL" dirty="0" err="1"/>
              <a:t>can</a:t>
            </a:r>
            <a:r>
              <a:rPr lang="nl-NL" dirty="0"/>
              <a:t> have different </a:t>
            </a:r>
            <a:r>
              <a:rPr lang="nl-NL" dirty="0" err="1"/>
              <a:t>values</a:t>
            </a:r>
            <a:r>
              <a:rPr lang="nl-NL" dirty="0"/>
              <a:t>, </a:t>
            </a:r>
            <a:r>
              <a:rPr lang="nl-NL" dirty="0" err="1"/>
              <a:t>while</a:t>
            </a:r>
            <a:r>
              <a:rPr lang="nl-NL" dirty="0"/>
              <a:t> </a:t>
            </a:r>
            <a:r>
              <a:rPr lang="nl-NL" dirty="0" err="1"/>
              <a:t>having</a:t>
            </a:r>
            <a:r>
              <a:rPr lang="nl-NL" dirty="0"/>
              <a:t> the </a:t>
            </a:r>
            <a:r>
              <a:rPr lang="nl-NL" dirty="0" err="1"/>
              <a:t>same</a:t>
            </a:r>
            <a:r>
              <a:rPr lang="nl-NL" dirty="0"/>
              <a:t> type</a:t>
            </a:r>
          </a:p>
          <a:p>
            <a:pPr marL="971550" lvl="1" indent="-514350">
              <a:buFont typeface="+mj-lt"/>
              <a:buAutoNum type="romanUcPeriod"/>
            </a:pPr>
            <a:r>
              <a:rPr lang="nl-NL" dirty="0" err="1"/>
              <a:t>Two</a:t>
            </a:r>
            <a:r>
              <a:rPr lang="nl-NL" dirty="0"/>
              <a:t> </a:t>
            </a:r>
            <a:r>
              <a:rPr lang="nl-NL" dirty="0" err="1"/>
              <a:t>objects</a:t>
            </a:r>
            <a:r>
              <a:rPr lang="nl-NL" dirty="0"/>
              <a:t> </a:t>
            </a:r>
            <a:r>
              <a:rPr lang="nl-NL" dirty="0" err="1"/>
              <a:t>can</a:t>
            </a:r>
            <a:r>
              <a:rPr lang="nl-NL" dirty="0"/>
              <a:t> have the </a:t>
            </a:r>
            <a:r>
              <a:rPr lang="nl-NL" dirty="0" err="1"/>
              <a:t>same</a:t>
            </a:r>
            <a:r>
              <a:rPr lang="nl-NL" dirty="0"/>
              <a:t> </a:t>
            </a:r>
            <a:r>
              <a:rPr lang="nl-NL" dirty="0" err="1"/>
              <a:t>value</a:t>
            </a:r>
            <a:r>
              <a:rPr lang="nl-NL" dirty="0"/>
              <a:t>, </a:t>
            </a:r>
            <a:r>
              <a:rPr lang="nl-NL" dirty="0" err="1"/>
              <a:t>while</a:t>
            </a:r>
            <a:r>
              <a:rPr lang="nl-NL" dirty="0"/>
              <a:t> </a:t>
            </a:r>
            <a:r>
              <a:rPr lang="nl-NL" dirty="0" err="1"/>
              <a:t>having</a:t>
            </a:r>
            <a:r>
              <a:rPr lang="nl-NL" dirty="0"/>
              <a:t> different types</a:t>
            </a:r>
            <a:endParaRPr lang="en-US" dirty="0"/>
          </a:p>
          <a:p>
            <a:pPr marL="457200" indent="-457200">
              <a:buFont typeface="+mj-lt"/>
              <a:buAutoNum type="alphaLcPeriod"/>
            </a:pPr>
            <a:r>
              <a:rPr lang="en-US" dirty="0"/>
              <a:t>I is correct</a:t>
            </a:r>
          </a:p>
          <a:p>
            <a:pPr marL="457200" indent="-457200">
              <a:buFont typeface="+mj-lt"/>
              <a:buAutoNum type="alphaLcPeriod"/>
            </a:pPr>
            <a:r>
              <a:rPr lang="en-US" dirty="0"/>
              <a:t>II is correct</a:t>
            </a:r>
          </a:p>
          <a:p>
            <a:pPr marL="457200" indent="-457200">
              <a:buFont typeface="+mj-lt"/>
              <a:buAutoNum type="alphaLcPeriod"/>
            </a:pPr>
            <a:r>
              <a:rPr lang="en-US" dirty="0"/>
              <a:t>I and II are both correct</a:t>
            </a:r>
          </a:p>
          <a:p>
            <a:pPr marL="457200" indent="-457200">
              <a:buFont typeface="+mj-lt"/>
              <a:buAutoNum type="alphaLcPeriod"/>
            </a:pPr>
            <a:r>
              <a:rPr lang="en-US" dirty="0"/>
              <a:t>Neither is correct</a:t>
            </a:r>
          </a:p>
        </p:txBody>
      </p:sp>
      <p:sp>
        <p:nvSpPr>
          <p:cNvPr id="4" name="Slide Number Placeholder 3">
            <a:extLst>
              <a:ext uri="{FF2B5EF4-FFF2-40B4-BE49-F238E27FC236}">
                <a16:creationId xmlns:a16="http://schemas.microsoft.com/office/drawing/2014/main" id="{FB13A514-B971-38B0-37E8-EA1CAC12CB11}"/>
              </a:ext>
            </a:extLst>
          </p:cNvPr>
          <p:cNvSpPr>
            <a:spLocks noGrp="1"/>
          </p:cNvSpPr>
          <p:nvPr>
            <p:ph type="sldNum" sz="quarter" idx="12"/>
          </p:nvPr>
        </p:nvSpPr>
        <p:spPr/>
        <p:txBody>
          <a:bodyPr/>
          <a:lstStyle/>
          <a:p>
            <a:fld id="{937257EE-0CEF-4D7E-9E69-5277D6172560}" type="slidenum">
              <a:rPr lang="nl-NL" smtClean="0"/>
              <a:t>25</a:t>
            </a:fld>
            <a:endParaRPr lang="nl-NL"/>
          </a:p>
        </p:txBody>
      </p:sp>
    </p:spTree>
    <p:extLst>
      <p:ext uri="{BB962C8B-B14F-4D97-AF65-F5344CB8AC3E}">
        <p14:creationId xmlns:p14="http://schemas.microsoft.com/office/powerpoint/2010/main" val="15127717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B80C6E-157A-AEF4-A8D7-70BB8F6F8907}"/>
              </a:ext>
            </a:extLst>
          </p:cNvPr>
          <p:cNvSpPr>
            <a:spLocks noGrp="1"/>
          </p:cNvSpPr>
          <p:nvPr>
            <p:ph type="title"/>
          </p:nvPr>
        </p:nvSpPr>
        <p:spPr/>
        <p:txBody>
          <a:bodyPr/>
          <a:lstStyle/>
          <a:p>
            <a:r>
              <a:rPr lang="nl-NL" dirty="0" err="1"/>
              <a:t>Answer</a:t>
            </a:r>
            <a:endParaRPr lang="en-US" dirty="0"/>
          </a:p>
        </p:txBody>
      </p:sp>
      <p:sp>
        <p:nvSpPr>
          <p:cNvPr id="3" name="Content Placeholder 2">
            <a:extLst>
              <a:ext uri="{FF2B5EF4-FFF2-40B4-BE49-F238E27FC236}">
                <a16:creationId xmlns:a16="http://schemas.microsoft.com/office/drawing/2014/main" id="{1A0870EE-22D8-B04D-13E8-BF0667F7CB62}"/>
              </a:ext>
            </a:extLst>
          </p:cNvPr>
          <p:cNvSpPr>
            <a:spLocks noGrp="1"/>
          </p:cNvSpPr>
          <p:nvPr>
            <p:ph idx="1"/>
          </p:nvPr>
        </p:nvSpPr>
        <p:spPr>
          <a:xfrm>
            <a:off x="838200" y="1392572"/>
            <a:ext cx="11353800" cy="5465427"/>
          </a:xfrm>
        </p:spPr>
        <p:txBody>
          <a:bodyPr>
            <a:normAutofit fontScale="92500" lnSpcReduction="10000"/>
          </a:bodyPr>
          <a:lstStyle/>
          <a:p>
            <a:r>
              <a:rPr lang="nl-NL" dirty="0" err="1"/>
              <a:t>Which</a:t>
            </a:r>
            <a:r>
              <a:rPr lang="nl-NL" dirty="0"/>
              <a:t> of the </a:t>
            </a:r>
            <a:r>
              <a:rPr lang="nl-NL" dirty="0" err="1"/>
              <a:t>following</a:t>
            </a:r>
            <a:r>
              <a:rPr lang="nl-NL" dirty="0"/>
              <a:t> statements is correct:</a:t>
            </a:r>
          </a:p>
          <a:p>
            <a:pPr marL="971550" lvl="1" indent="-514350">
              <a:buFont typeface="+mj-lt"/>
              <a:buAutoNum type="romanUcPeriod"/>
            </a:pPr>
            <a:r>
              <a:rPr lang="nl-NL" dirty="0" err="1"/>
              <a:t>Two</a:t>
            </a:r>
            <a:r>
              <a:rPr lang="nl-NL" dirty="0"/>
              <a:t> </a:t>
            </a:r>
            <a:r>
              <a:rPr lang="nl-NL" dirty="0" err="1"/>
              <a:t>objects</a:t>
            </a:r>
            <a:r>
              <a:rPr lang="nl-NL" dirty="0"/>
              <a:t> </a:t>
            </a:r>
            <a:r>
              <a:rPr lang="nl-NL" dirty="0" err="1"/>
              <a:t>can</a:t>
            </a:r>
            <a:r>
              <a:rPr lang="nl-NL" dirty="0"/>
              <a:t> have different </a:t>
            </a:r>
            <a:r>
              <a:rPr lang="nl-NL" dirty="0" err="1"/>
              <a:t>values</a:t>
            </a:r>
            <a:r>
              <a:rPr lang="nl-NL" dirty="0"/>
              <a:t>, </a:t>
            </a:r>
            <a:r>
              <a:rPr lang="nl-NL" dirty="0" err="1"/>
              <a:t>while</a:t>
            </a:r>
            <a:r>
              <a:rPr lang="nl-NL" dirty="0"/>
              <a:t> </a:t>
            </a:r>
            <a:r>
              <a:rPr lang="nl-NL" dirty="0" err="1"/>
              <a:t>having</a:t>
            </a:r>
            <a:r>
              <a:rPr lang="nl-NL" dirty="0"/>
              <a:t> the </a:t>
            </a:r>
            <a:r>
              <a:rPr lang="nl-NL" dirty="0" err="1"/>
              <a:t>same</a:t>
            </a:r>
            <a:r>
              <a:rPr lang="nl-NL" dirty="0"/>
              <a:t> type</a:t>
            </a:r>
          </a:p>
          <a:p>
            <a:pPr marL="971550" lvl="1" indent="-514350">
              <a:buFont typeface="+mj-lt"/>
              <a:buAutoNum type="romanUcPeriod"/>
            </a:pPr>
            <a:r>
              <a:rPr lang="nl-NL" dirty="0" err="1"/>
              <a:t>Two</a:t>
            </a:r>
            <a:r>
              <a:rPr lang="nl-NL" dirty="0"/>
              <a:t> </a:t>
            </a:r>
            <a:r>
              <a:rPr lang="nl-NL" dirty="0" err="1"/>
              <a:t>objects</a:t>
            </a:r>
            <a:r>
              <a:rPr lang="nl-NL" dirty="0"/>
              <a:t> </a:t>
            </a:r>
            <a:r>
              <a:rPr lang="nl-NL" dirty="0" err="1"/>
              <a:t>can</a:t>
            </a:r>
            <a:r>
              <a:rPr lang="nl-NL" dirty="0"/>
              <a:t> have the </a:t>
            </a:r>
            <a:r>
              <a:rPr lang="nl-NL" dirty="0" err="1"/>
              <a:t>same</a:t>
            </a:r>
            <a:r>
              <a:rPr lang="nl-NL" dirty="0"/>
              <a:t> </a:t>
            </a:r>
            <a:r>
              <a:rPr lang="nl-NL" dirty="0" err="1"/>
              <a:t>value</a:t>
            </a:r>
            <a:r>
              <a:rPr lang="nl-NL" dirty="0"/>
              <a:t>, </a:t>
            </a:r>
            <a:r>
              <a:rPr lang="nl-NL" dirty="0" err="1"/>
              <a:t>while</a:t>
            </a:r>
            <a:r>
              <a:rPr lang="nl-NL" dirty="0"/>
              <a:t> </a:t>
            </a:r>
            <a:r>
              <a:rPr lang="nl-NL" dirty="0" err="1"/>
              <a:t>having</a:t>
            </a:r>
            <a:r>
              <a:rPr lang="nl-NL" dirty="0"/>
              <a:t> different types</a:t>
            </a:r>
            <a:endParaRPr lang="en-US" dirty="0"/>
          </a:p>
          <a:p>
            <a:pPr marL="457200" indent="-457200">
              <a:buFont typeface="+mj-lt"/>
              <a:buAutoNum type="alphaLcPeriod"/>
            </a:pPr>
            <a:r>
              <a:rPr lang="en-US" dirty="0"/>
              <a:t>I is correct</a:t>
            </a:r>
          </a:p>
          <a:p>
            <a:pPr marL="457200" indent="-457200">
              <a:buFont typeface="+mj-lt"/>
              <a:buAutoNum type="alphaLcPeriod"/>
            </a:pPr>
            <a:r>
              <a:rPr lang="en-US" dirty="0"/>
              <a:t>II is correct</a:t>
            </a:r>
          </a:p>
          <a:p>
            <a:pPr marL="457200" indent="-457200">
              <a:buFont typeface="+mj-lt"/>
              <a:buAutoNum type="alphaLcPeriod"/>
            </a:pPr>
            <a:r>
              <a:rPr lang="en-US" dirty="0"/>
              <a:t>I and II are both correct</a:t>
            </a:r>
          </a:p>
          <a:p>
            <a:pPr marL="457200" indent="-457200">
              <a:buFont typeface="+mj-lt"/>
              <a:buAutoNum type="alphaLcPeriod"/>
            </a:pPr>
            <a:r>
              <a:rPr lang="en-US" dirty="0"/>
              <a:t>Neither is correct</a:t>
            </a:r>
          </a:p>
          <a:p>
            <a:pPr marL="0" indent="0">
              <a:buNone/>
            </a:pPr>
            <a:r>
              <a:rPr lang="en-US" dirty="0"/>
              <a:t>I is correct for example: </a:t>
            </a:r>
          </a:p>
          <a:p>
            <a:pPr marL="457200" lvl="1" indent="0">
              <a:buNone/>
            </a:pPr>
            <a:r>
              <a:rPr lang="en-US" dirty="0">
                <a:latin typeface="Courier New" panose="02070309020205020404" pitchFamily="49" charset="0"/>
                <a:cs typeface="Courier New" panose="02070309020205020404" pitchFamily="49" charset="0"/>
              </a:rPr>
              <a:t>a = 1</a:t>
            </a:r>
          </a:p>
          <a:p>
            <a:pPr marL="457200" lvl="1" indent="0">
              <a:buNone/>
            </a:pPr>
            <a:r>
              <a:rPr lang="en-US" dirty="0">
                <a:latin typeface="Courier New" panose="02070309020205020404" pitchFamily="49" charset="0"/>
                <a:cs typeface="Courier New" panose="02070309020205020404" pitchFamily="49" charset="0"/>
              </a:rPr>
              <a:t>b = 2 </a:t>
            </a:r>
          </a:p>
          <a:p>
            <a:pPr marL="0" indent="0">
              <a:buNone/>
            </a:pPr>
            <a:r>
              <a:rPr lang="en-US" dirty="0"/>
              <a:t>II is not correct, it is not possible to create 2 objects, with names </a:t>
            </a:r>
            <a:r>
              <a:rPr lang="en-US" dirty="0">
                <a:latin typeface="Courier New" panose="02070309020205020404" pitchFamily="49" charset="0"/>
                <a:cs typeface="Courier New" panose="02070309020205020404" pitchFamily="49" charset="0"/>
              </a:rPr>
              <a:t>a</a:t>
            </a:r>
            <a:r>
              <a:rPr lang="en-US" sz="3000" dirty="0">
                <a:latin typeface="Courier New" panose="02070309020205020404" pitchFamily="49" charset="0"/>
                <a:cs typeface="Courier New" panose="02070309020205020404" pitchFamily="49" charset="0"/>
              </a:rPr>
              <a:t> </a:t>
            </a:r>
            <a:r>
              <a:rPr lang="en-US" dirty="0"/>
              <a:t>and </a:t>
            </a:r>
            <a:r>
              <a:rPr lang="en-US" dirty="0">
                <a:latin typeface="Courier New" panose="02070309020205020404" pitchFamily="49" charset="0"/>
                <a:cs typeface="Courier New" panose="02070309020205020404" pitchFamily="49" charset="0"/>
              </a:rPr>
              <a:t>b</a:t>
            </a:r>
            <a:r>
              <a:rPr lang="en-US" dirty="0"/>
              <a:t> for which:</a:t>
            </a:r>
          </a:p>
          <a:p>
            <a:pPr marL="457200" lvl="1" indent="0">
              <a:buNone/>
            </a:pPr>
            <a:r>
              <a:rPr lang="en-US" dirty="0">
                <a:latin typeface="Courier New" panose="02070309020205020404" pitchFamily="49" charset="0"/>
                <a:cs typeface="Courier New" panose="02070309020205020404" pitchFamily="49" charset="0"/>
              </a:rPr>
              <a:t>print (a == b)</a:t>
            </a:r>
            <a:r>
              <a:rPr lang="en-US" dirty="0"/>
              <a:t> gives True</a:t>
            </a:r>
          </a:p>
          <a:p>
            <a:pPr marL="457200" lvl="1" indent="0">
              <a:buNone/>
            </a:pPr>
            <a:r>
              <a:rPr lang="en-US" dirty="0">
                <a:latin typeface="Courier New" panose="02070309020205020404" pitchFamily="49" charset="0"/>
                <a:cs typeface="Courier New" panose="02070309020205020404" pitchFamily="49" charset="0"/>
              </a:rPr>
              <a:t>print (type(a) == type(b)</a:t>
            </a:r>
            <a:r>
              <a:rPr lang="en-US" dirty="0"/>
              <a:t> gives False this</a:t>
            </a:r>
          </a:p>
        </p:txBody>
      </p:sp>
      <p:sp>
        <p:nvSpPr>
          <p:cNvPr id="4" name="Slide Number Placeholder 3">
            <a:extLst>
              <a:ext uri="{FF2B5EF4-FFF2-40B4-BE49-F238E27FC236}">
                <a16:creationId xmlns:a16="http://schemas.microsoft.com/office/drawing/2014/main" id="{FB13A514-B971-38B0-37E8-EA1CAC12CB11}"/>
              </a:ext>
            </a:extLst>
          </p:cNvPr>
          <p:cNvSpPr>
            <a:spLocks noGrp="1"/>
          </p:cNvSpPr>
          <p:nvPr>
            <p:ph type="sldNum" sz="quarter" idx="12"/>
          </p:nvPr>
        </p:nvSpPr>
        <p:spPr/>
        <p:txBody>
          <a:bodyPr/>
          <a:lstStyle/>
          <a:p>
            <a:fld id="{937257EE-0CEF-4D7E-9E69-5277D6172560}" type="slidenum">
              <a:rPr lang="nl-NL" smtClean="0"/>
              <a:t>26</a:t>
            </a:fld>
            <a:endParaRPr lang="nl-NL"/>
          </a:p>
        </p:txBody>
      </p:sp>
    </p:spTree>
    <p:extLst>
      <p:ext uri="{BB962C8B-B14F-4D97-AF65-F5344CB8AC3E}">
        <p14:creationId xmlns:p14="http://schemas.microsoft.com/office/powerpoint/2010/main" val="7039337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8" end="8"/>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0" end="1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11" end="1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C6B878-DF77-6F44-F64A-EFB433F6B1AE}"/>
              </a:ext>
            </a:extLst>
          </p:cNvPr>
          <p:cNvSpPr>
            <a:spLocks noGrp="1"/>
          </p:cNvSpPr>
          <p:nvPr>
            <p:ph type="title"/>
          </p:nvPr>
        </p:nvSpPr>
        <p:spPr/>
        <p:txBody>
          <a:bodyPr/>
          <a:lstStyle/>
          <a:p>
            <a:r>
              <a:rPr lang="nl-NL" dirty="0" err="1"/>
              <a:t>Names</a:t>
            </a:r>
            <a:r>
              <a:rPr lang="nl-NL" dirty="0"/>
              <a:t> of </a:t>
            </a:r>
            <a:r>
              <a:rPr lang="nl-NL" dirty="0" err="1"/>
              <a:t>objects</a:t>
            </a:r>
            <a:endParaRPr lang="en-US" dirty="0"/>
          </a:p>
        </p:txBody>
      </p:sp>
      <p:sp>
        <p:nvSpPr>
          <p:cNvPr id="3" name="Content Placeholder 2">
            <a:extLst>
              <a:ext uri="{FF2B5EF4-FFF2-40B4-BE49-F238E27FC236}">
                <a16:creationId xmlns:a16="http://schemas.microsoft.com/office/drawing/2014/main" id="{638FFD67-6E87-F988-6115-20413F409841}"/>
              </a:ext>
            </a:extLst>
          </p:cNvPr>
          <p:cNvSpPr>
            <a:spLocks noGrp="1"/>
          </p:cNvSpPr>
          <p:nvPr>
            <p:ph idx="1"/>
          </p:nvPr>
        </p:nvSpPr>
        <p:spPr>
          <a:xfrm>
            <a:off x="838200" y="1825624"/>
            <a:ext cx="10972800" cy="5032375"/>
          </a:xfrm>
        </p:spPr>
        <p:txBody>
          <a:bodyPr>
            <a:normAutofit lnSpcReduction="10000"/>
          </a:bodyPr>
          <a:lstStyle/>
          <a:p>
            <a:r>
              <a:rPr lang="en-US" dirty="0"/>
              <a:t>Names of objects can consist of (capitalized) letters, digits, and underscores (_)</a:t>
            </a:r>
          </a:p>
          <a:p>
            <a:r>
              <a:rPr lang="en-US" dirty="0"/>
              <a:t>Names of objects can start with (capitalized) letters, or an underscore</a:t>
            </a:r>
          </a:p>
          <a:p>
            <a:r>
              <a:rPr lang="en-US" dirty="0"/>
              <a:t>Names of objects are case sensitive, e.g. </a:t>
            </a:r>
            <a:r>
              <a:rPr lang="en-US" dirty="0">
                <a:latin typeface="Courier New" panose="02070309020205020404" pitchFamily="49" charset="0"/>
                <a:cs typeface="Courier New" panose="02070309020205020404" pitchFamily="49" charset="0"/>
              </a:rPr>
              <a:t>name_1</a:t>
            </a:r>
            <a:r>
              <a:rPr lang="en-US" dirty="0"/>
              <a:t> and </a:t>
            </a:r>
            <a:r>
              <a:rPr lang="en-US" dirty="0">
                <a:latin typeface="Courier New" panose="02070309020205020404" pitchFamily="49" charset="0"/>
                <a:cs typeface="Courier New" panose="02070309020205020404" pitchFamily="49" charset="0"/>
              </a:rPr>
              <a:t>Name_1</a:t>
            </a:r>
            <a:r>
              <a:rPr lang="en-US" dirty="0"/>
              <a:t> are different names</a:t>
            </a:r>
          </a:p>
          <a:p>
            <a:r>
              <a:rPr lang="en-US" dirty="0"/>
              <a:t>These are the minimal technical rules you have to abide too, if you don't follow them, Python throws an error</a:t>
            </a:r>
          </a:p>
          <a:p>
            <a:r>
              <a:rPr lang="en-US" dirty="0"/>
              <a:t>Organizations where you work can have extra rules</a:t>
            </a:r>
          </a:p>
          <a:p>
            <a:r>
              <a:rPr lang="en-US" dirty="0"/>
              <a:t>A common followed list of rules, can be found in the PEP 8 – Style Guide for Python Code (https://peps.python.org/pep-0008/ )</a:t>
            </a:r>
          </a:p>
          <a:p>
            <a:r>
              <a:rPr lang="en-US" dirty="0"/>
              <a:t>In this course we only follow the minimal technical rules </a:t>
            </a:r>
          </a:p>
          <a:p>
            <a:endParaRPr lang="en-US" dirty="0">
              <a:cs typeface="Arial" panose="020B0604020202020204" pitchFamily="34" charset="0"/>
            </a:endParaRPr>
          </a:p>
        </p:txBody>
      </p:sp>
      <p:sp>
        <p:nvSpPr>
          <p:cNvPr id="4" name="Slide Number Placeholder 3">
            <a:extLst>
              <a:ext uri="{FF2B5EF4-FFF2-40B4-BE49-F238E27FC236}">
                <a16:creationId xmlns:a16="http://schemas.microsoft.com/office/drawing/2014/main" id="{90C7BD97-7D85-EE4C-DF5D-175C4587DED3}"/>
              </a:ext>
            </a:extLst>
          </p:cNvPr>
          <p:cNvSpPr>
            <a:spLocks noGrp="1"/>
          </p:cNvSpPr>
          <p:nvPr>
            <p:ph type="sldNum" sz="quarter" idx="12"/>
          </p:nvPr>
        </p:nvSpPr>
        <p:spPr/>
        <p:txBody>
          <a:bodyPr/>
          <a:lstStyle/>
          <a:p>
            <a:fld id="{937257EE-0CEF-4D7E-9E69-5277D6172560}" type="slidenum">
              <a:rPr lang="nl-NL" smtClean="0"/>
              <a:t>27</a:t>
            </a:fld>
            <a:endParaRPr lang="nl-NL" dirty="0"/>
          </a:p>
        </p:txBody>
      </p:sp>
    </p:spTree>
    <p:extLst>
      <p:ext uri="{BB962C8B-B14F-4D97-AF65-F5344CB8AC3E}">
        <p14:creationId xmlns:p14="http://schemas.microsoft.com/office/powerpoint/2010/main" val="28950289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100D6E-C5E7-5AB8-0F83-894B9D67FBEB}"/>
              </a:ext>
            </a:extLst>
          </p:cNvPr>
          <p:cNvSpPr>
            <a:spLocks noGrp="1"/>
          </p:cNvSpPr>
          <p:nvPr>
            <p:ph type="title"/>
          </p:nvPr>
        </p:nvSpPr>
        <p:spPr/>
        <p:txBody>
          <a:bodyPr/>
          <a:lstStyle/>
          <a:p>
            <a:r>
              <a:rPr lang="en-US" b="1" dirty="0"/>
              <a:t>Arithmetic Operators</a:t>
            </a:r>
          </a:p>
        </p:txBody>
      </p:sp>
      <p:sp>
        <p:nvSpPr>
          <p:cNvPr id="3" name="Content Placeholder 2">
            <a:extLst>
              <a:ext uri="{FF2B5EF4-FFF2-40B4-BE49-F238E27FC236}">
                <a16:creationId xmlns:a16="http://schemas.microsoft.com/office/drawing/2014/main" id="{AD16C9B2-AC33-9B82-73BE-31BEA3B624C1}"/>
              </a:ext>
            </a:extLst>
          </p:cNvPr>
          <p:cNvSpPr>
            <a:spLocks noGrp="1"/>
          </p:cNvSpPr>
          <p:nvPr>
            <p:ph idx="1"/>
          </p:nvPr>
        </p:nvSpPr>
        <p:spPr>
          <a:xfrm>
            <a:off x="838200" y="1825624"/>
            <a:ext cx="11353800" cy="4407395"/>
          </a:xfrm>
        </p:spPr>
        <p:txBody>
          <a:bodyPr>
            <a:normAutofit lnSpcReduction="10000"/>
          </a:bodyPr>
          <a:lstStyle/>
          <a:p>
            <a:r>
              <a:rPr lang="en-US" dirty="0">
                <a:latin typeface="Courier New" panose="02070309020205020404" pitchFamily="49" charset="0"/>
                <a:cs typeface="Courier New" panose="02070309020205020404" pitchFamily="49" charset="0"/>
              </a:rPr>
              <a:t>a + b</a:t>
            </a:r>
            <a:r>
              <a:rPr lang="en-US" dirty="0"/>
              <a:t>, </a:t>
            </a:r>
            <a:r>
              <a:rPr lang="en-US" dirty="0">
                <a:latin typeface="Courier New" panose="02070309020205020404" pitchFamily="49" charset="0"/>
                <a:cs typeface="Courier New" panose="02070309020205020404" pitchFamily="49" charset="0"/>
              </a:rPr>
              <a:t>a – b</a:t>
            </a:r>
            <a:r>
              <a:rPr lang="en-US" dirty="0"/>
              <a:t>, </a:t>
            </a:r>
            <a:r>
              <a:rPr lang="en-US" dirty="0">
                <a:latin typeface="Courier New" panose="02070309020205020404" pitchFamily="49" charset="0"/>
                <a:cs typeface="Courier New" panose="02070309020205020404" pitchFamily="49" charset="0"/>
              </a:rPr>
              <a:t>a * b</a:t>
            </a:r>
          </a:p>
          <a:p>
            <a:r>
              <a:rPr lang="en-US" dirty="0">
                <a:latin typeface="Courier New" panose="02070309020205020404" pitchFamily="49" charset="0"/>
                <a:cs typeface="Courier New" panose="02070309020205020404" pitchFamily="49" charset="0"/>
              </a:rPr>
              <a:t>a / b</a:t>
            </a:r>
            <a:r>
              <a:rPr lang="en-US" dirty="0"/>
              <a:t>, </a:t>
            </a:r>
            <a:r>
              <a:rPr lang="en-US" dirty="0">
                <a:latin typeface="Courier New" panose="02070309020205020404" pitchFamily="49" charset="0"/>
                <a:cs typeface="Courier New" panose="02070309020205020404" pitchFamily="49" charset="0"/>
              </a:rPr>
              <a:t>a // b</a:t>
            </a:r>
          </a:p>
          <a:p>
            <a:pPr lvl="1"/>
            <a:r>
              <a:rPr lang="en-US" dirty="0"/>
              <a:t>a / b results in a float</a:t>
            </a:r>
          </a:p>
          <a:p>
            <a:pPr lvl="1"/>
            <a:r>
              <a:rPr lang="en-US" dirty="0"/>
              <a:t>a // b results in the highest integer that is smaller or equal to the result of a division </a:t>
            </a:r>
          </a:p>
          <a:p>
            <a:r>
              <a:rPr lang="en-US" dirty="0">
                <a:latin typeface="Courier New" panose="02070309020205020404" pitchFamily="49" charset="0"/>
                <a:cs typeface="Courier New" panose="02070309020205020404" pitchFamily="49" charset="0"/>
              </a:rPr>
              <a:t>a % b </a:t>
            </a:r>
            <a:r>
              <a:rPr lang="en-US" dirty="0"/>
              <a:t>gives the remainder of the integer division</a:t>
            </a:r>
          </a:p>
          <a:p>
            <a:r>
              <a:rPr lang="en-US" dirty="0">
                <a:latin typeface="Courier New" panose="02070309020205020404" pitchFamily="49" charset="0"/>
                <a:cs typeface="Courier New" panose="02070309020205020404" pitchFamily="49" charset="0"/>
              </a:rPr>
              <a:t>a ** b </a:t>
            </a:r>
            <a:r>
              <a:rPr lang="en-US" dirty="0"/>
              <a:t>exponentiation</a:t>
            </a:r>
          </a:p>
          <a:p>
            <a:pPr lvl="1"/>
            <a:r>
              <a:rPr lang="en-US" dirty="0"/>
              <a:t>NB </a:t>
            </a:r>
            <a:r>
              <a:rPr lang="en-US" sz="2800" dirty="0">
                <a:latin typeface="Courier New" panose="02070309020205020404" pitchFamily="49" charset="0"/>
                <a:cs typeface="Courier New" panose="02070309020205020404" pitchFamily="49" charset="0"/>
              </a:rPr>
              <a:t>^</a:t>
            </a:r>
            <a:r>
              <a:rPr lang="en-US" dirty="0"/>
              <a:t> (what is used in excel for exponentiation) is also a Python-operator but does something entirely different</a:t>
            </a:r>
          </a:p>
          <a:p>
            <a:r>
              <a:rPr lang="en-US" dirty="0"/>
              <a:t>Question: What is the result of </a:t>
            </a:r>
            <a:r>
              <a:rPr lang="en-US" dirty="0">
                <a:latin typeface="Courier New" panose="02070309020205020404" pitchFamily="49" charset="0"/>
                <a:cs typeface="Courier New" panose="02070309020205020404" pitchFamily="49" charset="0"/>
              </a:rPr>
              <a:t>(a//b)*b + </a:t>
            </a:r>
            <a:r>
              <a:rPr lang="en-US" dirty="0" err="1">
                <a:latin typeface="Courier New" panose="02070309020205020404" pitchFamily="49" charset="0"/>
                <a:cs typeface="Courier New" panose="02070309020205020404" pitchFamily="49" charset="0"/>
              </a:rPr>
              <a:t>a%b</a:t>
            </a:r>
            <a:endParaRPr lang="en-US" dirty="0">
              <a:latin typeface="Courier New" panose="02070309020205020404" pitchFamily="49" charset="0"/>
              <a:cs typeface="Courier New" panose="02070309020205020404" pitchFamily="49" charset="0"/>
            </a:endParaRPr>
          </a:p>
        </p:txBody>
      </p:sp>
      <p:sp>
        <p:nvSpPr>
          <p:cNvPr id="4" name="Slide Number Placeholder 3">
            <a:extLst>
              <a:ext uri="{FF2B5EF4-FFF2-40B4-BE49-F238E27FC236}">
                <a16:creationId xmlns:a16="http://schemas.microsoft.com/office/drawing/2014/main" id="{029D4C83-D260-3E9A-F408-C839ECB41AFA}"/>
              </a:ext>
            </a:extLst>
          </p:cNvPr>
          <p:cNvSpPr>
            <a:spLocks noGrp="1"/>
          </p:cNvSpPr>
          <p:nvPr>
            <p:ph type="sldNum" sz="quarter" idx="12"/>
          </p:nvPr>
        </p:nvSpPr>
        <p:spPr/>
        <p:txBody>
          <a:bodyPr/>
          <a:lstStyle/>
          <a:p>
            <a:fld id="{937257EE-0CEF-4D7E-9E69-5277D6172560}" type="slidenum">
              <a:rPr lang="nl-NL" smtClean="0"/>
              <a:t>28</a:t>
            </a:fld>
            <a:endParaRPr lang="nl-NL"/>
          </a:p>
        </p:txBody>
      </p:sp>
    </p:spTree>
    <p:extLst>
      <p:ext uri="{BB962C8B-B14F-4D97-AF65-F5344CB8AC3E}">
        <p14:creationId xmlns:p14="http://schemas.microsoft.com/office/powerpoint/2010/main" val="18033186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100D6E-C5E7-5AB8-0F83-894B9D67FBEB}"/>
              </a:ext>
            </a:extLst>
          </p:cNvPr>
          <p:cNvSpPr>
            <a:spLocks noGrp="1"/>
          </p:cNvSpPr>
          <p:nvPr>
            <p:ph type="title"/>
          </p:nvPr>
        </p:nvSpPr>
        <p:spPr/>
        <p:txBody>
          <a:bodyPr/>
          <a:lstStyle/>
          <a:p>
            <a:r>
              <a:rPr lang="en-US" b="1" dirty="0"/>
              <a:t>Arithmetic Operators</a:t>
            </a:r>
          </a:p>
        </p:txBody>
      </p:sp>
      <p:sp>
        <p:nvSpPr>
          <p:cNvPr id="3" name="Content Placeholder 2">
            <a:extLst>
              <a:ext uri="{FF2B5EF4-FFF2-40B4-BE49-F238E27FC236}">
                <a16:creationId xmlns:a16="http://schemas.microsoft.com/office/drawing/2014/main" id="{AD16C9B2-AC33-9B82-73BE-31BEA3B624C1}"/>
              </a:ext>
            </a:extLst>
          </p:cNvPr>
          <p:cNvSpPr>
            <a:spLocks noGrp="1"/>
          </p:cNvSpPr>
          <p:nvPr>
            <p:ph idx="1"/>
          </p:nvPr>
        </p:nvSpPr>
        <p:spPr>
          <a:xfrm>
            <a:off x="838200" y="1825624"/>
            <a:ext cx="11353800" cy="4407395"/>
          </a:xfrm>
        </p:spPr>
        <p:txBody>
          <a:bodyPr>
            <a:normAutofit fontScale="92500"/>
          </a:bodyPr>
          <a:lstStyle/>
          <a:p>
            <a:r>
              <a:rPr lang="en-US" dirty="0">
                <a:latin typeface="Courier New" panose="02070309020205020404" pitchFamily="49" charset="0"/>
                <a:cs typeface="Courier New" panose="02070309020205020404" pitchFamily="49" charset="0"/>
              </a:rPr>
              <a:t>a + b</a:t>
            </a:r>
            <a:r>
              <a:rPr lang="en-US" dirty="0"/>
              <a:t>, </a:t>
            </a:r>
            <a:r>
              <a:rPr lang="en-US" dirty="0">
                <a:latin typeface="Courier New" panose="02070309020205020404" pitchFamily="49" charset="0"/>
                <a:cs typeface="Courier New" panose="02070309020205020404" pitchFamily="49" charset="0"/>
              </a:rPr>
              <a:t>a – b</a:t>
            </a:r>
            <a:r>
              <a:rPr lang="en-US" dirty="0"/>
              <a:t>, </a:t>
            </a:r>
            <a:r>
              <a:rPr lang="en-US" dirty="0">
                <a:latin typeface="Courier New" panose="02070309020205020404" pitchFamily="49" charset="0"/>
                <a:cs typeface="Courier New" panose="02070309020205020404" pitchFamily="49" charset="0"/>
              </a:rPr>
              <a:t>a * b</a:t>
            </a:r>
          </a:p>
          <a:p>
            <a:r>
              <a:rPr lang="en-US" dirty="0">
                <a:latin typeface="Courier New" panose="02070309020205020404" pitchFamily="49" charset="0"/>
                <a:cs typeface="Courier New" panose="02070309020205020404" pitchFamily="49" charset="0"/>
              </a:rPr>
              <a:t>a / b</a:t>
            </a:r>
            <a:r>
              <a:rPr lang="en-US" dirty="0"/>
              <a:t>, </a:t>
            </a:r>
            <a:r>
              <a:rPr lang="en-US" dirty="0">
                <a:latin typeface="Courier New" panose="02070309020205020404" pitchFamily="49" charset="0"/>
                <a:cs typeface="Courier New" panose="02070309020205020404" pitchFamily="49" charset="0"/>
              </a:rPr>
              <a:t>a // b</a:t>
            </a:r>
          </a:p>
          <a:p>
            <a:pPr lvl="1"/>
            <a:r>
              <a:rPr lang="en-US" dirty="0"/>
              <a:t>a / b results in a float</a:t>
            </a:r>
          </a:p>
          <a:p>
            <a:pPr lvl="1"/>
            <a:r>
              <a:rPr lang="en-US" dirty="0"/>
              <a:t>a // b results in the highest integer that is smaller or equal to the result of a division </a:t>
            </a:r>
          </a:p>
          <a:p>
            <a:r>
              <a:rPr lang="en-US" dirty="0">
                <a:latin typeface="Courier New" panose="02070309020205020404" pitchFamily="49" charset="0"/>
                <a:cs typeface="Courier New" panose="02070309020205020404" pitchFamily="49" charset="0"/>
              </a:rPr>
              <a:t>a % b </a:t>
            </a:r>
            <a:r>
              <a:rPr lang="en-US" dirty="0"/>
              <a:t>gives the remainder of the integer division</a:t>
            </a:r>
          </a:p>
          <a:p>
            <a:r>
              <a:rPr lang="en-US" dirty="0">
                <a:latin typeface="Courier New" panose="02070309020205020404" pitchFamily="49" charset="0"/>
                <a:cs typeface="Courier New" panose="02070309020205020404" pitchFamily="49" charset="0"/>
              </a:rPr>
              <a:t>a ** b </a:t>
            </a:r>
            <a:r>
              <a:rPr lang="en-US" dirty="0"/>
              <a:t>exponentiation</a:t>
            </a:r>
          </a:p>
          <a:p>
            <a:pPr lvl="1"/>
            <a:r>
              <a:rPr lang="en-US" dirty="0"/>
              <a:t>NB </a:t>
            </a:r>
            <a:r>
              <a:rPr lang="en-US" sz="2800" dirty="0">
                <a:latin typeface="Courier New" panose="02070309020205020404" pitchFamily="49" charset="0"/>
                <a:cs typeface="Courier New" panose="02070309020205020404" pitchFamily="49" charset="0"/>
              </a:rPr>
              <a:t>^</a:t>
            </a:r>
            <a:r>
              <a:rPr lang="en-US" dirty="0"/>
              <a:t> (what is used in excel for exponentiation) is also a Python-operator but does something entirely different</a:t>
            </a:r>
          </a:p>
          <a:p>
            <a:r>
              <a:rPr lang="en-US" dirty="0"/>
              <a:t>Question: What is the result of </a:t>
            </a:r>
            <a:r>
              <a:rPr lang="en-US" dirty="0">
                <a:latin typeface="Courier New" panose="02070309020205020404" pitchFamily="49" charset="0"/>
                <a:cs typeface="Courier New" panose="02070309020205020404" pitchFamily="49" charset="0"/>
              </a:rPr>
              <a:t>(a//b)*b + </a:t>
            </a:r>
            <a:r>
              <a:rPr lang="en-US" dirty="0" err="1">
                <a:latin typeface="Courier New" panose="02070309020205020404" pitchFamily="49" charset="0"/>
                <a:cs typeface="Courier New" panose="02070309020205020404" pitchFamily="49" charset="0"/>
              </a:rPr>
              <a:t>a%b</a:t>
            </a:r>
            <a:endParaRPr lang="en-US" dirty="0">
              <a:latin typeface="Courier New" panose="02070309020205020404" pitchFamily="49" charset="0"/>
              <a:cs typeface="Courier New" panose="02070309020205020404" pitchFamily="49" charset="0"/>
            </a:endParaRPr>
          </a:p>
          <a:p>
            <a:r>
              <a:rPr lang="en-US" dirty="0"/>
              <a:t>Answer:</a:t>
            </a:r>
            <a:r>
              <a:rPr lang="en-US" dirty="0">
                <a:latin typeface="Courier New" panose="02070309020205020404" pitchFamily="49" charset="0"/>
                <a:cs typeface="Courier New" panose="02070309020205020404" pitchFamily="49" charset="0"/>
              </a:rPr>
              <a:t> a</a:t>
            </a:r>
          </a:p>
        </p:txBody>
      </p:sp>
      <p:sp>
        <p:nvSpPr>
          <p:cNvPr id="4" name="Slide Number Placeholder 3">
            <a:extLst>
              <a:ext uri="{FF2B5EF4-FFF2-40B4-BE49-F238E27FC236}">
                <a16:creationId xmlns:a16="http://schemas.microsoft.com/office/drawing/2014/main" id="{029D4C83-D260-3E9A-F408-C839ECB41AFA}"/>
              </a:ext>
            </a:extLst>
          </p:cNvPr>
          <p:cNvSpPr>
            <a:spLocks noGrp="1"/>
          </p:cNvSpPr>
          <p:nvPr>
            <p:ph type="sldNum" sz="quarter" idx="12"/>
          </p:nvPr>
        </p:nvSpPr>
        <p:spPr/>
        <p:txBody>
          <a:bodyPr/>
          <a:lstStyle/>
          <a:p>
            <a:fld id="{937257EE-0CEF-4D7E-9E69-5277D6172560}" type="slidenum">
              <a:rPr lang="nl-NL" smtClean="0"/>
              <a:t>29</a:t>
            </a:fld>
            <a:endParaRPr lang="nl-NL"/>
          </a:p>
        </p:txBody>
      </p:sp>
    </p:spTree>
    <p:extLst>
      <p:ext uri="{BB962C8B-B14F-4D97-AF65-F5344CB8AC3E}">
        <p14:creationId xmlns:p14="http://schemas.microsoft.com/office/powerpoint/2010/main" val="429265818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100D6E-C5E7-5AB8-0F83-894B9D67FBEB}"/>
              </a:ext>
            </a:extLst>
          </p:cNvPr>
          <p:cNvSpPr>
            <a:spLocks noGrp="1"/>
          </p:cNvSpPr>
          <p:nvPr>
            <p:ph type="title"/>
          </p:nvPr>
        </p:nvSpPr>
        <p:spPr/>
        <p:txBody>
          <a:bodyPr/>
          <a:lstStyle/>
          <a:p>
            <a:r>
              <a:rPr lang="en-US" b="1" dirty="0"/>
              <a:t>Comparison operators</a:t>
            </a:r>
          </a:p>
        </p:txBody>
      </p:sp>
      <p:sp>
        <p:nvSpPr>
          <p:cNvPr id="3" name="Content Placeholder 2">
            <a:extLst>
              <a:ext uri="{FF2B5EF4-FFF2-40B4-BE49-F238E27FC236}">
                <a16:creationId xmlns:a16="http://schemas.microsoft.com/office/drawing/2014/main" id="{AD16C9B2-AC33-9B82-73BE-31BEA3B624C1}"/>
              </a:ext>
            </a:extLst>
          </p:cNvPr>
          <p:cNvSpPr>
            <a:spLocks noGrp="1"/>
          </p:cNvSpPr>
          <p:nvPr>
            <p:ph idx="1"/>
          </p:nvPr>
        </p:nvSpPr>
        <p:spPr>
          <a:xfrm>
            <a:off x="838200" y="1825624"/>
            <a:ext cx="11353800" cy="4407395"/>
          </a:xfrm>
        </p:spPr>
        <p:txBody>
          <a:bodyPr>
            <a:normAutofit fontScale="85000" lnSpcReduction="20000"/>
          </a:bodyPr>
          <a:lstStyle/>
          <a:p>
            <a:r>
              <a:rPr lang="en-US" dirty="0">
                <a:latin typeface="Courier New" panose="02070309020205020404" pitchFamily="49" charset="0"/>
                <a:cs typeface="Courier New" panose="02070309020205020404" pitchFamily="49" charset="0"/>
              </a:rPr>
              <a:t>a == b</a:t>
            </a:r>
            <a:r>
              <a:rPr lang="en-US" dirty="0"/>
              <a:t>, </a:t>
            </a:r>
            <a:r>
              <a:rPr lang="en-US" dirty="0">
                <a:latin typeface="Courier New" panose="02070309020205020404" pitchFamily="49" charset="0"/>
                <a:cs typeface="Courier New" panose="02070309020205020404" pitchFamily="49" charset="0"/>
              </a:rPr>
              <a:t>a != b</a:t>
            </a:r>
            <a:r>
              <a:rPr lang="en-US" dirty="0"/>
              <a:t>, </a:t>
            </a:r>
            <a:r>
              <a:rPr lang="en-US" dirty="0">
                <a:latin typeface="Courier New" panose="02070309020205020404" pitchFamily="49" charset="0"/>
                <a:cs typeface="Courier New" panose="02070309020205020404" pitchFamily="49" charset="0"/>
              </a:rPr>
              <a:t>a &gt; b</a:t>
            </a:r>
            <a:r>
              <a:rPr lang="en-US" dirty="0"/>
              <a:t>, </a:t>
            </a:r>
            <a:r>
              <a:rPr lang="en-US" dirty="0">
                <a:latin typeface="Courier New" panose="02070309020205020404" pitchFamily="49" charset="0"/>
                <a:cs typeface="Courier New" panose="02070309020205020404" pitchFamily="49" charset="0"/>
              </a:rPr>
              <a:t>a &lt; b</a:t>
            </a:r>
            <a:r>
              <a:rPr lang="en-US" dirty="0"/>
              <a:t>, </a:t>
            </a:r>
            <a:r>
              <a:rPr lang="en-US" dirty="0">
                <a:latin typeface="Courier New" panose="02070309020205020404" pitchFamily="49" charset="0"/>
                <a:cs typeface="Courier New" panose="02070309020205020404" pitchFamily="49" charset="0"/>
              </a:rPr>
              <a:t>a &gt;= b</a:t>
            </a:r>
            <a:r>
              <a:rPr lang="en-US" dirty="0"/>
              <a:t>, </a:t>
            </a:r>
            <a:r>
              <a:rPr lang="en-US" dirty="0">
                <a:latin typeface="Courier New" panose="02070309020205020404" pitchFamily="49" charset="0"/>
                <a:cs typeface="Courier New" panose="02070309020205020404" pitchFamily="49" charset="0"/>
              </a:rPr>
              <a:t>a &lt;= b  </a:t>
            </a:r>
          </a:p>
          <a:p>
            <a:r>
              <a:rPr lang="en-US" dirty="0"/>
              <a:t>Always lead to True or False</a:t>
            </a:r>
          </a:p>
          <a:p>
            <a:r>
              <a:rPr lang="en-US" dirty="0"/>
              <a:t>Comparing floats can be tricky: </a:t>
            </a:r>
            <a:r>
              <a:rPr lang="en-US" dirty="0">
                <a:latin typeface="Courier New" panose="02070309020205020404" pitchFamily="49" charset="0"/>
                <a:cs typeface="Courier New" panose="02070309020205020404" pitchFamily="49" charset="0"/>
              </a:rPr>
              <a:t>1.1 + 2.2 </a:t>
            </a:r>
            <a:r>
              <a:rPr lang="en-US" dirty="0"/>
              <a:t>according to Python is not equal to </a:t>
            </a:r>
            <a:r>
              <a:rPr lang="en-US" dirty="0">
                <a:latin typeface="Courier New" panose="02070309020205020404" pitchFamily="49" charset="0"/>
                <a:cs typeface="Courier New" panose="02070309020205020404" pitchFamily="49" charset="0"/>
              </a:rPr>
              <a:t>3.3</a:t>
            </a:r>
            <a:r>
              <a:rPr lang="en-US" dirty="0"/>
              <a:t>. This is because floating point numbers are not precise. Computers use a binary system and that means that floats are not stored as precise as you maybe expect. For </a:t>
            </a:r>
            <a:r>
              <a:rPr lang="en-US" dirty="0" err="1"/>
              <a:t>homeworkexercises</a:t>
            </a:r>
            <a:r>
              <a:rPr lang="en-US" dirty="0"/>
              <a:t> we have built-in a tolerance so that when your answer is close enough you get a full point</a:t>
            </a:r>
          </a:p>
          <a:p>
            <a:r>
              <a:rPr lang="en-US" dirty="0"/>
              <a:t>If you are interested in how to solve this problem with floating points, have a look at the </a:t>
            </a:r>
            <a:r>
              <a:rPr lang="en-US" dirty="0" err="1">
                <a:latin typeface="Courier New" panose="02070309020205020404" pitchFamily="49" charset="0"/>
                <a:cs typeface="Courier New" panose="02070309020205020404" pitchFamily="49" charset="0"/>
              </a:rPr>
              <a:t>isclose</a:t>
            </a:r>
            <a:r>
              <a:rPr lang="en-US" dirty="0"/>
              <a:t> function or the </a:t>
            </a:r>
            <a:r>
              <a:rPr lang="en-US" dirty="0">
                <a:latin typeface="Courier New" panose="02070309020205020404" pitchFamily="49" charset="0"/>
                <a:cs typeface="Courier New" panose="02070309020205020404" pitchFamily="49" charset="0"/>
              </a:rPr>
              <a:t>Decimal</a:t>
            </a:r>
            <a:r>
              <a:rPr lang="en-US" dirty="0"/>
              <a:t> type, this is not part of the exam</a:t>
            </a:r>
          </a:p>
          <a:p>
            <a:r>
              <a:rPr lang="en-US" dirty="0"/>
              <a:t>Comparing strings, tuples and lists all work the same. Elements are compared from left to right, and the first elements that differs decides the result. If no element differs and the structures are of equal length, the structures are seen as equal. If no element differs and the structures are of different length, the longest structure is seen as larger</a:t>
            </a:r>
          </a:p>
        </p:txBody>
      </p:sp>
      <p:sp>
        <p:nvSpPr>
          <p:cNvPr id="4" name="Slide Number Placeholder 3">
            <a:extLst>
              <a:ext uri="{FF2B5EF4-FFF2-40B4-BE49-F238E27FC236}">
                <a16:creationId xmlns:a16="http://schemas.microsoft.com/office/drawing/2014/main" id="{029D4C83-D260-3E9A-F408-C839ECB41AFA}"/>
              </a:ext>
            </a:extLst>
          </p:cNvPr>
          <p:cNvSpPr>
            <a:spLocks noGrp="1"/>
          </p:cNvSpPr>
          <p:nvPr>
            <p:ph type="sldNum" sz="quarter" idx="12"/>
          </p:nvPr>
        </p:nvSpPr>
        <p:spPr/>
        <p:txBody>
          <a:bodyPr/>
          <a:lstStyle/>
          <a:p>
            <a:fld id="{937257EE-0CEF-4D7E-9E69-5277D6172560}" type="slidenum">
              <a:rPr lang="nl-NL" smtClean="0"/>
              <a:t>30</a:t>
            </a:fld>
            <a:endParaRPr lang="nl-NL"/>
          </a:p>
        </p:txBody>
      </p:sp>
    </p:spTree>
    <p:extLst>
      <p:ext uri="{BB962C8B-B14F-4D97-AF65-F5344CB8AC3E}">
        <p14:creationId xmlns:p14="http://schemas.microsoft.com/office/powerpoint/2010/main" val="14311940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100D6E-C5E7-5AB8-0F83-894B9D67FBEB}"/>
              </a:ext>
            </a:extLst>
          </p:cNvPr>
          <p:cNvSpPr>
            <a:spLocks noGrp="1"/>
          </p:cNvSpPr>
          <p:nvPr>
            <p:ph type="title"/>
          </p:nvPr>
        </p:nvSpPr>
        <p:spPr/>
        <p:txBody>
          <a:bodyPr/>
          <a:lstStyle/>
          <a:p>
            <a:r>
              <a:rPr lang="en-US" b="1" dirty="0"/>
              <a:t>Boolean operators</a:t>
            </a:r>
          </a:p>
        </p:txBody>
      </p:sp>
      <p:sp>
        <p:nvSpPr>
          <p:cNvPr id="3" name="Content Placeholder 2">
            <a:extLst>
              <a:ext uri="{FF2B5EF4-FFF2-40B4-BE49-F238E27FC236}">
                <a16:creationId xmlns:a16="http://schemas.microsoft.com/office/drawing/2014/main" id="{AD16C9B2-AC33-9B82-73BE-31BEA3B624C1}"/>
              </a:ext>
            </a:extLst>
          </p:cNvPr>
          <p:cNvSpPr>
            <a:spLocks noGrp="1"/>
          </p:cNvSpPr>
          <p:nvPr>
            <p:ph idx="1"/>
          </p:nvPr>
        </p:nvSpPr>
        <p:spPr>
          <a:xfrm>
            <a:off x="838200" y="1825624"/>
            <a:ext cx="11353800" cy="4407395"/>
          </a:xfrm>
        </p:spPr>
        <p:txBody>
          <a:bodyPr>
            <a:normAutofit/>
          </a:bodyPr>
          <a:lstStyle/>
          <a:p>
            <a:r>
              <a:rPr lang="en-US" dirty="0">
                <a:latin typeface="Courier New" panose="02070309020205020404" pitchFamily="49" charset="0"/>
                <a:cs typeface="Courier New" panose="02070309020205020404" pitchFamily="49" charset="0"/>
              </a:rPr>
              <a:t>x and y</a:t>
            </a:r>
            <a:r>
              <a:rPr lang="en-US" dirty="0"/>
              <a:t>: True if both are True, otherwise False</a:t>
            </a:r>
          </a:p>
          <a:p>
            <a:r>
              <a:rPr lang="en-US" dirty="0">
                <a:latin typeface="Courier New" panose="02070309020205020404" pitchFamily="49" charset="0"/>
                <a:cs typeface="Courier New" panose="02070309020205020404" pitchFamily="49" charset="0"/>
              </a:rPr>
              <a:t>x or y</a:t>
            </a:r>
            <a:r>
              <a:rPr lang="en-US" dirty="0"/>
              <a:t>: False if both are False, otherwise True</a:t>
            </a:r>
          </a:p>
          <a:p>
            <a:r>
              <a:rPr lang="en-US" dirty="0">
                <a:latin typeface="Courier New" panose="02070309020205020404" pitchFamily="49" charset="0"/>
                <a:cs typeface="Courier New" panose="02070309020205020404" pitchFamily="49" charset="0"/>
              </a:rPr>
              <a:t>not x</a:t>
            </a:r>
            <a:r>
              <a:rPr lang="en-US" dirty="0"/>
              <a:t>: True if x is False, False if x is True</a:t>
            </a:r>
          </a:p>
          <a:p>
            <a:pPr lvl="1"/>
            <a:r>
              <a:rPr lang="en-US" dirty="0"/>
              <a:t>NB </a:t>
            </a:r>
            <a:r>
              <a:rPr lang="en-US" sz="2800" dirty="0">
                <a:latin typeface="Courier New" panose="02070309020205020404" pitchFamily="49" charset="0"/>
                <a:cs typeface="Courier New" panose="02070309020205020404" pitchFamily="49" charset="0"/>
              </a:rPr>
              <a:t>&amp;&amp; </a:t>
            </a:r>
            <a:r>
              <a:rPr lang="en-US" dirty="0"/>
              <a:t>and </a:t>
            </a:r>
            <a:r>
              <a:rPr lang="en-US" sz="2800" dirty="0">
                <a:latin typeface="Courier New" panose="02070309020205020404" pitchFamily="49" charset="0"/>
                <a:cs typeface="Courier New" panose="02070309020205020404" pitchFamily="49" charset="0"/>
              </a:rPr>
              <a:t>|| </a:t>
            </a:r>
            <a:r>
              <a:rPr lang="en-US" dirty="0"/>
              <a:t>(which are used in some programming languages for </a:t>
            </a:r>
            <a:r>
              <a:rPr lang="en-US" sz="2800" dirty="0">
                <a:latin typeface="Courier New" panose="02070309020205020404" pitchFamily="49" charset="0"/>
                <a:cs typeface="Courier New" panose="02070309020205020404" pitchFamily="49" charset="0"/>
              </a:rPr>
              <a:t>and</a:t>
            </a:r>
            <a:r>
              <a:rPr lang="en-US" dirty="0"/>
              <a:t> </a:t>
            </a:r>
            <a:r>
              <a:rPr lang="en-US" dirty="0" err="1"/>
              <a:t>and</a:t>
            </a:r>
            <a:r>
              <a:rPr lang="en-US" dirty="0"/>
              <a:t> </a:t>
            </a:r>
            <a:r>
              <a:rPr lang="en-US" sz="2800" dirty="0">
                <a:latin typeface="Courier New" panose="02070309020205020404" pitchFamily="49" charset="0"/>
                <a:cs typeface="Courier New" panose="02070309020205020404" pitchFamily="49" charset="0"/>
              </a:rPr>
              <a:t>or</a:t>
            </a:r>
            <a:r>
              <a:rPr lang="en-US" dirty="0"/>
              <a:t>) are also a Python-operators but do something entirely different</a:t>
            </a:r>
          </a:p>
        </p:txBody>
      </p:sp>
      <p:sp>
        <p:nvSpPr>
          <p:cNvPr id="4" name="Slide Number Placeholder 3">
            <a:extLst>
              <a:ext uri="{FF2B5EF4-FFF2-40B4-BE49-F238E27FC236}">
                <a16:creationId xmlns:a16="http://schemas.microsoft.com/office/drawing/2014/main" id="{029D4C83-D260-3E9A-F408-C839ECB41AFA}"/>
              </a:ext>
            </a:extLst>
          </p:cNvPr>
          <p:cNvSpPr>
            <a:spLocks noGrp="1"/>
          </p:cNvSpPr>
          <p:nvPr>
            <p:ph type="sldNum" sz="quarter" idx="12"/>
          </p:nvPr>
        </p:nvSpPr>
        <p:spPr/>
        <p:txBody>
          <a:bodyPr/>
          <a:lstStyle/>
          <a:p>
            <a:fld id="{937257EE-0CEF-4D7E-9E69-5277D6172560}" type="slidenum">
              <a:rPr lang="nl-NL" smtClean="0"/>
              <a:t>31</a:t>
            </a:fld>
            <a:endParaRPr lang="nl-NL"/>
          </a:p>
        </p:txBody>
      </p:sp>
    </p:spTree>
    <p:extLst>
      <p:ext uri="{BB962C8B-B14F-4D97-AF65-F5344CB8AC3E}">
        <p14:creationId xmlns:p14="http://schemas.microsoft.com/office/powerpoint/2010/main" val="17224020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12F33F-A141-0F90-6E0C-B391F2959544}"/>
              </a:ext>
            </a:extLst>
          </p:cNvPr>
          <p:cNvSpPr>
            <a:spLocks noGrp="1"/>
          </p:cNvSpPr>
          <p:nvPr>
            <p:ph type="title"/>
          </p:nvPr>
        </p:nvSpPr>
        <p:spPr>
          <a:xfrm>
            <a:off x="545592" y="263097"/>
            <a:ext cx="10515600" cy="1325563"/>
          </a:xfrm>
        </p:spPr>
        <p:txBody>
          <a:bodyPr/>
          <a:lstStyle/>
          <a:p>
            <a:r>
              <a:rPr lang="en-US" b="1" dirty="0"/>
              <a:t>Mutable vs immutable</a:t>
            </a:r>
            <a:endParaRPr lang="nl-NL" b="1" dirty="0"/>
          </a:p>
        </p:txBody>
      </p:sp>
      <p:sp>
        <p:nvSpPr>
          <p:cNvPr id="3" name="Content Placeholder 2">
            <a:extLst>
              <a:ext uri="{FF2B5EF4-FFF2-40B4-BE49-F238E27FC236}">
                <a16:creationId xmlns:a16="http://schemas.microsoft.com/office/drawing/2014/main" id="{987FFBB7-D392-3BB1-6E4C-8815E69999CF}"/>
              </a:ext>
            </a:extLst>
          </p:cNvPr>
          <p:cNvSpPr>
            <a:spLocks noGrp="1"/>
          </p:cNvSpPr>
          <p:nvPr>
            <p:ph idx="1"/>
          </p:nvPr>
        </p:nvSpPr>
        <p:spPr>
          <a:xfrm>
            <a:off x="545592" y="1405000"/>
            <a:ext cx="10515600" cy="5032375"/>
          </a:xfrm>
        </p:spPr>
        <p:txBody>
          <a:bodyPr>
            <a:normAutofit fontScale="92500"/>
          </a:bodyPr>
          <a:lstStyle/>
          <a:p>
            <a:r>
              <a:rPr lang="nl-NL" altLang="nl-NL" dirty="0"/>
              <a:t>List (</a:t>
            </a:r>
            <a:r>
              <a:rPr lang="nl-NL" altLang="nl-NL" dirty="0" err="1"/>
              <a:t>mutable</a:t>
            </a:r>
            <a:r>
              <a:rPr lang="nl-NL" altLang="nl-NL" dirty="0"/>
              <a:t>):</a:t>
            </a:r>
          </a:p>
          <a:p>
            <a:pPr marL="457200" lvl="1" indent="0">
              <a:buNone/>
            </a:pPr>
            <a:r>
              <a:rPr lang="nl-NL" altLang="nl-NL" dirty="0">
                <a:latin typeface="Courier New" panose="02070309020205020404" pitchFamily="49" charset="0"/>
                <a:cs typeface="Courier New" panose="02070309020205020404" pitchFamily="49" charset="0"/>
              </a:rPr>
              <a:t>l1 = </a:t>
            </a:r>
            <a:r>
              <a:rPr lang="en-US" dirty="0">
                <a:latin typeface="Courier New" panose="02070309020205020404" pitchFamily="49" charset="0"/>
                <a:cs typeface="Courier New" panose="02070309020205020404" pitchFamily="49" charset="0"/>
              </a:rPr>
              <a:t>[1,2,3]</a:t>
            </a:r>
          </a:p>
          <a:p>
            <a:pPr marL="457200" lvl="1" indent="0">
              <a:buNone/>
            </a:pPr>
            <a:r>
              <a:rPr lang="en-US" dirty="0">
                <a:latin typeface="Courier New" panose="02070309020205020404" pitchFamily="49" charset="0"/>
                <a:cs typeface="Courier New" panose="02070309020205020404" pitchFamily="49" charset="0"/>
              </a:rPr>
              <a:t>print(l1)   # Onscreen: [1, 2, 3] </a:t>
            </a:r>
          </a:p>
          <a:p>
            <a:pPr marL="457200" lvl="1" indent="0">
              <a:buNone/>
            </a:pPr>
            <a:r>
              <a:rPr lang="en-US" dirty="0">
                <a:latin typeface="Courier New" panose="02070309020205020404" pitchFamily="49" charset="0"/>
                <a:cs typeface="Courier New" panose="02070309020205020404" pitchFamily="49" charset="0"/>
              </a:rPr>
              <a:t>l1[2] = 4</a:t>
            </a:r>
          </a:p>
          <a:p>
            <a:pPr marL="457200" lvl="1" indent="0">
              <a:buNone/>
            </a:pPr>
            <a:r>
              <a:rPr lang="en-US" dirty="0">
                <a:latin typeface="Courier New" panose="02070309020205020404" pitchFamily="49" charset="0"/>
                <a:cs typeface="Courier New" panose="02070309020205020404" pitchFamily="49" charset="0"/>
              </a:rPr>
              <a:t>print(l1)   # Onscreen: [1, 2, 4]</a:t>
            </a:r>
            <a:endParaRPr lang="en-US" dirty="0"/>
          </a:p>
          <a:p>
            <a:r>
              <a:rPr lang="en-US" dirty="0"/>
              <a:t>Tuple (immutable):</a:t>
            </a:r>
          </a:p>
          <a:p>
            <a:pPr marL="457200" lvl="1" indent="0">
              <a:buNone/>
            </a:pPr>
            <a:r>
              <a:rPr lang="en-US" dirty="0">
                <a:latin typeface="Courier New" panose="02070309020205020404" pitchFamily="49" charset="0"/>
                <a:cs typeface="Courier New" panose="02070309020205020404" pitchFamily="49" charset="0"/>
              </a:rPr>
              <a:t>t1 = (1,2,3)</a:t>
            </a:r>
          </a:p>
          <a:p>
            <a:pPr marL="457200" lvl="1" indent="0">
              <a:buNone/>
            </a:pPr>
            <a:r>
              <a:rPr lang="en-US" dirty="0">
                <a:latin typeface="Courier New" panose="02070309020205020404" pitchFamily="49" charset="0"/>
                <a:cs typeface="Courier New" panose="02070309020205020404" pitchFamily="49" charset="0"/>
              </a:rPr>
              <a:t>print(t1)   # Onscreen: (1, 2, 3) </a:t>
            </a:r>
          </a:p>
          <a:p>
            <a:pPr marL="457200" lvl="1" indent="0">
              <a:buNone/>
            </a:pPr>
            <a:r>
              <a:rPr lang="en-US" dirty="0">
                <a:latin typeface="Courier New" panose="02070309020205020404" pitchFamily="49" charset="0"/>
                <a:cs typeface="Courier New" panose="02070309020205020404" pitchFamily="49" charset="0"/>
              </a:rPr>
              <a:t>t1[2] = 4 </a:t>
            </a:r>
          </a:p>
          <a:p>
            <a:pPr marL="457200" lvl="1" indent="0">
              <a:buNone/>
            </a:pPr>
            <a:r>
              <a:rPr lang="en-US" dirty="0">
                <a:latin typeface="Courier New" panose="02070309020205020404" pitchFamily="49" charset="0"/>
                <a:cs typeface="Courier New" panose="02070309020205020404" pitchFamily="49" charset="0"/>
              </a:rPr>
              <a:t>#  Onscreen: </a:t>
            </a:r>
            <a:r>
              <a:rPr lang="nl-NL" altLang="nl-NL" dirty="0" err="1">
                <a:latin typeface="Courier New" panose="02070309020205020404" pitchFamily="49" charset="0"/>
                <a:cs typeface="Courier New" panose="02070309020205020404" pitchFamily="49" charset="0"/>
              </a:rPr>
              <a:t>TypeError</a:t>
            </a:r>
            <a:r>
              <a:rPr lang="nl-NL" altLang="nl-NL" dirty="0">
                <a:latin typeface="Courier New" panose="02070309020205020404" pitchFamily="49" charset="0"/>
                <a:cs typeface="Courier New" panose="02070309020205020404" pitchFamily="49" charset="0"/>
              </a:rPr>
              <a:t> </a:t>
            </a:r>
            <a:r>
              <a:rPr lang="nl-NL" altLang="nl-NL" dirty="0" err="1">
                <a:latin typeface="Courier New" panose="02070309020205020404" pitchFamily="49" charset="0"/>
                <a:cs typeface="Courier New" panose="02070309020205020404" pitchFamily="49" charset="0"/>
              </a:rPr>
              <a:t>Traceback</a:t>
            </a:r>
            <a:r>
              <a:rPr lang="nl-NL" altLang="nl-NL" dirty="0">
                <a:latin typeface="Courier New" panose="02070309020205020404" pitchFamily="49" charset="0"/>
                <a:cs typeface="Courier New" panose="02070309020205020404" pitchFamily="49" charset="0"/>
              </a:rPr>
              <a:t> (most recent call last) </a:t>
            </a:r>
          </a:p>
          <a:p>
            <a:pPr marL="457200" lvl="1" indent="0">
              <a:buNone/>
            </a:pPr>
            <a:r>
              <a:rPr lang="nl-NL" altLang="nl-NL" dirty="0">
                <a:latin typeface="Courier New" panose="02070309020205020404" pitchFamily="49" charset="0"/>
                <a:cs typeface="Courier New" panose="02070309020205020404" pitchFamily="49" charset="0"/>
              </a:rPr>
              <a:t>Input In [2], in &lt;</a:t>
            </a:r>
            <a:r>
              <a:rPr lang="nl-NL" altLang="nl-NL" dirty="0" err="1">
                <a:latin typeface="Courier New" panose="02070309020205020404" pitchFamily="49" charset="0"/>
                <a:cs typeface="Courier New" panose="02070309020205020404" pitchFamily="49" charset="0"/>
              </a:rPr>
              <a:t>cell</a:t>
            </a:r>
            <a:r>
              <a:rPr lang="nl-NL" altLang="nl-NL" dirty="0">
                <a:latin typeface="Courier New" panose="02070309020205020404" pitchFamily="49" charset="0"/>
                <a:cs typeface="Courier New" panose="02070309020205020404" pitchFamily="49" charset="0"/>
              </a:rPr>
              <a:t> line: 1&gt;() </a:t>
            </a:r>
          </a:p>
          <a:p>
            <a:pPr marL="457200" lvl="1" indent="0">
              <a:buNone/>
            </a:pPr>
            <a:r>
              <a:rPr lang="nl-NL" altLang="nl-NL" dirty="0">
                <a:latin typeface="Courier New" panose="02070309020205020404" pitchFamily="49" charset="0"/>
                <a:cs typeface="Courier New" panose="02070309020205020404" pitchFamily="49" charset="0"/>
              </a:rPr>
              <a:t>----&gt; 1 t1[2] = 4 </a:t>
            </a:r>
          </a:p>
          <a:p>
            <a:pPr marL="457200" lvl="1" indent="0">
              <a:buNone/>
            </a:pPr>
            <a:r>
              <a:rPr lang="nl-NL" altLang="nl-NL" dirty="0" err="1">
                <a:latin typeface="Courier New" panose="02070309020205020404" pitchFamily="49" charset="0"/>
                <a:cs typeface="Courier New" panose="02070309020205020404" pitchFamily="49" charset="0"/>
              </a:rPr>
              <a:t>TypeError</a:t>
            </a:r>
            <a:r>
              <a:rPr lang="nl-NL" altLang="nl-NL" dirty="0">
                <a:latin typeface="Courier New" panose="02070309020205020404" pitchFamily="49" charset="0"/>
                <a:cs typeface="Courier New" panose="02070309020205020404" pitchFamily="49" charset="0"/>
              </a:rPr>
              <a:t>: '</a:t>
            </a:r>
            <a:r>
              <a:rPr lang="nl-NL" altLang="nl-NL" dirty="0" err="1">
                <a:latin typeface="Courier New" panose="02070309020205020404" pitchFamily="49" charset="0"/>
                <a:cs typeface="Courier New" panose="02070309020205020404" pitchFamily="49" charset="0"/>
              </a:rPr>
              <a:t>tuple</a:t>
            </a:r>
            <a:r>
              <a:rPr lang="nl-NL" altLang="nl-NL" dirty="0">
                <a:latin typeface="Courier New" panose="02070309020205020404" pitchFamily="49" charset="0"/>
                <a:cs typeface="Courier New" panose="02070309020205020404" pitchFamily="49" charset="0"/>
              </a:rPr>
              <a:t>' object does </a:t>
            </a:r>
            <a:r>
              <a:rPr lang="nl-NL" altLang="nl-NL" dirty="0" err="1">
                <a:latin typeface="Courier New" panose="02070309020205020404" pitchFamily="49" charset="0"/>
                <a:cs typeface="Courier New" panose="02070309020205020404" pitchFamily="49" charset="0"/>
              </a:rPr>
              <a:t>not</a:t>
            </a:r>
            <a:r>
              <a:rPr lang="nl-NL" altLang="nl-NL" dirty="0">
                <a:latin typeface="Courier New" panose="02070309020205020404" pitchFamily="49" charset="0"/>
                <a:cs typeface="Courier New" panose="02070309020205020404" pitchFamily="49" charset="0"/>
              </a:rPr>
              <a:t> support item </a:t>
            </a:r>
            <a:r>
              <a:rPr lang="nl-NL" altLang="nl-NL" dirty="0" err="1">
                <a:latin typeface="Courier New" panose="02070309020205020404" pitchFamily="49" charset="0"/>
                <a:cs typeface="Courier New" panose="02070309020205020404" pitchFamily="49" charset="0"/>
              </a:rPr>
              <a:t>assignment</a:t>
            </a:r>
            <a:r>
              <a:rPr lang="nl-NL" altLang="nl-NL" dirty="0">
                <a:latin typeface="Courier New" panose="02070309020205020404" pitchFamily="49" charset="0"/>
                <a:cs typeface="Courier New" panose="02070309020205020404" pitchFamily="49" charset="0"/>
              </a:rPr>
              <a:t> </a:t>
            </a:r>
          </a:p>
          <a:p>
            <a:pPr lvl="1"/>
            <a:endParaRPr lang="nl-NL" altLang="nl-NL" sz="4800" dirty="0">
              <a:latin typeface="Arial" panose="020B0604020202020204" pitchFamily="34" charset="0"/>
            </a:endParaRPr>
          </a:p>
          <a:p>
            <a:pPr lvl="1"/>
            <a:endParaRPr lang="nl-NL" dirty="0"/>
          </a:p>
        </p:txBody>
      </p:sp>
      <p:sp>
        <p:nvSpPr>
          <p:cNvPr id="6" name="Slide Number Placeholder 5">
            <a:extLst>
              <a:ext uri="{FF2B5EF4-FFF2-40B4-BE49-F238E27FC236}">
                <a16:creationId xmlns:a16="http://schemas.microsoft.com/office/drawing/2014/main" id="{007DF11C-323B-CE00-6049-63BBBDB7E345}"/>
              </a:ext>
            </a:extLst>
          </p:cNvPr>
          <p:cNvSpPr>
            <a:spLocks noGrp="1"/>
          </p:cNvSpPr>
          <p:nvPr>
            <p:ph type="sldNum" sz="quarter" idx="12"/>
          </p:nvPr>
        </p:nvSpPr>
        <p:spPr/>
        <p:txBody>
          <a:bodyPr/>
          <a:lstStyle/>
          <a:p>
            <a:fld id="{937257EE-0CEF-4D7E-9E69-5277D6172560}" type="slidenum">
              <a:rPr lang="nl-NL" smtClean="0">
                <a:solidFill>
                  <a:prstClr val="black">
                    <a:tint val="75000"/>
                  </a:prstClr>
                </a:solidFill>
              </a:rPr>
              <a:pPr/>
              <a:t>32</a:t>
            </a:fld>
            <a:endParaRPr lang="nl-NL">
              <a:solidFill>
                <a:prstClr val="black">
                  <a:tint val="75000"/>
                </a:prstClr>
              </a:solidFill>
            </a:endParaRPr>
          </a:p>
        </p:txBody>
      </p:sp>
    </p:spTree>
    <p:extLst>
      <p:ext uri="{BB962C8B-B14F-4D97-AF65-F5344CB8AC3E}">
        <p14:creationId xmlns:p14="http://schemas.microsoft.com/office/powerpoint/2010/main" val="17346394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12F33F-A141-0F90-6E0C-B391F2959544}"/>
              </a:ext>
            </a:extLst>
          </p:cNvPr>
          <p:cNvSpPr>
            <a:spLocks noGrp="1"/>
          </p:cNvSpPr>
          <p:nvPr>
            <p:ph type="title"/>
          </p:nvPr>
        </p:nvSpPr>
        <p:spPr>
          <a:xfrm>
            <a:off x="545592" y="263097"/>
            <a:ext cx="10515600" cy="1325563"/>
          </a:xfrm>
        </p:spPr>
        <p:txBody>
          <a:bodyPr/>
          <a:lstStyle/>
          <a:p>
            <a:r>
              <a:rPr lang="en-US" b="1" dirty="0"/>
              <a:t>Question</a:t>
            </a:r>
            <a:endParaRPr lang="nl-NL" b="1" dirty="0"/>
          </a:p>
        </p:txBody>
      </p:sp>
      <p:sp>
        <p:nvSpPr>
          <p:cNvPr id="3" name="Content Placeholder 2">
            <a:extLst>
              <a:ext uri="{FF2B5EF4-FFF2-40B4-BE49-F238E27FC236}">
                <a16:creationId xmlns:a16="http://schemas.microsoft.com/office/drawing/2014/main" id="{987FFBB7-D392-3BB1-6E4C-8815E69999CF}"/>
              </a:ext>
            </a:extLst>
          </p:cNvPr>
          <p:cNvSpPr>
            <a:spLocks noGrp="1"/>
          </p:cNvSpPr>
          <p:nvPr>
            <p:ph idx="1"/>
          </p:nvPr>
        </p:nvSpPr>
        <p:spPr>
          <a:xfrm>
            <a:off x="545592" y="1405000"/>
            <a:ext cx="10515600" cy="5032375"/>
          </a:xfrm>
        </p:spPr>
        <p:txBody>
          <a:bodyPr>
            <a:normAutofit/>
          </a:bodyPr>
          <a:lstStyle/>
          <a:p>
            <a:r>
              <a:rPr lang="en-US" dirty="0"/>
              <a:t>We know objects with a string value are immutable</a:t>
            </a:r>
          </a:p>
          <a:p>
            <a:r>
              <a:rPr lang="en-US" dirty="0"/>
              <a:t>Why then does the following code work</a:t>
            </a:r>
          </a:p>
          <a:p>
            <a:pPr marL="457200" lvl="1" indent="0">
              <a:buNone/>
            </a:pPr>
            <a:r>
              <a:rPr lang="en-US" dirty="0">
                <a:latin typeface="Courier New" panose="02070309020205020404" pitchFamily="49" charset="0"/>
                <a:cs typeface="Courier New" panose="02070309020205020404" pitchFamily="49" charset="0"/>
              </a:rPr>
              <a:t>box_1 = 'content'</a:t>
            </a:r>
          </a:p>
          <a:p>
            <a:pPr marL="457200" lvl="1" indent="0">
              <a:buNone/>
            </a:pPr>
            <a:r>
              <a:rPr lang="en-US" dirty="0">
                <a:latin typeface="Courier New" panose="02070309020205020404" pitchFamily="49" charset="0"/>
                <a:cs typeface="Courier New" panose="02070309020205020404" pitchFamily="49" charset="0"/>
              </a:rPr>
              <a:t>print(box_1)</a:t>
            </a:r>
          </a:p>
          <a:p>
            <a:pPr marL="457200" lvl="1" indent="0">
              <a:buNone/>
            </a:pPr>
            <a:r>
              <a:rPr lang="en-US" dirty="0">
                <a:latin typeface="Courier New" panose="02070309020205020404" pitchFamily="49" charset="0"/>
                <a:cs typeface="Courier New" panose="02070309020205020404" pitchFamily="49" charset="0"/>
              </a:rPr>
              <a:t>box_1 = 'new content'</a:t>
            </a:r>
          </a:p>
          <a:p>
            <a:pPr marL="457200" lvl="1" indent="0">
              <a:buNone/>
            </a:pPr>
            <a:r>
              <a:rPr lang="en-US" dirty="0">
                <a:latin typeface="Courier New" panose="02070309020205020404" pitchFamily="49" charset="0"/>
                <a:cs typeface="Courier New" panose="02070309020205020404" pitchFamily="49" charset="0"/>
              </a:rPr>
              <a:t>print(box_1)</a:t>
            </a:r>
          </a:p>
          <a:p>
            <a:pPr marL="457200" lvl="1" indent="0">
              <a:buNone/>
            </a:pPr>
            <a:endParaRPr lang="en-US" dirty="0">
              <a:latin typeface="Courier New" panose="02070309020205020404" pitchFamily="49" charset="0"/>
              <a:cs typeface="Courier New" panose="02070309020205020404" pitchFamily="49" charset="0"/>
            </a:endParaRPr>
          </a:p>
        </p:txBody>
      </p:sp>
      <p:sp>
        <p:nvSpPr>
          <p:cNvPr id="6" name="Slide Number Placeholder 5">
            <a:extLst>
              <a:ext uri="{FF2B5EF4-FFF2-40B4-BE49-F238E27FC236}">
                <a16:creationId xmlns:a16="http://schemas.microsoft.com/office/drawing/2014/main" id="{007DF11C-323B-CE00-6049-63BBBDB7E345}"/>
              </a:ext>
            </a:extLst>
          </p:cNvPr>
          <p:cNvSpPr>
            <a:spLocks noGrp="1"/>
          </p:cNvSpPr>
          <p:nvPr>
            <p:ph type="sldNum" sz="quarter" idx="12"/>
          </p:nvPr>
        </p:nvSpPr>
        <p:spPr/>
        <p:txBody>
          <a:bodyPr/>
          <a:lstStyle/>
          <a:p>
            <a:fld id="{937257EE-0CEF-4D7E-9E69-5277D6172560}" type="slidenum">
              <a:rPr lang="nl-NL" smtClean="0">
                <a:solidFill>
                  <a:prstClr val="black">
                    <a:tint val="75000"/>
                  </a:prstClr>
                </a:solidFill>
              </a:rPr>
              <a:pPr/>
              <a:t>33</a:t>
            </a:fld>
            <a:endParaRPr lang="nl-NL">
              <a:solidFill>
                <a:prstClr val="black">
                  <a:tint val="75000"/>
                </a:prstClr>
              </a:solidFill>
            </a:endParaRPr>
          </a:p>
        </p:txBody>
      </p:sp>
    </p:spTree>
    <p:extLst>
      <p:ext uri="{BB962C8B-B14F-4D97-AF65-F5344CB8AC3E}">
        <p14:creationId xmlns:p14="http://schemas.microsoft.com/office/powerpoint/2010/main" val="14649284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12F33F-A141-0F90-6E0C-B391F2959544}"/>
              </a:ext>
            </a:extLst>
          </p:cNvPr>
          <p:cNvSpPr>
            <a:spLocks noGrp="1"/>
          </p:cNvSpPr>
          <p:nvPr>
            <p:ph type="title"/>
          </p:nvPr>
        </p:nvSpPr>
        <p:spPr>
          <a:xfrm>
            <a:off x="545592" y="263097"/>
            <a:ext cx="10515600" cy="1325563"/>
          </a:xfrm>
        </p:spPr>
        <p:txBody>
          <a:bodyPr/>
          <a:lstStyle/>
          <a:p>
            <a:r>
              <a:rPr lang="en-US" b="1" dirty="0"/>
              <a:t>Answer</a:t>
            </a:r>
            <a:endParaRPr lang="nl-NL" b="1" dirty="0"/>
          </a:p>
        </p:txBody>
      </p:sp>
      <p:sp>
        <p:nvSpPr>
          <p:cNvPr id="3" name="Content Placeholder 2">
            <a:extLst>
              <a:ext uri="{FF2B5EF4-FFF2-40B4-BE49-F238E27FC236}">
                <a16:creationId xmlns:a16="http://schemas.microsoft.com/office/drawing/2014/main" id="{987FFBB7-D392-3BB1-6E4C-8815E69999CF}"/>
              </a:ext>
            </a:extLst>
          </p:cNvPr>
          <p:cNvSpPr>
            <a:spLocks noGrp="1"/>
          </p:cNvSpPr>
          <p:nvPr>
            <p:ph idx="1"/>
          </p:nvPr>
        </p:nvSpPr>
        <p:spPr>
          <a:xfrm>
            <a:off x="545592" y="1689100"/>
            <a:ext cx="10515600" cy="5032375"/>
          </a:xfrm>
        </p:spPr>
        <p:txBody>
          <a:bodyPr>
            <a:normAutofit fontScale="92500" lnSpcReduction="20000"/>
          </a:bodyPr>
          <a:lstStyle/>
          <a:p>
            <a:r>
              <a:rPr lang="en-US" dirty="0"/>
              <a:t>We know objects with a string value are immutable</a:t>
            </a:r>
          </a:p>
          <a:p>
            <a:r>
              <a:rPr lang="en-US" dirty="0"/>
              <a:t>Why then does the following code work</a:t>
            </a:r>
          </a:p>
          <a:p>
            <a:pPr marL="457200" lvl="1" indent="0">
              <a:buNone/>
            </a:pPr>
            <a:r>
              <a:rPr lang="en-US" dirty="0">
                <a:latin typeface="Courier New" panose="02070309020205020404" pitchFamily="49" charset="0"/>
                <a:cs typeface="Courier New" panose="02070309020205020404" pitchFamily="49" charset="0"/>
              </a:rPr>
              <a:t>box_1 = 'content'</a:t>
            </a:r>
          </a:p>
          <a:p>
            <a:pPr marL="457200" lvl="1" indent="0">
              <a:buNone/>
            </a:pPr>
            <a:r>
              <a:rPr lang="en-US" dirty="0">
                <a:latin typeface="Courier New" panose="02070309020205020404" pitchFamily="49" charset="0"/>
                <a:cs typeface="Courier New" panose="02070309020205020404" pitchFamily="49" charset="0"/>
              </a:rPr>
              <a:t>print(box_1)</a:t>
            </a:r>
          </a:p>
          <a:p>
            <a:pPr marL="457200" lvl="1" indent="0">
              <a:buNone/>
            </a:pPr>
            <a:r>
              <a:rPr lang="en-US" dirty="0">
                <a:latin typeface="Courier New" panose="02070309020205020404" pitchFamily="49" charset="0"/>
                <a:cs typeface="Courier New" panose="02070309020205020404" pitchFamily="49" charset="0"/>
              </a:rPr>
              <a:t>box_1 = 'new content'</a:t>
            </a:r>
          </a:p>
          <a:p>
            <a:pPr marL="457200" lvl="1" indent="0">
              <a:buNone/>
            </a:pPr>
            <a:r>
              <a:rPr lang="en-US" dirty="0">
                <a:latin typeface="Courier New" panose="02070309020205020404" pitchFamily="49" charset="0"/>
                <a:cs typeface="Courier New" panose="02070309020205020404" pitchFamily="49" charset="0"/>
              </a:rPr>
              <a:t>print(box_1)</a:t>
            </a:r>
          </a:p>
          <a:p>
            <a:r>
              <a:rPr lang="en-US" dirty="0"/>
              <a:t>Answer: we didn't change the object, we created a new object and gave it an old name</a:t>
            </a:r>
          </a:p>
          <a:p>
            <a:pPr marL="457200" lvl="1" indent="0">
              <a:buNone/>
            </a:pPr>
            <a:r>
              <a:rPr lang="en-US" dirty="0">
                <a:latin typeface="Courier New" panose="02070309020205020404" pitchFamily="49" charset="0"/>
                <a:cs typeface="Courier New" panose="02070309020205020404" pitchFamily="49" charset="0"/>
              </a:rPr>
              <a:t>box_1 = 'content'</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print(box_1)</a:t>
            </a:r>
            <a:br>
              <a:rPr lang="en-US" dirty="0">
                <a:latin typeface="Courier New" panose="02070309020205020404" pitchFamily="49" charset="0"/>
                <a:cs typeface="Courier New" panose="02070309020205020404" pitchFamily="49" charset="0"/>
              </a:rPr>
            </a:br>
            <a:r>
              <a:rPr lang="en-US" dirty="0" err="1">
                <a:latin typeface="Courier New" panose="02070309020205020404" pitchFamily="49" charset="0"/>
                <a:cs typeface="Courier New" panose="02070309020205020404" pitchFamily="49" charset="0"/>
              </a:rPr>
              <a:t>old_id</a:t>
            </a:r>
            <a:r>
              <a:rPr lang="en-US" dirty="0">
                <a:latin typeface="Courier New" panose="02070309020205020404" pitchFamily="49" charset="0"/>
                <a:cs typeface="Courier New" panose="02070309020205020404" pitchFamily="49" charset="0"/>
              </a:rPr>
              <a:t> = id(box_1)</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box_1 = 'new content'</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print(box_1)</a:t>
            </a:r>
            <a:br>
              <a:rPr lang="en-US" dirty="0">
                <a:latin typeface="Courier New" panose="02070309020205020404" pitchFamily="49" charset="0"/>
                <a:cs typeface="Courier New" panose="02070309020205020404" pitchFamily="49" charset="0"/>
              </a:rPr>
            </a:br>
            <a:r>
              <a:rPr lang="en-US" dirty="0" err="1">
                <a:latin typeface="Courier New" panose="02070309020205020404" pitchFamily="49" charset="0"/>
                <a:cs typeface="Courier New" panose="02070309020205020404" pitchFamily="49" charset="0"/>
              </a:rPr>
              <a:t>new_id</a:t>
            </a:r>
            <a:r>
              <a:rPr lang="en-US" dirty="0">
                <a:latin typeface="Courier New" panose="02070309020205020404" pitchFamily="49" charset="0"/>
                <a:cs typeface="Courier New" panose="02070309020205020404" pitchFamily="49" charset="0"/>
              </a:rPr>
              <a:t> = id(box_1)</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print(</a:t>
            </a:r>
            <a:r>
              <a:rPr lang="en-US" dirty="0" err="1">
                <a:latin typeface="Courier New" panose="02070309020205020404" pitchFamily="49" charset="0"/>
                <a:cs typeface="Courier New" panose="02070309020205020404" pitchFamily="49" charset="0"/>
              </a:rPr>
              <a:t>old_id</a:t>
            </a:r>
            <a:r>
              <a:rPr lang="en-US" dirty="0">
                <a:latin typeface="Courier New" panose="02070309020205020404" pitchFamily="49" charset="0"/>
                <a:cs typeface="Courier New" panose="02070309020205020404" pitchFamily="49" charset="0"/>
              </a:rPr>
              <a:t> == </a:t>
            </a:r>
            <a:r>
              <a:rPr lang="en-US" dirty="0" err="1">
                <a:latin typeface="Courier New" panose="02070309020205020404" pitchFamily="49" charset="0"/>
                <a:cs typeface="Courier New" panose="02070309020205020404" pitchFamily="49" charset="0"/>
              </a:rPr>
              <a:t>new_id</a:t>
            </a:r>
            <a:r>
              <a:rPr lang="en-US" dirty="0">
                <a:latin typeface="Courier New" panose="02070309020205020404" pitchFamily="49" charset="0"/>
                <a:cs typeface="Courier New" panose="02070309020205020404" pitchFamily="49" charset="0"/>
              </a:rPr>
              <a:t>) </a:t>
            </a:r>
          </a:p>
          <a:p>
            <a:pPr marL="457200" lvl="1" indent="0">
              <a:buNone/>
            </a:pPr>
            <a:r>
              <a:rPr lang="nl-NL" dirty="0">
                <a:latin typeface="Courier New" panose="02070309020205020404" pitchFamily="49" charset="0"/>
                <a:cs typeface="Courier New" panose="02070309020205020404" pitchFamily="49" charset="0"/>
              </a:rPr>
              <a:t> </a:t>
            </a:r>
          </a:p>
        </p:txBody>
      </p:sp>
      <p:sp>
        <p:nvSpPr>
          <p:cNvPr id="6" name="Slide Number Placeholder 5">
            <a:extLst>
              <a:ext uri="{FF2B5EF4-FFF2-40B4-BE49-F238E27FC236}">
                <a16:creationId xmlns:a16="http://schemas.microsoft.com/office/drawing/2014/main" id="{007DF11C-323B-CE00-6049-63BBBDB7E345}"/>
              </a:ext>
            </a:extLst>
          </p:cNvPr>
          <p:cNvSpPr>
            <a:spLocks noGrp="1"/>
          </p:cNvSpPr>
          <p:nvPr>
            <p:ph type="sldNum" sz="quarter" idx="12"/>
          </p:nvPr>
        </p:nvSpPr>
        <p:spPr/>
        <p:txBody>
          <a:bodyPr/>
          <a:lstStyle/>
          <a:p>
            <a:fld id="{937257EE-0CEF-4D7E-9E69-5277D6172560}" type="slidenum">
              <a:rPr lang="nl-NL" smtClean="0">
                <a:solidFill>
                  <a:prstClr val="black">
                    <a:tint val="75000"/>
                  </a:prstClr>
                </a:solidFill>
              </a:rPr>
              <a:pPr/>
              <a:t>34</a:t>
            </a:fld>
            <a:endParaRPr lang="nl-NL">
              <a:solidFill>
                <a:prstClr val="black">
                  <a:tint val="75000"/>
                </a:prstClr>
              </a:solidFill>
            </a:endParaRPr>
          </a:p>
        </p:txBody>
      </p:sp>
    </p:spTree>
    <p:extLst>
      <p:ext uri="{BB962C8B-B14F-4D97-AF65-F5344CB8AC3E}">
        <p14:creationId xmlns:p14="http://schemas.microsoft.com/office/powerpoint/2010/main" val="12270541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12F33F-A141-0F90-6E0C-B391F2959544}"/>
              </a:ext>
            </a:extLst>
          </p:cNvPr>
          <p:cNvSpPr>
            <a:spLocks noGrp="1"/>
          </p:cNvSpPr>
          <p:nvPr>
            <p:ph type="title"/>
          </p:nvPr>
        </p:nvSpPr>
        <p:spPr>
          <a:xfrm>
            <a:off x="542925" y="263097"/>
            <a:ext cx="11649076" cy="1325563"/>
          </a:xfrm>
        </p:spPr>
        <p:txBody>
          <a:bodyPr/>
          <a:lstStyle/>
          <a:p>
            <a:r>
              <a:rPr lang="en-US" b="1" dirty="0"/>
              <a:t>An example with a string (immutable)</a:t>
            </a:r>
            <a:endParaRPr lang="nl-NL" b="1" dirty="0"/>
          </a:p>
        </p:txBody>
      </p:sp>
      <p:sp>
        <p:nvSpPr>
          <p:cNvPr id="6" name="Slide Number Placeholder 5">
            <a:extLst>
              <a:ext uri="{FF2B5EF4-FFF2-40B4-BE49-F238E27FC236}">
                <a16:creationId xmlns:a16="http://schemas.microsoft.com/office/drawing/2014/main" id="{007DF11C-323B-CE00-6049-63BBBDB7E345}"/>
              </a:ext>
            </a:extLst>
          </p:cNvPr>
          <p:cNvSpPr>
            <a:spLocks noGrp="1"/>
          </p:cNvSpPr>
          <p:nvPr>
            <p:ph type="sldNum" sz="quarter" idx="12"/>
          </p:nvPr>
        </p:nvSpPr>
        <p:spPr/>
        <p:txBody>
          <a:bodyPr/>
          <a:lstStyle/>
          <a:p>
            <a:fld id="{937257EE-0CEF-4D7E-9E69-5277D6172560}" type="slidenum">
              <a:rPr lang="nl-NL" smtClean="0">
                <a:solidFill>
                  <a:prstClr val="black">
                    <a:tint val="75000"/>
                  </a:prstClr>
                </a:solidFill>
              </a:rPr>
              <a:pPr/>
              <a:t>35</a:t>
            </a:fld>
            <a:endParaRPr lang="nl-NL">
              <a:solidFill>
                <a:prstClr val="black">
                  <a:tint val="75000"/>
                </a:prstClr>
              </a:solidFill>
            </a:endParaRPr>
          </a:p>
        </p:txBody>
      </p:sp>
      <p:sp>
        <p:nvSpPr>
          <p:cNvPr id="7" name="TextBox 4">
            <a:extLst>
              <a:ext uri="{FF2B5EF4-FFF2-40B4-BE49-F238E27FC236}">
                <a16:creationId xmlns:a16="http://schemas.microsoft.com/office/drawing/2014/main" id="{AD329F4E-EB2C-8162-33DF-A0C3A6A7CDF5}"/>
              </a:ext>
            </a:extLst>
          </p:cNvPr>
          <p:cNvSpPr txBox="1"/>
          <p:nvPr/>
        </p:nvSpPr>
        <p:spPr>
          <a:xfrm>
            <a:off x="10204508" y="-1642336"/>
            <a:ext cx="2298584" cy="2862322"/>
          </a:xfrm>
          <a:prstGeom prst="rect">
            <a:avLst/>
          </a:prstGeom>
          <a:noFill/>
        </p:spPr>
        <p:txBody>
          <a:bodyPr wrap="square" rtlCol="0">
            <a:spAutoFit/>
          </a:bodyPr>
          <a:lstStyle/>
          <a:p>
            <a:pPr marL="0" algn="l" rtl="0" eaLnBrk="1" fontAlgn="t" latinLnBrk="0" hangingPunct="1">
              <a:spcBef>
                <a:spcPts val="0"/>
              </a:spcBef>
              <a:spcAft>
                <a:spcPts val="0"/>
              </a:spcAft>
            </a:pPr>
            <a:endParaRPr lang="en-US" sz="1800" b="0" i="0" u="none" strike="noStrike" kern="1200" dirty="0">
              <a:solidFill>
                <a:srgbClr val="000000"/>
              </a:solidFill>
              <a:effectLst/>
              <a:latin typeface="Courier New" panose="02070309020205020404" pitchFamily="49" charset="0"/>
              <a:cs typeface="Courier New" panose="02070309020205020404" pitchFamily="49" charset="0"/>
            </a:endParaRPr>
          </a:p>
          <a:p>
            <a:pPr marL="0" algn="l" rtl="0" eaLnBrk="1" fontAlgn="t" latinLnBrk="0" hangingPunct="1">
              <a:spcBef>
                <a:spcPts val="0"/>
              </a:spcBef>
              <a:spcAft>
                <a:spcPts val="0"/>
              </a:spcAft>
            </a:pPr>
            <a:endParaRPr lang="en-US" dirty="0">
              <a:solidFill>
                <a:srgbClr val="000000"/>
              </a:solidFill>
              <a:latin typeface="Courier New" panose="02070309020205020404" pitchFamily="49" charset="0"/>
              <a:cs typeface="Courier New" panose="02070309020205020404" pitchFamily="49" charset="0"/>
            </a:endParaRPr>
          </a:p>
          <a:p>
            <a:pPr marL="0" algn="l" rtl="0" eaLnBrk="1" fontAlgn="t" latinLnBrk="0" hangingPunct="1">
              <a:spcBef>
                <a:spcPts val="0"/>
              </a:spcBef>
              <a:spcAft>
                <a:spcPts val="0"/>
              </a:spcAft>
            </a:pPr>
            <a:endParaRPr lang="en-US" sz="1800" b="0" i="0" u="none" strike="noStrike" kern="1200" dirty="0">
              <a:solidFill>
                <a:srgbClr val="000000"/>
              </a:solidFill>
              <a:effectLst/>
              <a:latin typeface="Courier New" panose="02070309020205020404" pitchFamily="49" charset="0"/>
              <a:cs typeface="Courier New" panose="02070309020205020404" pitchFamily="49" charset="0"/>
            </a:endParaRPr>
          </a:p>
          <a:p>
            <a:pPr marL="0" marR="0" indent="0" algn="l" rtl="0" eaLnBrk="1" fontAlgn="auto" latinLnBrk="0" hangingPunct="1">
              <a:spcBef>
                <a:spcPts val="0"/>
              </a:spcBef>
              <a:spcAft>
                <a:spcPts val="0"/>
              </a:spcAft>
            </a:pPr>
            <a:endParaRPr lang="en-US" sz="1800" b="0" i="0" u="none" strike="noStrike" kern="1200" dirty="0">
              <a:solidFill>
                <a:srgbClr val="000000"/>
              </a:solidFill>
              <a:effectLst/>
              <a:latin typeface="Courier New" panose="02070309020205020404" pitchFamily="49" charset="0"/>
              <a:cs typeface="Courier New" panose="02070309020205020404" pitchFamily="49" charset="0"/>
            </a:endParaRPr>
          </a:p>
          <a:p>
            <a:pPr marL="0" marR="0" indent="0" algn="l" rtl="0" eaLnBrk="1" fontAlgn="auto" latinLnBrk="0" hangingPunct="1">
              <a:spcBef>
                <a:spcPts val="0"/>
              </a:spcBef>
              <a:spcAft>
                <a:spcPts val="0"/>
              </a:spcAft>
            </a:pPr>
            <a:endParaRPr lang="en-US" dirty="0">
              <a:solidFill>
                <a:srgbClr val="000000"/>
              </a:solidFill>
              <a:latin typeface="Courier New" panose="02070309020205020404" pitchFamily="49" charset="0"/>
              <a:cs typeface="Courier New" panose="02070309020205020404" pitchFamily="49" charset="0"/>
            </a:endParaRPr>
          </a:p>
          <a:p>
            <a:pPr marL="0" marR="0" indent="0" algn="l" rtl="0" eaLnBrk="1" fontAlgn="auto" latinLnBrk="0" hangingPunct="1">
              <a:spcBef>
                <a:spcPts val="0"/>
              </a:spcBef>
              <a:spcAft>
                <a:spcPts val="0"/>
              </a:spcAft>
            </a:pPr>
            <a:endParaRPr lang="en-US" sz="1800" b="0" i="0" u="none" strike="noStrike" kern="1200" dirty="0">
              <a:solidFill>
                <a:srgbClr val="000000"/>
              </a:solidFill>
              <a:effectLst/>
              <a:latin typeface="Courier New" panose="02070309020205020404" pitchFamily="49" charset="0"/>
              <a:cs typeface="Courier New" panose="02070309020205020404" pitchFamily="49" charset="0"/>
            </a:endParaRPr>
          </a:p>
          <a:p>
            <a:pPr marL="0" algn="l" rtl="0" eaLnBrk="1" fontAlgn="t" latinLnBrk="0" hangingPunct="1">
              <a:spcBef>
                <a:spcPts val="0"/>
              </a:spcBef>
              <a:spcAft>
                <a:spcPts val="0"/>
              </a:spcAft>
            </a:pPr>
            <a:endParaRPr lang="en-US" sz="1800" b="0" i="0" u="none" strike="noStrike" kern="1200" dirty="0">
              <a:solidFill>
                <a:srgbClr val="000000"/>
              </a:solidFill>
              <a:effectLst/>
              <a:latin typeface="Courier New" panose="02070309020205020404" pitchFamily="49" charset="0"/>
              <a:cs typeface="Courier New" panose="02070309020205020404" pitchFamily="49" charset="0"/>
            </a:endParaRPr>
          </a:p>
          <a:p>
            <a:pPr marL="0" algn="l" rtl="0" eaLnBrk="1" fontAlgn="t" latinLnBrk="0" hangingPunct="1">
              <a:spcBef>
                <a:spcPts val="0"/>
              </a:spcBef>
              <a:spcAft>
                <a:spcPts val="0"/>
              </a:spcAft>
            </a:pPr>
            <a:endParaRPr lang="en-US" dirty="0">
              <a:solidFill>
                <a:srgbClr val="000000"/>
              </a:solidFill>
              <a:latin typeface="Courier New" panose="02070309020205020404" pitchFamily="49" charset="0"/>
              <a:cs typeface="Courier New" panose="02070309020205020404" pitchFamily="49" charset="0"/>
            </a:endParaRPr>
          </a:p>
          <a:p>
            <a:pPr marL="0" algn="l" rtl="0" eaLnBrk="1" fontAlgn="t" latinLnBrk="0" hangingPunct="1">
              <a:spcBef>
                <a:spcPts val="0"/>
              </a:spcBef>
              <a:spcAft>
                <a:spcPts val="0"/>
              </a:spcAft>
            </a:pPr>
            <a:endParaRPr lang="en-US" sz="1800" b="0" i="0" u="none" strike="noStrike" kern="1200" dirty="0">
              <a:solidFill>
                <a:srgbClr val="000000"/>
              </a:solidFill>
              <a:effectLst/>
              <a:latin typeface="Courier New" panose="02070309020205020404" pitchFamily="49" charset="0"/>
              <a:cs typeface="Courier New" panose="02070309020205020404" pitchFamily="49" charset="0"/>
            </a:endParaRPr>
          </a:p>
          <a:p>
            <a:pPr marL="0" algn="l" rtl="0" eaLnBrk="1" fontAlgn="t" latinLnBrk="0" hangingPunct="1">
              <a:spcBef>
                <a:spcPts val="0"/>
              </a:spcBef>
              <a:spcAft>
                <a:spcPts val="0"/>
              </a:spcAft>
            </a:pPr>
            <a:endParaRPr lang="en-US" dirty="0">
              <a:solidFill>
                <a:srgbClr val="000000"/>
              </a:solidFill>
              <a:latin typeface="Courier New" panose="02070309020205020404" pitchFamily="49" charset="0"/>
              <a:cs typeface="Courier New" panose="02070309020205020404" pitchFamily="49" charset="0"/>
            </a:endParaRPr>
          </a:p>
        </p:txBody>
      </p:sp>
      <p:sp>
        <p:nvSpPr>
          <p:cNvPr id="5" name="Tekstvak 4"/>
          <p:cNvSpPr txBox="1"/>
          <p:nvPr/>
        </p:nvSpPr>
        <p:spPr>
          <a:xfrm>
            <a:off x="2780550" y="1776595"/>
            <a:ext cx="9411450" cy="923330"/>
          </a:xfrm>
          <a:prstGeom prst="rect">
            <a:avLst/>
          </a:prstGeom>
          <a:noFill/>
        </p:spPr>
        <p:txBody>
          <a:bodyPr wrap="square" rtlCol="0">
            <a:spAutoFit/>
          </a:bodyPr>
          <a:lstStyle/>
          <a:p>
            <a:pPr>
              <a:defRPr/>
            </a:pPr>
            <a:r>
              <a:rPr lang="nl-NL" dirty="0">
                <a:latin typeface="Arial" panose="020B0604020202020204" pitchFamily="34" charset="0"/>
              </a:rPr>
              <a:t>Python </a:t>
            </a:r>
            <a:r>
              <a:rPr lang="nl-NL" dirty="0" err="1">
                <a:latin typeface="Arial" panose="020B0604020202020204" pitchFamily="34" charset="0"/>
              </a:rPr>
              <a:t>creates</a:t>
            </a:r>
            <a:r>
              <a:rPr lang="nl-NL" dirty="0">
                <a:latin typeface="Arial" panose="020B0604020202020204" pitchFamily="34" charset="0"/>
              </a:rPr>
              <a:t> </a:t>
            </a:r>
            <a:r>
              <a:rPr lang="nl-NL" dirty="0" err="1">
                <a:latin typeface="Arial" panose="020B0604020202020204" pitchFamily="34" charset="0"/>
              </a:rPr>
              <a:t>an</a:t>
            </a:r>
            <a:r>
              <a:rPr lang="nl-NL" dirty="0">
                <a:latin typeface="Arial" panose="020B0604020202020204" pitchFamily="34" charset="0"/>
              </a:rPr>
              <a:t> object </a:t>
            </a:r>
            <a:r>
              <a:rPr lang="nl-NL" dirty="0" err="1">
                <a:latin typeface="Arial" panose="020B0604020202020204" pitchFamily="34" charset="0"/>
              </a:rPr>
              <a:t>with</a:t>
            </a:r>
            <a:r>
              <a:rPr lang="nl-NL" dirty="0">
                <a:latin typeface="Arial" panose="020B0604020202020204" pitchFamily="34" charset="0"/>
              </a:rPr>
              <a:t> the </a:t>
            </a:r>
            <a:r>
              <a:rPr lang="nl-NL" dirty="0" err="1">
                <a:latin typeface="Arial" panose="020B0604020202020204" pitchFamily="34" charset="0"/>
              </a:rPr>
              <a:t>value</a:t>
            </a:r>
            <a:r>
              <a:rPr lang="nl-NL" dirty="0">
                <a:latin typeface="Arial" panose="020B0604020202020204" pitchFamily="34" charset="0"/>
              </a:rPr>
              <a:t> </a:t>
            </a:r>
            <a:r>
              <a:rPr lang="nl-NL" dirty="0">
                <a:solidFill>
                  <a:srgbClr val="000000"/>
                </a:solidFill>
                <a:latin typeface="Courier New" panose="02070309020205020404" pitchFamily="49" charset="0"/>
                <a:cs typeface="Courier New" panose="02070309020205020404" pitchFamily="49" charset="0"/>
              </a:rPr>
              <a:t>'s1'</a:t>
            </a:r>
            <a:r>
              <a:rPr lang="nl-NL" dirty="0">
                <a:latin typeface="Arial" panose="020B0604020202020204" pitchFamily="34" charset="0"/>
              </a:rPr>
              <a:t>, </a:t>
            </a:r>
            <a:r>
              <a:rPr lang="nl-NL" dirty="0" err="1">
                <a:latin typeface="Arial" panose="020B0604020202020204" pitchFamily="34" charset="0"/>
              </a:rPr>
              <a:t>and</a:t>
            </a:r>
            <a:r>
              <a:rPr lang="nl-NL" dirty="0">
                <a:latin typeface="Arial" panose="020B0604020202020204" pitchFamily="34" charset="0"/>
              </a:rPr>
              <a:t> </a:t>
            </a:r>
            <a:r>
              <a:rPr lang="nl-NL" dirty="0" err="1">
                <a:latin typeface="Arial" panose="020B0604020202020204" pitchFamily="34" charset="0"/>
              </a:rPr>
              <a:t>binds</a:t>
            </a:r>
            <a:r>
              <a:rPr lang="nl-NL" dirty="0">
                <a:latin typeface="Arial" panose="020B0604020202020204" pitchFamily="34" charset="0"/>
              </a:rPr>
              <a:t> the name </a:t>
            </a:r>
            <a:r>
              <a:rPr lang="nl-NL" dirty="0">
                <a:solidFill>
                  <a:srgbClr val="000000"/>
                </a:solidFill>
                <a:latin typeface="Courier New" panose="02070309020205020404" pitchFamily="49" charset="0"/>
                <a:cs typeface="Courier New" panose="02070309020205020404" pitchFamily="49" charset="0"/>
              </a:rPr>
              <a:t>name_1 </a:t>
            </a:r>
            <a:r>
              <a:rPr lang="nl-NL" dirty="0" err="1">
                <a:latin typeface="Arial" panose="020B0604020202020204" pitchFamily="34" charset="0"/>
              </a:rPr>
              <a:t>to</a:t>
            </a:r>
            <a:r>
              <a:rPr lang="nl-NL" dirty="0">
                <a:latin typeface="Arial" panose="020B0604020202020204" pitchFamily="34" charset="0"/>
              </a:rPr>
              <a:t> </a:t>
            </a:r>
            <a:r>
              <a:rPr lang="nl-NL" dirty="0" err="1">
                <a:latin typeface="Arial" panose="020B0604020202020204" pitchFamily="34" charset="0"/>
              </a:rPr>
              <a:t>that</a:t>
            </a:r>
            <a:r>
              <a:rPr lang="nl-NL" dirty="0">
                <a:latin typeface="Arial" panose="020B0604020202020204" pitchFamily="34" charset="0"/>
              </a:rPr>
              <a:t> object.</a:t>
            </a:r>
          </a:p>
          <a:p>
            <a:pPr lvl="0">
              <a:defRPr/>
            </a:pPr>
            <a:r>
              <a:rPr lang="en-US" dirty="0">
                <a:latin typeface="Arial" panose="020B0604020202020204" pitchFamily="34" charset="0"/>
              </a:rPr>
              <a:t>We have now one </a:t>
            </a:r>
            <a:r>
              <a:rPr lang="en-US" dirty="0">
                <a:solidFill>
                  <a:srgbClr val="000000"/>
                </a:solidFill>
                <a:latin typeface="Arial" panose="020B0604020202020204" pitchFamily="34" charset="0"/>
              </a:rPr>
              <a:t>object with</a:t>
            </a:r>
            <a:r>
              <a:rPr lang="en-US" dirty="0">
                <a:latin typeface="Arial" panose="020B0604020202020204" pitchFamily="34" charset="0"/>
              </a:rPr>
              <a:t> the string value </a:t>
            </a:r>
            <a:r>
              <a:rPr lang="en-US" dirty="0">
                <a:solidFill>
                  <a:srgbClr val="000000"/>
                </a:solidFill>
                <a:latin typeface="Courier New" panose="02070309020205020404" pitchFamily="49" charset="0"/>
                <a:cs typeface="Courier New" panose="02070309020205020404" pitchFamily="49" charset="0"/>
              </a:rPr>
              <a:t>'s1' </a:t>
            </a:r>
            <a:r>
              <a:rPr lang="en-US" dirty="0">
                <a:latin typeface="Arial" panose="020B0604020202020204" pitchFamily="34" charset="0"/>
              </a:rPr>
              <a:t>and with the name </a:t>
            </a:r>
            <a:r>
              <a:rPr lang="en-US" dirty="0">
                <a:solidFill>
                  <a:srgbClr val="000000"/>
                </a:solidFill>
                <a:latin typeface="Courier New" panose="02070309020205020404" pitchFamily="49" charset="0"/>
                <a:cs typeface="Courier New" panose="02070309020205020404" pitchFamily="49" charset="0"/>
              </a:rPr>
              <a:t>name_1</a:t>
            </a:r>
          </a:p>
          <a:p>
            <a:endParaRPr lang="en-GB" dirty="0">
              <a:latin typeface="Arial" panose="020B0604020202020204" pitchFamily="34" charset="0"/>
            </a:endParaRPr>
          </a:p>
        </p:txBody>
      </p:sp>
      <p:sp>
        <p:nvSpPr>
          <p:cNvPr id="9" name="Tekstvak 8"/>
          <p:cNvSpPr txBox="1"/>
          <p:nvPr/>
        </p:nvSpPr>
        <p:spPr>
          <a:xfrm>
            <a:off x="403488" y="1776595"/>
            <a:ext cx="2026622" cy="646331"/>
          </a:xfrm>
          <a:prstGeom prst="rect">
            <a:avLst/>
          </a:prstGeom>
          <a:noFill/>
        </p:spPr>
        <p:txBody>
          <a:bodyPr wrap="square" rtlCol="0">
            <a:spAutoFit/>
          </a:bodyPr>
          <a:lstStyle/>
          <a:p>
            <a:r>
              <a:rPr lang="en-US" dirty="0">
                <a:solidFill>
                  <a:srgbClr val="000000"/>
                </a:solidFill>
                <a:latin typeface="Courier New" panose="02070309020205020404" pitchFamily="49" charset="0"/>
                <a:cs typeface="Courier New" panose="02070309020205020404" pitchFamily="49" charset="0"/>
              </a:rPr>
              <a:t>name_1 = 's1'</a:t>
            </a:r>
            <a:endParaRPr lang="en-US" dirty="0">
              <a:solidFill>
                <a:srgbClr val="000000"/>
              </a:solidFill>
              <a:latin typeface="Arial" panose="020B0604020202020204" pitchFamily="34" charset="0"/>
            </a:endParaRPr>
          </a:p>
          <a:p>
            <a:endParaRPr lang="en-GB" dirty="0">
              <a:latin typeface="Arial" panose="020B0604020202020204" pitchFamily="34" charset="0"/>
            </a:endParaRPr>
          </a:p>
        </p:txBody>
      </p:sp>
      <p:sp>
        <p:nvSpPr>
          <p:cNvPr id="10" name="Tekstvak 9"/>
          <p:cNvSpPr txBox="1"/>
          <p:nvPr/>
        </p:nvSpPr>
        <p:spPr>
          <a:xfrm>
            <a:off x="403488" y="2595128"/>
            <a:ext cx="2346003" cy="369332"/>
          </a:xfrm>
          <a:prstGeom prst="rect">
            <a:avLst/>
          </a:prstGeom>
          <a:noFill/>
        </p:spPr>
        <p:txBody>
          <a:bodyPr wrap="square" rtlCol="0">
            <a:spAutoFit/>
          </a:bodyPr>
          <a:lstStyle/>
          <a:p>
            <a:pPr fontAlgn="t"/>
            <a:r>
              <a:rPr lang="en-US" dirty="0">
                <a:solidFill>
                  <a:srgbClr val="000000"/>
                </a:solidFill>
                <a:latin typeface="Courier New" panose="02070309020205020404" pitchFamily="49" charset="0"/>
                <a:cs typeface="Courier New" panose="02070309020205020404" pitchFamily="49" charset="0"/>
              </a:rPr>
              <a:t>name_2 = name_1</a:t>
            </a:r>
            <a:endParaRPr lang="nl-NL" dirty="0">
              <a:latin typeface="Courier New" panose="02070309020205020404" pitchFamily="49" charset="0"/>
              <a:cs typeface="Courier New" panose="02070309020205020404" pitchFamily="49" charset="0"/>
            </a:endParaRPr>
          </a:p>
        </p:txBody>
      </p:sp>
      <p:sp>
        <p:nvSpPr>
          <p:cNvPr id="11" name="Tekstvak 10"/>
          <p:cNvSpPr txBox="1"/>
          <p:nvPr/>
        </p:nvSpPr>
        <p:spPr>
          <a:xfrm>
            <a:off x="2780550" y="2587841"/>
            <a:ext cx="8819269" cy="1477328"/>
          </a:xfrm>
          <a:prstGeom prst="rect">
            <a:avLst/>
          </a:prstGeom>
          <a:noFill/>
        </p:spPr>
        <p:txBody>
          <a:bodyPr wrap="square" rtlCol="0">
            <a:spAutoFit/>
          </a:bodyPr>
          <a:lstStyle/>
          <a:p>
            <a:pPr fontAlgn="t"/>
            <a:r>
              <a:rPr lang="en-US" dirty="0">
                <a:solidFill>
                  <a:srgbClr val="000000"/>
                </a:solidFill>
                <a:latin typeface="Arial" panose="020B0604020202020204" pitchFamily="34" charset="0"/>
              </a:rPr>
              <a:t>To the object with value </a:t>
            </a:r>
            <a:r>
              <a:rPr lang="en-US" dirty="0">
                <a:solidFill>
                  <a:srgbClr val="000000"/>
                </a:solidFill>
                <a:latin typeface="Courier New" panose="02070309020205020404" pitchFamily="49" charset="0"/>
                <a:cs typeface="Courier New" panose="02070309020205020404" pitchFamily="49" charset="0"/>
              </a:rPr>
              <a:t>'s1' </a:t>
            </a:r>
            <a:r>
              <a:rPr lang="en-US" dirty="0">
                <a:solidFill>
                  <a:srgbClr val="000000"/>
                </a:solidFill>
                <a:latin typeface="Arial" panose="020B0604020202020204" pitchFamily="34" charset="0"/>
              </a:rPr>
              <a:t>and with the name </a:t>
            </a:r>
            <a:r>
              <a:rPr lang="nl-NL" dirty="0">
                <a:solidFill>
                  <a:srgbClr val="000000"/>
                </a:solidFill>
                <a:latin typeface="Courier New" panose="02070309020205020404" pitchFamily="49" charset="0"/>
                <a:cs typeface="Courier New" panose="02070309020205020404" pitchFamily="49" charset="0"/>
              </a:rPr>
              <a:t>name_1</a:t>
            </a:r>
            <a:r>
              <a:rPr lang="en-US" dirty="0">
                <a:solidFill>
                  <a:srgbClr val="000000"/>
                </a:solidFill>
                <a:latin typeface="Arial" panose="020B0604020202020204" pitchFamily="34" charset="0"/>
                <a:cs typeface="Courier New" panose="02070309020205020404" pitchFamily="49" charset="0"/>
              </a:rPr>
              <a:t>, P</a:t>
            </a:r>
            <a:r>
              <a:rPr lang="en-US" dirty="0">
                <a:solidFill>
                  <a:srgbClr val="000000"/>
                </a:solidFill>
                <a:latin typeface="Arial" panose="020B0604020202020204" pitchFamily="34" charset="0"/>
              </a:rPr>
              <a:t>ython binds a second name </a:t>
            </a:r>
            <a:r>
              <a:rPr lang="en-US" dirty="0">
                <a:solidFill>
                  <a:srgbClr val="000000"/>
                </a:solidFill>
                <a:latin typeface="Courier New" panose="02070309020205020404" pitchFamily="49" charset="0"/>
                <a:cs typeface="Courier New" panose="02070309020205020404" pitchFamily="49" charset="0"/>
              </a:rPr>
              <a:t>name_2</a:t>
            </a:r>
            <a:r>
              <a:rPr lang="en-US" dirty="0">
                <a:solidFill>
                  <a:srgbClr val="000000"/>
                </a:solidFill>
                <a:latin typeface="Arial" panose="020B0604020202020204" pitchFamily="34" charset="0"/>
              </a:rPr>
              <a:t>.</a:t>
            </a:r>
            <a:br>
              <a:rPr lang="en-US" dirty="0">
                <a:solidFill>
                  <a:srgbClr val="000000"/>
                </a:solidFill>
                <a:latin typeface="Arial" panose="020B0604020202020204" pitchFamily="34" charset="0"/>
              </a:rPr>
            </a:br>
            <a:r>
              <a:rPr lang="en-US" dirty="0">
                <a:solidFill>
                  <a:srgbClr val="000000"/>
                </a:solidFill>
                <a:latin typeface="Arial" panose="020B0604020202020204" pitchFamily="34" charset="0"/>
              </a:rPr>
              <a:t>We have now one object with the value </a:t>
            </a:r>
            <a:r>
              <a:rPr lang="en-US" dirty="0">
                <a:solidFill>
                  <a:srgbClr val="000000"/>
                </a:solidFill>
                <a:latin typeface="Courier New" panose="02070309020205020404" pitchFamily="49" charset="0"/>
                <a:cs typeface="Courier New" panose="02070309020205020404" pitchFamily="49" charset="0"/>
              </a:rPr>
              <a:t>'s1', </a:t>
            </a:r>
            <a:r>
              <a:rPr lang="en-US" dirty="0">
                <a:solidFill>
                  <a:srgbClr val="000000"/>
                </a:solidFill>
                <a:latin typeface="Arial" panose="020B0604020202020204" pitchFamily="34" charset="0"/>
              </a:rPr>
              <a:t>and with two names </a:t>
            </a:r>
            <a:r>
              <a:rPr lang="en-US" dirty="0">
                <a:solidFill>
                  <a:srgbClr val="000000"/>
                </a:solidFill>
                <a:latin typeface="Courier New" panose="02070309020205020404" pitchFamily="49" charset="0"/>
                <a:cs typeface="Courier New" panose="02070309020205020404" pitchFamily="49" charset="0"/>
              </a:rPr>
              <a:t>name_1</a:t>
            </a:r>
            <a:r>
              <a:rPr lang="en-US" dirty="0">
                <a:solidFill>
                  <a:srgbClr val="000000"/>
                </a:solidFill>
                <a:latin typeface="Arial" panose="020B0604020202020204" pitchFamily="34" charset="0"/>
              </a:rPr>
              <a:t> and </a:t>
            </a:r>
            <a:r>
              <a:rPr lang="en-US" dirty="0">
                <a:solidFill>
                  <a:srgbClr val="000000"/>
                </a:solidFill>
                <a:latin typeface="Courier New" panose="02070309020205020404" pitchFamily="49" charset="0"/>
                <a:cs typeface="Courier New" panose="02070309020205020404" pitchFamily="49" charset="0"/>
              </a:rPr>
              <a:t>name_2</a:t>
            </a:r>
          </a:p>
          <a:p>
            <a:pPr fontAlgn="t"/>
            <a:r>
              <a:rPr lang="en-US" dirty="0">
                <a:solidFill>
                  <a:srgbClr val="000000"/>
                </a:solidFill>
                <a:latin typeface="Courier New" panose="02070309020205020404" pitchFamily="49" charset="0"/>
                <a:cs typeface="Courier New" panose="02070309020205020404" pitchFamily="49" charset="0"/>
              </a:rPr>
              <a:t>  </a:t>
            </a:r>
            <a:endParaRPr lang="nl-NL" dirty="0">
              <a:solidFill>
                <a:srgbClr val="000000"/>
              </a:solidFill>
              <a:latin typeface="Courier New" panose="02070309020205020404" pitchFamily="49" charset="0"/>
              <a:cs typeface="Courier New" panose="02070309020205020404" pitchFamily="49" charset="0"/>
            </a:endParaRPr>
          </a:p>
        </p:txBody>
      </p:sp>
      <p:sp>
        <p:nvSpPr>
          <p:cNvPr id="12" name="Tekstvak 11"/>
          <p:cNvSpPr txBox="1"/>
          <p:nvPr/>
        </p:nvSpPr>
        <p:spPr>
          <a:xfrm>
            <a:off x="403488" y="3993546"/>
            <a:ext cx="2346003" cy="369332"/>
          </a:xfrm>
          <a:prstGeom prst="rect">
            <a:avLst/>
          </a:prstGeom>
          <a:noFill/>
        </p:spPr>
        <p:txBody>
          <a:bodyPr wrap="square" rtlCol="0">
            <a:spAutoFit/>
          </a:bodyPr>
          <a:lstStyle/>
          <a:p>
            <a:r>
              <a:rPr lang="en-US" dirty="0">
                <a:solidFill>
                  <a:srgbClr val="000000"/>
                </a:solidFill>
                <a:latin typeface="Courier New" panose="02070309020205020404" pitchFamily="49" charset="0"/>
                <a:cs typeface="Courier New" panose="02070309020205020404" pitchFamily="49" charset="0"/>
              </a:rPr>
              <a:t>name_1 = 's2' </a:t>
            </a:r>
            <a:endParaRPr lang="nl-NL" dirty="0">
              <a:latin typeface="Courier New" panose="02070309020205020404" pitchFamily="49" charset="0"/>
              <a:cs typeface="Courier New" panose="02070309020205020404" pitchFamily="49" charset="0"/>
            </a:endParaRPr>
          </a:p>
        </p:txBody>
      </p:sp>
      <p:sp>
        <p:nvSpPr>
          <p:cNvPr id="13" name="Tekstvak 12"/>
          <p:cNvSpPr txBox="1"/>
          <p:nvPr/>
        </p:nvSpPr>
        <p:spPr>
          <a:xfrm>
            <a:off x="2780550" y="3975444"/>
            <a:ext cx="8847324" cy="1754326"/>
          </a:xfrm>
          <a:prstGeom prst="rect">
            <a:avLst/>
          </a:prstGeom>
          <a:noFill/>
        </p:spPr>
        <p:txBody>
          <a:bodyPr wrap="square" rtlCol="0">
            <a:spAutoFit/>
          </a:bodyPr>
          <a:lstStyle/>
          <a:p>
            <a:r>
              <a:rPr lang="en-US" dirty="0">
                <a:solidFill>
                  <a:srgbClr val="000000"/>
                </a:solidFill>
                <a:latin typeface="Arial" panose="020B0604020202020204" pitchFamily="34" charset="0"/>
              </a:rPr>
              <a:t>From the object with value </a:t>
            </a:r>
            <a:r>
              <a:rPr lang="en-US" dirty="0">
                <a:solidFill>
                  <a:srgbClr val="000000"/>
                </a:solidFill>
                <a:latin typeface="Courier New" panose="02070309020205020404" pitchFamily="49" charset="0"/>
                <a:cs typeface="Courier New" panose="02070309020205020404" pitchFamily="49" charset="0"/>
              </a:rPr>
              <a:t>'s1' </a:t>
            </a:r>
            <a:r>
              <a:rPr lang="en-US" dirty="0">
                <a:solidFill>
                  <a:srgbClr val="000000"/>
                </a:solidFill>
                <a:latin typeface="Arial" panose="020B0604020202020204" pitchFamily="34" charset="0"/>
              </a:rPr>
              <a:t>the name </a:t>
            </a:r>
            <a:r>
              <a:rPr lang="en-US" dirty="0">
                <a:solidFill>
                  <a:srgbClr val="000000"/>
                </a:solidFill>
                <a:latin typeface="Courier New" panose="02070309020205020404" pitchFamily="49" charset="0"/>
                <a:cs typeface="Courier New" panose="02070309020205020404" pitchFamily="49" charset="0"/>
              </a:rPr>
              <a:t>name_1</a:t>
            </a:r>
            <a:r>
              <a:rPr lang="en-US" dirty="0">
                <a:solidFill>
                  <a:srgbClr val="000000"/>
                </a:solidFill>
                <a:latin typeface="Arial" panose="020B0604020202020204" pitchFamily="34" charset="0"/>
              </a:rPr>
              <a:t> is removed. </a:t>
            </a:r>
          </a:p>
          <a:p>
            <a:r>
              <a:rPr lang="en-US" dirty="0">
                <a:solidFill>
                  <a:srgbClr val="000000"/>
                </a:solidFill>
                <a:latin typeface="Arial" panose="020B0604020202020204" pitchFamily="34" charset="0"/>
              </a:rPr>
              <a:t>Python </a:t>
            </a:r>
            <a:r>
              <a:rPr lang="en-US" b="1" dirty="0">
                <a:solidFill>
                  <a:srgbClr val="000000"/>
                </a:solidFill>
                <a:latin typeface="Arial" panose="020B0604020202020204" pitchFamily="34" charset="0"/>
              </a:rPr>
              <a:t>c</a:t>
            </a:r>
            <a:r>
              <a:rPr lang="nl-NL" b="1" dirty="0" err="1">
                <a:solidFill>
                  <a:srgbClr val="000000"/>
                </a:solidFill>
                <a:latin typeface="Arial" panose="020B0604020202020204" pitchFamily="34" charset="0"/>
              </a:rPr>
              <a:t>reates</a:t>
            </a:r>
            <a:r>
              <a:rPr lang="nl-NL" b="1" dirty="0">
                <a:solidFill>
                  <a:srgbClr val="000000"/>
                </a:solidFill>
                <a:latin typeface="Arial" panose="020B0604020202020204" pitchFamily="34" charset="0"/>
              </a:rPr>
              <a:t> </a:t>
            </a:r>
            <a:r>
              <a:rPr lang="nl-NL" dirty="0">
                <a:solidFill>
                  <a:srgbClr val="000000"/>
                </a:solidFill>
                <a:latin typeface="Arial" panose="020B0604020202020204" pitchFamily="34" charset="0"/>
              </a:rPr>
              <a:t>a new object </a:t>
            </a:r>
            <a:r>
              <a:rPr lang="nl-NL" dirty="0" err="1">
                <a:solidFill>
                  <a:srgbClr val="000000"/>
                </a:solidFill>
                <a:latin typeface="Arial" panose="020B0604020202020204" pitchFamily="34" charset="0"/>
              </a:rPr>
              <a:t>with</a:t>
            </a:r>
            <a:r>
              <a:rPr lang="nl-NL" dirty="0">
                <a:solidFill>
                  <a:srgbClr val="000000"/>
                </a:solidFill>
                <a:latin typeface="Arial" panose="020B0604020202020204" pitchFamily="34" charset="0"/>
              </a:rPr>
              <a:t> the </a:t>
            </a:r>
            <a:r>
              <a:rPr lang="nl-NL" dirty="0" err="1">
                <a:solidFill>
                  <a:srgbClr val="000000"/>
                </a:solidFill>
                <a:latin typeface="Arial" panose="020B0604020202020204" pitchFamily="34" charset="0"/>
              </a:rPr>
              <a:t>value</a:t>
            </a:r>
            <a:r>
              <a:rPr lang="nl-NL" dirty="0">
                <a:solidFill>
                  <a:srgbClr val="000000"/>
                </a:solidFill>
                <a:latin typeface="Arial" panose="020B0604020202020204" pitchFamily="34" charset="0"/>
              </a:rPr>
              <a:t> </a:t>
            </a:r>
            <a:r>
              <a:rPr lang="nl-NL" dirty="0">
                <a:solidFill>
                  <a:srgbClr val="000000"/>
                </a:solidFill>
                <a:latin typeface="Courier New" panose="02070309020205020404" pitchFamily="49" charset="0"/>
                <a:cs typeface="Courier New" panose="02070309020205020404" pitchFamily="49" charset="0"/>
              </a:rPr>
              <a:t>'s2' </a:t>
            </a:r>
            <a:r>
              <a:rPr lang="nl-NL" dirty="0" err="1">
                <a:solidFill>
                  <a:srgbClr val="000000"/>
                </a:solidFill>
                <a:latin typeface="Arial" panose="020B0604020202020204" pitchFamily="34" charset="0"/>
              </a:rPr>
              <a:t>and</a:t>
            </a:r>
            <a:r>
              <a:rPr lang="nl-NL" dirty="0">
                <a:solidFill>
                  <a:srgbClr val="000000"/>
                </a:solidFill>
                <a:latin typeface="Arial" panose="020B0604020202020204" pitchFamily="34" charset="0"/>
              </a:rPr>
              <a:t> </a:t>
            </a:r>
            <a:r>
              <a:rPr lang="nl-NL" dirty="0" err="1">
                <a:solidFill>
                  <a:srgbClr val="000000"/>
                </a:solidFill>
                <a:latin typeface="Arial" panose="020B0604020202020204" pitchFamily="34" charset="0"/>
              </a:rPr>
              <a:t>binds</a:t>
            </a:r>
            <a:r>
              <a:rPr lang="nl-NL" dirty="0">
                <a:solidFill>
                  <a:srgbClr val="000000"/>
                </a:solidFill>
                <a:latin typeface="Arial" panose="020B0604020202020204" pitchFamily="34" charset="0"/>
              </a:rPr>
              <a:t> the name </a:t>
            </a:r>
            <a:r>
              <a:rPr lang="nl-NL" dirty="0">
                <a:solidFill>
                  <a:srgbClr val="000000"/>
                </a:solidFill>
                <a:latin typeface="Courier New" panose="02070309020205020404" pitchFamily="49" charset="0"/>
                <a:cs typeface="Courier New" panose="02070309020205020404" pitchFamily="49" charset="0"/>
              </a:rPr>
              <a:t>name_1</a:t>
            </a:r>
            <a:r>
              <a:rPr lang="nl-NL" dirty="0">
                <a:solidFill>
                  <a:srgbClr val="000000"/>
                </a:solidFill>
                <a:latin typeface="Arial" panose="020B0604020202020204" pitchFamily="34" charset="0"/>
              </a:rPr>
              <a:t> </a:t>
            </a:r>
            <a:r>
              <a:rPr lang="nl-NL" dirty="0" err="1">
                <a:solidFill>
                  <a:srgbClr val="000000"/>
                </a:solidFill>
                <a:latin typeface="Arial" panose="020B0604020202020204" pitchFamily="34" charset="0"/>
              </a:rPr>
              <a:t>to</a:t>
            </a:r>
            <a:r>
              <a:rPr lang="nl-NL" dirty="0">
                <a:solidFill>
                  <a:srgbClr val="000000"/>
                </a:solidFill>
                <a:latin typeface="Arial" panose="020B0604020202020204" pitchFamily="34" charset="0"/>
              </a:rPr>
              <a:t> </a:t>
            </a:r>
            <a:r>
              <a:rPr lang="nl-NL" dirty="0" err="1">
                <a:solidFill>
                  <a:srgbClr val="000000"/>
                </a:solidFill>
                <a:latin typeface="Arial" panose="020B0604020202020204" pitchFamily="34" charset="0"/>
              </a:rPr>
              <a:t>this</a:t>
            </a:r>
            <a:r>
              <a:rPr lang="nl-NL" dirty="0">
                <a:solidFill>
                  <a:srgbClr val="000000"/>
                </a:solidFill>
                <a:latin typeface="Arial" panose="020B0604020202020204" pitchFamily="34" charset="0"/>
              </a:rPr>
              <a:t> new object.</a:t>
            </a:r>
            <a:endParaRPr lang="nl-NL" dirty="0">
              <a:latin typeface="Arial" panose="020B0604020202020204" pitchFamily="34" charset="0"/>
            </a:endParaRPr>
          </a:p>
          <a:p>
            <a:r>
              <a:rPr lang="nl-NL" dirty="0">
                <a:solidFill>
                  <a:srgbClr val="000000"/>
                </a:solidFill>
                <a:latin typeface="Arial" panose="020B0604020202020204" pitchFamily="34" charset="0"/>
              </a:rPr>
              <a:t>We have </a:t>
            </a:r>
            <a:r>
              <a:rPr lang="nl-NL" dirty="0" err="1">
                <a:solidFill>
                  <a:srgbClr val="000000"/>
                </a:solidFill>
                <a:latin typeface="Arial" panose="020B0604020202020204" pitchFamily="34" charset="0"/>
              </a:rPr>
              <a:t>now</a:t>
            </a:r>
            <a:r>
              <a:rPr lang="nl-NL" dirty="0">
                <a:solidFill>
                  <a:srgbClr val="000000"/>
                </a:solidFill>
                <a:latin typeface="Arial" panose="020B0604020202020204" pitchFamily="34" charset="0"/>
              </a:rPr>
              <a:t> </a:t>
            </a:r>
            <a:r>
              <a:rPr lang="nl-NL" dirty="0" err="1">
                <a:solidFill>
                  <a:srgbClr val="000000"/>
                </a:solidFill>
                <a:latin typeface="Arial" panose="020B0604020202020204" pitchFamily="34" charset="0"/>
              </a:rPr>
              <a:t>one</a:t>
            </a:r>
            <a:r>
              <a:rPr lang="nl-NL" dirty="0">
                <a:solidFill>
                  <a:srgbClr val="000000"/>
                </a:solidFill>
                <a:latin typeface="Arial" panose="020B0604020202020204" pitchFamily="34" charset="0"/>
              </a:rPr>
              <a:t> </a:t>
            </a:r>
            <a:r>
              <a:rPr lang="en-US" dirty="0">
                <a:solidFill>
                  <a:srgbClr val="000000"/>
                </a:solidFill>
                <a:latin typeface="Arial" panose="020B0604020202020204" pitchFamily="34" charset="0"/>
              </a:rPr>
              <a:t>object with</a:t>
            </a:r>
            <a:r>
              <a:rPr lang="nl-NL" dirty="0">
                <a:solidFill>
                  <a:srgbClr val="000000"/>
                </a:solidFill>
                <a:latin typeface="Arial" panose="020B0604020202020204" pitchFamily="34" charset="0"/>
              </a:rPr>
              <a:t> the </a:t>
            </a:r>
            <a:r>
              <a:rPr lang="nl-NL" dirty="0" err="1">
                <a:solidFill>
                  <a:srgbClr val="000000"/>
                </a:solidFill>
                <a:latin typeface="Arial" panose="020B0604020202020204" pitchFamily="34" charset="0"/>
              </a:rPr>
              <a:t>value</a:t>
            </a:r>
            <a:r>
              <a:rPr lang="nl-NL" dirty="0">
                <a:solidFill>
                  <a:srgbClr val="000000"/>
                </a:solidFill>
                <a:latin typeface="Arial" panose="020B0604020202020204" pitchFamily="34" charset="0"/>
              </a:rPr>
              <a:t> </a:t>
            </a:r>
            <a:r>
              <a:rPr lang="nl-NL" dirty="0">
                <a:solidFill>
                  <a:srgbClr val="000000"/>
                </a:solidFill>
                <a:latin typeface="Courier New" panose="02070309020205020404" pitchFamily="49" charset="0"/>
                <a:cs typeface="Courier New" panose="02070309020205020404" pitchFamily="49" charset="0"/>
              </a:rPr>
              <a:t>'s2' </a:t>
            </a:r>
            <a:r>
              <a:rPr lang="nl-NL" dirty="0" err="1">
                <a:solidFill>
                  <a:srgbClr val="000000"/>
                </a:solidFill>
                <a:latin typeface="Arial" panose="020B0604020202020204" pitchFamily="34" charset="0"/>
              </a:rPr>
              <a:t>and</a:t>
            </a:r>
            <a:r>
              <a:rPr lang="nl-NL" dirty="0">
                <a:solidFill>
                  <a:srgbClr val="000000"/>
                </a:solidFill>
                <a:latin typeface="Arial" panose="020B0604020202020204" pitchFamily="34" charset="0"/>
              </a:rPr>
              <a:t> </a:t>
            </a:r>
            <a:r>
              <a:rPr lang="nl-NL" dirty="0" err="1">
                <a:solidFill>
                  <a:srgbClr val="000000"/>
                </a:solidFill>
                <a:latin typeface="Arial" panose="020B0604020202020204" pitchFamily="34" charset="0"/>
              </a:rPr>
              <a:t>with</a:t>
            </a:r>
            <a:r>
              <a:rPr lang="nl-NL" dirty="0">
                <a:solidFill>
                  <a:srgbClr val="000000"/>
                </a:solidFill>
                <a:latin typeface="Arial" panose="020B0604020202020204" pitchFamily="34" charset="0"/>
              </a:rPr>
              <a:t> the name </a:t>
            </a:r>
            <a:r>
              <a:rPr lang="nl-NL" dirty="0">
                <a:solidFill>
                  <a:srgbClr val="000000"/>
                </a:solidFill>
                <a:latin typeface="Courier New" panose="02070309020205020404" pitchFamily="49" charset="0"/>
                <a:cs typeface="Courier New" panose="02070309020205020404" pitchFamily="49" charset="0"/>
              </a:rPr>
              <a:t>name_1, </a:t>
            </a:r>
            <a:br>
              <a:rPr lang="nl-NL" dirty="0">
                <a:solidFill>
                  <a:srgbClr val="000000"/>
                </a:solidFill>
                <a:latin typeface="Courier New" panose="02070309020205020404" pitchFamily="49" charset="0"/>
                <a:cs typeface="Courier New" panose="02070309020205020404" pitchFamily="49" charset="0"/>
              </a:rPr>
            </a:br>
            <a:r>
              <a:rPr lang="nl-NL" dirty="0" err="1">
                <a:solidFill>
                  <a:srgbClr val="000000"/>
                </a:solidFill>
                <a:latin typeface="Arial" panose="020B0604020202020204" pitchFamily="34" charset="0"/>
              </a:rPr>
              <a:t>and</a:t>
            </a:r>
            <a:r>
              <a:rPr lang="nl-NL" dirty="0">
                <a:solidFill>
                  <a:srgbClr val="000000"/>
                </a:solidFill>
                <a:latin typeface="Arial" panose="020B0604020202020204" pitchFamily="34" charset="0"/>
              </a:rPr>
              <a:t> we have </a:t>
            </a:r>
            <a:r>
              <a:rPr lang="nl-NL" dirty="0" err="1">
                <a:solidFill>
                  <a:srgbClr val="000000"/>
                </a:solidFill>
                <a:latin typeface="Arial" panose="020B0604020202020204" pitchFamily="34" charset="0"/>
              </a:rPr>
              <a:t>one</a:t>
            </a:r>
            <a:r>
              <a:rPr lang="nl-NL" dirty="0">
                <a:solidFill>
                  <a:srgbClr val="000000"/>
                </a:solidFill>
                <a:latin typeface="Arial" panose="020B0604020202020204" pitchFamily="34" charset="0"/>
              </a:rPr>
              <a:t> object </a:t>
            </a:r>
            <a:r>
              <a:rPr lang="nl-NL" dirty="0" err="1">
                <a:solidFill>
                  <a:srgbClr val="000000"/>
                </a:solidFill>
                <a:latin typeface="Arial" panose="020B0604020202020204" pitchFamily="34" charset="0"/>
              </a:rPr>
              <a:t>with</a:t>
            </a:r>
            <a:r>
              <a:rPr lang="nl-NL" dirty="0">
                <a:solidFill>
                  <a:srgbClr val="000000"/>
                </a:solidFill>
                <a:latin typeface="Arial" panose="020B0604020202020204" pitchFamily="34" charset="0"/>
              </a:rPr>
              <a:t> the </a:t>
            </a:r>
            <a:r>
              <a:rPr lang="nl-NL" dirty="0" err="1">
                <a:solidFill>
                  <a:srgbClr val="000000"/>
                </a:solidFill>
                <a:latin typeface="Arial" panose="020B0604020202020204" pitchFamily="34" charset="0"/>
              </a:rPr>
              <a:t>value</a:t>
            </a:r>
            <a:r>
              <a:rPr lang="nl-NL" dirty="0">
                <a:solidFill>
                  <a:srgbClr val="000000"/>
                </a:solidFill>
                <a:latin typeface="Arial" panose="020B0604020202020204" pitchFamily="34" charset="0"/>
              </a:rPr>
              <a:t> </a:t>
            </a:r>
            <a:r>
              <a:rPr lang="nl-NL" dirty="0">
                <a:solidFill>
                  <a:srgbClr val="000000"/>
                </a:solidFill>
                <a:latin typeface="Courier New" panose="02070309020205020404" pitchFamily="49" charset="0"/>
                <a:cs typeface="Courier New" panose="02070309020205020404" pitchFamily="49" charset="0"/>
              </a:rPr>
              <a:t>'s1'</a:t>
            </a:r>
            <a:r>
              <a:rPr lang="nl-NL" dirty="0">
                <a:solidFill>
                  <a:srgbClr val="000000"/>
                </a:solidFill>
                <a:latin typeface="Arial" panose="020B0604020202020204" pitchFamily="34" charset="0"/>
              </a:rPr>
              <a:t> </a:t>
            </a:r>
            <a:r>
              <a:rPr lang="nl-NL" dirty="0" err="1">
                <a:solidFill>
                  <a:srgbClr val="000000"/>
                </a:solidFill>
                <a:latin typeface="Arial" panose="020B0604020202020204" pitchFamily="34" charset="0"/>
              </a:rPr>
              <a:t>and</a:t>
            </a:r>
            <a:r>
              <a:rPr lang="nl-NL" dirty="0">
                <a:solidFill>
                  <a:srgbClr val="000000"/>
                </a:solidFill>
                <a:latin typeface="Arial" panose="020B0604020202020204" pitchFamily="34" charset="0"/>
              </a:rPr>
              <a:t> </a:t>
            </a:r>
            <a:r>
              <a:rPr lang="nl-NL" dirty="0" err="1">
                <a:solidFill>
                  <a:srgbClr val="000000"/>
                </a:solidFill>
                <a:latin typeface="Arial" panose="020B0604020202020204" pitchFamily="34" charset="0"/>
              </a:rPr>
              <a:t>with</a:t>
            </a:r>
            <a:r>
              <a:rPr lang="nl-NL" dirty="0">
                <a:solidFill>
                  <a:srgbClr val="000000"/>
                </a:solidFill>
                <a:latin typeface="Arial" panose="020B0604020202020204" pitchFamily="34" charset="0"/>
              </a:rPr>
              <a:t> the name </a:t>
            </a:r>
            <a:r>
              <a:rPr lang="nl-NL" dirty="0">
                <a:solidFill>
                  <a:srgbClr val="000000"/>
                </a:solidFill>
                <a:latin typeface="Courier New" panose="02070309020205020404" pitchFamily="49" charset="0"/>
                <a:cs typeface="Courier New" panose="02070309020205020404" pitchFamily="49" charset="0"/>
              </a:rPr>
              <a:t>name_2</a:t>
            </a:r>
          </a:p>
          <a:p>
            <a:endParaRPr lang="nl-NL" dirty="0">
              <a:latin typeface="Arial" panose="020B0604020202020204" pitchFamily="34" charset="0"/>
            </a:endParaRPr>
          </a:p>
        </p:txBody>
      </p:sp>
      <p:sp>
        <p:nvSpPr>
          <p:cNvPr id="14" name="Tekstvak 13"/>
          <p:cNvSpPr txBox="1"/>
          <p:nvPr/>
        </p:nvSpPr>
        <p:spPr>
          <a:xfrm>
            <a:off x="403488" y="5657671"/>
            <a:ext cx="2346003" cy="369332"/>
          </a:xfrm>
          <a:prstGeom prst="rect">
            <a:avLst/>
          </a:prstGeom>
          <a:noFill/>
        </p:spPr>
        <p:txBody>
          <a:bodyPr wrap="square" rtlCol="0">
            <a:spAutoFit/>
          </a:bodyPr>
          <a:lstStyle/>
          <a:p>
            <a:pPr fontAlgn="t"/>
            <a:r>
              <a:rPr lang="en-US" dirty="0">
                <a:solidFill>
                  <a:srgbClr val="000000"/>
                </a:solidFill>
                <a:latin typeface="Courier New" panose="02070309020205020404" pitchFamily="49" charset="0"/>
                <a:cs typeface="Courier New" panose="02070309020205020404" pitchFamily="49" charset="0"/>
              </a:rPr>
              <a:t>name_2 = 's3'</a:t>
            </a:r>
            <a:endParaRPr lang="nl-NL" dirty="0">
              <a:solidFill>
                <a:srgbClr val="000000"/>
              </a:solidFill>
              <a:latin typeface="Courier New" panose="02070309020205020404" pitchFamily="49" charset="0"/>
              <a:cs typeface="Courier New" panose="02070309020205020404" pitchFamily="49" charset="0"/>
            </a:endParaRPr>
          </a:p>
        </p:txBody>
      </p:sp>
      <p:sp>
        <p:nvSpPr>
          <p:cNvPr id="16" name="Tekstvak 15"/>
          <p:cNvSpPr txBox="1"/>
          <p:nvPr/>
        </p:nvSpPr>
        <p:spPr>
          <a:xfrm>
            <a:off x="2780550" y="5651160"/>
            <a:ext cx="8847324" cy="1200329"/>
          </a:xfrm>
          <a:prstGeom prst="rect">
            <a:avLst/>
          </a:prstGeom>
          <a:noFill/>
        </p:spPr>
        <p:txBody>
          <a:bodyPr wrap="square" rtlCol="0">
            <a:spAutoFit/>
          </a:bodyPr>
          <a:lstStyle/>
          <a:p>
            <a:pPr fontAlgn="t"/>
            <a:r>
              <a:rPr lang="en-US" dirty="0">
                <a:solidFill>
                  <a:srgbClr val="000000"/>
                </a:solidFill>
                <a:latin typeface="Arial" panose="020B0604020202020204" pitchFamily="34" charset="0"/>
              </a:rPr>
              <a:t>From the object with the value </a:t>
            </a:r>
            <a:r>
              <a:rPr lang="en-US" dirty="0">
                <a:solidFill>
                  <a:srgbClr val="000000"/>
                </a:solidFill>
                <a:latin typeface="Courier New" panose="02070309020205020404" pitchFamily="49" charset="0"/>
                <a:cs typeface="Courier New" panose="02070309020205020404" pitchFamily="49" charset="0"/>
              </a:rPr>
              <a:t>‘s1' </a:t>
            </a:r>
            <a:r>
              <a:rPr lang="en-US" dirty="0">
                <a:solidFill>
                  <a:srgbClr val="000000"/>
                </a:solidFill>
                <a:latin typeface="Arial" panose="020B0604020202020204" pitchFamily="34" charset="0"/>
              </a:rPr>
              <a:t>the name </a:t>
            </a:r>
            <a:r>
              <a:rPr lang="en-US" dirty="0">
                <a:solidFill>
                  <a:srgbClr val="000000"/>
                </a:solidFill>
                <a:latin typeface="Courier New" panose="02070309020205020404" pitchFamily="49" charset="0"/>
                <a:cs typeface="Courier New" panose="02070309020205020404" pitchFamily="49" charset="0"/>
              </a:rPr>
              <a:t>name_2 </a:t>
            </a:r>
            <a:r>
              <a:rPr lang="en-US" dirty="0">
                <a:solidFill>
                  <a:srgbClr val="000000"/>
                </a:solidFill>
                <a:latin typeface="Arial" panose="020B0604020202020204" pitchFamily="34" charset="0"/>
              </a:rPr>
              <a:t>is removed. </a:t>
            </a:r>
            <a:br>
              <a:rPr lang="en-US" dirty="0">
                <a:solidFill>
                  <a:srgbClr val="000000"/>
                </a:solidFill>
                <a:latin typeface="Arial" panose="020B0604020202020204" pitchFamily="34" charset="0"/>
              </a:rPr>
            </a:br>
            <a:r>
              <a:rPr lang="en-US" dirty="0">
                <a:solidFill>
                  <a:srgbClr val="000000"/>
                </a:solidFill>
                <a:latin typeface="Arial" panose="020B0604020202020204" pitchFamily="34" charset="0"/>
              </a:rPr>
              <a:t>If as is the case here, this is the only reference left to that object, Python's garbage collection will remove this object.</a:t>
            </a:r>
            <a:endParaRPr lang="nl-NL" dirty="0">
              <a:latin typeface="Arial" panose="020B0604020202020204" pitchFamily="34" charset="0"/>
            </a:endParaRPr>
          </a:p>
          <a:p>
            <a:r>
              <a:rPr lang="en-US" dirty="0">
                <a:solidFill>
                  <a:srgbClr val="000000"/>
                </a:solidFill>
                <a:latin typeface="Arial" panose="020B0604020202020204" pitchFamily="34" charset="0"/>
              </a:rPr>
              <a:t>We will now have one object with value  </a:t>
            </a:r>
            <a:r>
              <a:rPr lang="en-US" dirty="0">
                <a:solidFill>
                  <a:srgbClr val="000000"/>
                </a:solidFill>
                <a:latin typeface="Courier New" panose="02070309020205020404" pitchFamily="49" charset="0"/>
                <a:cs typeface="Courier New" panose="02070309020205020404" pitchFamily="49" charset="0"/>
              </a:rPr>
              <a:t>'s2'</a:t>
            </a:r>
            <a:r>
              <a:rPr lang="en-US" dirty="0">
                <a:solidFill>
                  <a:srgbClr val="000000"/>
                </a:solidFill>
                <a:latin typeface="Arial" panose="020B0604020202020204" pitchFamily="34" charset="0"/>
                <a:cs typeface="Courier New" panose="02070309020205020404" pitchFamily="49" charset="0"/>
              </a:rPr>
              <a:t> </a:t>
            </a:r>
            <a:r>
              <a:rPr lang="en-US" dirty="0">
                <a:solidFill>
                  <a:srgbClr val="000000"/>
                </a:solidFill>
                <a:latin typeface="Arial" panose="020B0604020202020204" pitchFamily="34" charset="0"/>
              </a:rPr>
              <a:t>and with the name </a:t>
            </a:r>
            <a:r>
              <a:rPr lang="en-US" dirty="0">
                <a:solidFill>
                  <a:srgbClr val="000000"/>
                </a:solidFill>
                <a:latin typeface="Courier New" panose="02070309020205020404" pitchFamily="49" charset="0"/>
                <a:cs typeface="Courier New" panose="02070309020205020404" pitchFamily="49" charset="0"/>
              </a:rPr>
              <a:t>name_1</a:t>
            </a:r>
            <a:endParaRPr lang="nl-NL" dirty="0">
              <a:solidFill>
                <a:srgbClr val="000000"/>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05031371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12F33F-A141-0F90-6E0C-B391F2959544}"/>
              </a:ext>
            </a:extLst>
          </p:cNvPr>
          <p:cNvSpPr>
            <a:spLocks noGrp="1"/>
          </p:cNvSpPr>
          <p:nvPr>
            <p:ph type="title"/>
          </p:nvPr>
        </p:nvSpPr>
        <p:spPr>
          <a:xfrm>
            <a:off x="545592" y="263097"/>
            <a:ext cx="11646408" cy="1114921"/>
          </a:xfrm>
        </p:spPr>
        <p:txBody>
          <a:bodyPr/>
          <a:lstStyle/>
          <a:p>
            <a:r>
              <a:rPr lang="en-US" b="1" dirty="0"/>
              <a:t>An example with a list (mutable)</a:t>
            </a:r>
            <a:endParaRPr lang="nl-NL" b="1" dirty="0"/>
          </a:p>
        </p:txBody>
      </p:sp>
      <p:sp>
        <p:nvSpPr>
          <p:cNvPr id="6" name="Slide Number Placeholder 5">
            <a:extLst>
              <a:ext uri="{FF2B5EF4-FFF2-40B4-BE49-F238E27FC236}">
                <a16:creationId xmlns:a16="http://schemas.microsoft.com/office/drawing/2014/main" id="{007DF11C-323B-CE00-6049-63BBBDB7E345}"/>
              </a:ext>
            </a:extLst>
          </p:cNvPr>
          <p:cNvSpPr>
            <a:spLocks noGrp="1"/>
          </p:cNvSpPr>
          <p:nvPr>
            <p:ph type="sldNum" sz="quarter" idx="12"/>
          </p:nvPr>
        </p:nvSpPr>
        <p:spPr/>
        <p:txBody>
          <a:bodyPr/>
          <a:lstStyle/>
          <a:p>
            <a:fld id="{937257EE-0CEF-4D7E-9E69-5277D6172560}" type="slidenum">
              <a:rPr lang="nl-NL" smtClean="0">
                <a:solidFill>
                  <a:prstClr val="black">
                    <a:tint val="75000"/>
                  </a:prstClr>
                </a:solidFill>
              </a:rPr>
              <a:pPr/>
              <a:t>36</a:t>
            </a:fld>
            <a:endParaRPr lang="nl-NL">
              <a:solidFill>
                <a:prstClr val="black">
                  <a:tint val="75000"/>
                </a:prstClr>
              </a:solidFill>
            </a:endParaRPr>
          </a:p>
        </p:txBody>
      </p:sp>
      <p:sp>
        <p:nvSpPr>
          <p:cNvPr id="7" name="TextBox 4">
            <a:extLst>
              <a:ext uri="{FF2B5EF4-FFF2-40B4-BE49-F238E27FC236}">
                <a16:creationId xmlns:a16="http://schemas.microsoft.com/office/drawing/2014/main" id="{AD329F4E-EB2C-8162-33DF-A0C3A6A7CDF5}"/>
              </a:ext>
            </a:extLst>
          </p:cNvPr>
          <p:cNvSpPr txBox="1"/>
          <p:nvPr/>
        </p:nvSpPr>
        <p:spPr>
          <a:xfrm>
            <a:off x="10204508" y="-1642336"/>
            <a:ext cx="2298584" cy="2862322"/>
          </a:xfrm>
          <a:prstGeom prst="rect">
            <a:avLst/>
          </a:prstGeom>
          <a:noFill/>
        </p:spPr>
        <p:txBody>
          <a:bodyPr wrap="square" rtlCol="0">
            <a:spAutoFit/>
          </a:bodyPr>
          <a:lstStyle/>
          <a:p>
            <a:pPr marL="0" algn="l" rtl="0" eaLnBrk="1" fontAlgn="t" latinLnBrk="0" hangingPunct="1">
              <a:spcBef>
                <a:spcPts val="0"/>
              </a:spcBef>
              <a:spcAft>
                <a:spcPts val="0"/>
              </a:spcAft>
            </a:pPr>
            <a:endParaRPr lang="en-US" sz="1800" b="0" i="0" u="none" strike="noStrike" kern="1200" dirty="0">
              <a:solidFill>
                <a:srgbClr val="000000"/>
              </a:solidFill>
              <a:effectLst/>
              <a:latin typeface="Courier New" panose="02070309020205020404" pitchFamily="49" charset="0"/>
              <a:cs typeface="Courier New" panose="02070309020205020404" pitchFamily="49" charset="0"/>
            </a:endParaRPr>
          </a:p>
          <a:p>
            <a:pPr marL="0" algn="l" rtl="0" eaLnBrk="1" fontAlgn="t" latinLnBrk="0" hangingPunct="1">
              <a:spcBef>
                <a:spcPts val="0"/>
              </a:spcBef>
              <a:spcAft>
                <a:spcPts val="0"/>
              </a:spcAft>
            </a:pPr>
            <a:endParaRPr lang="en-US" dirty="0">
              <a:solidFill>
                <a:srgbClr val="000000"/>
              </a:solidFill>
              <a:latin typeface="Courier New" panose="02070309020205020404" pitchFamily="49" charset="0"/>
              <a:cs typeface="Courier New" panose="02070309020205020404" pitchFamily="49" charset="0"/>
            </a:endParaRPr>
          </a:p>
          <a:p>
            <a:pPr marL="0" algn="l" rtl="0" eaLnBrk="1" fontAlgn="t" latinLnBrk="0" hangingPunct="1">
              <a:spcBef>
                <a:spcPts val="0"/>
              </a:spcBef>
              <a:spcAft>
                <a:spcPts val="0"/>
              </a:spcAft>
            </a:pPr>
            <a:endParaRPr lang="en-US" sz="1800" b="0" i="0" u="none" strike="noStrike" kern="1200" dirty="0">
              <a:solidFill>
                <a:srgbClr val="000000"/>
              </a:solidFill>
              <a:effectLst/>
              <a:latin typeface="Courier New" panose="02070309020205020404" pitchFamily="49" charset="0"/>
              <a:cs typeface="Courier New" panose="02070309020205020404" pitchFamily="49" charset="0"/>
            </a:endParaRPr>
          </a:p>
          <a:p>
            <a:pPr marL="0" marR="0" indent="0" algn="l" rtl="0" eaLnBrk="1" fontAlgn="auto" latinLnBrk="0" hangingPunct="1">
              <a:spcBef>
                <a:spcPts val="0"/>
              </a:spcBef>
              <a:spcAft>
                <a:spcPts val="0"/>
              </a:spcAft>
            </a:pPr>
            <a:endParaRPr lang="en-US" sz="1800" b="0" i="0" u="none" strike="noStrike" kern="1200" dirty="0">
              <a:solidFill>
                <a:srgbClr val="000000"/>
              </a:solidFill>
              <a:effectLst/>
              <a:latin typeface="Courier New" panose="02070309020205020404" pitchFamily="49" charset="0"/>
              <a:cs typeface="Courier New" panose="02070309020205020404" pitchFamily="49" charset="0"/>
            </a:endParaRPr>
          </a:p>
          <a:p>
            <a:pPr marL="0" marR="0" indent="0" algn="l" rtl="0" eaLnBrk="1" fontAlgn="auto" latinLnBrk="0" hangingPunct="1">
              <a:spcBef>
                <a:spcPts val="0"/>
              </a:spcBef>
              <a:spcAft>
                <a:spcPts val="0"/>
              </a:spcAft>
            </a:pPr>
            <a:endParaRPr lang="en-US" dirty="0">
              <a:solidFill>
                <a:srgbClr val="000000"/>
              </a:solidFill>
              <a:latin typeface="Courier New" panose="02070309020205020404" pitchFamily="49" charset="0"/>
              <a:cs typeface="Courier New" panose="02070309020205020404" pitchFamily="49" charset="0"/>
            </a:endParaRPr>
          </a:p>
          <a:p>
            <a:pPr marL="0" marR="0" indent="0" algn="l" rtl="0" eaLnBrk="1" fontAlgn="auto" latinLnBrk="0" hangingPunct="1">
              <a:spcBef>
                <a:spcPts val="0"/>
              </a:spcBef>
              <a:spcAft>
                <a:spcPts val="0"/>
              </a:spcAft>
            </a:pPr>
            <a:endParaRPr lang="en-US" sz="1800" b="0" i="0" u="none" strike="noStrike" kern="1200" dirty="0">
              <a:solidFill>
                <a:srgbClr val="000000"/>
              </a:solidFill>
              <a:effectLst/>
              <a:latin typeface="Courier New" panose="02070309020205020404" pitchFamily="49" charset="0"/>
              <a:cs typeface="Courier New" panose="02070309020205020404" pitchFamily="49" charset="0"/>
            </a:endParaRPr>
          </a:p>
          <a:p>
            <a:pPr marL="0" algn="l" rtl="0" eaLnBrk="1" fontAlgn="t" latinLnBrk="0" hangingPunct="1">
              <a:spcBef>
                <a:spcPts val="0"/>
              </a:spcBef>
              <a:spcAft>
                <a:spcPts val="0"/>
              </a:spcAft>
            </a:pPr>
            <a:endParaRPr lang="en-US" sz="1800" b="0" i="0" u="none" strike="noStrike" kern="1200" dirty="0">
              <a:solidFill>
                <a:srgbClr val="000000"/>
              </a:solidFill>
              <a:effectLst/>
              <a:latin typeface="Courier New" panose="02070309020205020404" pitchFamily="49" charset="0"/>
              <a:cs typeface="Courier New" panose="02070309020205020404" pitchFamily="49" charset="0"/>
            </a:endParaRPr>
          </a:p>
          <a:p>
            <a:pPr marL="0" algn="l" rtl="0" eaLnBrk="1" fontAlgn="t" latinLnBrk="0" hangingPunct="1">
              <a:spcBef>
                <a:spcPts val="0"/>
              </a:spcBef>
              <a:spcAft>
                <a:spcPts val="0"/>
              </a:spcAft>
            </a:pPr>
            <a:endParaRPr lang="en-US" dirty="0">
              <a:solidFill>
                <a:srgbClr val="000000"/>
              </a:solidFill>
              <a:latin typeface="Courier New" panose="02070309020205020404" pitchFamily="49" charset="0"/>
              <a:cs typeface="Courier New" panose="02070309020205020404" pitchFamily="49" charset="0"/>
            </a:endParaRPr>
          </a:p>
          <a:p>
            <a:pPr marL="0" algn="l" rtl="0" eaLnBrk="1" fontAlgn="t" latinLnBrk="0" hangingPunct="1">
              <a:spcBef>
                <a:spcPts val="0"/>
              </a:spcBef>
              <a:spcAft>
                <a:spcPts val="0"/>
              </a:spcAft>
            </a:pPr>
            <a:endParaRPr lang="en-US" sz="1800" b="0" i="0" u="none" strike="noStrike" kern="1200" dirty="0">
              <a:solidFill>
                <a:srgbClr val="000000"/>
              </a:solidFill>
              <a:effectLst/>
              <a:latin typeface="Courier New" panose="02070309020205020404" pitchFamily="49" charset="0"/>
              <a:cs typeface="Courier New" panose="02070309020205020404" pitchFamily="49" charset="0"/>
            </a:endParaRPr>
          </a:p>
          <a:p>
            <a:pPr marL="0" algn="l" rtl="0" eaLnBrk="1" fontAlgn="t" latinLnBrk="0" hangingPunct="1">
              <a:spcBef>
                <a:spcPts val="0"/>
              </a:spcBef>
              <a:spcAft>
                <a:spcPts val="0"/>
              </a:spcAft>
            </a:pPr>
            <a:endParaRPr lang="en-US" dirty="0">
              <a:solidFill>
                <a:srgbClr val="000000"/>
              </a:solidFill>
              <a:latin typeface="Courier New" panose="02070309020205020404" pitchFamily="49" charset="0"/>
              <a:cs typeface="Courier New" panose="02070309020205020404" pitchFamily="49" charset="0"/>
            </a:endParaRPr>
          </a:p>
        </p:txBody>
      </p:sp>
      <p:sp>
        <p:nvSpPr>
          <p:cNvPr id="5" name="Tekstvak 4"/>
          <p:cNvSpPr txBox="1"/>
          <p:nvPr/>
        </p:nvSpPr>
        <p:spPr>
          <a:xfrm>
            <a:off x="3135276" y="1219986"/>
            <a:ext cx="9056724" cy="1754326"/>
          </a:xfrm>
          <a:prstGeom prst="rect">
            <a:avLst/>
          </a:prstGeom>
          <a:noFill/>
        </p:spPr>
        <p:txBody>
          <a:bodyPr wrap="square" rtlCol="0">
            <a:spAutoFit/>
          </a:bodyPr>
          <a:lstStyle/>
          <a:p>
            <a:r>
              <a:rPr lang="nl-NL" dirty="0">
                <a:solidFill>
                  <a:srgbClr val="000000"/>
                </a:solidFill>
                <a:latin typeface="Arial" panose="020B0604020202020204" pitchFamily="34" charset="0"/>
              </a:rPr>
              <a:t>Python </a:t>
            </a:r>
            <a:r>
              <a:rPr lang="nl-NL" dirty="0" err="1">
                <a:solidFill>
                  <a:srgbClr val="000000"/>
                </a:solidFill>
                <a:latin typeface="Arial" panose="020B0604020202020204" pitchFamily="34" charset="0"/>
              </a:rPr>
              <a:t>creates</a:t>
            </a:r>
            <a:r>
              <a:rPr lang="nl-NL" dirty="0">
                <a:solidFill>
                  <a:srgbClr val="000000"/>
                </a:solidFill>
                <a:latin typeface="Arial" panose="020B0604020202020204" pitchFamily="34" charset="0"/>
              </a:rPr>
              <a:t> </a:t>
            </a:r>
            <a:r>
              <a:rPr lang="nl-NL" dirty="0" err="1">
                <a:solidFill>
                  <a:srgbClr val="000000"/>
                </a:solidFill>
                <a:latin typeface="Arial" panose="020B0604020202020204" pitchFamily="34" charset="0"/>
              </a:rPr>
              <a:t>two</a:t>
            </a:r>
            <a:r>
              <a:rPr lang="nl-NL" dirty="0">
                <a:solidFill>
                  <a:srgbClr val="000000"/>
                </a:solidFill>
                <a:latin typeface="Arial" panose="020B0604020202020204" pitchFamily="34" charset="0"/>
              </a:rPr>
              <a:t> </a:t>
            </a:r>
            <a:r>
              <a:rPr lang="nl-NL" dirty="0" err="1">
                <a:solidFill>
                  <a:srgbClr val="000000"/>
                </a:solidFill>
                <a:latin typeface="Arial" panose="020B0604020202020204" pitchFamily="34" charset="0"/>
              </a:rPr>
              <a:t>objects</a:t>
            </a:r>
            <a:r>
              <a:rPr lang="nl-NL" dirty="0">
                <a:solidFill>
                  <a:srgbClr val="000000"/>
                </a:solidFill>
                <a:latin typeface="Arial" panose="020B0604020202020204" pitchFamily="34" charset="0"/>
              </a:rPr>
              <a:t>, </a:t>
            </a:r>
            <a:r>
              <a:rPr lang="nl-NL" dirty="0" err="1">
                <a:solidFill>
                  <a:srgbClr val="000000"/>
                </a:solidFill>
                <a:latin typeface="Arial" panose="020B0604020202020204" pitchFamily="34" charset="0"/>
              </a:rPr>
              <a:t>one</a:t>
            </a:r>
            <a:r>
              <a:rPr lang="nl-NL" dirty="0">
                <a:solidFill>
                  <a:srgbClr val="000000"/>
                </a:solidFill>
                <a:latin typeface="Arial" panose="020B0604020202020204" pitchFamily="34" charset="0"/>
              </a:rPr>
              <a:t> </a:t>
            </a:r>
            <a:r>
              <a:rPr lang="nl-NL" dirty="0" err="1">
                <a:solidFill>
                  <a:srgbClr val="000000"/>
                </a:solidFill>
                <a:latin typeface="Arial" panose="020B0604020202020204" pitchFamily="34" charset="0"/>
              </a:rPr>
              <a:t>with</a:t>
            </a:r>
            <a:r>
              <a:rPr lang="nl-NL" dirty="0">
                <a:solidFill>
                  <a:srgbClr val="000000"/>
                </a:solidFill>
                <a:latin typeface="Arial" panose="020B0604020202020204" pitchFamily="34" charset="0"/>
              </a:rPr>
              <a:t> </a:t>
            </a:r>
            <a:r>
              <a:rPr lang="nl-NL" dirty="0" err="1">
                <a:solidFill>
                  <a:srgbClr val="000000"/>
                </a:solidFill>
                <a:latin typeface="Arial" panose="020B0604020202020204" pitchFamily="34" charset="0"/>
              </a:rPr>
              <a:t>value</a:t>
            </a:r>
            <a:r>
              <a:rPr lang="nl-NL" dirty="0">
                <a:solidFill>
                  <a:srgbClr val="000000"/>
                </a:solidFill>
                <a:latin typeface="Arial" panose="020B0604020202020204" pitchFamily="34" charset="0"/>
              </a:rPr>
              <a:t> </a:t>
            </a:r>
            <a:r>
              <a:rPr lang="nl-NL" dirty="0">
                <a:latin typeface="Courier New" panose="02070309020205020404" pitchFamily="49" charset="0"/>
                <a:cs typeface="Courier New" panose="02070309020205020404" pitchFamily="49" charset="0"/>
              </a:rPr>
              <a:t>'s1'</a:t>
            </a:r>
            <a:r>
              <a:rPr lang="nl-NL" dirty="0">
                <a:solidFill>
                  <a:srgbClr val="000000"/>
                </a:solidFill>
                <a:latin typeface="Arial" panose="020B0604020202020204" pitchFamily="34" charset="0"/>
              </a:rPr>
              <a:t> </a:t>
            </a:r>
            <a:r>
              <a:rPr lang="nl-NL" dirty="0" err="1">
                <a:solidFill>
                  <a:srgbClr val="000000"/>
                </a:solidFill>
                <a:latin typeface="Arial" panose="020B0604020202020204" pitchFamily="34" charset="0"/>
              </a:rPr>
              <a:t>and</a:t>
            </a:r>
            <a:r>
              <a:rPr lang="nl-NL" dirty="0">
                <a:solidFill>
                  <a:srgbClr val="000000"/>
                </a:solidFill>
                <a:latin typeface="Arial" panose="020B0604020202020204" pitchFamily="34" charset="0"/>
              </a:rPr>
              <a:t> </a:t>
            </a:r>
            <a:r>
              <a:rPr lang="nl-NL" dirty="0" err="1">
                <a:solidFill>
                  <a:srgbClr val="000000"/>
                </a:solidFill>
                <a:latin typeface="Arial" panose="020B0604020202020204" pitchFamily="34" charset="0"/>
              </a:rPr>
              <a:t>another</a:t>
            </a:r>
            <a:r>
              <a:rPr lang="nl-NL" dirty="0">
                <a:solidFill>
                  <a:srgbClr val="000000"/>
                </a:solidFill>
                <a:latin typeface="Arial" panose="020B0604020202020204" pitchFamily="34" charset="0"/>
              </a:rPr>
              <a:t> </a:t>
            </a:r>
            <a:r>
              <a:rPr lang="nl-NL" dirty="0" err="1">
                <a:solidFill>
                  <a:srgbClr val="000000"/>
                </a:solidFill>
                <a:latin typeface="Arial" panose="020B0604020202020204" pitchFamily="34" charset="0"/>
              </a:rPr>
              <a:t>one</a:t>
            </a:r>
            <a:r>
              <a:rPr lang="nl-NL" dirty="0">
                <a:solidFill>
                  <a:srgbClr val="000000"/>
                </a:solidFill>
                <a:latin typeface="Arial" panose="020B0604020202020204" pitchFamily="34" charset="0"/>
              </a:rPr>
              <a:t> </a:t>
            </a:r>
            <a:r>
              <a:rPr lang="nl-NL" dirty="0" err="1">
                <a:solidFill>
                  <a:srgbClr val="000000"/>
                </a:solidFill>
                <a:latin typeface="Arial" panose="020B0604020202020204" pitchFamily="34" charset="0"/>
              </a:rPr>
              <a:t>with</a:t>
            </a:r>
            <a:r>
              <a:rPr lang="nl-NL" dirty="0">
                <a:solidFill>
                  <a:srgbClr val="000000"/>
                </a:solidFill>
                <a:latin typeface="Arial" panose="020B0604020202020204" pitchFamily="34" charset="0"/>
              </a:rPr>
              <a:t>  </a:t>
            </a:r>
            <a:r>
              <a:rPr lang="nl-NL" dirty="0" err="1">
                <a:solidFill>
                  <a:srgbClr val="000000"/>
                </a:solidFill>
                <a:latin typeface="Arial" panose="020B0604020202020204" pitchFamily="34" charset="0"/>
              </a:rPr>
              <a:t>value</a:t>
            </a:r>
            <a:r>
              <a:rPr lang="nl-NL" dirty="0">
                <a:solidFill>
                  <a:srgbClr val="000000"/>
                </a:solidFill>
                <a:latin typeface="Arial" panose="020B0604020202020204" pitchFamily="34" charset="0"/>
              </a:rPr>
              <a:t> </a:t>
            </a:r>
            <a:r>
              <a:rPr lang="nl-NL" dirty="0">
                <a:latin typeface="Courier New" panose="02070309020205020404" pitchFamily="49" charset="0"/>
                <a:cs typeface="Courier New" panose="02070309020205020404" pitchFamily="49" charset="0"/>
              </a:rPr>
              <a:t>'s2'</a:t>
            </a:r>
            <a:r>
              <a:rPr lang="nl-NL" dirty="0">
                <a:solidFill>
                  <a:srgbClr val="000000"/>
                </a:solidFill>
                <a:latin typeface="Arial" panose="020B0604020202020204" pitchFamily="34" charset="0"/>
              </a:rPr>
              <a:t>. </a:t>
            </a:r>
          </a:p>
          <a:p>
            <a:r>
              <a:rPr lang="nl-NL" dirty="0">
                <a:latin typeface="Arial" panose="020B0604020202020204" pitchFamily="34" charset="0"/>
              </a:rPr>
              <a:t>Next, Python </a:t>
            </a:r>
            <a:r>
              <a:rPr lang="nl-NL" dirty="0" err="1">
                <a:latin typeface="Arial" panose="020B0604020202020204" pitchFamily="34" charset="0"/>
              </a:rPr>
              <a:t>creates</a:t>
            </a:r>
            <a:r>
              <a:rPr lang="nl-NL" dirty="0">
                <a:latin typeface="Arial" panose="020B0604020202020204" pitchFamily="34" charset="0"/>
              </a:rPr>
              <a:t> </a:t>
            </a:r>
            <a:r>
              <a:rPr lang="nl-NL" dirty="0" err="1">
                <a:latin typeface="Arial" panose="020B0604020202020204" pitchFamily="34" charset="0"/>
              </a:rPr>
              <a:t>an</a:t>
            </a:r>
            <a:r>
              <a:rPr lang="nl-NL" dirty="0">
                <a:latin typeface="Arial" panose="020B0604020202020204" pitchFamily="34" charset="0"/>
              </a:rPr>
              <a:t> object of type list </a:t>
            </a:r>
            <a:r>
              <a:rPr lang="nl-NL" dirty="0" err="1">
                <a:latin typeface="Arial" panose="020B0604020202020204" pitchFamily="34" charset="0"/>
              </a:rPr>
              <a:t>that</a:t>
            </a:r>
            <a:r>
              <a:rPr lang="nl-NL" dirty="0">
                <a:latin typeface="Arial" panose="020B0604020202020204" pitchFamily="34" charset="0"/>
              </a:rPr>
              <a:t> </a:t>
            </a:r>
            <a:r>
              <a:rPr lang="nl-NL" dirty="0" err="1">
                <a:latin typeface="Arial" panose="020B0604020202020204" pitchFamily="34" charset="0"/>
              </a:rPr>
              <a:t>refers</a:t>
            </a:r>
            <a:r>
              <a:rPr lang="nl-NL" dirty="0">
                <a:latin typeface="Arial" panose="020B0604020202020204" pitchFamily="34" charset="0"/>
              </a:rPr>
              <a:t> </a:t>
            </a:r>
            <a:r>
              <a:rPr lang="nl-NL" dirty="0" err="1">
                <a:latin typeface="Arial" panose="020B0604020202020204" pitchFamily="34" charset="0"/>
              </a:rPr>
              <a:t>to</a:t>
            </a:r>
            <a:r>
              <a:rPr lang="nl-NL" dirty="0">
                <a:latin typeface="Arial" panose="020B0604020202020204" pitchFamily="34" charset="0"/>
              </a:rPr>
              <a:t> these </a:t>
            </a:r>
            <a:r>
              <a:rPr lang="nl-NL" dirty="0" err="1">
                <a:latin typeface="Arial" panose="020B0604020202020204" pitchFamily="34" charset="0"/>
              </a:rPr>
              <a:t>two</a:t>
            </a:r>
            <a:r>
              <a:rPr lang="nl-NL" dirty="0">
                <a:latin typeface="Arial" panose="020B0604020202020204" pitchFamily="34" charset="0"/>
              </a:rPr>
              <a:t> </a:t>
            </a:r>
            <a:r>
              <a:rPr lang="nl-NL" dirty="0" err="1">
                <a:latin typeface="Arial" panose="020B0604020202020204" pitchFamily="34" charset="0"/>
              </a:rPr>
              <a:t>objects</a:t>
            </a:r>
            <a:r>
              <a:rPr lang="nl-NL" dirty="0">
                <a:latin typeface="Arial" panose="020B0604020202020204" pitchFamily="34" charset="0"/>
              </a:rPr>
              <a:t> </a:t>
            </a:r>
            <a:r>
              <a:rPr lang="nl-NL" dirty="0" err="1">
                <a:latin typeface="Arial" panose="020B0604020202020204" pitchFamily="34" charset="0"/>
              </a:rPr>
              <a:t>and</a:t>
            </a:r>
            <a:r>
              <a:rPr lang="nl-NL" dirty="0">
                <a:latin typeface="Arial" panose="020B0604020202020204" pitchFamily="34" charset="0"/>
              </a:rPr>
              <a:t> </a:t>
            </a:r>
            <a:r>
              <a:rPr lang="nl-NL" dirty="0" err="1">
                <a:latin typeface="Arial" panose="020B0604020202020204" pitchFamily="34" charset="0"/>
              </a:rPr>
              <a:t>binds</a:t>
            </a:r>
            <a:r>
              <a:rPr lang="nl-NL" dirty="0">
                <a:latin typeface="Arial" panose="020B0604020202020204" pitchFamily="34" charset="0"/>
              </a:rPr>
              <a:t> the name </a:t>
            </a:r>
            <a:r>
              <a:rPr lang="nl-NL" dirty="0">
                <a:latin typeface="Courier New" panose="02070309020205020404" pitchFamily="49" charset="0"/>
                <a:cs typeface="Courier New" panose="02070309020205020404" pitchFamily="49" charset="0"/>
              </a:rPr>
              <a:t>l1</a:t>
            </a:r>
            <a:r>
              <a:rPr lang="nl-NL" dirty="0">
                <a:latin typeface="Arial" panose="020B0604020202020204" pitchFamily="34" charset="0"/>
              </a:rPr>
              <a:t> </a:t>
            </a:r>
            <a:r>
              <a:rPr lang="nl-NL" dirty="0" err="1">
                <a:latin typeface="Arial" panose="020B0604020202020204" pitchFamily="34" charset="0"/>
              </a:rPr>
              <a:t>to</a:t>
            </a:r>
            <a:r>
              <a:rPr lang="nl-NL" dirty="0">
                <a:latin typeface="Arial" panose="020B0604020202020204" pitchFamily="34" charset="0"/>
              </a:rPr>
              <a:t> </a:t>
            </a:r>
            <a:r>
              <a:rPr lang="nl-NL" dirty="0" err="1">
                <a:latin typeface="Arial" panose="020B0604020202020204" pitchFamily="34" charset="0"/>
              </a:rPr>
              <a:t>that</a:t>
            </a:r>
            <a:r>
              <a:rPr lang="nl-NL" dirty="0">
                <a:latin typeface="Arial" panose="020B0604020202020204" pitchFamily="34" charset="0"/>
              </a:rPr>
              <a:t> list. </a:t>
            </a:r>
            <a:br>
              <a:rPr lang="en-US" dirty="0">
                <a:latin typeface="Arial" panose="020B0604020202020204" pitchFamily="34" charset="0"/>
              </a:rPr>
            </a:br>
            <a:r>
              <a:rPr lang="en-US" dirty="0">
                <a:latin typeface="Arial" panose="020B0604020202020204" pitchFamily="34" charset="0"/>
              </a:rPr>
              <a:t>(The objects containing </a:t>
            </a:r>
            <a:r>
              <a:rPr lang="en-US" dirty="0">
                <a:latin typeface="Courier New" panose="02070309020205020404" pitchFamily="49" charset="0"/>
                <a:cs typeface="Courier New" panose="02070309020205020404" pitchFamily="49" charset="0"/>
              </a:rPr>
              <a:t>'s1'</a:t>
            </a:r>
            <a:r>
              <a:rPr lang="en-US" dirty="0">
                <a:latin typeface="Arial" panose="020B0604020202020204" pitchFamily="34" charset="0"/>
              </a:rPr>
              <a:t> and </a:t>
            </a:r>
            <a:r>
              <a:rPr lang="en-US" dirty="0">
                <a:latin typeface="Courier New" panose="02070309020205020404" pitchFamily="49" charset="0"/>
                <a:cs typeface="Courier New" panose="02070309020205020404" pitchFamily="49" charset="0"/>
              </a:rPr>
              <a:t>'s2'</a:t>
            </a:r>
            <a:r>
              <a:rPr lang="en-US" dirty="0">
                <a:latin typeface="Arial" panose="020B0604020202020204" pitchFamily="34" charset="0"/>
              </a:rPr>
              <a:t> have no names, but have id's and can be referred to.)</a:t>
            </a:r>
          </a:p>
          <a:p>
            <a:endParaRPr lang="nl-NL" dirty="0">
              <a:latin typeface="Arial" panose="020B0604020202020204" pitchFamily="34" charset="0"/>
            </a:endParaRPr>
          </a:p>
        </p:txBody>
      </p:sp>
      <p:sp>
        <p:nvSpPr>
          <p:cNvPr id="9" name="Tekstvak 8"/>
          <p:cNvSpPr txBox="1"/>
          <p:nvPr/>
        </p:nvSpPr>
        <p:spPr>
          <a:xfrm>
            <a:off x="398981" y="1224359"/>
            <a:ext cx="2589684" cy="369332"/>
          </a:xfrm>
          <a:prstGeom prst="rect">
            <a:avLst/>
          </a:prstGeom>
          <a:noFill/>
        </p:spPr>
        <p:txBody>
          <a:bodyPr wrap="square" rtlCol="0">
            <a:spAutoFit/>
          </a:bodyPr>
          <a:lstStyle/>
          <a:p>
            <a:r>
              <a:rPr lang="en-US" dirty="0">
                <a:latin typeface="Courier New" panose="02070309020205020404" pitchFamily="49" charset="0"/>
                <a:cs typeface="Courier New" panose="02070309020205020404" pitchFamily="49" charset="0"/>
              </a:rPr>
              <a:t>l1 = ['s1', 's2']</a:t>
            </a:r>
            <a:endParaRPr lang="en-GB" dirty="0">
              <a:latin typeface="Arial" panose="020B0604020202020204" pitchFamily="34" charset="0"/>
            </a:endParaRPr>
          </a:p>
        </p:txBody>
      </p:sp>
      <p:sp>
        <p:nvSpPr>
          <p:cNvPr id="10" name="Tekstvak 9"/>
          <p:cNvSpPr txBox="1"/>
          <p:nvPr/>
        </p:nvSpPr>
        <p:spPr>
          <a:xfrm>
            <a:off x="398981" y="2926504"/>
            <a:ext cx="2346003" cy="369332"/>
          </a:xfrm>
          <a:prstGeom prst="rect">
            <a:avLst/>
          </a:prstGeom>
          <a:noFill/>
        </p:spPr>
        <p:txBody>
          <a:bodyPr wrap="square" rtlCol="0">
            <a:spAutoFit/>
          </a:bodyPr>
          <a:lstStyle/>
          <a:p>
            <a:pPr fontAlgn="t"/>
            <a:r>
              <a:rPr lang="en-US" dirty="0">
                <a:solidFill>
                  <a:srgbClr val="000000"/>
                </a:solidFill>
                <a:latin typeface="Courier New" panose="02070309020205020404" pitchFamily="49" charset="0"/>
                <a:cs typeface="Courier New" panose="02070309020205020404" pitchFamily="49" charset="0"/>
              </a:rPr>
              <a:t>l2 = l1</a:t>
            </a:r>
            <a:endParaRPr lang="nl-NL" dirty="0">
              <a:latin typeface="Courier New" panose="02070309020205020404" pitchFamily="49" charset="0"/>
              <a:cs typeface="Courier New" panose="02070309020205020404" pitchFamily="49" charset="0"/>
            </a:endParaRPr>
          </a:p>
        </p:txBody>
      </p:sp>
      <p:sp>
        <p:nvSpPr>
          <p:cNvPr id="11" name="Tekstvak 10"/>
          <p:cNvSpPr txBox="1"/>
          <p:nvPr/>
        </p:nvSpPr>
        <p:spPr>
          <a:xfrm>
            <a:off x="3135276" y="2835416"/>
            <a:ext cx="8594791" cy="646331"/>
          </a:xfrm>
          <a:prstGeom prst="rect">
            <a:avLst/>
          </a:prstGeom>
          <a:noFill/>
        </p:spPr>
        <p:txBody>
          <a:bodyPr wrap="square" rtlCol="0">
            <a:spAutoFit/>
          </a:bodyPr>
          <a:lstStyle/>
          <a:p>
            <a:pPr fontAlgn="t"/>
            <a:r>
              <a:rPr lang="en-US" dirty="0">
                <a:solidFill>
                  <a:srgbClr val="000000"/>
                </a:solidFill>
                <a:latin typeface="Arial" panose="020B0604020202020204" pitchFamily="34" charset="0"/>
              </a:rPr>
              <a:t>To the list referring to the two string objects, Python binds a second name </a:t>
            </a:r>
            <a:r>
              <a:rPr lang="en-US" dirty="0">
                <a:latin typeface="Courier New" panose="02070309020205020404" pitchFamily="49" charset="0"/>
                <a:cs typeface="Courier New" panose="02070309020205020404" pitchFamily="49" charset="0"/>
              </a:rPr>
              <a:t>l2</a:t>
            </a:r>
            <a:r>
              <a:rPr lang="en-US" dirty="0">
                <a:solidFill>
                  <a:srgbClr val="000000"/>
                </a:solidFill>
                <a:latin typeface="Arial" panose="020B0604020202020204" pitchFamily="34" charset="0"/>
              </a:rPr>
              <a:t>.</a:t>
            </a:r>
            <a:br>
              <a:rPr lang="en-US" dirty="0">
                <a:solidFill>
                  <a:srgbClr val="000000"/>
                </a:solidFill>
                <a:latin typeface="Arial" panose="020B0604020202020204" pitchFamily="34" charset="0"/>
              </a:rPr>
            </a:br>
            <a:endParaRPr lang="en-US" dirty="0">
              <a:solidFill>
                <a:srgbClr val="000000"/>
              </a:solidFill>
              <a:latin typeface="Arial" panose="020B0604020202020204" pitchFamily="34" charset="0"/>
            </a:endParaRPr>
          </a:p>
        </p:txBody>
      </p:sp>
      <p:sp>
        <p:nvSpPr>
          <p:cNvPr id="15" name="Tekstvak 14"/>
          <p:cNvSpPr txBox="1"/>
          <p:nvPr/>
        </p:nvSpPr>
        <p:spPr>
          <a:xfrm>
            <a:off x="398981" y="3532287"/>
            <a:ext cx="2346003" cy="369332"/>
          </a:xfrm>
          <a:prstGeom prst="rect">
            <a:avLst/>
          </a:prstGeom>
          <a:noFill/>
        </p:spPr>
        <p:txBody>
          <a:bodyPr wrap="square" rtlCol="0">
            <a:spAutoFit/>
          </a:bodyPr>
          <a:lstStyle/>
          <a:p>
            <a:r>
              <a:rPr lang="en-US" dirty="0">
                <a:solidFill>
                  <a:srgbClr val="000000"/>
                </a:solidFill>
                <a:latin typeface="Courier New" panose="02070309020205020404" pitchFamily="49" charset="0"/>
                <a:cs typeface="Courier New" panose="02070309020205020404" pitchFamily="49" charset="0"/>
              </a:rPr>
              <a:t>l1[0] = 's3' </a:t>
            </a:r>
            <a:endParaRPr lang="nl-NL" dirty="0">
              <a:latin typeface="Courier New" panose="02070309020205020404" pitchFamily="49" charset="0"/>
              <a:cs typeface="Courier New" panose="02070309020205020404" pitchFamily="49" charset="0"/>
            </a:endParaRPr>
          </a:p>
        </p:txBody>
      </p:sp>
      <p:sp>
        <p:nvSpPr>
          <p:cNvPr id="17" name="Tekstvak 16"/>
          <p:cNvSpPr txBox="1"/>
          <p:nvPr/>
        </p:nvSpPr>
        <p:spPr>
          <a:xfrm>
            <a:off x="3135276" y="3458277"/>
            <a:ext cx="8594790" cy="1754326"/>
          </a:xfrm>
          <a:prstGeom prst="rect">
            <a:avLst/>
          </a:prstGeom>
          <a:noFill/>
        </p:spPr>
        <p:txBody>
          <a:bodyPr wrap="square" rtlCol="0">
            <a:spAutoFit/>
          </a:bodyPr>
          <a:lstStyle/>
          <a:p>
            <a:pPr fontAlgn="t"/>
            <a:r>
              <a:rPr lang="nl-NL" dirty="0">
                <a:solidFill>
                  <a:srgbClr val="000000"/>
                </a:solidFill>
                <a:latin typeface="Arial" panose="020B0604020202020204" pitchFamily="34" charset="0"/>
              </a:rPr>
              <a:t>Python </a:t>
            </a:r>
            <a:r>
              <a:rPr lang="nl-NL" dirty="0" err="1">
                <a:solidFill>
                  <a:srgbClr val="000000"/>
                </a:solidFill>
                <a:latin typeface="Arial" panose="020B0604020202020204" pitchFamily="34" charset="0"/>
              </a:rPr>
              <a:t>creates</a:t>
            </a:r>
            <a:r>
              <a:rPr lang="nl-NL" dirty="0">
                <a:solidFill>
                  <a:srgbClr val="000000"/>
                </a:solidFill>
                <a:latin typeface="Arial" panose="020B0604020202020204" pitchFamily="34" charset="0"/>
              </a:rPr>
              <a:t> a new object </a:t>
            </a:r>
            <a:r>
              <a:rPr lang="nl-NL" dirty="0" err="1">
                <a:solidFill>
                  <a:srgbClr val="000000"/>
                </a:solidFill>
                <a:latin typeface="Arial" panose="020B0604020202020204" pitchFamily="34" charset="0"/>
              </a:rPr>
              <a:t>with</a:t>
            </a:r>
            <a:r>
              <a:rPr lang="nl-NL" dirty="0">
                <a:solidFill>
                  <a:srgbClr val="000000"/>
                </a:solidFill>
                <a:latin typeface="Arial" panose="020B0604020202020204" pitchFamily="34" charset="0"/>
              </a:rPr>
              <a:t> the </a:t>
            </a:r>
            <a:r>
              <a:rPr lang="nl-NL" dirty="0" err="1">
                <a:solidFill>
                  <a:srgbClr val="000000"/>
                </a:solidFill>
                <a:latin typeface="Arial" panose="020B0604020202020204" pitchFamily="34" charset="0"/>
              </a:rPr>
              <a:t>value</a:t>
            </a:r>
            <a:r>
              <a:rPr lang="nl-NL" dirty="0">
                <a:solidFill>
                  <a:srgbClr val="000000"/>
                </a:solidFill>
                <a:latin typeface="Arial" panose="020B0604020202020204" pitchFamily="34" charset="0"/>
              </a:rPr>
              <a:t> </a:t>
            </a:r>
            <a:r>
              <a:rPr lang="nl-NL" dirty="0">
                <a:latin typeface="Courier New" panose="02070309020205020404" pitchFamily="49" charset="0"/>
                <a:cs typeface="Courier New" panose="02070309020205020404" pitchFamily="49" charset="0"/>
              </a:rPr>
              <a:t>'s3'</a:t>
            </a:r>
            <a:r>
              <a:rPr lang="nl-NL" dirty="0">
                <a:solidFill>
                  <a:srgbClr val="000000"/>
                </a:solidFill>
                <a:latin typeface="Arial" panose="020B0604020202020204" pitchFamily="34" charset="0"/>
              </a:rPr>
              <a:t>. </a:t>
            </a:r>
          </a:p>
          <a:p>
            <a:pPr fontAlgn="t"/>
            <a:r>
              <a:rPr lang="nl-NL" dirty="0">
                <a:solidFill>
                  <a:srgbClr val="000000"/>
                </a:solidFill>
                <a:latin typeface="Arial" panose="020B0604020202020204" pitchFamily="34" charset="0"/>
              </a:rPr>
              <a:t>Next, </a:t>
            </a:r>
            <a:r>
              <a:rPr lang="en-US" dirty="0">
                <a:solidFill>
                  <a:srgbClr val="000000"/>
                </a:solidFill>
                <a:latin typeface="Arial" panose="020B0604020202020204" pitchFamily="34" charset="0"/>
              </a:rPr>
              <a:t>Python </a:t>
            </a:r>
            <a:r>
              <a:rPr lang="en-US" b="1" dirty="0">
                <a:solidFill>
                  <a:srgbClr val="000000"/>
                </a:solidFill>
                <a:latin typeface="Arial" panose="020B0604020202020204" pitchFamily="34" charset="0"/>
              </a:rPr>
              <a:t>mutates</a:t>
            </a:r>
            <a:r>
              <a:rPr lang="en-US" dirty="0">
                <a:solidFill>
                  <a:srgbClr val="000000"/>
                </a:solidFill>
                <a:latin typeface="Arial" panose="020B0604020202020204" pitchFamily="34" charset="0"/>
              </a:rPr>
              <a:t> the list, with the names </a:t>
            </a:r>
            <a:r>
              <a:rPr lang="en-US" dirty="0">
                <a:latin typeface="Courier New" panose="02070309020205020404" pitchFamily="49" charset="0"/>
                <a:cs typeface="Courier New" panose="02070309020205020404" pitchFamily="49" charset="0"/>
              </a:rPr>
              <a:t>l1</a:t>
            </a:r>
            <a:r>
              <a:rPr lang="en-US" dirty="0">
                <a:solidFill>
                  <a:srgbClr val="000000"/>
                </a:solidFill>
                <a:latin typeface="Arial" panose="020B0604020202020204" pitchFamily="34" charset="0"/>
              </a:rPr>
              <a:t> and </a:t>
            </a:r>
            <a:r>
              <a:rPr lang="en-US" dirty="0">
                <a:latin typeface="Courier New" panose="02070309020205020404" pitchFamily="49" charset="0"/>
                <a:cs typeface="Courier New" panose="02070309020205020404" pitchFamily="49" charset="0"/>
              </a:rPr>
              <a:t>l2</a:t>
            </a:r>
            <a:r>
              <a:rPr lang="en-US" dirty="0">
                <a:solidFill>
                  <a:srgbClr val="000000"/>
                </a:solidFill>
                <a:latin typeface="Arial" panose="020B0604020202020204" pitchFamily="34" charset="0"/>
              </a:rPr>
              <a:t>. The first object referred to by that list (with the names </a:t>
            </a:r>
            <a:r>
              <a:rPr lang="en-US" dirty="0">
                <a:latin typeface="Courier New" panose="02070309020205020404" pitchFamily="49" charset="0"/>
                <a:cs typeface="Courier New" panose="02070309020205020404" pitchFamily="49" charset="0"/>
              </a:rPr>
              <a:t>l1</a:t>
            </a:r>
            <a:r>
              <a:rPr lang="en-US" dirty="0">
                <a:solidFill>
                  <a:srgbClr val="000000"/>
                </a:solidFill>
                <a:latin typeface="Arial" panose="020B0604020202020204" pitchFamily="34" charset="0"/>
              </a:rPr>
              <a:t> and </a:t>
            </a:r>
            <a:r>
              <a:rPr lang="en-US" dirty="0">
                <a:latin typeface="Courier New" panose="02070309020205020404" pitchFamily="49" charset="0"/>
                <a:cs typeface="Courier New" panose="02070309020205020404" pitchFamily="49" charset="0"/>
              </a:rPr>
              <a:t>l2) </a:t>
            </a:r>
            <a:r>
              <a:rPr lang="en-US" dirty="0">
                <a:solidFill>
                  <a:srgbClr val="000000"/>
                </a:solidFill>
                <a:latin typeface="Arial" panose="020B0604020202020204" pitchFamily="34" charset="0"/>
              </a:rPr>
              <a:t>is no longer the object with value </a:t>
            </a:r>
            <a:r>
              <a:rPr lang="en-US" dirty="0">
                <a:latin typeface="Courier New" panose="02070309020205020404" pitchFamily="49" charset="0"/>
                <a:cs typeface="Courier New" panose="02070309020205020404" pitchFamily="49" charset="0"/>
              </a:rPr>
              <a:t>'s1'</a:t>
            </a:r>
            <a:r>
              <a:rPr lang="en-US" dirty="0">
                <a:solidFill>
                  <a:srgbClr val="000000"/>
                </a:solidFill>
                <a:latin typeface="Arial" panose="020B0604020202020204" pitchFamily="34" charset="0"/>
              </a:rPr>
              <a:t>, but the object with value </a:t>
            </a:r>
            <a:r>
              <a:rPr lang="en-US" dirty="0">
                <a:latin typeface="Courier New" panose="02070309020205020404" pitchFamily="49" charset="0"/>
                <a:cs typeface="Courier New" panose="02070309020205020404" pitchFamily="49" charset="0"/>
              </a:rPr>
              <a:t>'s3'</a:t>
            </a:r>
            <a:r>
              <a:rPr lang="en-US" dirty="0">
                <a:solidFill>
                  <a:srgbClr val="000000"/>
                </a:solidFill>
                <a:latin typeface="Arial" panose="020B0604020202020204" pitchFamily="34" charset="0"/>
              </a:rPr>
              <a:t>, while the second object referred to by that list (with the names </a:t>
            </a:r>
            <a:r>
              <a:rPr lang="en-US" dirty="0">
                <a:latin typeface="Courier New" panose="02070309020205020404" pitchFamily="49" charset="0"/>
                <a:cs typeface="Courier New" panose="02070309020205020404" pitchFamily="49" charset="0"/>
              </a:rPr>
              <a:t>l1</a:t>
            </a:r>
            <a:r>
              <a:rPr lang="en-US" dirty="0">
                <a:solidFill>
                  <a:srgbClr val="000000"/>
                </a:solidFill>
                <a:latin typeface="Arial" panose="020B0604020202020204" pitchFamily="34" charset="0"/>
              </a:rPr>
              <a:t> and </a:t>
            </a:r>
            <a:r>
              <a:rPr lang="en-US" dirty="0">
                <a:latin typeface="Courier New" panose="02070309020205020404" pitchFamily="49" charset="0"/>
                <a:cs typeface="Courier New" panose="02070309020205020404" pitchFamily="49" charset="0"/>
              </a:rPr>
              <a:t>l2)</a:t>
            </a:r>
            <a:r>
              <a:rPr lang="en-US" dirty="0">
                <a:solidFill>
                  <a:srgbClr val="000000"/>
                </a:solidFill>
                <a:latin typeface="Arial" panose="020B0604020202020204" pitchFamily="34" charset="0"/>
              </a:rPr>
              <a:t> is still the object with the value </a:t>
            </a:r>
            <a:r>
              <a:rPr lang="en-US" dirty="0">
                <a:latin typeface="Courier New" panose="02070309020205020404" pitchFamily="49" charset="0"/>
                <a:cs typeface="Courier New" panose="02070309020205020404" pitchFamily="49" charset="0"/>
              </a:rPr>
              <a:t>'s2'</a:t>
            </a:r>
            <a:r>
              <a:rPr lang="en-US" dirty="0">
                <a:solidFill>
                  <a:srgbClr val="000000"/>
                </a:solidFill>
                <a:latin typeface="Arial" panose="020B0604020202020204" pitchFamily="34" charset="0"/>
              </a:rPr>
              <a:t>.</a:t>
            </a:r>
          </a:p>
          <a:p>
            <a:pPr fontAlgn="t"/>
            <a:endParaRPr lang="en-US" dirty="0">
              <a:latin typeface="Arial" panose="020B0604020202020204" pitchFamily="34" charset="0"/>
            </a:endParaRPr>
          </a:p>
        </p:txBody>
      </p:sp>
      <p:sp>
        <p:nvSpPr>
          <p:cNvPr id="18" name="Tekstvak 17"/>
          <p:cNvSpPr txBox="1"/>
          <p:nvPr/>
        </p:nvSpPr>
        <p:spPr>
          <a:xfrm>
            <a:off x="398981" y="5190581"/>
            <a:ext cx="2589685" cy="369332"/>
          </a:xfrm>
          <a:prstGeom prst="rect">
            <a:avLst/>
          </a:prstGeom>
          <a:noFill/>
        </p:spPr>
        <p:txBody>
          <a:bodyPr wrap="square" rtlCol="0">
            <a:spAutoFit/>
          </a:bodyPr>
          <a:lstStyle/>
          <a:p>
            <a:pPr fontAlgn="t"/>
            <a:r>
              <a:rPr lang="en-US" dirty="0">
                <a:solidFill>
                  <a:srgbClr val="000000"/>
                </a:solidFill>
                <a:latin typeface="Courier New" panose="02070309020205020404" pitchFamily="49" charset="0"/>
                <a:cs typeface="Courier New" panose="02070309020205020404" pitchFamily="49" charset="0"/>
              </a:rPr>
              <a:t>l2 = ['s4', 's5']</a:t>
            </a:r>
            <a:endParaRPr lang="nl-NL" dirty="0">
              <a:latin typeface="Courier New" panose="02070309020205020404" pitchFamily="49" charset="0"/>
              <a:cs typeface="Courier New" panose="02070309020205020404" pitchFamily="49" charset="0"/>
            </a:endParaRPr>
          </a:p>
        </p:txBody>
      </p:sp>
      <p:sp>
        <p:nvSpPr>
          <p:cNvPr id="19" name="Tekstvak 18"/>
          <p:cNvSpPr txBox="1"/>
          <p:nvPr/>
        </p:nvSpPr>
        <p:spPr>
          <a:xfrm>
            <a:off x="3135276" y="5180516"/>
            <a:ext cx="9056725" cy="1754326"/>
          </a:xfrm>
          <a:prstGeom prst="rect">
            <a:avLst/>
          </a:prstGeom>
          <a:noFill/>
        </p:spPr>
        <p:txBody>
          <a:bodyPr wrap="square" rtlCol="0">
            <a:spAutoFit/>
          </a:bodyPr>
          <a:lstStyle/>
          <a:p>
            <a:r>
              <a:rPr lang="en-US" dirty="0">
                <a:solidFill>
                  <a:srgbClr val="000000"/>
                </a:solidFill>
                <a:latin typeface="Arial" panose="020B0604020202020204" pitchFamily="34" charset="0"/>
              </a:rPr>
              <a:t>From the first list the name </a:t>
            </a:r>
            <a:r>
              <a:rPr lang="en-US" dirty="0">
                <a:latin typeface="Courier New" panose="02070309020205020404" pitchFamily="49" charset="0"/>
                <a:cs typeface="Courier New" panose="02070309020205020404" pitchFamily="49" charset="0"/>
              </a:rPr>
              <a:t>l2</a:t>
            </a:r>
            <a:r>
              <a:rPr lang="en-US" dirty="0">
                <a:solidFill>
                  <a:srgbClr val="000000"/>
                </a:solidFill>
                <a:latin typeface="Arial" panose="020B0604020202020204" pitchFamily="34" charset="0"/>
              </a:rPr>
              <a:t> is removed. </a:t>
            </a:r>
          </a:p>
          <a:p>
            <a:r>
              <a:rPr lang="en-US" dirty="0">
                <a:solidFill>
                  <a:srgbClr val="000000"/>
                </a:solidFill>
                <a:latin typeface="Arial" panose="020B0604020202020204" pitchFamily="34" charset="0"/>
              </a:rPr>
              <a:t>As that list is still referenced by the name </a:t>
            </a:r>
            <a:r>
              <a:rPr lang="en-US" dirty="0">
                <a:latin typeface="Courier New" panose="02070309020205020404" pitchFamily="49" charset="0"/>
                <a:cs typeface="Courier New" panose="02070309020205020404" pitchFamily="49" charset="0"/>
              </a:rPr>
              <a:t>l1</a:t>
            </a:r>
            <a:r>
              <a:rPr lang="en-US" dirty="0">
                <a:solidFill>
                  <a:srgbClr val="000000"/>
                </a:solidFill>
                <a:latin typeface="Arial" panose="020B0604020202020204" pitchFamily="34" charset="0"/>
              </a:rPr>
              <a:t>, the list will not be removed by Python's garbage collection.</a:t>
            </a:r>
            <a:endParaRPr lang="nl-NL" dirty="0">
              <a:latin typeface="Arial" panose="020B0604020202020204" pitchFamily="34" charset="0"/>
            </a:endParaRPr>
          </a:p>
          <a:p>
            <a:r>
              <a:rPr lang="nl-NL" dirty="0">
                <a:solidFill>
                  <a:srgbClr val="000000"/>
                </a:solidFill>
                <a:latin typeface="Arial" panose="020B0604020202020204" pitchFamily="34" charset="0"/>
              </a:rPr>
              <a:t>Next, Python </a:t>
            </a:r>
            <a:r>
              <a:rPr lang="nl-NL" dirty="0" err="1">
                <a:solidFill>
                  <a:srgbClr val="000000"/>
                </a:solidFill>
                <a:latin typeface="Arial" panose="020B0604020202020204" pitchFamily="34" charset="0"/>
              </a:rPr>
              <a:t>creates</a:t>
            </a:r>
            <a:r>
              <a:rPr lang="nl-NL" dirty="0">
                <a:solidFill>
                  <a:srgbClr val="000000"/>
                </a:solidFill>
                <a:latin typeface="Arial" panose="020B0604020202020204" pitchFamily="34" charset="0"/>
              </a:rPr>
              <a:t> two </a:t>
            </a:r>
            <a:r>
              <a:rPr lang="nl-NL" dirty="0" err="1">
                <a:solidFill>
                  <a:srgbClr val="000000"/>
                </a:solidFill>
                <a:latin typeface="Arial" panose="020B0604020202020204" pitchFamily="34" charset="0"/>
              </a:rPr>
              <a:t>objects</a:t>
            </a:r>
            <a:r>
              <a:rPr lang="nl-NL" dirty="0">
                <a:solidFill>
                  <a:srgbClr val="000000"/>
                </a:solidFill>
                <a:latin typeface="Arial" panose="020B0604020202020204" pitchFamily="34" charset="0"/>
              </a:rPr>
              <a:t>, </a:t>
            </a:r>
            <a:r>
              <a:rPr lang="nl-NL" dirty="0" err="1">
                <a:solidFill>
                  <a:srgbClr val="000000"/>
                </a:solidFill>
                <a:latin typeface="Arial" panose="020B0604020202020204" pitchFamily="34" charset="0"/>
              </a:rPr>
              <a:t>one</a:t>
            </a:r>
            <a:r>
              <a:rPr lang="nl-NL" dirty="0">
                <a:solidFill>
                  <a:srgbClr val="000000"/>
                </a:solidFill>
                <a:latin typeface="Arial" panose="020B0604020202020204" pitchFamily="34" charset="0"/>
              </a:rPr>
              <a:t> object </a:t>
            </a:r>
            <a:r>
              <a:rPr lang="nl-NL" dirty="0" err="1">
                <a:solidFill>
                  <a:srgbClr val="000000"/>
                </a:solidFill>
                <a:latin typeface="Arial" panose="020B0604020202020204" pitchFamily="34" charset="0"/>
              </a:rPr>
              <a:t>with</a:t>
            </a:r>
            <a:r>
              <a:rPr lang="nl-NL" dirty="0">
                <a:solidFill>
                  <a:srgbClr val="000000"/>
                </a:solidFill>
                <a:latin typeface="Arial" panose="020B0604020202020204" pitchFamily="34" charset="0"/>
              </a:rPr>
              <a:t> the </a:t>
            </a:r>
            <a:r>
              <a:rPr lang="nl-NL" dirty="0" err="1">
                <a:solidFill>
                  <a:srgbClr val="000000"/>
                </a:solidFill>
                <a:latin typeface="Arial" panose="020B0604020202020204" pitchFamily="34" charset="0"/>
              </a:rPr>
              <a:t>value</a:t>
            </a:r>
            <a:r>
              <a:rPr lang="nl-NL" dirty="0">
                <a:solidFill>
                  <a:srgbClr val="000000"/>
                </a:solidFill>
                <a:latin typeface="Arial" panose="020B0604020202020204" pitchFamily="34" charset="0"/>
              </a:rPr>
              <a:t> </a:t>
            </a:r>
            <a:r>
              <a:rPr lang="nl-NL" dirty="0">
                <a:latin typeface="Courier New" panose="02070309020205020404" pitchFamily="49" charset="0"/>
                <a:cs typeface="Courier New" panose="02070309020205020404" pitchFamily="49" charset="0"/>
              </a:rPr>
              <a:t>'s4'</a:t>
            </a:r>
            <a:r>
              <a:rPr lang="nl-NL" dirty="0">
                <a:solidFill>
                  <a:srgbClr val="000000"/>
                </a:solidFill>
                <a:latin typeface="Arial" panose="020B0604020202020204" pitchFamily="34" charset="0"/>
              </a:rPr>
              <a:t> and </a:t>
            </a:r>
            <a:r>
              <a:rPr lang="nl-NL" dirty="0" err="1">
                <a:solidFill>
                  <a:srgbClr val="000000"/>
                </a:solidFill>
                <a:latin typeface="Arial" panose="020B0604020202020204" pitchFamily="34" charset="0"/>
              </a:rPr>
              <a:t>another</a:t>
            </a:r>
            <a:r>
              <a:rPr lang="nl-NL" dirty="0">
                <a:solidFill>
                  <a:srgbClr val="000000"/>
                </a:solidFill>
                <a:latin typeface="Arial" panose="020B0604020202020204" pitchFamily="34" charset="0"/>
              </a:rPr>
              <a:t> object </a:t>
            </a:r>
            <a:r>
              <a:rPr lang="nl-NL" dirty="0" err="1">
                <a:solidFill>
                  <a:srgbClr val="000000"/>
                </a:solidFill>
                <a:latin typeface="Arial" panose="020B0604020202020204" pitchFamily="34" charset="0"/>
              </a:rPr>
              <a:t>with</a:t>
            </a:r>
            <a:r>
              <a:rPr lang="nl-NL" dirty="0">
                <a:solidFill>
                  <a:srgbClr val="000000"/>
                </a:solidFill>
                <a:latin typeface="Arial" panose="020B0604020202020204" pitchFamily="34" charset="0"/>
              </a:rPr>
              <a:t> the </a:t>
            </a:r>
            <a:r>
              <a:rPr lang="nl-NL" dirty="0" err="1">
                <a:solidFill>
                  <a:srgbClr val="000000"/>
                </a:solidFill>
                <a:latin typeface="Arial" panose="020B0604020202020204" pitchFamily="34" charset="0"/>
              </a:rPr>
              <a:t>value</a:t>
            </a:r>
            <a:r>
              <a:rPr lang="nl-NL">
                <a:solidFill>
                  <a:srgbClr val="000000"/>
                </a:solidFill>
                <a:latin typeface="Arial" panose="020B0604020202020204" pitchFamily="34" charset="0"/>
              </a:rPr>
              <a:t> </a:t>
            </a:r>
            <a:r>
              <a:rPr lang="nl-NL">
                <a:latin typeface="Courier New" panose="02070309020205020404" pitchFamily="49" charset="0"/>
                <a:cs typeface="Courier New" panose="02070309020205020404" pitchFamily="49" charset="0"/>
              </a:rPr>
              <a:t>‘s5'</a:t>
            </a:r>
            <a:r>
              <a:rPr lang="nl-NL">
                <a:solidFill>
                  <a:srgbClr val="000000"/>
                </a:solidFill>
                <a:latin typeface="Arial" panose="020B0604020202020204" pitchFamily="34" charset="0"/>
              </a:rPr>
              <a:t>. </a:t>
            </a:r>
            <a:endParaRPr lang="nl-NL" dirty="0">
              <a:solidFill>
                <a:srgbClr val="000000"/>
              </a:solidFill>
              <a:latin typeface="Arial" panose="020B0604020202020204" pitchFamily="34" charset="0"/>
            </a:endParaRPr>
          </a:p>
          <a:p>
            <a:r>
              <a:rPr lang="nl-NL" dirty="0" err="1">
                <a:solidFill>
                  <a:srgbClr val="000000"/>
                </a:solidFill>
                <a:latin typeface="Arial" panose="020B0604020202020204" pitchFamily="34" charset="0"/>
              </a:rPr>
              <a:t>Now</a:t>
            </a:r>
            <a:r>
              <a:rPr lang="nl-NL" dirty="0">
                <a:solidFill>
                  <a:srgbClr val="000000"/>
                </a:solidFill>
                <a:latin typeface="Arial" panose="020B0604020202020204" pitchFamily="34" charset="0"/>
              </a:rPr>
              <a:t> Python </a:t>
            </a:r>
            <a:r>
              <a:rPr lang="nl-NL" dirty="0" err="1">
                <a:solidFill>
                  <a:srgbClr val="000000"/>
                </a:solidFill>
                <a:latin typeface="Arial" panose="020B0604020202020204" pitchFamily="34" charset="0"/>
              </a:rPr>
              <a:t>creates</a:t>
            </a:r>
            <a:r>
              <a:rPr lang="nl-NL" dirty="0">
                <a:solidFill>
                  <a:srgbClr val="000000"/>
                </a:solidFill>
                <a:latin typeface="Arial" panose="020B0604020202020204" pitchFamily="34" charset="0"/>
              </a:rPr>
              <a:t> a list </a:t>
            </a:r>
            <a:r>
              <a:rPr lang="nl-NL" dirty="0" err="1">
                <a:solidFill>
                  <a:srgbClr val="000000"/>
                </a:solidFill>
                <a:latin typeface="Arial" panose="020B0604020202020204" pitchFamily="34" charset="0"/>
              </a:rPr>
              <a:t>referring</a:t>
            </a:r>
            <a:r>
              <a:rPr lang="nl-NL" dirty="0">
                <a:solidFill>
                  <a:srgbClr val="000000"/>
                </a:solidFill>
                <a:latin typeface="Arial" panose="020B0604020202020204" pitchFamily="34" charset="0"/>
              </a:rPr>
              <a:t> </a:t>
            </a:r>
            <a:r>
              <a:rPr lang="nl-NL" dirty="0" err="1">
                <a:solidFill>
                  <a:srgbClr val="000000"/>
                </a:solidFill>
                <a:latin typeface="Arial" panose="020B0604020202020204" pitchFamily="34" charset="0"/>
              </a:rPr>
              <a:t>to</a:t>
            </a:r>
            <a:r>
              <a:rPr lang="nl-NL" dirty="0">
                <a:solidFill>
                  <a:srgbClr val="000000"/>
                </a:solidFill>
                <a:latin typeface="Arial" panose="020B0604020202020204" pitchFamily="34" charset="0"/>
              </a:rPr>
              <a:t>  these </a:t>
            </a:r>
            <a:r>
              <a:rPr lang="nl-NL" dirty="0" err="1">
                <a:solidFill>
                  <a:srgbClr val="000000"/>
                </a:solidFill>
                <a:latin typeface="Arial" panose="020B0604020202020204" pitchFamily="34" charset="0"/>
              </a:rPr>
              <a:t>two</a:t>
            </a:r>
            <a:r>
              <a:rPr lang="nl-NL" dirty="0">
                <a:solidFill>
                  <a:srgbClr val="000000"/>
                </a:solidFill>
                <a:latin typeface="Arial" panose="020B0604020202020204" pitchFamily="34" charset="0"/>
              </a:rPr>
              <a:t> </a:t>
            </a:r>
            <a:r>
              <a:rPr lang="nl-NL" dirty="0" err="1">
                <a:solidFill>
                  <a:srgbClr val="000000"/>
                </a:solidFill>
                <a:latin typeface="Arial" panose="020B0604020202020204" pitchFamily="34" charset="0"/>
              </a:rPr>
              <a:t>objects</a:t>
            </a:r>
            <a:r>
              <a:rPr lang="nl-NL" dirty="0">
                <a:solidFill>
                  <a:srgbClr val="000000"/>
                </a:solidFill>
                <a:latin typeface="Arial" panose="020B0604020202020204" pitchFamily="34" charset="0"/>
              </a:rPr>
              <a:t> </a:t>
            </a:r>
            <a:r>
              <a:rPr lang="nl-NL" dirty="0" err="1">
                <a:solidFill>
                  <a:srgbClr val="000000"/>
                </a:solidFill>
                <a:latin typeface="Arial" panose="020B0604020202020204" pitchFamily="34" charset="0"/>
              </a:rPr>
              <a:t>and</a:t>
            </a:r>
            <a:r>
              <a:rPr lang="nl-NL" dirty="0">
                <a:solidFill>
                  <a:srgbClr val="000000"/>
                </a:solidFill>
                <a:latin typeface="Arial" panose="020B0604020202020204" pitchFamily="34" charset="0"/>
              </a:rPr>
              <a:t> </a:t>
            </a:r>
            <a:r>
              <a:rPr lang="nl-NL" dirty="0" err="1">
                <a:solidFill>
                  <a:srgbClr val="000000"/>
                </a:solidFill>
                <a:latin typeface="Arial" panose="020B0604020202020204" pitchFamily="34" charset="0"/>
              </a:rPr>
              <a:t>binds</a:t>
            </a:r>
            <a:r>
              <a:rPr lang="nl-NL" dirty="0">
                <a:solidFill>
                  <a:srgbClr val="000000"/>
                </a:solidFill>
                <a:latin typeface="Arial" panose="020B0604020202020204" pitchFamily="34" charset="0"/>
              </a:rPr>
              <a:t> the name </a:t>
            </a:r>
            <a:r>
              <a:rPr lang="en-US" dirty="0">
                <a:latin typeface="Courier New" panose="02070309020205020404" pitchFamily="49" charset="0"/>
                <a:cs typeface="Courier New" panose="02070309020205020404" pitchFamily="49" charset="0"/>
              </a:rPr>
              <a:t>l2 </a:t>
            </a:r>
            <a:r>
              <a:rPr lang="nl-NL" dirty="0" err="1">
                <a:solidFill>
                  <a:srgbClr val="000000"/>
                </a:solidFill>
                <a:latin typeface="Arial" panose="020B0604020202020204" pitchFamily="34" charset="0"/>
              </a:rPr>
              <a:t>to</a:t>
            </a:r>
            <a:r>
              <a:rPr lang="nl-NL" dirty="0">
                <a:solidFill>
                  <a:srgbClr val="000000"/>
                </a:solidFill>
                <a:latin typeface="Arial" panose="020B0604020202020204" pitchFamily="34" charset="0"/>
              </a:rPr>
              <a:t> it. </a:t>
            </a:r>
            <a:endParaRPr lang="nl-NL" dirty="0">
              <a:latin typeface="Arial" panose="020B0604020202020204" pitchFamily="34" charset="0"/>
            </a:endParaRPr>
          </a:p>
        </p:txBody>
      </p:sp>
    </p:spTree>
    <p:extLst>
      <p:ext uri="{BB962C8B-B14F-4D97-AF65-F5344CB8AC3E}">
        <p14:creationId xmlns:p14="http://schemas.microsoft.com/office/powerpoint/2010/main" val="409702192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EEED73-113C-6A51-FD5E-B81860B35B61}"/>
              </a:ext>
            </a:extLst>
          </p:cNvPr>
          <p:cNvSpPr>
            <a:spLocks noGrp="1"/>
          </p:cNvSpPr>
          <p:nvPr>
            <p:ph type="title"/>
          </p:nvPr>
        </p:nvSpPr>
        <p:spPr/>
        <p:txBody>
          <a:bodyPr/>
          <a:lstStyle/>
          <a:p>
            <a:r>
              <a:rPr lang="nl-NL" dirty="0" err="1"/>
              <a:t>Indexing</a:t>
            </a:r>
            <a:endParaRPr lang="en-US" dirty="0"/>
          </a:p>
        </p:txBody>
      </p:sp>
      <p:sp>
        <p:nvSpPr>
          <p:cNvPr id="3" name="Content Placeholder 2">
            <a:extLst>
              <a:ext uri="{FF2B5EF4-FFF2-40B4-BE49-F238E27FC236}">
                <a16:creationId xmlns:a16="http://schemas.microsoft.com/office/drawing/2014/main" id="{66729AAC-739F-E70C-501D-53D5FF7AA03D}"/>
              </a:ext>
            </a:extLst>
          </p:cNvPr>
          <p:cNvSpPr>
            <a:spLocks noGrp="1"/>
          </p:cNvSpPr>
          <p:nvPr>
            <p:ph idx="1"/>
          </p:nvPr>
        </p:nvSpPr>
        <p:spPr>
          <a:xfrm>
            <a:off x="838200" y="1825625"/>
            <a:ext cx="10092655" cy="4351338"/>
          </a:xfrm>
        </p:spPr>
        <p:txBody>
          <a:bodyPr/>
          <a:lstStyle/>
          <a:p>
            <a:r>
              <a:rPr lang="en-US" dirty="0">
                <a:latin typeface="Courier New" panose="02070309020205020404" pitchFamily="49" charset="0"/>
                <a:cs typeface="Courier New" panose="02070309020205020404" pitchFamily="49" charset="0"/>
              </a:rPr>
              <a:t>l1 = ['A', 'B', 'C', 'D', 'E', 'F', 'G', 'H']</a:t>
            </a:r>
          </a:p>
          <a:p>
            <a:r>
              <a:rPr lang="en-US" sz="2800" dirty="0"/>
              <a:t>The first element, seen from the left, is 0, the second is 1, and the last is </a:t>
            </a:r>
            <a:r>
              <a:rPr lang="en-US" dirty="0" err="1">
                <a:latin typeface="Courier New" panose="02070309020205020404" pitchFamily="49" charset="0"/>
              </a:rPr>
              <a:t>len</a:t>
            </a:r>
            <a:r>
              <a:rPr lang="en-US" dirty="0">
                <a:latin typeface="Courier New" panose="02070309020205020404" pitchFamily="49" charset="0"/>
              </a:rPr>
              <a:t>(l1)-1</a:t>
            </a:r>
          </a:p>
          <a:p>
            <a:r>
              <a:rPr lang="en-US" sz="2800" dirty="0"/>
              <a:t>The first element, seen from the right, is -1, the second is -2, and the last is </a:t>
            </a:r>
            <a:r>
              <a:rPr lang="en-US" dirty="0">
                <a:latin typeface="Courier New" panose="02070309020205020404" pitchFamily="49" charset="0"/>
              </a:rPr>
              <a:t>-</a:t>
            </a:r>
            <a:r>
              <a:rPr lang="en-US" dirty="0" err="1">
                <a:latin typeface="Courier New" panose="02070309020205020404" pitchFamily="49" charset="0"/>
              </a:rPr>
              <a:t>len</a:t>
            </a:r>
            <a:r>
              <a:rPr lang="en-US" dirty="0">
                <a:latin typeface="Courier New" panose="02070309020205020404" pitchFamily="49" charset="0"/>
              </a:rPr>
              <a:t>(l1)</a:t>
            </a:r>
          </a:p>
          <a:p>
            <a:r>
              <a:rPr lang="en-US" dirty="0">
                <a:latin typeface="Courier New" panose="02070309020205020404" pitchFamily="49" charset="0"/>
              </a:rPr>
              <a:t>print(l1[0] == l1[-</a:t>
            </a:r>
            <a:r>
              <a:rPr lang="en-US" dirty="0" err="1">
                <a:latin typeface="Courier New" panose="02070309020205020404" pitchFamily="49" charset="0"/>
              </a:rPr>
              <a:t>len</a:t>
            </a:r>
            <a:r>
              <a:rPr lang="en-US" dirty="0">
                <a:latin typeface="Courier New" panose="02070309020205020404" pitchFamily="49" charset="0"/>
              </a:rPr>
              <a:t>(l1)] ) </a:t>
            </a:r>
          </a:p>
        </p:txBody>
      </p:sp>
      <p:sp>
        <p:nvSpPr>
          <p:cNvPr id="4" name="Slide Number Placeholder 3">
            <a:extLst>
              <a:ext uri="{FF2B5EF4-FFF2-40B4-BE49-F238E27FC236}">
                <a16:creationId xmlns:a16="http://schemas.microsoft.com/office/drawing/2014/main" id="{DA9B4A18-B16C-1562-C454-FFBBA413246A}"/>
              </a:ext>
            </a:extLst>
          </p:cNvPr>
          <p:cNvSpPr>
            <a:spLocks noGrp="1"/>
          </p:cNvSpPr>
          <p:nvPr>
            <p:ph type="sldNum" sz="quarter" idx="12"/>
          </p:nvPr>
        </p:nvSpPr>
        <p:spPr/>
        <p:txBody>
          <a:bodyPr/>
          <a:lstStyle/>
          <a:p>
            <a:fld id="{937257EE-0CEF-4D7E-9E69-5277D6172560}" type="slidenum">
              <a:rPr lang="nl-NL" smtClean="0"/>
              <a:t>37</a:t>
            </a:fld>
            <a:endParaRPr lang="nl-NL"/>
          </a:p>
        </p:txBody>
      </p:sp>
    </p:spTree>
    <p:extLst>
      <p:ext uri="{BB962C8B-B14F-4D97-AF65-F5344CB8AC3E}">
        <p14:creationId xmlns:p14="http://schemas.microsoft.com/office/powerpoint/2010/main" val="33521946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12F33F-A141-0F90-6E0C-B391F2959544}"/>
              </a:ext>
            </a:extLst>
          </p:cNvPr>
          <p:cNvSpPr>
            <a:spLocks noGrp="1"/>
          </p:cNvSpPr>
          <p:nvPr>
            <p:ph type="title"/>
          </p:nvPr>
        </p:nvSpPr>
        <p:spPr>
          <a:xfrm>
            <a:off x="545592" y="263097"/>
            <a:ext cx="10515600" cy="1325563"/>
          </a:xfrm>
        </p:spPr>
        <p:txBody>
          <a:bodyPr/>
          <a:lstStyle/>
          <a:p>
            <a:r>
              <a:rPr lang="en-US" b="1" dirty="0"/>
              <a:t>Slicing (I)</a:t>
            </a:r>
            <a:endParaRPr lang="nl-NL" b="1" dirty="0"/>
          </a:p>
        </p:txBody>
      </p:sp>
      <p:sp>
        <p:nvSpPr>
          <p:cNvPr id="3" name="Content Placeholder 2">
            <a:extLst>
              <a:ext uri="{FF2B5EF4-FFF2-40B4-BE49-F238E27FC236}">
                <a16:creationId xmlns:a16="http://schemas.microsoft.com/office/drawing/2014/main" id="{987FFBB7-D392-3BB1-6E4C-8815E69999CF}"/>
              </a:ext>
            </a:extLst>
          </p:cNvPr>
          <p:cNvSpPr>
            <a:spLocks noGrp="1"/>
          </p:cNvSpPr>
          <p:nvPr>
            <p:ph idx="1"/>
          </p:nvPr>
        </p:nvSpPr>
        <p:spPr>
          <a:xfrm>
            <a:off x="545592" y="1405000"/>
            <a:ext cx="10515600" cy="5032375"/>
          </a:xfrm>
        </p:spPr>
        <p:txBody>
          <a:bodyPr>
            <a:normAutofit fontScale="70000" lnSpcReduction="20000"/>
          </a:bodyPr>
          <a:lstStyle/>
          <a:p>
            <a:r>
              <a:rPr lang="en-US" sz="3200" dirty="0"/>
              <a:t>Slicing creates a </a:t>
            </a:r>
            <a:r>
              <a:rPr lang="en-US" sz="3200" b="1" dirty="0"/>
              <a:t>new </a:t>
            </a:r>
            <a:r>
              <a:rPr lang="en-US" sz="3200" dirty="0"/>
              <a:t>object made consisting of elements of another object</a:t>
            </a:r>
          </a:p>
          <a:p>
            <a:r>
              <a:rPr lang="en-US" sz="3200" dirty="0"/>
              <a:t>Slicing can be used with objects of type list, string and tuple and the result will be an object of the same type</a:t>
            </a:r>
          </a:p>
          <a:p>
            <a:r>
              <a:rPr lang="en-US" dirty="0"/>
              <a:t>Syntax:</a:t>
            </a:r>
            <a:r>
              <a:rPr lang="en-US" sz="2400" dirty="0"/>
              <a:t> </a:t>
            </a:r>
            <a:r>
              <a:rPr lang="en-US" sz="2400" dirty="0" err="1">
                <a:latin typeface="Courier New" panose="02070309020205020404" pitchFamily="49" charset="0"/>
              </a:rPr>
              <a:t>new_list</a:t>
            </a:r>
            <a:r>
              <a:rPr lang="en-US" sz="2400" dirty="0">
                <a:latin typeface="Courier New" panose="02070309020205020404" pitchFamily="49" charset="0"/>
              </a:rPr>
              <a:t> = </a:t>
            </a:r>
            <a:r>
              <a:rPr lang="en-US" sz="2400" dirty="0" err="1">
                <a:latin typeface="Courier New" panose="02070309020205020404" pitchFamily="49" charset="0"/>
              </a:rPr>
              <a:t>existing_list</a:t>
            </a:r>
            <a:r>
              <a:rPr lang="en-US" dirty="0">
                <a:latin typeface="Courier New" panose="02070309020205020404" pitchFamily="49" charset="0"/>
              </a:rPr>
              <a:t>[</a:t>
            </a:r>
            <a:r>
              <a:rPr lang="en-US" dirty="0" err="1">
                <a:solidFill>
                  <a:srgbClr val="FF0000"/>
                </a:solidFill>
                <a:latin typeface="Courier New" panose="02070309020205020404" pitchFamily="49" charset="0"/>
              </a:rPr>
              <a:t>start</a:t>
            </a:r>
            <a:r>
              <a:rPr lang="en-US" dirty="0" err="1">
                <a:latin typeface="Courier New" panose="02070309020205020404" pitchFamily="49" charset="0"/>
              </a:rPr>
              <a:t>:</a:t>
            </a:r>
            <a:r>
              <a:rPr lang="en-US" dirty="0" err="1">
                <a:solidFill>
                  <a:srgbClr val="FF0000"/>
                </a:solidFill>
                <a:latin typeface="Courier New" panose="02070309020205020404" pitchFamily="49" charset="0"/>
              </a:rPr>
              <a:t>end</a:t>
            </a:r>
            <a:r>
              <a:rPr lang="en-US" dirty="0" err="1">
                <a:latin typeface="Courier New" panose="02070309020205020404" pitchFamily="49" charset="0"/>
              </a:rPr>
              <a:t>:</a:t>
            </a:r>
            <a:r>
              <a:rPr lang="en-US" dirty="0" err="1">
                <a:solidFill>
                  <a:srgbClr val="FF0000"/>
                </a:solidFill>
                <a:latin typeface="Courier New" panose="02070309020205020404" pitchFamily="49" charset="0"/>
              </a:rPr>
              <a:t>step_size</a:t>
            </a:r>
            <a:r>
              <a:rPr lang="en-US" dirty="0">
                <a:latin typeface="Courier New" panose="02070309020205020404" pitchFamily="49" charset="0"/>
              </a:rPr>
              <a:t>]</a:t>
            </a:r>
          </a:p>
          <a:p>
            <a:r>
              <a:rPr lang="en-US" dirty="0">
                <a:solidFill>
                  <a:srgbClr val="FF0000"/>
                </a:solidFill>
                <a:latin typeface="Courier New" panose="02070309020205020404" pitchFamily="49" charset="0"/>
              </a:rPr>
              <a:t>Start</a:t>
            </a:r>
            <a:r>
              <a:rPr lang="en-US" dirty="0">
                <a:latin typeface="Courier New" panose="02070309020205020404" pitchFamily="49" charset="0"/>
              </a:rPr>
              <a:t>,</a:t>
            </a:r>
            <a:r>
              <a:rPr lang="en-US" dirty="0">
                <a:solidFill>
                  <a:srgbClr val="FF0000"/>
                </a:solidFill>
                <a:latin typeface="Courier New" panose="02070309020205020404" pitchFamily="49" charset="0"/>
              </a:rPr>
              <a:t> end</a:t>
            </a:r>
            <a:r>
              <a:rPr lang="en-US" dirty="0">
                <a:latin typeface="Courier New" panose="02070309020205020404" pitchFamily="49" charset="0"/>
              </a:rPr>
              <a:t>, </a:t>
            </a:r>
            <a:r>
              <a:rPr lang="en-US" dirty="0">
                <a:cs typeface="Arial" panose="020B0604020202020204" pitchFamily="34" charset="0"/>
              </a:rPr>
              <a:t>and</a:t>
            </a:r>
            <a:r>
              <a:rPr lang="en-US" dirty="0">
                <a:latin typeface="Courier New" panose="02070309020205020404" pitchFamily="49" charset="0"/>
              </a:rPr>
              <a:t> </a:t>
            </a:r>
            <a:r>
              <a:rPr lang="en-US" dirty="0" err="1">
                <a:solidFill>
                  <a:srgbClr val="FF0000"/>
                </a:solidFill>
                <a:latin typeface="Courier New" panose="02070309020205020404" pitchFamily="49" charset="0"/>
              </a:rPr>
              <a:t>step_size</a:t>
            </a:r>
            <a:r>
              <a:rPr lang="en-US" dirty="0">
                <a:solidFill>
                  <a:srgbClr val="FF0000"/>
                </a:solidFill>
                <a:latin typeface="Courier New" panose="02070309020205020404" pitchFamily="49" charset="0"/>
              </a:rPr>
              <a:t> </a:t>
            </a:r>
            <a:r>
              <a:rPr lang="en-US" dirty="0"/>
              <a:t>are parameters of the slicing operation</a:t>
            </a:r>
            <a:endParaRPr lang="en-US" dirty="0">
              <a:latin typeface="Courier New" panose="02070309020205020404" pitchFamily="49" charset="0"/>
            </a:endParaRPr>
          </a:p>
          <a:p>
            <a:r>
              <a:rPr lang="en-US" sz="3200" dirty="0"/>
              <a:t>Start is inclusive, and tells Python with which index to start the slicing</a:t>
            </a:r>
          </a:p>
          <a:p>
            <a:r>
              <a:rPr lang="en-US" sz="3200" dirty="0"/>
              <a:t>End is not inclusive, and tells Python with which index to stop the slicing (this could be beyond the highest or lowest index value)  </a:t>
            </a:r>
          </a:p>
          <a:p>
            <a:r>
              <a:rPr lang="en-US" sz="3200" dirty="0"/>
              <a:t>The first element is 0, the second is 1, and the last is </a:t>
            </a:r>
            <a:r>
              <a:rPr lang="en-US" dirty="0" err="1">
                <a:latin typeface="Courier New" panose="02070309020205020404" pitchFamily="49" charset="0"/>
              </a:rPr>
              <a:t>len</a:t>
            </a:r>
            <a:r>
              <a:rPr lang="en-US" dirty="0">
                <a:latin typeface="Courier New" panose="02070309020205020404" pitchFamily="49" charset="0"/>
              </a:rPr>
              <a:t>(</a:t>
            </a:r>
            <a:r>
              <a:rPr lang="en-US" dirty="0" err="1">
                <a:latin typeface="Courier New" panose="02070309020205020404" pitchFamily="49" charset="0"/>
              </a:rPr>
              <a:t>existing_list</a:t>
            </a:r>
            <a:r>
              <a:rPr lang="en-US" dirty="0">
                <a:latin typeface="Courier New" panose="02070309020205020404" pitchFamily="49" charset="0"/>
              </a:rPr>
              <a:t>)</a:t>
            </a:r>
          </a:p>
          <a:p>
            <a:r>
              <a:rPr lang="en-US" dirty="0">
                <a:latin typeface="Courier New" panose="02070309020205020404" pitchFamily="49" charset="0"/>
              </a:rPr>
              <a:t>You can also use -1 for the last element and -</a:t>
            </a:r>
            <a:r>
              <a:rPr lang="en-US" dirty="0" err="1">
                <a:latin typeface="Courier New" panose="02070309020205020404" pitchFamily="49" charset="0"/>
              </a:rPr>
              <a:t>len</a:t>
            </a:r>
            <a:r>
              <a:rPr lang="en-US" dirty="0">
                <a:latin typeface="Courier New" panose="02070309020205020404" pitchFamily="49" charset="0"/>
              </a:rPr>
              <a:t>(</a:t>
            </a:r>
            <a:r>
              <a:rPr lang="en-US" dirty="0" err="1">
                <a:latin typeface="Courier New" panose="02070309020205020404" pitchFamily="49" charset="0"/>
              </a:rPr>
              <a:t>existing_list</a:t>
            </a:r>
            <a:r>
              <a:rPr lang="en-US" dirty="0">
                <a:latin typeface="Courier New" panose="02070309020205020404" pitchFamily="49" charset="0"/>
              </a:rPr>
              <a:t>) for the first</a:t>
            </a:r>
          </a:p>
          <a:p>
            <a:r>
              <a:rPr lang="en-US" dirty="0" err="1">
                <a:latin typeface="Courier New" panose="02070309020205020404" pitchFamily="49" charset="0"/>
              </a:rPr>
              <a:t>Step_size</a:t>
            </a:r>
            <a:r>
              <a:rPr lang="en-US" dirty="0">
                <a:latin typeface="Courier New" panose="02070309020205020404" pitchFamily="49" charset="0"/>
              </a:rPr>
              <a:t> </a:t>
            </a:r>
          </a:p>
          <a:p>
            <a:r>
              <a:rPr lang="en-US" dirty="0" err="1">
                <a:latin typeface="Courier New" panose="02070309020205020404" pitchFamily="49" charset="0"/>
              </a:rPr>
              <a:t>len</a:t>
            </a:r>
            <a:r>
              <a:rPr lang="en-US" dirty="0">
                <a:latin typeface="Courier New" panose="02070309020205020404" pitchFamily="49" charset="0"/>
              </a:rPr>
              <a:t> </a:t>
            </a:r>
            <a:r>
              <a:rPr lang="en-US" dirty="0">
                <a:cs typeface="Arial" panose="020B0604020202020204" pitchFamily="34" charset="0"/>
              </a:rPr>
              <a:t>is a </a:t>
            </a:r>
            <a:r>
              <a:rPr lang="en-US" dirty="0" err="1">
                <a:cs typeface="Arial" panose="020B0604020202020204" pitchFamily="34" charset="0"/>
              </a:rPr>
              <a:t>built_in</a:t>
            </a:r>
            <a:r>
              <a:rPr lang="en-US" dirty="0">
                <a:cs typeface="Arial" panose="020B0604020202020204" pitchFamily="34" charset="0"/>
              </a:rPr>
              <a:t> function that gives you the number of elements when applied on a list, string or tuple </a:t>
            </a:r>
          </a:p>
          <a:p>
            <a:endParaRPr lang="en-US" dirty="0">
              <a:latin typeface="Courier New" panose="02070309020205020404" pitchFamily="49" charset="0"/>
            </a:endParaRPr>
          </a:p>
        </p:txBody>
      </p:sp>
      <p:sp>
        <p:nvSpPr>
          <p:cNvPr id="6" name="Slide Number Placeholder 5">
            <a:extLst>
              <a:ext uri="{FF2B5EF4-FFF2-40B4-BE49-F238E27FC236}">
                <a16:creationId xmlns:a16="http://schemas.microsoft.com/office/drawing/2014/main" id="{007DF11C-323B-CE00-6049-63BBBDB7E345}"/>
              </a:ext>
            </a:extLst>
          </p:cNvPr>
          <p:cNvSpPr>
            <a:spLocks noGrp="1"/>
          </p:cNvSpPr>
          <p:nvPr>
            <p:ph type="sldNum" sz="quarter" idx="12"/>
          </p:nvPr>
        </p:nvSpPr>
        <p:spPr/>
        <p:txBody>
          <a:bodyPr/>
          <a:lstStyle/>
          <a:p>
            <a:fld id="{937257EE-0CEF-4D7E-9E69-5277D6172560}" type="slidenum">
              <a:rPr lang="nl-NL" smtClean="0">
                <a:solidFill>
                  <a:prstClr val="black">
                    <a:tint val="75000"/>
                  </a:prstClr>
                </a:solidFill>
              </a:rPr>
              <a:pPr/>
              <a:t>38</a:t>
            </a:fld>
            <a:endParaRPr lang="nl-NL">
              <a:solidFill>
                <a:prstClr val="black">
                  <a:tint val="75000"/>
                </a:prstClr>
              </a:solidFill>
            </a:endParaRPr>
          </a:p>
        </p:txBody>
      </p:sp>
    </p:spTree>
    <p:extLst>
      <p:ext uri="{BB962C8B-B14F-4D97-AF65-F5344CB8AC3E}">
        <p14:creationId xmlns:p14="http://schemas.microsoft.com/office/powerpoint/2010/main" val="23621212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12F33F-A141-0F90-6E0C-B391F2959544}"/>
              </a:ext>
            </a:extLst>
          </p:cNvPr>
          <p:cNvSpPr>
            <a:spLocks noGrp="1"/>
          </p:cNvSpPr>
          <p:nvPr>
            <p:ph type="title"/>
          </p:nvPr>
        </p:nvSpPr>
        <p:spPr>
          <a:xfrm>
            <a:off x="545592" y="263097"/>
            <a:ext cx="11100816" cy="1325563"/>
          </a:xfrm>
        </p:spPr>
        <p:txBody>
          <a:bodyPr/>
          <a:lstStyle/>
          <a:p>
            <a:r>
              <a:rPr lang="en-US" b="1" dirty="0"/>
              <a:t>Slicing (I): examples when </a:t>
            </a:r>
            <a:r>
              <a:rPr lang="en-US" b="1" dirty="0" err="1"/>
              <a:t>stepsize</a:t>
            </a:r>
            <a:r>
              <a:rPr lang="en-US" b="1" dirty="0"/>
              <a:t> &gt;= 1</a:t>
            </a:r>
            <a:endParaRPr lang="nl-NL" b="1" dirty="0"/>
          </a:p>
        </p:txBody>
      </p:sp>
      <p:sp>
        <p:nvSpPr>
          <p:cNvPr id="3" name="Content Placeholder 2">
            <a:extLst>
              <a:ext uri="{FF2B5EF4-FFF2-40B4-BE49-F238E27FC236}">
                <a16:creationId xmlns:a16="http://schemas.microsoft.com/office/drawing/2014/main" id="{987FFBB7-D392-3BB1-6E4C-8815E69999CF}"/>
              </a:ext>
            </a:extLst>
          </p:cNvPr>
          <p:cNvSpPr>
            <a:spLocks noGrp="1"/>
          </p:cNvSpPr>
          <p:nvPr>
            <p:ph idx="1"/>
          </p:nvPr>
        </p:nvSpPr>
        <p:spPr>
          <a:xfrm>
            <a:off x="545592" y="1588660"/>
            <a:ext cx="11509388" cy="5032375"/>
          </a:xfrm>
        </p:spPr>
        <p:txBody>
          <a:bodyPr>
            <a:normAutofit/>
          </a:bodyPr>
          <a:lstStyle/>
          <a:p>
            <a:r>
              <a:rPr lang="en-US" dirty="0"/>
              <a:t>Recall:</a:t>
            </a:r>
            <a:r>
              <a:rPr lang="en-US" dirty="0">
                <a:latin typeface="Courier New" panose="02070309020205020404" pitchFamily="49" charset="0"/>
              </a:rPr>
              <a:t> </a:t>
            </a:r>
            <a:r>
              <a:rPr lang="en-US" dirty="0" err="1">
                <a:latin typeface="Courier New" panose="02070309020205020404" pitchFamily="49" charset="0"/>
              </a:rPr>
              <a:t>new_list</a:t>
            </a:r>
            <a:r>
              <a:rPr lang="en-US" dirty="0">
                <a:latin typeface="Courier New" panose="02070309020205020404" pitchFamily="49" charset="0"/>
              </a:rPr>
              <a:t> = </a:t>
            </a:r>
            <a:r>
              <a:rPr lang="en-US" dirty="0" err="1">
                <a:latin typeface="Courier New" panose="02070309020205020404" pitchFamily="49" charset="0"/>
              </a:rPr>
              <a:t>existing_list</a:t>
            </a:r>
            <a:r>
              <a:rPr lang="en-US" dirty="0">
                <a:latin typeface="Courier New" panose="02070309020205020404" pitchFamily="49" charset="0"/>
              </a:rPr>
              <a:t>[</a:t>
            </a:r>
            <a:r>
              <a:rPr lang="en-US" dirty="0" err="1">
                <a:latin typeface="Courier New" panose="02070309020205020404" pitchFamily="49" charset="0"/>
                <a:cs typeface="Courier New" panose="02070309020205020404" pitchFamily="49" charset="0"/>
              </a:rPr>
              <a:t>start:end:step_size</a:t>
            </a:r>
            <a:r>
              <a:rPr lang="en-US" sz="3200" dirty="0">
                <a:latin typeface="Courier New" panose="02070309020205020404" pitchFamily="49" charset="0"/>
              </a:rPr>
              <a:t>]</a:t>
            </a:r>
          </a:p>
          <a:p>
            <a:r>
              <a:rPr lang="en-US" sz="3200" dirty="0">
                <a:latin typeface="Courier New" panose="02070309020205020404" pitchFamily="49" charset="0"/>
              </a:rPr>
              <a:t>l1 = ['A', 'B', 'C', 'D', 'E', 'F', 'G', 'H']</a:t>
            </a:r>
          </a:p>
          <a:p>
            <a:r>
              <a:rPr lang="en-US" sz="3200" dirty="0">
                <a:latin typeface="Courier New" panose="02070309020205020404" pitchFamily="49" charset="0"/>
              </a:rPr>
              <a:t>print(l1[0:6:2])</a:t>
            </a:r>
          </a:p>
          <a:p>
            <a:r>
              <a:rPr lang="en-US" sz="3200" dirty="0">
                <a:latin typeface="Courier New" panose="02070309020205020404" pitchFamily="49" charset="0"/>
              </a:rPr>
              <a:t>print(l1[1:6:1] == l1[1:6])</a:t>
            </a:r>
          </a:p>
          <a:p>
            <a:r>
              <a:rPr lang="en-US" sz="3200" dirty="0">
                <a:latin typeface="Courier New" panose="02070309020205020404" pitchFamily="49" charset="0"/>
              </a:rPr>
              <a:t>print(l1[1:6:1] == l1[1:6:])</a:t>
            </a:r>
          </a:p>
          <a:p>
            <a:r>
              <a:rPr lang="en-US" sz="3200" dirty="0">
                <a:latin typeface="Courier New" panose="02070309020205020404" pitchFamily="49" charset="0"/>
              </a:rPr>
              <a:t>print(l1[0:6:2] == l1[:6:2])</a:t>
            </a:r>
          </a:p>
          <a:p>
            <a:r>
              <a:rPr lang="en-US" sz="3200" dirty="0">
                <a:latin typeface="Courier New" panose="02070309020205020404" pitchFamily="49" charset="0"/>
              </a:rPr>
              <a:t>print(l1[2:len(l1):2] == l1[2::2])</a:t>
            </a:r>
          </a:p>
          <a:p>
            <a:r>
              <a:rPr lang="en-US" sz="3200" dirty="0">
                <a:latin typeface="Courier New" panose="02070309020205020404" pitchFamily="49" charset="0"/>
              </a:rPr>
              <a:t>print(l1[0:len(l1):1] == l1[::])</a:t>
            </a:r>
            <a:endParaRPr lang="nl-NL" sz="3200" dirty="0"/>
          </a:p>
        </p:txBody>
      </p:sp>
      <p:sp>
        <p:nvSpPr>
          <p:cNvPr id="6" name="Slide Number Placeholder 5">
            <a:extLst>
              <a:ext uri="{FF2B5EF4-FFF2-40B4-BE49-F238E27FC236}">
                <a16:creationId xmlns:a16="http://schemas.microsoft.com/office/drawing/2014/main" id="{007DF11C-323B-CE00-6049-63BBBDB7E345}"/>
              </a:ext>
            </a:extLst>
          </p:cNvPr>
          <p:cNvSpPr>
            <a:spLocks noGrp="1"/>
          </p:cNvSpPr>
          <p:nvPr>
            <p:ph type="sldNum" sz="quarter" idx="12"/>
          </p:nvPr>
        </p:nvSpPr>
        <p:spPr/>
        <p:txBody>
          <a:bodyPr/>
          <a:lstStyle/>
          <a:p>
            <a:fld id="{937257EE-0CEF-4D7E-9E69-5277D6172560}" type="slidenum">
              <a:rPr lang="nl-NL" smtClean="0">
                <a:solidFill>
                  <a:prstClr val="black">
                    <a:tint val="75000"/>
                  </a:prstClr>
                </a:solidFill>
              </a:rPr>
              <a:pPr/>
              <a:t>39</a:t>
            </a:fld>
            <a:endParaRPr lang="nl-NL" dirty="0">
              <a:solidFill>
                <a:prstClr val="black">
                  <a:tint val="75000"/>
                </a:prstClr>
              </a:solidFill>
            </a:endParaRPr>
          </a:p>
        </p:txBody>
      </p:sp>
    </p:spTree>
    <p:extLst>
      <p:ext uri="{BB962C8B-B14F-4D97-AF65-F5344CB8AC3E}">
        <p14:creationId xmlns:p14="http://schemas.microsoft.com/office/powerpoint/2010/main" val="20606394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12F33F-A141-0F90-6E0C-B391F2959544}"/>
              </a:ext>
            </a:extLst>
          </p:cNvPr>
          <p:cNvSpPr>
            <a:spLocks noGrp="1"/>
          </p:cNvSpPr>
          <p:nvPr>
            <p:ph type="title"/>
          </p:nvPr>
        </p:nvSpPr>
        <p:spPr>
          <a:xfrm>
            <a:off x="545592" y="263097"/>
            <a:ext cx="10515600" cy="1325563"/>
          </a:xfrm>
        </p:spPr>
        <p:txBody>
          <a:bodyPr>
            <a:normAutofit/>
          </a:bodyPr>
          <a:lstStyle/>
          <a:p>
            <a:r>
              <a:rPr lang="en-US" b="1" dirty="0"/>
              <a:t>Question: what is the result of the following program?</a:t>
            </a:r>
            <a:endParaRPr lang="nl-NL" b="1" dirty="0"/>
          </a:p>
        </p:txBody>
      </p:sp>
      <p:sp>
        <p:nvSpPr>
          <p:cNvPr id="3" name="Content Placeholder 2">
            <a:extLst>
              <a:ext uri="{FF2B5EF4-FFF2-40B4-BE49-F238E27FC236}">
                <a16:creationId xmlns:a16="http://schemas.microsoft.com/office/drawing/2014/main" id="{987FFBB7-D392-3BB1-6E4C-8815E69999CF}"/>
              </a:ext>
            </a:extLst>
          </p:cNvPr>
          <p:cNvSpPr>
            <a:spLocks noGrp="1"/>
          </p:cNvSpPr>
          <p:nvPr>
            <p:ph idx="1"/>
          </p:nvPr>
        </p:nvSpPr>
        <p:spPr>
          <a:xfrm>
            <a:off x="545592" y="1825625"/>
            <a:ext cx="10515600" cy="5032375"/>
          </a:xfrm>
        </p:spPr>
        <p:txBody>
          <a:bodyPr>
            <a:normAutofit/>
          </a:bodyPr>
          <a:lstStyle/>
          <a:p>
            <a:r>
              <a:rPr lang="en-US" dirty="0">
                <a:latin typeface="Courier New" panose="02070309020205020404" pitchFamily="49" charset="0"/>
              </a:rPr>
              <a:t>l1 = [1, 2, 3, 4]</a:t>
            </a:r>
            <a:br>
              <a:rPr lang="en-US" dirty="0">
                <a:latin typeface="Courier New" panose="02070309020205020404" pitchFamily="49" charset="0"/>
              </a:rPr>
            </a:br>
            <a:r>
              <a:rPr lang="en-US" dirty="0">
                <a:latin typeface="Courier New" panose="02070309020205020404" pitchFamily="49" charset="0"/>
              </a:rPr>
              <a:t>l2 = l1</a:t>
            </a:r>
            <a:br>
              <a:rPr lang="en-US" dirty="0">
                <a:latin typeface="Courier New" panose="02070309020205020404" pitchFamily="49" charset="0"/>
              </a:rPr>
            </a:br>
            <a:r>
              <a:rPr lang="en-US" dirty="0">
                <a:latin typeface="Courier New" panose="02070309020205020404" pitchFamily="49" charset="0"/>
              </a:rPr>
              <a:t>l3 = l1[::]</a:t>
            </a:r>
            <a:br>
              <a:rPr lang="en-US" dirty="0">
                <a:latin typeface="Courier New" panose="02070309020205020404" pitchFamily="49" charset="0"/>
              </a:rPr>
            </a:br>
            <a:r>
              <a:rPr lang="en-US" dirty="0">
                <a:latin typeface="Courier New" panose="02070309020205020404" pitchFamily="49" charset="0"/>
              </a:rPr>
              <a:t>l1[-1] = 5</a:t>
            </a:r>
            <a:br>
              <a:rPr lang="en-US" dirty="0">
                <a:latin typeface="Courier New" panose="02070309020205020404" pitchFamily="49" charset="0"/>
              </a:rPr>
            </a:br>
            <a:r>
              <a:rPr lang="en-US" dirty="0">
                <a:latin typeface="Courier New" panose="02070309020205020404" pitchFamily="49" charset="0"/>
              </a:rPr>
              <a:t>print(l1 == l2 , l2 == l3)</a:t>
            </a:r>
          </a:p>
          <a:p>
            <a:r>
              <a:rPr lang="en-US" dirty="0"/>
              <a:t>And why?</a:t>
            </a:r>
            <a:endParaRPr lang="nl-NL" sz="3200" dirty="0"/>
          </a:p>
        </p:txBody>
      </p:sp>
      <p:sp>
        <p:nvSpPr>
          <p:cNvPr id="6" name="Slide Number Placeholder 5">
            <a:extLst>
              <a:ext uri="{FF2B5EF4-FFF2-40B4-BE49-F238E27FC236}">
                <a16:creationId xmlns:a16="http://schemas.microsoft.com/office/drawing/2014/main" id="{007DF11C-323B-CE00-6049-63BBBDB7E345}"/>
              </a:ext>
            </a:extLst>
          </p:cNvPr>
          <p:cNvSpPr>
            <a:spLocks noGrp="1"/>
          </p:cNvSpPr>
          <p:nvPr>
            <p:ph type="sldNum" sz="quarter" idx="12"/>
          </p:nvPr>
        </p:nvSpPr>
        <p:spPr/>
        <p:txBody>
          <a:bodyPr/>
          <a:lstStyle/>
          <a:p>
            <a:fld id="{937257EE-0CEF-4D7E-9E69-5277D6172560}" type="slidenum">
              <a:rPr lang="nl-NL" smtClean="0">
                <a:solidFill>
                  <a:prstClr val="black">
                    <a:tint val="75000"/>
                  </a:prstClr>
                </a:solidFill>
              </a:rPr>
              <a:pPr/>
              <a:t>40</a:t>
            </a:fld>
            <a:endParaRPr lang="nl-NL">
              <a:solidFill>
                <a:prstClr val="black">
                  <a:tint val="75000"/>
                </a:prstClr>
              </a:solidFill>
            </a:endParaRPr>
          </a:p>
        </p:txBody>
      </p:sp>
    </p:spTree>
    <p:extLst>
      <p:ext uri="{BB962C8B-B14F-4D97-AF65-F5344CB8AC3E}">
        <p14:creationId xmlns:p14="http://schemas.microsoft.com/office/powerpoint/2010/main" val="14595036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12F33F-A141-0F90-6E0C-B391F2959544}"/>
              </a:ext>
            </a:extLst>
          </p:cNvPr>
          <p:cNvSpPr>
            <a:spLocks noGrp="1"/>
          </p:cNvSpPr>
          <p:nvPr>
            <p:ph type="title"/>
          </p:nvPr>
        </p:nvSpPr>
        <p:spPr>
          <a:xfrm>
            <a:off x="545592" y="263097"/>
            <a:ext cx="10515600" cy="1325563"/>
          </a:xfrm>
        </p:spPr>
        <p:txBody>
          <a:bodyPr>
            <a:normAutofit/>
          </a:bodyPr>
          <a:lstStyle/>
          <a:p>
            <a:r>
              <a:rPr lang="en-US" b="1" dirty="0"/>
              <a:t>Question: what is the result of the following program?</a:t>
            </a:r>
            <a:endParaRPr lang="nl-NL" b="1" dirty="0"/>
          </a:p>
        </p:txBody>
      </p:sp>
      <p:sp>
        <p:nvSpPr>
          <p:cNvPr id="3" name="Content Placeholder 2">
            <a:extLst>
              <a:ext uri="{FF2B5EF4-FFF2-40B4-BE49-F238E27FC236}">
                <a16:creationId xmlns:a16="http://schemas.microsoft.com/office/drawing/2014/main" id="{987FFBB7-D392-3BB1-6E4C-8815E69999CF}"/>
              </a:ext>
            </a:extLst>
          </p:cNvPr>
          <p:cNvSpPr>
            <a:spLocks noGrp="1"/>
          </p:cNvSpPr>
          <p:nvPr>
            <p:ph idx="1"/>
          </p:nvPr>
        </p:nvSpPr>
        <p:spPr>
          <a:xfrm>
            <a:off x="545592" y="1825625"/>
            <a:ext cx="10515600" cy="5032375"/>
          </a:xfrm>
        </p:spPr>
        <p:txBody>
          <a:bodyPr>
            <a:normAutofit/>
          </a:bodyPr>
          <a:lstStyle/>
          <a:p>
            <a:r>
              <a:rPr lang="en-US" dirty="0">
                <a:latin typeface="Courier New" panose="02070309020205020404" pitchFamily="49" charset="0"/>
              </a:rPr>
              <a:t>l1 = [1, 2, 3, 4]</a:t>
            </a:r>
            <a:br>
              <a:rPr lang="en-US" dirty="0">
                <a:latin typeface="Courier New" panose="02070309020205020404" pitchFamily="49" charset="0"/>
              </a:rPr>
            </a:br>
            <a:r>
              <a:rPr lang="en-US" dirty="0">
                <a:latin typeface="Courier New" panose="02070309020205020404" pitchFamily="49" charset="0"/>
              </a:rPr>
              <a:t>l2 = l1</a:t>
            </a:r>
            <a:br>
              <a:rPr lang="en-US" dirty="0">
                <a:latin typeface="Courier New" panose="02070309020205020404" pitchFamily="49" charset="0"/>
              </a:rPr>
            </a:br>
            <a:r>
              <a:rPr lang="en-US" dirty="0">
                <a:latin typeface="Courier New" panose="02070309020205020404" pitchFamily="49" charset="0"/>
              </a:rPr>
              <a:t>l3 = l1[::]</a:t>
            </a:r>
            <a:br>
              <a:rPr lang="en-US" dirty="0">
                <a:latin typeface="Courier New" panose="02070309020205020404" pitchFamily="49" charset="0"/>
              </a:rPr>
            </a:br>
            <a:r>
              <a:rPr lang="en-US" dirty="0">
                <a:latin typeface="Courier New" panose="02070309020205020404" pitchFamily="49" charset="0"/>
              </a:rPr>
              <a:t>l1[-1] = 5</a:t>
            </a:r>
            <a:br>
              <a:rPr lang="en-US" dirty="0">
                <a:latin typeface="Courier New" panose="02070309020205020404" pitchFamily="49" charset="0"/>
              </a:rPr>
            </a:br>
            <a:r>
              <a:rPr lang="en-US" dirty="0">
                <a:latin typeface="Courier New" panose="02070309020205020404" pitchFamily="49" charset="0"/>
              </a:rPr>
              <a:t>print(l1 == l2 , l2 == l3)</a:t>
            </a:r>
          </a:p>
          <a:p>
            <a:r>
              <a:rPr lang="en-US" dirty="0"/>
              <a:t>Answer: </a:t>
            </a:r>
            <a:r>
              <a:rPr lang="en-US" dirty="0">
                <a:latin typeface="Courier New" panose="02070309020205020404" pitchFamily="49" charset="0"/>
              </a:rPr>
              <a:t>True False </a:t>
            </a:r>
          </a:p>
          <a:p>
            <a:r>
              <a:rPr lang="en-US" dirty="0"/>
              <a:t>Look at the definition of slicing: Slicing creates a </a:t>
            </a:r>
            <a:r>
              <a:rPr lang="en-US" b="1" dirty="0"/>
              <a:t>new </a:t>
            </a:r>
            <a:r>
              <a:rPr lang="en-US" dirty="0"/>
              <a:t>object</a:t>
            </a:r>
          </a:p>
          <a:p>
            <a:endParaRPr lang="en-US" sz="3200" dirty="0"/>
          </a:p>
          <a:p>
            <a:endParaRPr lang="nl-NL" sz="3200" dirty="0"/>
          </a:p>
        </p:txBody>
      </p:sp>
      <p:sp>
        <p:nvSpPr>
          <p:cNvPr id="6" name="Slide Number Placeholder 5">
            <a:extLst>
              <a:ext uri="{FF2B5EF4-FFF2-40B4-BE49-F238E27FC236}">
                <a16:creationId xmlns:a16="http://schemas.microsoft.com/office/drawing/2014/main" id="{007DF11C-323B-CE00-6049-63BBBDB7E345}"/>
              </a:ext>
            </a:extLst>
          </p:cNvPr>
          <p:cNvSpPr>
            <a:spLocks noGrp="1"/>
          </p:cNvSpPr>
          <p:nvPr>
            <p:ph type="sldNum" sz="quarter" idx="12"/>
          </p:nvPr>
        </p:nvSpPr>
        <p:spPr/>
        <p:txBody>
          <a:bodyPr/>
          <a:lstStyle/>
          <a:p>
            <a:fld id="{937257EE-0CEF-4D7E-9E69-5277D6172560}" type="slidenum">
              <a:rPr lang="nl-NL" smtClean="0">
                <a:solidFill>
                  <a:prstClr val="black">
                    <a:tint val="75000"/>
                  </a:prstClr>
                </a:solidFill>
              </a:rPr>
              <a:pPr/>
              <a:t>41</a:t>
            </a:fld>
            <a:endParaRPr lang="nl-NL">
              <a:solidFill>
                <a:prstClr val="black">
                  <a:tint val="75000"/>
                </a:prstClr>
              </a:solidFill>
            </a:endParaRPr>
          </a:p>
        </p:txBody>
      </p:sp>
    </p:spTree>
    <p:extLst>
      <p:ext uri="{BB962C8B-B14F-4D97-AF65-F5344CB8AC3E}">
        <p14:creationId xmlns:p14="http://schemas.microsoft.com/office/powerpoint/2010/main" val="18127561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12F33F-A141-0F90-6E0C-B391F2959544}"/>
              </a:ext>
            </a:extLst>
          </p:cNvPr>
          <p:cNvSpPr>
            <a:spLocks noGrp="1"/>
          </p:cNvSpPr>
          <p:nvPr>
            <p:ph type="title"/>
          </p:nvPr>
        </p:nvSpPr>
        <p:spPr>
          <a:xfrm>
            <a:off x="545592" y="263097"/>
            <a:ext cx="11100816" cy="1325563"/>
          </a:xfrm>
        </p:spPr>
        <p:txBody>
          <a:bodyPr/>
          <a:lstStyle/>
          <a:p>
            <a:r>
              <a:rPr lang="en-US" b="1" dirty="0"/>
              <a:t>Slicing (II): examples when </a:t>
            </a:r>
            <a:r>
              <a:rPr lang="en-US" b="1" dirty="0" err="1"/>
              <a:t>stepsize</a:t>
            </a:r>
            <a:r>
              <a:rPr lang="en-US" b="1" dirty="0"/>
              <a:t> &gt;=1</a:t>
            </a:r>
            <a:endParaRPr lang="nl-NL" b="1" dirty="0"/>
          </a:p>
        </p:txBody>
      </p:sp>
      <p:sp>
        <p:nvSpPr>
          <p:cNvPr id="3" name="Content Placeholder 2">
            <a:extLst>
              <a:ext uri="{FF2B5EF4-FFF2-40B4-BE49-F238E27FC236}">
                <a16:creationId xmlns:a16="http://schemas.microsoft.com/office/drawing/2014/main" id="{987FFBB7-D392-3BB1-6E4C-8815E69999CF}"/>
              </a:ext>
            </a:extLst>
          </p:cNvPr>
          <p:cNvSpPr>
            <a:spLocks noGrp="1"/>
          </p:cNvSpPr>
          <p:nvPr>
            <p:ph idx="1"/>
          </p:nvPr>
        </p:nvSpPr>
        <p:spPr>
          <a:xfrm>
            <a:off x="545592" y="1405000"/>
            <a:ext cx="11475832" cy="5032375"/>
          </a:xfrm>
        </p:spPr>
        <p:txBody>
          <a:bodyPr>
            <a:normAutofit/>
          </a:bodyPr>
          <a:lstStyle/>
          <a:p>
            <a:r>
              <a:rPr lang="en-US" dirty="0"/>
              <a:t>Recall:</a:t>
            </a:r>
            <a:r>
              <a:rPr lang="en-US" dirty="0">
                <a:latin typeface="Courier New" panose="02070309020205020404" pitchFamily="49" charset="0"/>
              </a:rPr>
              <a:t> </a:t>
            </a:r>
            <a:r>
              <a:rPr lang="en-US" dirty="0" err="1">
                <a:latin typeface="Courier New" panose="02070309020205020404" pitchFamily="49" charset="0"/>
              </a:rPr>
              <a:t>new_list</a:t>
            </a:r>
            <a:r>
              <a:rPr lang="en-US" dirty="0">
                <a:latin typeface="Courier New" panose="02070309020205020404" pitchFamily="49" charset="0"/>
              </a:rPr>
              <a:t> = </a:t>
            </a:r>
            <a:r>
              <a:rPr lang="en-US" dirty="0" err="1">
                <a:latin typeface="Courier New" panose="02070309020205020404" pitchFamily="49" charset="0"/>
              </a:rPr>
              <a:t>existing_list</a:t>
            </a:r>
            <a:r>
              <a:rPr lang="en-US" dirty="0">
                <a:latin typeface="Courier New" panose="02070309020205020404" pitchFamily="49" charset="0"/>
              </a:rPr>
              <a:t>[</a:t>
            </a:r>
            <a:r>
              <a:rPr lang="en-US" dirty="0" err="1">
                <a:latin typeface="Courier New" panose="02070309020205020404" pitchFamily="49" charset="0"/>
                <a:cs typeface="Courier New" panose="02070309020205020404" pitchFamily="49" charset="0"/>
              </a:rPr>
              <a:t>start:end:step_size</a:t>
            </a:r>
            <a:r>
              <a:rPr lang="en-US" dirty="0">
                <a:latin typeface="Courier New" panose="02070309020205020404" pitchFamily="49" charset="0"/>
              </a:rPr>
              <a:t>]</a:t>
            </a:r>
          </a:p>
          <a:p>
            <a:r>
              <a:rPr lang="en-US" dirty="0">
                <a:latin typeface="Courier New" panose="02070309020205020404" pitchFamily="49" charset="0"/>
              </a:rPr>
              <a:t>l1 = [1,2,3,4,5,6,7,8]</a:t>
            </a:r>
          </a:p>
          <a:p>
            <a:pPr lvl="1"/>
            <a:r>
              <a:rPr lang="en-US" dirty="0">
                <a:latin typeface="Courier New" panose="02070309020205020404" pitchFamily="49" charset="0"/>
              </a:rPr>
              <a:t>print(l1[7])  # You ask for the 8</a:t>
            </a:r>
            <a:r>
              <a:rPr lang="en-US" baseline="30000" dirty="0">
                <a:latin typeface="Courier New" panose="02070309020205020404" pitchFamily="49" charset="0"/>
              </a:rPr>
              <a:t>th</a:t>
            </a:r>
            <a:r>
              <a:rPr lang="en-US" dirty="0">
                <a:latin typeface="Courier New" panose="02070309020205020404" pitchFamily="49" charset="0"/>
              </a:rPr>
              <a:t> element</a:t>
            </a:r>
            <a:br>
              <a:rPr lang="en-US" dirty="0">
                <a:latin typeface="Courier New" panose="02070309020205020404" pitchFamily="49" charset="0"/>
              </a:rPr>
            </a:br>
            <a:r>
              <a:rPr lang="en-US" dirty="0">
                <a:latin typeface="Courier New" panose="02070309020205020404" pitchFamily="49" charset="0"/>
              </a:rPr>
              <a:t># Onscreen: 8 </a:t>
            </a:r>
          </a:p>
          <a:p>
            <a:pPr lvl="1"/>
            <a:r>
              <a:rPr lang="en-US" dirty="0">
                <a:latin typeface="Courier New" panose="02070309020205020404" pitchFamily="49" charset="0"/>
              </a:rPr>
              <a:t>print(l1[-1]) # You ask for the last element</a:t>
            </a:r>
            <a:br>
              <a:rPr lang="en-US" dirty="0">
                <a:latin typeface="Courier New" panose="02070309020205020404" pitchFamily="49" charset="0"/>
              </a:rPr>
            </a:br>
            <a:r>
              <a:rPr lang="en-US" dirty="0">
                <a:latin typeface="Courier New" panose="02070309020205020404" pitchFamily="49" charset="0"/>
              </a:rPr>
              <a:t># Onscreen: 8</a:t>
            </a:r>
          </a:p>
          <a:p>
            <a:pPr lvl="1"/>
            <a:r>
              <a:rPr lang="en-US" dirty="0">
                <a:latin typeface="Courier New" panose="02070309020205020404" pitchFamily="49" charset="0"/>
              </a:rPr>
              <a:t>print(l1[-5:5]) </a:t>
            </a:r>
            <a:br>
              <a:rPr lang="en-US" dirty="0">
                <a:latin typeface="Courier New" panose="02070309020205020404" pitchFamily="49" charset="0"/>
              </a:rPr>
            </a:br>
            <a:r>
              <a:rPr lang="en-US" dirty="0">
                <a:latin typeface="Courier New" panose="02070309020205020404" pitchFamily="49" charset="0"/>
              </a:rPr>
              <a:t># Onscreen: [4, 5] </a:t>
            </a:r>
          </a:p>
          <a:p>
            <a:pPr lvl="1"/>
            <a:r>
              <a:rPr lang="en-US" dirty="0">
                <a:latin typeface="Courier New" panose="02070309020205020404" pitchFamily="49" charset="0"/>
              </a:rPr>
              <a:t>print(l1[:-5]) </a:t>
            </a:r>
            <a:br>
              <a:rPr lang="en-US" dirty="0">
                <a:latin typeface="Courier New" panose="02070309020205020404" pitchFamily="49" charset="0"/>
              </a:rPr>
            </a:br>
            <a:r>
              <a:rPr lang="en-US" dirty="0">
                <a:latin typeface="Courier New" panose="02070309020205020404" pitchFamily="49" charset="0"/>
              </a:rPr>
              <a:t># Onscreen: [1, 2, 3]</a:t>
            </a:r>
            <a:endParaRPr lang="nl-NL" dirty="0"/>
          </a:p>
          <a:p>
            <a:endParaRPr lang="nl-NL" sz="3200" dirty="0"/>
          </a:p>
        </p:txBody>
      </p:sp>
      <p:sp>
        <p:nvSpPr>
          <p:cNvPr id="6" name="Slide Number Placeholder 5">
            <a:extLst>
              <a:ext uri="{FF2B5EF4-FFF2-40B4-BE49-F238E27FC236}">
                <a16:creationId xmlns:a16="http://schemas.microsoft.com/office/drawing/2014/main" id="{007DF11C-323B-CE00-6049-63BBBDB7E345}"/>
              </a:ext>
            </a:extLst>
          </p:cNvPr>
          <p:cNvSpPr>
            <a:spLocks noGrp="1"/>
          </p:cNvSpPr>
          <p:nvPr>
            <p:ph type="sldNum" sz="quarter" idx="12"/>
          </p:nvPr>
        </p:nvSpPr>
        <p:spPr/>
        <p:txBody>
          <a:bodyPr/>
          <a:lstStyle/>
          <a:p>
            <a:fld id="{937257EE-0CEF-4D7E-9E69-5277D6172560}" type="slidenum">
              <a:rPr lang="nl-NL" smtClean="0">
                <a:solidFill>
                  <a:prstClr val="black">
                    <a:tint val="75000"/>
                  </a:prstClr>
                </a:solidFill>
              </a:rPr>
              <a:pPr/>
              <a:t>42</a:t>
            </a:fld>
            <a:endParaRPr lang="nl-NL">
              <a:solidFill>
                <a:prstClr val="black">
                  <a:tint val="75000"/>
                </a:prstClr>
              </a:solidFill>
            </a:endParaRPr>
          </a:p>
        </p:txBody>
      </p:sp>
    </p:spTree>
    <p:extLst>
      <p:ext uri="{BB962C8B-B14F-4D97-AF65-F5344CB8AC3E}">
        <p14:creationId xmlns:p14="http://schemas.microsoft.com/office/powerpoint/2010/main" val="10011664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12F33F-A141-0F90-6E0C-B391F2959544}"/>
              </a:ext>
            </a:extLst>
          </p:cNvPr>
          <p:cNvSpPr>
            <a:spLocks noGrp="1"/>
          </p:cNvSpPr>
          <p:nvPr>
            <p:ph type="title"/>
          </p:nvPr>
        </p:nvSpPr>
        <p:spPr>
          <a:xfrm>
            <a:off x="545592" y="263097"/>
            <a:ext cx="10515600" cy="1325563"/>
          </a:xfrm>
        </p:spPr>
        <p:txBody>
          <a:bodyPr/>
          <a:lstStyle/>
          <a:p>
            <a:r>
              <a:rPr lang="en-US" b="1" dirty="0"/>
              <a:t>Slicing (III): examples with negative steps</a:t>
            </a:r>
            <a:endParaRPr lang="nl-NL" b="1" dirty="0"/>
          </a:p>
        </p:txBody>
      </p:sp>
      <p:sp>
        <p:nvSpPr>
          <p:cNvPr id="3" name="Content Placeholder 2">
            <a:extLst>
              <a:ext uri="{FF2B5EF4-FFF2-40B4-BE49-F238E27FC236}">
                <a16:creationId xmlns:a16="http://schemas.microsoft.com/office/drawing/2014/main" id="{987FFBB7-D392-3BB1-6E4C-8815E69999CF}"/>
              </a:ext>
            </a:extLst>
          </p:cNvPr>
          <p:cNvSpPr>
            <a:spLocks noGrp="1"/>
          </p:cNvSpPr>
          <p:nvPr>
            <p:ph idx="1"/>
          </p:nvPr>
        </p:nvSpPr>
        <p:spPr>
          <a:xfrm>
            <a:off x="545592" y="1405000"/>
            <a:ext cx="10515600" cy="5032375"/>
          </a:xfrm>
        </p:spPr>
        <p:txBody>
          <a:bodyPr>
            <a:normAutofit/>
          </a:bodyPr>
          <a:lstStyle/>
          <a:p>
            <a:r>
              <a:rPr lang="en-US" b="1" dirty="0"/>
              <a:t>While with positive steps you go from the start to the right, with a negative step you go from the end to the left</a:t>
            </a:r>
          </a:p>
          <a:p>
            <a:r>
              <a:rPr lang="en-US" sz="3200" dirty="0">
                <a:latin typeface="Courier New" panose="02070309020205020404" pitchFamily="49" charset="0"/>
              </a:rPr>
              <a:t>l1 = [1,2,3,4,5,6,7,8]</a:t>
            </a:r>
          </a:p>
          <a:p>
            <a:pPr lvl="1"/>
            <a:r>
              <a:rPr lang="en-US" dirty="0">
                <a:latin typeface="Courier New" panose="02070309020205020404" pitchFamily="49" charset="0"/>
              </a:rPr>
              <a:t>print(l1[5:1:-2]) # Onscreen: [6, 4] </a:t>
            </a:r>
          </a:p>
          <a:p>
            <a:pPr lvl="1"/>
            <a:r>
              <a:rPr lang="en-US" dirty="0">
                <a:latin typeface="Courier New" panose="02070309020205020404" pitchFamily="49" charset="0"/>
              </a:rPr>
              <a:t>print(l1[5::-1]) # Onscreen: [6, 5, 4, 3, 2, 1]</a:t>
            </a:r>
          </a:p>
          <a:p>
            <a:pPr lvl="1"/>
            <a:r>
              <a:rPr lang="en-US" dirty="0">
                <a:latin typeface="Courier New" panose="02070309020205020404" pitchFamily="49" charset="0"/>
              </a:rPr>
              <a:t>print(l1[:1:-1]) # Onscreen: [8, 7, 6, 5, 4, 3]</a:t>
            </a:r>
          </a:p>
          <a:p>
            <a:pPr lvl="1"/>
            <a:r>
              <a:rPr lang="en-US" dirty="0">
                <a:latin typeface="Courier New" panose="02070309020205020404" pitchFamily="49" charset="0"/>
              </a:rPr>
              <a:t>print(l1[1:5:-2]) # Onscreen: []</a:t>
            </a:r>
          </a:p>
          <a:p>
            <a:pPr lvl="2"/>
            <a:r>
              <a:rPr lang="en-US" b="1" dirty="0"/>
              <a:t>Python will check whether you are already past the end index, it works similar as </a:t>
            </a:r>
            <a:r>
              <a:rPr lang="en-US" dirty="0">
                <a:latin typeface="Courier New" panose="02070309020205020404" pitchFamily="49" charset="0"/>
              </a:rPr>
              <a:t>print(l1[5:1:2]) # Onscreen: []</a:t>
            </a:r>
          </a:p>
          <a:p>
            <a:endParaRPr lang="nl-NL" sz="3200" dirty="0"/>
          </a:p>
        </p:txBody>
      </p:sp>
      <p:sp>
        <p:nvSpPr>
          <p:cNvPr id="6" name="Slide Number Placeholder 5">
            <a:extLst>
              <a:ext uri="{FF2B5EF4-FFF2-40B4-BE49-F238E27FC236}">
                <a16:creationId xmlns:a16="http://schemas.microsoft.com/office/drawing/2014/main" id="{007DF11C-323B-CE00-6049-63BBBDB7E345}"/>
              </a:ext>
            </a:extLst>
          </p:cNvPr>
          <p:cNvSpPr>
            <a:spLocks noGrp="1"/>
          </p:cNvSpPr>
          <p:nvPr>
            <p:ph type="sldNum" sz="quarter" idx="12"/>
          </p:nvPr>
        </p:nvSpPr>
        <p:spPr/>
        <p:txBody>
          <a:bodyPr/>
          <a:lstStyle/>
          <a:p>
            <a:fld id="{937257EE-0CEF-4D7E-9E69-5277D6172560}" type="slidenum">
              <a:rPr lang="nl-NL" smtClean="0">
                <a:solidFill>
                  <a:prstClr val="black">
                    <a:tint val="75000"/>
                  </a:prstClr>
                </a:solidFill>
              </a:rPr>
              <a:pPr/>
              <a:t>43</a:t>
            </a:fld>
            <a:endParaRPr lang="nl-NL">
              <a:solidFill>
                <a:prstClr val="black">
                  <a:tint val="75000"/>
                </a:prstClr>
              </a:solidFill>
            </a:endParaRPr>
          </a:p>
        </p:txBody>
      </p:sp>
    </p:spTree>
    <p:extLst>
      <p:ext uri="{BB962C8B-B14F-4D97-AF65-F5344CB8AC3E}">
        <p14:creationId xmlns:p14="http://schemas.microsoft.com/office/powerpoint/2010/main" val="19560816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12F33F-A141-0F90-6E0C-B391F2959544}"/>
              </a:ext>
            </a:extLst>
          </p:cNvPr>
          <p:cNvSpPr>
            <a:spLocks noGrp="1"/>
          </p:cNvSpPr>
          <p:nvPr>
            <p:ph type="title"/>
          </p:nvPr>
        </p:nvSpPr>
        <p:spPr>
          <a:xfrm>
            <a:off x="545592" y="263097"/>
            <a:ext cx="10515600" cy="1325563"/>
          </a:xfrm>
        </p:spPr>
        <p:txBody>
          <a:bodyPr/>
          <a:lstStyle/>
          <a:p>
            <a:r>
              <a:rPr lang="en-US" b="1" dirty="0"/>
              <a:t>Question: What will be printed?</a:t>
            </a:r>
            <a:endParaRPr lang="nl-NL" b="1" dirty="0"/>
          </a:p>
        </p:txBody>
      </p:sp>
      <p:sp>
        <p:nvSpPr>
          <p:cNvPr id="3" name="Content Placeholder 2">
            <a:extLst>
              <a:ext uri="{FF2B5EF4-FFF2-40B4-BE49-F238E27FC236}">
                <a16:creationId xmlns:a16="http://schemas.microsoft.com/office/drawing/2014/main" id="{987FFBB7-D392-3BB1-6E4C-8815E69999CF}"/>
              </a:ext>
            </a:extLst>
          </p:cNvPr>
          <p:cNvSpPr>
            <a:spLocks noGrp="1"/>
          </p:cNvSpPr>
          <p:nvPr>
            <p:ph idx="1"/>
          </p:nvPr>
        </p:nvSpPr>
        <p:spPr>
          <a:xfrm>
            <a:off x="545592" y="1405000"/>
            <a:ext cx="10515600" cy="5032375"/>
          </a:xfrm>
        </p:spPr>
        <p:txBody>
          <a:bodyPr>
            <a:normAutofit/>
          </a:bodyPr>
          <a:lstStyle/>
          <a:p>
            <a:r>
              <a:rPr lang="en-US" dirty="0">
                <a:latin typeface="Courier New" panose="02070309020205020404" pitchFamily="49" charset="0"/>
              </a:rPr>
              <a:t>l1 = [1, 2, 3, 4]</a:t>
            </a:r>
          </a:p>
          <a:p>
            <a:r>
              <a:rPr lang="en-US" dirty="0">
                <a:latin typeface="Courier New" panose="02070309020205020404" pitchFamily="49" charset="0"/>
              </a:rPr>
              <a:t>print(l1[::-1])</a:t>
            </a:r>
            <a:endParaRPr lang="nl-NL" sz="3200" dirty="0"/>
          </a:p>
        </p:txBody>
      </p:sp>
      <p:sp>
        <p:nvSpPr>
          <p:cNvPr id="6" name="Slide Number Placeholder 5">
            <a:extLst>
              <a:ext uri="{FF2B5EF4-FFF2-40B4-BE49-F238E27FC236}">
                <a16:creationId xmlns:a16="http://schemas.microsoft.com/office/drawing/2014/main" id="{007DF11C-323B-CE00-6049-63BBBDB7E345}"/>
              </a:ext>
            </a:extLst>
          </p:cNvPr>
          <p:cNvSpPr>
            <a:spLocks noGrp="1"/>
          </p:cNvSpPr>
          <p:nvPr>
            <p:ph type="sldNum" sz="quarter" idx="12"/>
          </p:nvPr>
        </p:nvSpPr>
        <p:spPr/>
        <p:txBody>
          <a:bodyPr/>
          <a:lstStyle/>
          <a:p>
            <a:fld id="{937257EE-0CEF-4D7E-9E69-5277D6172560}" type="slidenum">
              <a:rPr lang="nl-NL" smtClean="0">
                <a:solidFill>
                  <a:prstClr val="black">
                    <a:tint val="75000"/>
                  </a:prstClr>
                </a:solidFill>
              </a:rPr>
              <a:pPr/>
              <a:t>44</a:t>
            </a:fld>
            <a:endParaRPr lang="nl-NL">
              <a:solidFill>
                <a:prstClr val="black">
                  <a:tint val="75000"/>
                </a:prstClr>
              </a:solidFill>
            </a:endParaRPr>
          </a:p>
        </p:txBody>
      </p:sp>
    </p:spTree>
    <p:extLst>
      <p:ext uri="{BB962C8B-B14F-4D97-AF65-F5344CB8AC3E}">
        <p14:creationId xmlns:p14="http://schemas.microsoft.com/office/powerpoint/2010/main" val="24189681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12F33F-A141-0F90-6E0C-B391F2959544}"/>
              </a:ext>
            </a:extLst>
          </p:cNvPr>
          <p:cNvSpPr>
            <a:spLocks noGrp="1"/>
          </p:cNvSpPr>
          <p:nvPr>
            <p:ph type="title"/>
          </p:nvPr>
        </p:nvSpPr>
        <p:spPr>
          <a:xfrm>
            <a:off x="545592" y="263097"/>
            <a:ext cx="10515600" cy="1325563"/>
          </a:xfrm>
        </p:spPr>
        <p:txBody>
          <a:bodyPr/>
          <a:lstStyle/>
          <a:p>
            <a:r>
              <a:rPr lang="en-US" b="1" dirty="0"/>
              <a:t>Question: What will be printed?</a:t>
            </a:r>
            <a:endParaRPr lang="nl-NL" b="1" dirty="0"/>
          </a:p>
        </p:txBody>
      </p:sp>
      <p:sp>
        <p:nvSpPr>
          <p:cNvPr id="3" name="Content Placeholder 2">
            <a:extLst>
              <a:ext uri="{FF2B5EF4-FFF2-40B4-BE49-F238E27FC236}">
                <a16:creationId xmlns:a16="http://schemas.microsoft.com/office/drawing/2014/main" id="{987FFBB7-D392-3BB1-6E4C-8815E69999CF}"/>
              </a:ext>
            </a:extLst>
          </p:cNvPr>
          <p:cNvSpPr>
            <a:spLocks noGrp="1"/>
          </p:cNvSpPr>
          <p:nvPr>
            <p:ph idx="1"/>
          </p:nvPr>
        </p:nvSpPr>
        <p:spPr>
          <a:xfrm>
            <a:off x="545592" y="1405000"/>
            <a:ext cx="10515600" cy="5032375"/>
          </a:xfrm>
        </p:spPr>
        <p:txBody>
          <a:bodyPr>
            <a:normAutofit/>
          </a:bodyPr>
          <a:lstStyle/>
          <a:p>
            <a:r>
              <a:rPr lang="en-US" dirty="0">
                <a:latin typeface="Courier New" panose="02070309020205020404" pitchFamily="49" charset="0"/>
              </a:rPr>
              <a:t>l1 = [1, 2, 3, 4]</a:t>
            </a:r>
          </a:p>
          <a:p>
            <a:r>
              <a:rPr lang="en-US" dirty="0">
                <a:latin typeface="Courier New" panose="02070309020205020404" pitchFamily="49" charset="0"/>
              </a:rPr>
              <a:t>print(l1[::-1])</a:t>
            </a:r>
          </a:p>
          <a:p>
            <a:r>
              <a:rPr lang="en-US" dirty="0"/>
              <a:t>Answer: </a:t>
            </a:r>
            <a:r>
              <a:rPr lang="en-US" dirty="0">
                <a:latin typeface="Courier New" panose="02070309020205020404" pitchFamily="49" charset="0"/>
              </a:rPr>
              <a:t>[4, 3, 2, 1]</a:t>
            </a:r>
            <a:endParaRPr lang="en-US" sz="3200" dirty="0"/>
          </a:p>
          <a:p>
            <a:endParaRPr lang="nl-NL" sz="3200" dirty="0"/>
          </a:p>
        </p:txBody>
      </p:sp>
      <p:sp>
        <p:nvSpPr>
          <p:cNvPr id="6" name="Slide Number Placeholder 5">
            <a:extLst>
              <a:ext uri="{FF2B5EF4-FFF2-40B4-BE49-F238E27FC236}">
                <a16:creationId xmlns:a16="http://schemas.microsoft.com/office/drawing/2014/main" id="{007DF11C-323B-CE00-6049-63BBBDB7E345}"/>
              </a:ext>
            </a:extLst>
          </p:cNvPr>
          <p:cNvSpPr>
            <a:spLocks noGrp="1"/>
          </p:cNvSpPr>
          <p:nvPr>
            <p:ph type="sldNum" sz="quarter" idx="12"/>
          </p:nvPr>
        </p:nvSpPr>
        <p:spPr/>
        <p:txBody>
          <a:bodyPr/>
          <a:lstStyle/>
          <a:p>
            <a:fld id="{937257EE-0CEF-4D7E-9E69-5277D6172560}" type="slidenum">
              <a:rPr lang="nl-NL" smtClean="0">
                <a:solidFill>
                  <a:prstClr val="black">
                    <a:tint val="75000"/>
                  </a:prstClr>
                </a:solidFill>
              </a:rPr>
              <a:pPr/>
              <a:t>45</a:t>
            </a:fld>
            <a:endParaRPr lang="nl-NL">
              <a:solidFill>
                <a:prstClr val="black">
                  <a:tint val="75000"/>
                </a:prstClr>
              </a:solidFill>
            </a:endParaRPr>
          </a:p>
        </p:txBody>
      </p:sp>
    </p:spTree>
    <p:extLst>
      <p:ext uri="{BB962C8B-B14F-4D97-AF65-F5344CB8AC3E}">
        <p14:creationId xmlns:p14="http://schemas.microsoft.com/office/powerpoint/2010/main" val="3725246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12F33F-A141-0F90-6E0C-B391F2959544}"/>
              </a:ext>
            </a:extLst>
          </p:cNvPr>
          <p:cNvSpPr>
            <a:spLocks noGrp="1"/>
          </p:cNvSpPr>
          <p:nvPr>
            <p:ph type="title"/>
          </p:nvPr>
        </p:nvSpPr>
        <p:spPr>
          <a:xfrm>
            <a:off x="545592" y="263097"/>
            <a:ext cx="10515600" cy="1325563"/>
          </a:xfrm>
        </p:spPr>
        <p:txBody>
          <a:bodyPr/>
          <a:lstStyle/>
          <a:p>
            <a:r>
              <a:rPr lang="en-US" b="1" dirty="0"/>
              <a:t>Slicing with strings and tuples</a:t>
            </a:r>
            <a:endParaRPr lang="nl-NL" b="1" dirty="0"/>
          </a:p>
        </p:txBody>
      </p:sp>
      <p:sp>
        <p:nvSpPr>
          <p:cNvPr id="3" name="Content Placeholder 2">
            <a:extLst>
              <a:ext uri="{FF2B5EF4-FFF2-40B4-BE49-F238E27FC236}">
                <a16:creationId xmlns:a16="http://schemas.microsoft.com/office/drawing/2014/main" id="{987FFBB7-D392-3BB1-6E4C-8815E69999CF}"/>
              </a:ext>
            </a:extLst>
          </p:cNvPr>
          <p:cNvSpPr>
            <a:spLocks noGrp="1"/>
          </p:cNvSpPr>
          <p:nvPr>
            <p:ph idx="1"/>
          </p:nvPr>
        </p:nvSpPr>
        <p:spPr>
          <a:xfrm>
            <a:off x="545592" y="1405000"/>
            <a:ext cx="10515600" cy="5032375"/>
          </a:xfrm>
        </p:spPr>
        <p:txBody>
          <a:bodyPr>
            <a:normAutofit/>
          </a:bodyPr>
          <a:lstStyle/>
          <a:p>
            <a:r>
              <a:rPr lang="en-US" dirty="0"/>
              <a:t>Slicing can also be done with strings and tuples</a:t>
            </a:r>
          </a:p>
          <a:p>
            <a:r>
              <a:rPr lang="en-US" dirty="0">
                <a:latin typeface="Courier New" panose="02070309020205020404" pitchFamily="49" charset="0"/>
              </a:rPr>
              <a:t>t1 = (1, 2, 3)</a:t>
            </a:r>
            <a:br>
              <a:rPr lang="en-US" dirty="0">
                <a:latin typeface="Courier New" panose="02070309020205020404" pitchFamily="49" charset="0"/>
              </a:rPr>
            </a:br>
            <a:r>
              <a:rPr lang="en-US" dirty="0">
                <a:latin typeface="Courier New" panose="02070309020205020404" pitchFamily="49" charset="0"/>
              </a:rPr>
              <a:t>print(t1[1:]) # Onscreen: (2, 3) </a:t>
            </a:r>
          </a:p>
          <a:p>
            <a:r>
              <a:rPr lang="en-US" dirty="0">
                <a:latin typeface="Courier New" panose="02070309020205020404" pitchFamily="49" charset="0"/>
              </a:rPr>
              <a:t>s1 = 'uva Amsterdam'</a:t>
            </a:r>
            <a:br>
              <a:rPr lang="en-US" dirty="0">
                <a:latin typeface="Courier New" panose="02070309020205020404" pitchFamily="49" charset="0"/>
              </a:rPr>
            </a:br>
            <a:r>
              <a:rPr lang="en-US" dirty="0">
                <a:latin typeface="Courier New" panose="02070309020205020404" pitchFamily="49" charset="0"/>
              </a:rPr>
              <a:t>print(s1[5:-3:2]) # Onscreen: </a:t>
            </a:r>
            <a:r>
              <a:rPr lang="en-US" dirty="0" err="1">
                <a:latin typeface="Courier New" panose="02070309020205020404" pitchFamily="49" charset="0"/>
              </a:rPr>
              <a:t>mtr</a:t>
            </a:r>
            <a:endParaRPr lang="nl-NL" dirty="0"/>
          </a:p>
        </p:txBody>
      </p:sp>
      <p:sp>
        <p:nvSpPr>
          <p:cNvPr id="6" name="Slide Number Placeholder 5">
            <a:extLst>
              <a:ext uri="{FF2B5EF4-FFF2-40B4-BE49-F238E27FC236}">
                <a16:creationId xmlns:a16="http://schemas.microsoft.com/office/drawing/2014/main" id="{007DF11C-323B-CE00-6049-63BBBDB7E345}"/>
              </a:ext>
            </a:extLst>
          </p:cNvPr>
          <p:cNvSpPr>
            <a:spLocks noGrp="1"/>
          </p:cNvSpPr>
          <p:nvPr>
            <p:ph type="sldNum" sz="quarter" idx="12"/>
          </p:nvPr>
        </p:nvSpPr>
        <p:spPr/>
        <p:txBody>
          <a:bodyPr/>
          <a:lstStyle/>
          <a:p>
            <a:fld id="{937257EE-0CEF-4D7E-9E69-5277D6172560}" type="slidenum">
              <a:rPr lang="nl-NL" smtClean="0">
                <a:solidFill>
                  <a:prstClr val="black">
                    <a:tint val="75000"/>
                  </a:prstClr>
                </a:solidFill>
              </a:rPr>
              <a:pPr/>
              <a:t>46</a:t>
            </a:fld>
            <a:endParaRPr lang="nl-NL">
              <a:solidFill>
                <a:prstClr val="black">
                  <a:tint val="75000"/>
                </a:prstClr>
              </a:solidFill>
            </a:endParaRPr>
          </a:p>
        </p:txBody>
      </p:sp>
    </p:spTree>
    <p:extLst>
      <p:ext uri="{BB962C8B-B14F-4D97-AF65-F5344CB8AC3E}">
        <p14:creationId xmlns:p14="http://schemas.microsoft.com/office/powerpoint/2010/main" val="5904033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12F33F-A141-0F90-6E0C-B391F2959544}"/>
              </a:ext>
            </a:extLst>
          </p:cNvPr>
          <p:cNvSpPr>
            <a:spLocks noGrp="1"/>
          </p:cNvSpPr>
          <p:nvPr>
            <p:ph type="title"/>
          </p:nvPr>
        </p:nvSpPr>
        <p:spPr>
          <a:xfrm>
            <a:off x="545592" y="263097"/>
            <a:ext cx="10515600" cy="1325563"/>
          </a:xfrm>
        </p:spPr>
        <p:txBody>
          <a:bodyPr/>
          <a:lstStyle/>
          <a:p>
            <a:r>
              <a:rPr lang="en-US" b="1" dirty="0"/>
              <a:t>Changing a slice of a list</a:t>
            </a:r>
            <a:endParaRPr lang="nl-NL" b="1" dirty="0"/>
          </a:p>
        </p:txBody>
      </p:sp>
      <p:sp>
        <p:nvSpPr>
          <p:cNvPr id="3" name="Content Placeholder 2">
            <a:extLst>
              <a:ext uri="{FF2B5EF4-FFF2-40B4-BE49-F238E27FC236}">
                <a16:creationId xmlns:a16="http://schemas.microsoft.com/office/drawing/2014/main" id="{987FFBB7-D392-3BB1-6E4C-8815E69999CF}"/>
              </a:ext>
            </a:extLst>
          </p:cNvPr>
          <p:cNvSpPr>
            <a:spLocks noGrp="1"/>
          </p:cNvSpPr>
          <p:nvPr>
            <p:ph idx="1"/>
          </p:nvPr>
        </p:nvSpPr>
        <p:spPr>
          <a:xfrm>
            <a:off x="545592" y="1405000"/>
            <a:ext cx="10515600" cy="5032375"/>
          </a:xfrm>
        </p:spPr>
        <p:txBody>
          <a:bodyPr>
            <a:normAutofit fontScale="85000" lnSpcReduction="10000"/>
          </a:bodyPr>
          <a:lstStyle/>
          <a:p>
            <a:r>
              <a:rPr lang="en-US" sz="3300" dirty="0">
                <a:cs typeface="Courier New" panose="02070309020205020404" pitchFamily="49" charset="0"/>
              </a:rPr>
              <a:t>Changing a list:</a:t>
            </a:r>
            <a:br>
              <a:rPr lang="en-US" sz="3300" dirty="0">
                <a:latin typeface="Courier New" panose="02070309020205020404" pitchFamily="49" charset="0"/>
                <a:cs typeface="Courier New" panose="02070309020205020404" pitchFamily="49" charset="0"/>
              </a:rPr>
            </a:br>
            <a:r>
              <a:rPr lang="en-US" sz="3300" dirty="0">
                <a:latin typeface="Courier New" panose="02070309020205020404" pitchFamily="49" charset="0"/>
                <a:cs typeface="Courier New" panose="02070309020205020404" pitchFamily="49" charset="0"/>
              </a:rPr>
              <a:t>l1 = [1, 2, 3, 4, 5, 6]</a:t>
            </a:r>
            <a:br>
              <a:rPr lang="en-US" sz="3300" dirty="0">
                <a:latin typeface="Courier New" panose="02070309020205020404" pitchFamily="49" charset="0"/>
                <a:cs typeface="Courier New" panose="02070309020205020404" pitchFamily="49" charset="0"/>
              </a:rPr>
            </a:br>
            <a:r>
              <a:rPr lang="en-US" sz="3300" dirty="0">
                <a:latin typeface="Courier New" panose="02070309020205020404" pitchFamily="49" charset="0"/>
                <a:cs typeface="Courier New" panose="02070309020205020404" pitchFamily="49" charset="0"/>
              </a:rPr>
              <a:t>l1[1:4] = l1[1:4][::-1]</a:t>
            </a:r>
            <a:br>
              <a:rPr lang="en-US" sz="3300" dirty="0">
                <a:latin typeface="Courier New" panose="02070309020205020404" pitchFamily="49" charset="0"/>
                <a:cs typeface="Courier New" panose="02070309020205020404" pitchFamily="49" charset="0"/>
              </a:rPr>
            </a:br>
            <a:r>
              <a:rPr lang="en-US" sz="3300" dirty="0">
                <a:latin typeface="Courier New" panose="02070309020205020404" pitchFamily="49" charset="0"/>
                <a:cs typeface="Courier New" panose="02070309020205020404" pitchFamily="49" charset="0"/>
              </a:rPr>
              <a:t>print(l1) # Onscreen: [1, 4, 3, 2, 5, 6]</a:t>
            </a:r>
          </a:p>
          <a:p>
            <a:r>
              <a:rPr lang="nl-NL" sz="3300" dirty="0">
                <a:cs typeface="Courier New" panose="02070309020205020404" pitchFamily="49" charset="0"/>
              </a:rPr>
              <a:t>Tricky:</a:t>
            </a:r>
            <a:br>
              <a:rPr lang="nl-NL" sz="3300" dirty="0">
                <a:latin typeface="Courier New" panose="02070309020205020404" pitchFamily="49" charset="0"/>
                <a:cs typeface="Courier New" panose="02070309020205020404" pitchFamily="49" charset="0"/>
              </a:rPr>
            </a:br>
            <a:r>
              <a:rPr lang="en-US" sz="3300" dirty="0">
                <a:latin typeface="Courier New" panose="02070309020205020404" pitchFamily="49" charset="0"/>
                <a:cs typeface="Courier New" panose="02070309020205020404" pitchFamily="49" charset="0"/>
              </a:rPr>
              <a:t>l1 = [1, 2, 3, 4, 5, 6]</a:t>
            </a:r>
            <a:br>
              <a:rPr lang="en-US" sz="3300" dirty="0">
                <a:latin typeface="Courier New" panose="02070309020205020404" pitchFamily="49" charset="0"/>
                <a:cs typeface="Courier New" panose="02070309020205020404" pitchFamily="49" charset="0"/>
              </a:rPr>
            </a:br>
            <a:r>
              <a:rPr lang="en-US" sz="3300" dirty="0">
                <a:latin typeface="Courier New" panose="02070309020205020404" pitchFamily="49" charset="0"/>
                <a:cs typeface="Courier New" panose="02070309020205020404" pitchFamily="49" charset="0"/>
              </a:rPr>
              <a:t>l1[1:2] = [1, 1]</a:t>
            </a:r>
            <a:br>
              <a:rPr lang="en-US" sz="3300" dirty="0">
                <a:latin typeface="Courier New" panose="02070309020205020404" pitchFamily="49" charset="0"/>
                <a:cs typeface="Courier New" panose="02070309020205020404" pitchFamily="49" charset="0"/>
              </a:rPr>
            </a:br>
            <a:r>
              <a:rPr lang="en-US" sz="3300" dirty="0">
                <a:latin typeface="Courier New" panose="02070309020205020404" pitchFamily="49" charset="0"/>
                <a:cs typeface="Courier New" panose="02070309020205020404" pitchFamily="49" charset="0"/>
              </a:rPr>
              <a:t>print(l1) # Onscreen: [1, 1, 1, 3, 4, 5, 6]</a:t>
            </a:r>
          </a:p>
          <a:p>
            <a:pPr marL="0" indent="0">
              <a:buNone/>
            </a:pPr>
            <a:r>
              <a:rPr lang="nl-NL" sz="3300" dirty="0">
                <a:cs typeface="Courier New" panose="02070309020205020404" pitchFamily="49" charset="0"/>
              </a:rPr>
              <a:t>   </a:t>
            </a:r>
            <a:r>
              <a:rPr lang="nl-NL" sz="3300" dirty="0" err="1">
                <a:cs typeface="Courier New" panose="02070309020205020404" pitchFamily="49" charset="0"/>
              </a:rPr>
              <a:t>vs</a:t>
            </a:r>
            <a:endParaRPr lang="nl-NL" sz="3300" dirty="0">
              <a:cs typeface="Courier New" panose="02070309020205020404" pitchFamily="49" charset="0"/>
            </a:endParaRPr>
          </a:p>
          <a:p>
            <a:pPr marL="0" indent="0">
              <a:buNone/>
            </a:pPr>
            <a:r>
              <a:rPr lang="nl-NL" sz="3300" dirty="0">
                <a:latin typeface="Courier New" panose="02070309020205020404" pitchFamily="49" charset="0"/>
                <a:cs typeface="Courier New" panose="02070309020205020404" pitchFamily="49" charset="0"/>
              </a:rPr>
              <a:t> </a:t>
            </a:r>
            <a:r>
              <a:rPr lang="en-US" sz="3300" dirty="0">
                <a:latin typeface="Courier New" panose="02070309020205020404" pitchFamily="49" charset="0"/>
                <a:cs typeface="Courier New" panose="02070309020205020404" pitchFamily="49" charset="0"/>
              </a:rPr>
              <a:t>l1 = [1, 2, 3, 4, 5, 6]</a:t>
            </a:r>
          </a:p>
          <a:p>
            <a:pPr marL="0" indent="0">
              <a:buNone/>
            </a:pPr>
            <a:r>
              <a:rPr lang="en-US" sz="3300" dirty="0">
                <a:latin typeface="Courier New" panose="02070309020205020404" pitchFamily="49" charset="0"/>
                <a:cs typeface="Courier New" panose="02070309020205020404" pitchFamily="49" charset="0"/>
              </a:rPr>
              <a:t> l1[1] = [1, 1]</a:t>
            </a:r>
            <a:br>
              <a:rPr lang="en-US" sz="3300" dirty="0">
                <a:latin typeface="Courier New" panose="02070309020205020404" pitchFamily="49" charset="0"/>
                <a:cs typeface="Courier New" panose="02070309020205020404" pitchFamily="49" charset="0"/>
              </a:rPr>
            </a:br>
            <a:r>
              <a:rPr lang="en-US" sz="3300" dirty="0">
                <a:latin typeface="Courier New" panose="02070309020205020404" pitchFamily="49" charset="0"/>
                <a:cs typeface="Courier New" panose="02070309020205020404" pitchFamily="49" charset="0"/>
              </a:rPr>
              <a:t> print(l1) # Onscreen: [1, [1, 1], 3, 4, 5, 6]</a:t>
            </a:r>
          </a:p>
          <a:p>
            <a:endParaRPr lang="nl-NL" sz="3200" dirty="0"/>
          </a:p>
          <a:p>
            <a:endParaRPr lang="nl-NL" sz="3200" dirty="0"/>
          </a:p>
        </p:txBody>
      </p:sp>
      <p:sp>
        <p:nvSpPr>
          <p:cNvPr id="6" name="Slide Number Placeholder 5">
            <a:extLst>
              <a:ext uri="{FF2B5EF4-FFF2-40B4-BE49-F238E27FC236}">
                <a16:creationId xmlns:a16="http://schemas.microsoft.com/office/drawing/2014/main" id="{007DF11C-323B-CE00-6049-63BBBDB7E345}"/>
              </a:ext>
            </a:extLst>
          </p:cNvPr>
          <p:cNvSpPr>
            <a:spLocks noGrp="1"/>
          </p:cNvSpPr>
          <p:nvPr>
            <p:ph type="sldNum" sz="quarter" idx="12"/>
          </p:nvPr>
        </p:nvSpPr>
        <p:spPr/>
        <p:txBody>
          <a:bodyPr/>
          <a:lstStyle/>
          <a:p>
            <a:fld id="{937257EE-0CEF-4D7E-9E69-5277D6172560}" type="slidenum">
              <a:rPr lang="nl-NL" smtClean="0">
                <a:solidFill>
                  <a:prstClr val="black">
                    <a:tint val="75000"/>
                  </a:prstClr>
                </a:solidFill>
              </a:rPr>
              <a:pPr/>
              <a:t>47</a:t>
            </a:fld>
            <a:endParaRPr lang="nl-NL">
              <a:solidFill>
                <a:prstClr val="black">
                  <a:tint val="75000"/>
                </a:prstClr>
              </a:solidFill>
            </a:endParaRPr>
          </a:p>
        </p:txBody>
      </p:sp>
    </p:spTree>
    <p:extLst>
      <p:ext uri="{BB962C8B-B14F-4D97-AF65-F5344CB8AC3E}">
        <p14:creationId xmlns:p14="http://schemas.microsoft.com/office/powerpoint/2010/main" val="14819015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12F33F-A141-0F90-6E0C-B391F2959544}"/>
              </a:ext>
            </a:extLst>
          </p:cNvPr>
          <p:cNvSpPr>
            <a:spLocks noGrp="1"/>
          </p:cNvSpPr>
          <p:nvPr>
            <p:ph type="title"/>
          </p:nvPr>
        </p:nvSpPr>
        <p:spPr>
          <a:xfrm>
            <a:off x="545592" y="263097"/>
            <a:ext cx="10515600" cy="1325563"/>
          </a:xfrm>
        </p:spPr>
        <p:txBody>
          <a:bodyPr/>
          <a:lstStyle/>
          <a:p>
            <a:r>
              <a:rPr lang="en-US" b="1" dirty="0"/>
              <a:t>'Changing' a slice of a string or a </a:t>
            </a:r>
            <a:r>
              <a:rPr lang="en-US" b="1" dirty="0" err="1"/>
              <a:t>tupple</a:t>
            </a:r>
            <a:endParaRPr lang="nl-NL" b="1" dirty="0"/>
          </a:p>
        </p:txBody>
      </p:sp>
      <p:sp>
        <p:nvSpPr>
          <p:cNvPr id="3" name="Content Placeholder 2">
            <a:extLst>
              <a:ext uri="{FF2B5EF4-FFF2-40B4-BE49-F238E27FC236}">
                <a16:creationId xmlns:a16="http://schemas.microsoft.com/office/drawing/2014/main" id="{987FFBB7-D392-3BB1-6E4C-8815E69999CF}"/>
              </a:ext>
            </a:extLst>
          </p:cNvPr>
          <p:cNvSpPr>
            <a:spLocks noGrp="1"/>
          </p:cNvSpPr>
          <p:nvPr>
            <p:ph idx="1"/>
          </p:nvPr>
        </p:nvSpPr>
        <p:spPr>
          <a:xfrm>
            <a:off x="545592" y="1405000"/>
            <a:ext cx="10515600" cy="5032375"/>
          </a:xfrm>
        </p:spPr>
        <p:txBody>
          <a:bodyPr>
            <a:normAutofit/>
          </a:bodyPr>
          <a:lstStyle/>
          <a:p>
            <a:r>
              <a:rPr lang="en-US" dirty="0"/>
              <a:t>'changing' a string: </a:t>
            </a:r>
            <a:endParaRPr lang="en-US" sz="3200" dirty="0">
              <a:latin typeface="Courier New" panose="02070309020205020404" pitchFamily="49" charset="0"/>
            </a:endParaRPr>
          </a:p>
          <a:p>
            <a:pPr lvl="1"/>
            <a:r>
              <a:rPr lang="en-US" dirty="0">
                <a:latin typeface="Courier New" panose="02070309020205020404" pitchFamily="49" charset="0"/>
              </a:rPr>
              <a:t>s1 = 'uva </a:t>
            </a:r>
            <a:r>
              <a:rPr lang="en-US" dirty="0" err="1">
                <a:latin typeface="Courier New" panose="02070309020205020404" pitchFamily="49" charset="0"/>
              </a:rPr>
              <a:t>Amxterdam</a:t>
            </a:r>
            <a:r>
              <a:rPr lang="en-US" dirty="0">
                <a:latin typeface="Courier New" panose="02070309020205020404" pitchFamily="49" charset="0"/>
              </a:rPr>
              <a:t>'</a:t>
            </a:r>
            <a:br>
              <a:rPr lang="en-US" dirty="0">
                <a:latin typeface="Courier New" panose="02070309020205020404" pitchFamily="49" charset="0"/>
              </a:rPr>
            </a:br>
            <a:r>
              <a:rPr lang="en-US" dirty="0">
                <a:latin typeface="Courier New" panose="02070309020205020404" pitchFamily="49" charset="0"/>
              </a:rPr>
              <a:t>s1[6] = 's'     # Gives an error</a:t>
            </a:r>
            <a:endParaRPr lang="nl-NL" dirty="0">
              <a:latin typeface="Courier New" panose="02070309020205020404" pitchFamily="49" charset="0"/>
            </a:endParaRPr>
          </a:p>
          <a:p>
            <a:pPr lvl="1"/>
            <a:r>
              <a:rPr lang="en-US" dirty="0">
                <a:latin typeface="Courier New" panose="02070309020205020404" pitchFamily="49" charset="0"/>
              </a:rPr>
              <a:t>s1 = 'uva </a:t>
            </a:r>
            <a:r>
              <a:rPr lang="en-US" dirty="0" err="1">
                <a:latin typeface="Courier New" panose="02070309020205020404" pitchFamily="49" charset="0"/>
              </a:rPr>
              <a:t>Amxterdam</a:t>
            </a:r>
            <a:r>
              <a:rPr lang="en-US" dirty="0">
                <a:latin typeface="Courier New" panose="02070309020205020404" pitchFamily="49" charset="0"/>
              </a:rPr>
              <a:t>'</a:t>
            </a:r>
            <a:br>
              <a:rPr lang="en-US" dirty="0">
                <a:latin typeface="Courier New" panose="02070309020205020404" pitchFamily="49" charset="0"/>
              </a:rPr>
            </a:br>
            <a:r>
              <a:rPr lang="en-US" dirty="0">
                <a:latin typeface="Courier New" panose="02070309020205020404" pitchFamily="49" charset="0"/>
              </a:rPr>
              <a:t>s1 = s1[:6] + 's' + s1[7:]</a:t>
            </a:r>
            <a:br>
              <a:rPr lang="en-US" dirty="0">
                <a:latin typeface="Courier New" panose="02070309020205020404" pitchFamily="49" charset="0"/>
              </a:rPr>
            </a:br>
            <a:r>
              <a:rPr lang="en-US" dirty="0">
                <a:latin typeface="Courier New" panose="02070309020205020404" pitchFamily="49" charset="0"/>
              </a:rPr>
              <a:t>print(s1)</a:t>
            </a:r>
            <a:r>
              <a:rPr lang="en-US" sz="3200" dirty="0">
                <a:latin typeface="Courier New" panose="02070309020205020404" pitchFamily="49" charset="0"/>
              </a:rPr>
              <a:t>     </a:t>
            </a:r>
            <a:r>
              <a:rPr lang="en-US" dirty="0">
                <a:latin typeface="Courier New" panose="02070309020205020404" pitchFamily="49" charset="0"/>
              </a:rPr>
              <a:t># works</a:t>
            </a:r>
          </a:p>
          <a:p>
            <a:r>
              <a:rPr lang="en-US" dirty="0"/>
              <a:t>'changing' a tuple: </a:t>
            </a:r>
            <a:endParaRPr lang="en-US" sz="3200" dirty="0">
              <a:latin typeface="Courier New" panose="02070309020205020404" pitchFamily="49" charset="0"/>
            </a:endParaRPr>
          </a:p>
          <a:p>
            <a:pPr lvl="1"/>
            <a:r>
              <a:rPr lang="en-US" dirty="0">
                <a:latin typeface="Courier New" panose="02070309020205020404" pitchFamily="49" charset="0"/>
              </a:rPr>
              <a:t>t1 = (1, 4, 3) </a:t>
            </a:r>
            <a:br>
              <a:rPr lang="en-US" dirty="0">
                <a:latin typeface="Courier New" panose="02070309020205020404" pitchFamily="49" charset="0"/>
              </a:rPr>
            </a:br>
            <a:r>
              <a:rPr lang="en-US" dirty="0">
                <a:latin typeface="Courier New" panose="02070309020205020404" pitchFamily="49" charset="0"/>
              </a:rPr>
              <a:t>t1[1] = 2       # Gives an error</a:t>
            </a:r>
            <a:endParaRPr lang="nl-NL" dirty="0">
              <a:latin typeface="Courier New" panose="02070309020205020404" pitchFamily="49" charset="0"/>
            </a:endParaRPr>
          </a:p>
          <a:p>
            <a:pPr lvl="1"/>
            <a:r>
              <a:rPr lang="en-US" dirty="0">
                <a:latin typeface="Courier New" panose="02070309020205020404" pitchFamily="49" charset="0"/>
              </a:rPr>
              <a:t>t1 = (1, 4, 3)</a:t>
            </a:r>
            <a:br>
              <a:rPr lang="en-US" dirty="0">
                <a:latin typeface="Courier New" panose="02070309020205020404" pitchFamily="49" charset="0"/>
              </a:rPr>
            </a:br>
            <a:r>
              <a:rPr lang="en-US" dirty="0">
                <a:latin typeface="Courier New" panose="02070309020205020404" pitchFamily="49" charset="0"/>
              </a:rPr>
              <a:t>t1 = t1[:1] + (2,) + t1[2:]</a:t>
            </a:r>
            <a:br>
              <a:rPr lang="en-US" dirty="0">
                <a:latin typeface="Courier New" panose="02070309020205020404" pitchFamily="49" charset="0"/>
              </a:rPr>
            </a:br>
            <a:r>
              <a:rPr lang="en-US" dirty="0">
                <a:latin typeface="Courier New" panose="02070309020205020404" pitchFamily="49" charset="0"/>
              </a:rPr>
              <a:t>print(t1)       # works</a:t>
            </a:r>
          </a:p>
          <a:p>
            <a:endParaRPr lang="nl-NL" sz="3200" dirty="0"/>
          </a:p>
        </p:txBody>
      </p:sp>
      <p:sp>
        <p:nvSpPr>
          <p:cNvPr id="6" name="Slide Number Placeholder 5">
            <a:extLst>
              <a:ext uri="{FF2B5EF4-FFF2-40B4-BE49-F238E27FC236}">
                <a16:creationId xmlns:a16="http://schemas.microsoft.com/office/drawing/2014/main" id="{007DF11C-323B-CE00-6049-63BBBDB7E345}"/>
              </a:ext>
            </a:extLst>
          </p:cNvPr>
          <p:cNvSpPr>
            <a:spLocks noGrp="1"/>
          </p:cNvSpPr>
          <p:nvPr>
            <p:ph type="sldNum" sz="quarter" idx="12"/>
          </p:nvPr>
        </p:nvSpPr>
        <p:spPr/>
        <p:txBody>
          <a:bodyPr/>
          <a:lstStyle/>
          <a:p>
            <a:fld id="{937257EE-0CEF-4D7E-9E69-5277D6172560}" type="slidenum">
              <a:rPr lang="nl-NL" smtClean="0">
                <a:solidFill>
                  <a:prstClr val="black">
                    <a:tint val="75000"/>
                  </a:prstClr>
                </a:solidFill>
              </a:rPr>
              <a:pPr/>
              <a:t>48</a:t>
            </a:fld>
            <a:endParaRPr lang="nl-NL">
              <a:solidFill>
                <a:prstClr val="black">
                  <a:tint val="75000"/>
                </a:prstClr>
              </a:solidFill>
            </a:endParaRPr>
          </a:p>
        </p:txBody>
      </p:sp>
    </p:spTree>
    <p:extLst>
      <p:ext uri="{BB962C8B-B14F-4D97-AF65-F5344CB8AC3E}">
        <p14:creationId xmlns:p14="http://schemas.microsoft.com/office/powerpoint/2010/main" val="34653547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12F33F-A141-0F90-6E0C-B391F2959544}"/>
              </a:ext>
            </a:extLst>
          </p:cNvPr>
          <p:cNvSpPr>
            <a:spLocks noGrp="1"/>
          </p:cNvSpPr>
          <p:nvPr>
            <p:ph type="title"/>
          </p:nvPr>
        </p:nvSpPr>
        <p:spPr>
          <a:xfrm>
            <a:off x="545592" y="263097"/>
            <a:ext cx="10515600" cy="1325563"/>
          </a:xfrm>
        </p:spPr>
        <p:txBody>
          <a:bodyPr/>
          <a:lstStyle/>
          <a:p>
            <a:r>
              <a:rPr lang="en-US" b="1" dirty="0"/>
              <a:t>Range</a:t>
            </a:r>
            <a:endParaRPr lang="nl-NL" b="1" dirty="0"/>
          </a:p>
        </p:txBody>
      </p:sp>
      <p:sp>
        <p:nvSpPr>
          <p:cNvPr id="3" name="Content Placeholder 2">
            <a:extLst>
              <a:ext uri="{FF2B5EF4-FFF2-40B4-BE49-F238E27FC236}">
                <a16:creationId xmlns:a16="http://schemas.microsoft.com/office/drawing/2014/main" id="{987FFBB7-D392-3BB1-6E4C-8815E69999CF}"/>
              </a:ext>
            </a:extLst>
          </p:cNvPr>
          <p:cNvSpPr>
            <a:spLocks noGrp="1"/>
          </p:cNvSpPr>
          <p:nvPr>
            <p:ph idx="1"/>
          </p:nvPr>
        </p:nvSpPr>
        <p:spPr>
          <a:xfrm>
            <a:off x="545592" y="1405000"/>
            <a:ext cx="10515600" cy="5032375"/>
          </a:xfrm>
        </p:spPr>
        <p:txBody>
          <a:bodyPr>
            <a:normAutofit lnSpcReduction="10000"/>
          </a:bodyPr>
          <a:lstStyle/>
          <a:p>
            <a:r>
              <a:rPr lang="nl-NL" sz="2600" dirty="0">
                <a:latin typeface="Courier New" panose="02070309020205020404" pitchFamily="49" charset="0"/>
              </a:rPr>
              <a:t>range</a:t>
            </a:r>
            <a:r>
              <a:rPr lang="nl-NL" i="1" dirty="0"/>
              <a:t>(start, stop, step</a:t>
            </a:r>
            <a:r>
              <a:rPr lang="nl-NL" dirty="0"/>
              <a:t>)</a:t>
            </a:r>
          </a:p>
          <a:p>
            <a:r>
              <a:rPr lang="nl-NL" dirty="0"/>
              <a:t>Range </a:t>
            </a:r>
            <a:r>
              <a:rPr lang="nl-NL" dirty="0" err="1"/>
              <a:t>function</a:t>
            </a:r>
            <a:r>
              <a:rPr lang="nl-NL" dirty="0"/>
              <a:t> is </a:t>
            </a:r>
            <a:r>
              <a:rPr lang="nl-NL" dirty="0" err="1"/>
              <a:t>used</a:t>
            </a:r>
            <a:r>
              <a:rPr lang="nl-NL" dirty="0"/>
              <a:t> </a:t>
            </a:r>
            <a:r>
              <a:rPr lang="nl-NL" dirty="0" err="1"/>
              <a:t>to</a:t>
            </a:r>
            <a:r>
              <a:rPr lang="nl-NL" dirty="0"/>
              <a:t> </a:t>
            </a:r>
            <a:r>
              <a:rPr lang="nl-NL" dirty="0" err="1"/>
              <a:t>generate</a:t>
            </a:r>
            <a:r>
              <a:rPr lang="nl-NL" dirty="0"/>
              <a:t> a series of </a:t>
            </a:r>
            <a:r>
              <a:rPr lang="nl-NL" dirty="0" err="1"/>
              <a:t>numbers</a:t>
            </a:r>
            <a:r>
              <a:rPr lang="nl-NL" dirty="0"/>
              <a:t>. The start, stop and step parameters </a:t>
            </a:r>
            <a:r>
              <a:rPr lang="nl-NL" dirty="0" err="1"/>
              <a:t>work</a:t>
            </a:r>
            <a:r>
              <a:rPr lang="nl-NL" dirty="0"/>
              <a:t> </a:t>
            </a:r>
            <a:r>
              <a:rPr lang="nl-NL" dirty="0" err="1"/>
              <a:t>similar</a:t>
            </a:r>
            <a:r>
              <a:rPr lang="nl-NL" dirty="0"/>
              <a:t> as in list </a:t>
            </a:r>
            <a:r>
              <a:rPr lang="nl-NL" dirty="0" err="1"/>
              <a:t>slicing</a:t>
            </a:r>
            <a:r>
              <a:rPr lang="nl-NL" dirty="0"/>
              <a:t>, but as </a:t>
            </a:r>
            <a:r>
              <a:rPr lang="nl-NL" dirty="0" err="1"/>
              <a:t>you</a:t>
            </a:r>
            <a:r>
              <a:rPr lang="nl-NL" dirty="0"/>
              <a:t> </a:t>
            </a:r>
            <a:r>
              <a:rPr lang="nl-NL" dirty="0" err="1"/>
              <a:t>will</a:t>
            </a:r>
            <a:r>
              <a:rPr lang="nl-NL" dirty="0"/>
              <a:t> </a:t>
            </a:r>
            <a:r>
              <a:rPr lang="nl-NL" dirty="0" err="1"/>
              <a:t>see</a:t>
            </a:r>
            <a:r>
              <a:rPr lang="nl-NL" dirty="0"/>
              <a:t> the </a:t>
            </a:r>
            <a:r>
              <a:rPr lang="nl-NL" dirty="0" err="1"/>
              <a:t>defaults</a:t>
            </a:r>
            <a:r>
              <a:rPr lang="nl-NL" dirty="0"/>
              <a:t> </a:t>
            </a:r>
            <a:r>
              <a:rPr lang="nl-NL" dirty="0" err="1"/>
              <a:t>work</a:t>
            </a:r>
            <a:r>
              <a:rPr lang="nl-NL" dirty="0"/>
              <a:t> a bit different. </a:t>
            </a:r>
          </a:p>
          <a:p>
            <a:pPr marL="457200" lvl="1" indent="0">
              <a:buNone/>
            </a:pPr>
            <a:r>
              <a:rPr lang="nl-NL" dirty="0"/>
              <a:t> </a:t>
            </a:r>
          </a:p>
          <a:p>
            <a:pPr marL="457200" lvl="1" indent="0">
              <a:buNone/>
            </a:pPr>
            <a:r>
              <a:rPr lang="nl-NL" sz="2200" dirty="0">
                <a:latin typeface="Courier New" panose="02070309020205020404" pitchFamily="49" charset="0"/>
              </a:rPr>
              <a:t>x = list(range(6))</a:t>
            </a:r>
          </a:p>
          <a:p>
            <a:pPr marL="457200" lvl="1" indent="0">
              <a:buNone/>
            </a:pPr>
            <a:r>
              <a:rPr lang="nl-NL" sz="2200" dirty="0">
                <a:latin typeface="Courier New" panose="02070309020205020404" pitchFamily="49" charset="0"/>
              </a:rPr>
              <a:t>print(x)    # </a:t>
            </a:r>
            <a:r>
              <a:rPr lang="nl-NL" sz="2200" dirty="0" err="1">
                <a:latin typeface="Courier New" panose="02070309020205020404" pitchFamily="49" charset="0"/>
              </a:rPr>
              <a:t>Onscreen</a:t>
            </a:r>
            <a:r>
              <a:rPr lang="nl-NL" sz="2200" dirty="0">
                <a:latin typeface="Courier New" panose="02070309020205020404" pitchFamily="49" charset="0"/>
              </a:rPr>
              <a:t>: [0, 1, 2, 3, 4, 5] </a:t>
            </a:r>
          </a:p>
          <a:p>
            <a:pPr marL="457200" lvl="1" indent="0">
              <a:buNone/>
            </a:pPr>
            <a:endParaRPr lang="nl-NL" sz="2200" dirty="0">
              <a:latin typeface="Courier New" panose="02070309020205020404" pitchFamily="49" charset="0"/>
            </a:endParaRPr>
          </a:p>
          <a:p>
            <a:pPr marL="457200" lvl="1" indent="0">
              <a:buNone/>
            </a:pPr>
            <a:r>
              <a:rPr lang="nl-NL" sz="2200" dirty="0">
                <a:latin typeface="Courier New" panose="02070309020205020404" pitchFamily="49" charset="0"/>
              </a:rPr>
              <a:t>x = list(range(3,6))</a:t>
            </a:r>
          </a:p>
          <a:p>
            <a:pPr marL="457200" lvl="1" indent="0">
              <a:buNone/>
            </a:pPr>
            <a:r>
              <a:rPr lang="nl-NL" sz="2200" dirty="0">
                <a:latin typeface="Courier New" panose="02070309020205020404" pitchFamily="49" charset="0"/>
              </a:rPr>
              <a:t>print(x)    # </a:t>
            </a:r>
            <a:r>
              <a:rPr lang="nl-NL" sz="2200" dirty="0" err="1">
                <a:latin typeface="Courier New" panose="02070309020205020404" pitchFamily="49" charset="0"/>
              </a:rPr>
              <a:t>Onscreen</a:t>
            </a:r>
            <a:r>
              <a:rPr lang="nl-NL" sz="2200" dirty="0">
                <a:latin typeface="Courier New" panose="02070309020205020404" pitchFamily="49" charset="0"/>
              </a:rPr>
              <a:t>: [3, 4, 5]</a:t>
            </a:r>
          </a:p>
          <a:p>
            <a:pPr marL="457200" lvl="1" indent="0">
              <a:buNone/>
            </a:pPr>
            <a:endParaRPr lang="nl-NL" sz="2200" dirty="0">
              <a:latin typeface="Courier New" panose="02070309020205020404" pitchFamily="49" charset="0"/>
            </a:endParaRPr>
          </a:p>
          <a:p>
            <a:pPr marL="457200" lvl="1" indent="0">
              <a:buNone/>
            </a:pPr>
            <a:r>
              <a:rPr lang="nl-NL" sz="2200" dirty="0">
                <a:latin typeface="Courier New" panose="02070309020205020404" pitchFamily="49" charset="0"/>
              </a:rPr>
              <a:t>x = list(range(3,6,2))</a:t>
            </a:r>
          </a:p>
          <a:p>
            <a:pPr marL="457200" lvl="1" indent="0">
              <a:buNone/>
            </a:pPr>
            <a:r>
              <a:rPr lang="nl-NL" sz="2200" dirty="0">
                <a:latin typeface="Courier New" panose="02070309020205020404" pitchFamily="49" charset="0"/>
              </a:rPr>
              <a:t>print(x)    # </a:t>
            </a:r>
            <a:r>
              <a:rPr lang="nl-NL" sz="2200" dirty="0" err="1">
                <a:latin typeface="Courier New" panose="02070309020205020404" pitchFamily="49" charset="0"/>
              </a:rPr>
              <a:t>Onscreen</a:t>
            </a:r>
            <a:r>
              <a:rPr lang="nl-NL" sz="2200" dirty="0">
                <a:latin typeface="Courier New" panose="02070309020205020404" pitchFamily="49" charset="0"/>
              </a:rPr>
              <a:t>: [3, 5]</a:t>
            </a:r>
          </a:p>
          <a:p>
            <a:endParaRPr lang="nl-NL" dirty="0"/>
          </a:p>
        </p:txBody>
      </p:sp>
      <p:sp>
        <p:nvSpPr>
          <p:cNvPr id="6" name="Slide Number Placeholder 5">
            <a:extLst>
              <a:ext uri="{FF2B5EF4-FFF2-40B4-BE49-F238E27FC236}">
                <a16:creationId xmlns:a16="http://schemas.microsoft.com/office/drawing/2014/main" id="{007DF11C-323B-CE00-6049-63BBBDB7E345}"/>
              </a:ext>
            </a:extLst>
          </p:cNvPr>
          <p:cNvSpPr>
            <a:spLocks noGrp="1"/>
          </p:cNvSpPr>
          <p:nvPr>
            <p:ph type="sldNum" sz="quarter" idx="12"/>
          </p:nvPr>
        </p:nvSpPr>
        <p:spPr/>
        <p:txBody>
          <a:bodyPr/>
          <a:lstStyle/>
          <a:p>
            <a:fld id="{937257EE-0CEF-4D7E-9E69-5277D6172560}" type="slidenum">
              <a:rPr lang="nl-NL" smtClean="0">
                <a:solidFill>
                  <a:prstClr val="black">
                    <a:tint val="75000"/>
                  </a:prstClr>
                </a:solidFill>
              </a:rPr>
              <a:pPr/>
              <a:t>49</a:t>
            </a:fld>
            <a:endParaRPr lang="nl-NL">
              <a:solidFill>
                <a:prstClr val="black">
                  <a:tint val="75000"/>
                </a:prstClr>
              </a:solidFill>
            </a:endParaRPr>
          </a:p>
        </p:txBody>
      </p:sp>
    </p:spTree>
    <p:extLst>
      <p:ext uri="{BB962C8B-B14F-4D97-AF65-F5344CB8AC3E}">
        <p14:creationId xmlns:p14="http://schemas.microsoft.com/office/powerpoint/2010/main" val="24659282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12F33F-A141-0F90-6E0C-B391F2959544}"/>
              </a:ext>
            </a:extLst>
          </p:cNvPr>
          <p:cNvSpPr>
            <a:spLocks noGrp="1"/>
          </p:cNvSpPr>
          <p:nvPr>
            <p:ph type="title"/>
          </p:nvPr>
        </p:nvSpPr>
        <p:spPr>
          <a:xfrm>
            <a:off x="545592" y="263097"/>
            <a:ext cx="10515600" cy="1325563"/>
          </a:xfrm>
        </p:spPr>
        <p:txBody>
          <a:bodyPr/>
          <a:lstStyle/>
          <a:p>
            <a:r>
              <a:rPr lang="en-US" b="1" dirty="0"/>
              <a:t>Functions</a:t>
            </a:r>
            <a:endParaRPr lang="nl-NL" b="1" dirty="0"/>
          </a:p>
        </p:txBody>
      </p:sp>
      <p:sp>
        <p:nvSpPr>
          <p:cNvPr id="3" name="Content Placeholder 2">
            <a:extLst>
              <a:ext uri="{FF2B5EF4-FFF2-40B4-BE49-F238E27FC236}">
                <a16:creationId xmlns:a16="http://schemas.microsoft.com/office/drawing/2014/main" id="{987FFBB7-D392-3BB1-6E4C-8815E69999CF}"/>
              </a:ext>
            </a:extLst>
          </p:cNvPr>
          <p:cNvSpPr>
            <a:spLocks noGrp="1"/>
          </p:cNvSpPr>
          <p:nvPr>
            <p:ph idx="1"/>
          </p:nvPr>
        </p:nvSpPr>
        <p:spPr>
          <a:xfrm>
            <a:off x="545592" y="1405000"/>
            <a:ext cx="10515600" cy="5032375"/>
          </a:xfrm>
        </p:spPr>
        <p:txBody>
          <a:bodyPr>
            <a:normAutofit fontScale="77500" lnSpcReduction="20000"/>
          </a:bodyPr>
          <a:lstStyle/>
          <a:p>
            <a:r>
              <a:rPr lang="en-US" dirty="0"/>
              <a:t>We often want to (re)use pieces of code</a:t>
            </a:r>
          </a:p>
          <a:p>
            <a:r>
              <a:rPr lang="en-US" dirty="0"/>
              <a:t>Pieces of code can be wrapped into a function, given a name, and then re-used by referencing that name</a:t>
            </a:r>
          </a:p>
          <a:p>
            <a:r>
              <a:rPr lang="en-US" dirty="0"/>
              <a:t>We can pass input to a function, these values are called arguments</a:t>
            </a:r>
          </a:p>
          <a:p>
            <a:r>
              <a:rPr lang="en-US" dirty="0"/>
              <a:t>Functions can create output, we say functions can return a value</a:t>
            </a:r>
          </a:p>
          <a:p>
            <a:pPr marL="457200" lvl="1" indent="0">
              <a:buNone/>
            </a:pPr>
            <a:r>
              <a:rPr lang="en-US" dirty="0" err="1">
                <a:latin typeface="Courier New" panose="02070309020205020404" pitchFamily="49" charset="0"/>
                <a:cs typeface="Courier New" panose="02070309020205020404" pitchFamily="49" charset="0"/>
              </a:rPr>
              <a:t>def</a:t>
            </a:r>
            <a:r>
              <a:rPr lang="en-US" dirty="0">
                <a:latin typeface="Courier New" panose="02070309020205020404" pitchFamily="49" charset="0"/>
                <a:cs typeface="Courier New" panose="02070309020205020404" pitchFamily="49" charset="0"/>
              </a:rPr>
              <a:t> size(length, width):</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return length * width</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print(size (2,3)) </a:t>
            </a:r>
            <a:r>
              <a:rPr lang="en-US" sz="2500" dirty="0">
                <a:latin typeface="Courier New" panose="02070309020205020404" pitchFamily="49" charset="0"/>
                <a:cs typeface="Courier New" panose="02070309020205020404" pitchFamily="49" charset="0"/>
              </a:rPr>
              <a:t># Onscreen: 6</a:t>
            </a:r>
          </a:p>
          <a:p>
            <a:r>
              <a:rPr lang="en-US" dirty="0"/>
              <a:t>Python comes with a lot of built-in functions, we already saw:</a:t>
            </a:r>
          </a:p>
          <a:p>
            <a:pPr marL="457200" lvl="1" indent="0">
              <a:buNone/>
            </a:pPr>
            <a:r>
              <a:rPr lang="en-US" sz="2500" dirty="0">
                <a:latin typeface="Courier New" panose="02070309020205020404" pitchFamily="49" charset="0"/>
                <a:cs typeface="Courier New" panose="02070309020205020404" pitchFamily="49" charset="0"/>
              </a:rPr>
              <a:t>print</a:t>
            </a:r>
          </a:p>
          <a:p>
            <a:pPr marL="457200" lvl="1" indent="0">
              <a:buNone/>
            </a:pPr>
            <a:r>
              <a:rPr lang="en-US" sz="2500" dirty="0">
                <a:latin typeface="Courier New" panose="02070309020205020404" pitchFamily="49" charset="0"/>
                <a:cs typeface="Courier New" panose="02070309020205020404" pitchFamily="49" charset="0"/>
              </a:rPr>
              <a:t>id</a:t>
            </a:r>
          </a:p>
          <a:p>
            <a:pPr marL="457200" lvl="1" indent="0">
              <a:buNone/>
            </a:pPr>
            <a:r>
              <a:rPr lang="en-US" sz="2500" dirty="0" err="1">
                <a:latin typeface="Courier New" panose="02070309020205020404" pitchFamily="49" charset="0"/>
                <a:cs typeface="Courier New" panose="02070309020205020404" pitchFamily="49" charset="0"/>
              </a:rPr>
              <a:t>len</a:t>
            </a:r>
            <a:endParaRPr lang="en-US" sz="2500" dirty="0">
              <a:latin typeface="Courier New" panose="02070309020205020404" pitchFamily="49" charset="0"/>
              <a:cs typeface="Courier New" panose="02070309020205020404" pitchFamily="49" charset="0"/>
            </a:endParaRPr>
          </a:p>
          <a:p>
            <a:pPr marL="457200" lvl="1" indent="0">
              <a:buNone/>
            </a:pPr>
            <a:r>
              <a:rPr lang="en-US" sz="2500" dirty="0">
                <a:latin typeface="Courier New" panose="02070309020205020404" pitchFamily="49" charset="0"/>
                <a:cs typeface="Courier New" panose="02070309020205020404" pitchFamily="49" charset="0"/>
              </a:rPr>
              <a:t>type</a:t>
            </a:r>
          </a:p>
          <a:p>
            <a:pPr marL="457200" lvl="1" indent="0">
              <a:buNone/>
            </a:pPr>
            <a:r>
              <a:rPr lang="en-US" sz="2500" dirty="0">
                <a:latin typeface="Courier New" panose="02070309020205020404" pitchFamily="49" charset="0"/>
                <a:cs typeface="Courier New" panose="02070309020205020404" pitchFamily="49" charset="0"/>
              </a:rPr>
              <a:t>del</a:t>
            </a:r>
          </a:p>
          <a:p>
            <a:r>
              <a:rPr lang="en-US" dirty="0"/>
              <a:t>We don't much care how these built-in functions are written, we just want to know what it does ( = how it turns inputs into outputs)</a:t>
            </a:r>
          </a:p>
          <a:p>
            <a:r>
              <a:rPr lang="en-US" dirty="0"/>
              <a:t>We will write our own functions from Week 3 onwards</a:t>
            </a:r>
          </a:p>
        </p:txBody>
      </p:sp>
      <p:sp>
        <p:nvSpPr>
          <p:cNvPr id="6" name="Slide Number Placeholder 5">
            <a:extLst>
              <a:ext uri="{FF2B5EF4-FFF2-40B4-BE49-F238E27FC236}">
                <a16:creationId xmlns:a16="http://schemas.microsoft.com/office/drawing/2014/main" id="{007DF11C-323B-CE00-6049-63BBBDB7E345}"/>
              </a:ext>
            </a:extLst>
          </p:cNvPr>
          <p:cNvSpPr>
            <a:spLocks noGrp="1"/>
          </p:cNvSpPr>
          <p:nvPr>
            <p:ph type="sldNum" sz="quarter" idx="12"/>
          </p:nvPr>
        </p:nvSpPr>
        <p:spPr/>
        <p:txBody>
          <a:bodyPr/>
          <a:lstStyle/>
          <a:p>
            <a:fld id="{937257EE-0CEF-4D7E-9E69-5277D6172560}" type="slidenum">
              <a:rPr lang="nl-NL" smtClean="0">
                <a:solidFill>
                  <a:prstClr val="black">
                    <a:tint val="75000"/>
                  </a:prstClr>
                </a:solidFill>
              </a:rPr>
              <a:pPr/>
              <a:t>50</a:t>
            </a:fld>
            <a:endParaRPr lang="nl-NL">
              <a:solidFill>
                <a:prstClr val="black">
                  <a:tint val="75000"/>
                </a:prstClr>
              </a:solidFill>
            </a:endParaRPr>
          </a:p>
        </p:txBody>
      </p:sp>
    </p:spTree>
    <p:extLst>
      <p:ext uri="{BB962C8B-B14F-4D97-AF65-F5344CB8AC3E}">
        <p14:creationId xmlns:p14="http://schemas.microsoft.com/office/powerpoint/2010/main" val="7972619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12F33F-A141-0F90-6E0C-B391F2959544}"/>
              </a:ext>
            </a:extLst>
          </p:cNvPr>
          <p:cNvSpPr>
            <a:spLocks noGrp="1"/>
          </p:cNvSpPr>
          <p:nvPr>
            <p:ph type="title"/>
          </p:nvPr>
        </p:nvSpPr>
        <p:spPr>
          <a:xfrm>
            <a:off x="545592" y="263097"/>
            <a:ext cx="10515600" cy="1325563"/>
          </a:xfrm>
        </p:spPr>
        <p:txBody>
          <a:bodyPr/>
          <a:lstStyle/>
          <a:p>
            <a:r>
              <a:rPr lang="en-US" b="1" dirty="0"/>
              <a:t>Objects</a:t>
            </a:r>
            <a:endParaRPr lang="nl-NL" b="1" dirty="0"/>
          </a:p>
        </p:txBody>
      </p:sp>
      <p:sp>
        <p:nvSpPr>
          <p:cNvPr id="3" name="Content Placeholder 2">
            <a:extLst>
              <a:ext uri="{FF2B5EF4-FFF2-40B4-BE49-F238E27FC236}">
                <a16:creationId xmlns:a16="http://schemas.microsoft.com/office/drawing/2014/main" id="{987FFBB7-D392-3BB1-6E4C-8815E69999CF}"/>
              </a:ext>
            </a:extLst>
          </p:cNvPr>
          <p:cNvSpPr>
            <a:spLocks noGrp="1"/>
          </p:cNvSpPr>
          <p:nvPr>
            <p:ph idx="1"/>
          </p:nvPr>
        </p:nvSpPr>
        <p:spPr>
          <a:xfrm>
            <a:off x="545592" y="1405000"/>
            <a:ext cx="10515600" cy="5032375"/>
          </a:xfrm>
        </p:spPr>
        <p:txBody>
          <a:bodyPr>
            <a:noAutofit/>
          </a:bodyPr>
          <a:lstStyle/>
          <a:p>
            <a:r>
              <a:rPr lang="en-US" sz="2400" dirty="0"/>
              <a:t>Organizing your code in functions is a good idea, but organizing your code in objects may be even better </a:t>
            </a:r>
          </a:p>
          <a:p>
            <a:r>
              <a:rPr lang="en-US" sz="2400" dirty="0"/>
              <a:t>Objects can encapsulate (≈ contain) functions and data</a:t>
            </a:r>
          </a:p>
          <a:p>
            <a:r>
              <a:rPr lang="en-US" sz="2400" dirty="0"/>
              <a:t>Objects are always defined on the basis of a blueprint, and that blueprint is called a class, so you first have to define the class: </a:t>
            </a:r>
          </a:p>
          <a:p>
            <a:pPr marL="457200" lvl="1" indent="0">
              <a:lnSpc>
                <a:spcPct val="100000"/>
              </a:lnSpc>
              <a:buNone/>
            </a:pPr>
            <a:r>
              <a:rPr lang="en-US" dirty="0">
                <a:latin typeface="Courier New" panose="02070309020205020404" pitchFamily="49" charset="0"/>
                <a:cs typeface="Courier New" panose="02070309020205020404" pitchFamily="49" charset="0"/>
              </a:rPr>
              <a:t>class Rectangle:</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def</a:t>
            </a:r>
            <a:r>
              <a:rPr lang="en-US" dirty="0">
                <a:latin typeface="Courier New" panose="02070309020205020404" pitchFamily="49" charset="0"/>
                <a:cs typeface="Courier New" panose="02070309020205020404" pitchFamily="49" charset="0"/>
              </a:rPr>
              <a:t> __</a:t>
            </a:r>
            <a:r>
              <a:rPr lang="en-US" dirty="0" err="1">
                <a:latin typeface="Courier New" panose="02070309020205020404" pitchFamily="49" charset="0"/>
                <a:cs typeface="Courier New" panose="02070309020205020404" pitchFamily="49" charset="0"/>
              </a:rPr>
              <a:t>init</a:t>
            </a:r>
            <a:r>
              <a:rPr lang="en-US" dirty="0">
                <a:latin typeface="Courier New" panose="02070309020205020404" pitchFamily="49" charset="0"/>
                <a:cs typeface="Courier New" panose="02070309020205020404" pitchFamily="49" charset="0"/>
              </a:rPr>
              <a:t>__(self, length, width):</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self.length</a:t>
            </a:r>
            <a:r>
              <a:rPr lang="en-US" dirty="0">
                <a:latin typeface="Courier New" panose="02070309020205020404" pitchFamily="49" charset="0"/>
                <a:cs typeface="Courier New" panose="02070309020205020404" pitchFamily="49" charset="0"/>
              </a:rPr>
              <a:t> = length</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self.width</a:t>
            </a:r>
            <a:r>
              <a:rPr lang="en-US" dirty="0">
                <a:latin typeface="Courier New" panose="02070309020205020404" pitchFamily="49" charset="0"/>
                <a:cs typeface="Courier New" panose="02070309020205020404" pitchFamily="49" charset="0"/>
              </a:rPr>
              <a:t> = width</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def</a:t>
            </a:r>
            <a:r>
              <a:rPr lang="en-US" dirty="0">
                <a:latin typeface="Courier New" panose="02070309020205020404" pitchFamily="49" charset="0"/>
                <a:cs typeface="Courier New" panose="02070309020205020404" pitchFamily="49" charset="0"/>
              </a:rPr>
              <a:t> size(self):</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return </a:t>
            </a:r>
            <a:r>
              <a:rPr lang="en-US" dirty="0" err="1">
                <a:latin typeface="Courier New" panose="02070309020205020404" pitchFamily="49" charset="0"/>
                <a:cs typeface="Courier New" panose="02070309020205020404" pitchFamily="49" charset="0"/>
              </a:rPr>
              <a:t>self.length</a:t>
            </a:r>
            <a:r>
              <a:rPr lang="en-US" dirty="0">
                <a:latin typeface="Courier New" panose="02070309020205020404" pitchFamily="49" charset="0"/>
                <a:cs typeface="Courier New" panose="02070309020205020404" pitchFamily="49" charset="0"/>
              </a:rPr>
              <a:t> * </a:t>
            </a:r>
            <a:r>
              <a:rPr lang="en-US" dirty="0" err="1">
                <a:latin typeface="Courier New" panose="02070309020205020404" pitchFamily="49" charset="0"/>
                <a:cs typeface="Courier New" panose="02070309020205020404" pitchFamily="49" charset="0"/>
              </a:rPr>
              <a:t>self.width</a:t>
            </a:r>
            <a:br>
              <a:rPr lang="en-US" dirty="0">
                <a:latin typeface="Courier New" panose="02070309020205020404" pitchFamily="49" charset="0"/>
                <a:cs typeface="Courier New" panose="02070309020205020404" pitchFamily="49" charset="0"/>
              </a:rPr>
            </a:br>
            <a:endParaRPr lang="en-US" dirty="0">
              <a:latin typeface="Courier New" panose="02070309020205020404" pitchFamily="49" charset="0"/>
              <a:cs typeface="Courier New" panose="02070309020205020404" pitchFamily="49" charset="0"/>
            </a:endParaRPr>
          </a:p>
        </p:txBody>
      </p:sp>
      <p:sp>
        <p:nvSpPr>
          <p:cNvPr id="6" name="Slide Number Placeholder 5">
            <a:extLst>
              <a:ext uri="{FF2B5EF4-FFF2-40B4-BE49-F238E27FC236}">
                <a16:creationId xmlns:a16="http://schemas.microsoft.com/office/drawing/2014/main" id="{007DF11C-323B-CE00-6049-63BBBDB7E345}"/>
              </a:ext>
            </a:extLst>
          </p:cNvPr>
          <p:cNvSpPr>
            <a:spLocks noGrp="1"/>
          </p:cNvSpPr>
          <p:nvPr>
            <p:ph type="sldNum" sz="quarter" idx="12"/>
          </p:nvPr>
        </p:nvSpPr>
        <p:spPr/>
        <p:txBody>
          <a:bodyPr/>
          <a:lstStyle/>
          <a:p>
            <a:fld id="{937257EE-0CEF-4D7E-9E69-5277D6172560}" type="slidenum">
              <a:rPr lang="nl-NL" smtClean="0">
                <a:solidFill>
                  <a:prstClr val="black">
                    <a:tint val="75000"/>
                  </a:prstClr>
                </a:solidFill>
              </a:rPr>
              <a:pPr/>
              <a:t>51</a:t>
            </a:fld>
            <a:endParaRPr lang="nl-NL">
              <a:solidFill>
                <a:prstClr val="black">
                  <a:tint val="75000"/>
                </a:prstClr>
              </a:solidFill>
            </a:endParaRPr>
          </a:p>
        </p:txBody>
      </p:sp>
    </p:spTree>
    <p:extLst>
      <p:ext uri="{BB962C8B-B14F-4D97-AF65-F5344CB8AC3E}">
        <p14:creationId xmlns:p14="http://schemas.microsoft.com/office/powerpoint/2010/main" val="36791279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12F33F-A141-0F90-6E0C-B391F2959544}"/>
              </a:ext>
            </a:extLst>
          </p:cNvPr>
          <p:cNvSpPr>
            <a:spLocks noGrp="1"/>
          </p:cNvSpPr>
          <p:nvPr>
            <p:ph type="title"/>
          </p:nvPr>
        </p:nvSpPr>
        <p:spPr>
          <a:xfrm>
            <a:off x="545592" y="263097"/>
            <a:ext cx="10515600" cy="1325563"/>
          </a:xfrm>
        </p:spPr>
        <p:txBody>
          <a:bodyPr/>
          <a:lstStyle/>
          <a:p>
            <a:r>
              <a:rPr lang="en-US" b="1" dirty="0"/>
              <a:t>Objects</a:t>
            </a:r>
            <a:endParaRPr lang="nl-NL" b="1" dirty="0"/>
          </a:p>
        </p:txBody>
      </p:sp>
      <p:sp>
        <p:nvSpPr>
          <p:cNvPr id="3" name="Content Placeholder 2">
            <a:extLst>
              <a:ext uri="{FF2B5EF4-FFF2-40B4-BE49-F238E27FC236}">
                <a16:creationId xmlns:a16="http://schemas.microsoft.com/office/drawing/2014/main" id="{987FFBB7-D392-3BB1-6E4C-8815E69999CF}"/>
              </a:ext>
            </a:extLst>
          </p:cNvPr>
          <p:cNvSpPr>
            <a:spLocks noGrp="1"/>
          </p:cNvSpPr>
          <p:nvPr>
            <p:ph idx="1"/>
          </p:nvPr>
        </p:nvSpPr>
        <p:spPr>
          <a:xfrm>
            <a:off x="545592" y="1405000"/>
            <a:ext cx="10515600" cy="5032375"/>
          </a:xfrm>
        </p:spPr>
        <p:txBody>
          <a:bodyPr>
            <a:normAutofit/>
          </a:bodyPr>
          <a:lstStyle/>
          <a:p>
            <a:r>
              <a:rPr lang="en-US" sz="2400" dirty="0">
                <a:latin typeface="Courier New" panose="02070309020205020404" pitchFamily="49" charset="0"/>
                <a:cs typeface="Courier New" panose="02070309020205020404" pitchFamily="49" charset="0"/>
              </a:rPr>
              <a:t>class Rectangle:</a:t>
            </a:r>
            <a:br>
              <a:rPr lang="en-US" sz="2400" dirty="0">
                <a:latin typeface="Courier New" panose="02070309020205020404" pitchFamily="49" charset="0"/>
                <a:cs typeface="Courier New" panose="02070309020205020404" pitchFamily="49" charset="0"/>
              </a:rPr>
            </a:br>
            <a:r>
              <a:rPr lang="en-US" sz="2400" dirty="0">
                <a:latin typeface="Courier New" panose="02070309020205020404" pitchFamily="49" charset="0"/>
                <a:cs typeface="Courier New" panose="02070309020205020404" pitchFamily="49" charset="0"/>
              </a:rPr>
              <a:t>    def __</a:t>
            </a:r>
            <a:r>
              <a:rPr lang="en-US" sz="2400" dirty="0" err="1">
                <a:latin typeface="Courier New" panose="02070309020205020404" pitchFamily="49" charset="0"/>
                <a:cs typeface="Courier New" panose="02070309020205020404" pitchFamily="49" charset="0"/>
              </a:rPr>
              <a:t>init</a:t>
            </a:r>
            <a:r>
              <a:rPr lang="en-US" sz="2400" dirty="0">
                <a:latin typeface="Courier New" panose="02070309020205020404" pitchFamily="49" charset="0"/>
                <a:cs typeface="Courier New" panose="02070309020205020404" pitchFamily="49" charset="0"/>
              </a:rPr>
              <a:t>__(self, length, width):</a:t>
            </a:r>
            <a:br>
              <a:rPr lang="en-US" sz="2400" dirty="0">
                <a:latin typeface="Courier New" panose="02070309020205020404" pitchFamily="49" charset="0"/>
                <a:cs typeface="Courier New" panose="02070309020205020404" pitchFamily="49" charset="0"/>
              </a:rPr>
            </a:b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self.length</a:t>
            </a:r>
            <a:r>
              <a:rPr lang="en-US" sz="2400" dirty="0">
                <a:latin typeface="Courier New" panose="02070309020205020404" pitchFamily="49" charset="0"/>
                <a:cs typeface="Courier New" panose="02070309020205020404" pitchFamily="49" charset="0"/>
              </a:rPr>
              <a:t> = length</a:t>
            </a:r>
            <a:br>
              <a:rPr lang="en-US" sz="2400" dirty="0">
                <a:latin typeface="Courier New" panose="02070309020205020404" pitchFamily="49" charset="0"/>
                <a:cs typeface="Courier New" panose="02070309020205020404" pitchFamily="49" charset="0"/>
              </a:rPr>
            </a:b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self.width</a:t>
            </a:r>
            <a:r>
              <a:rPr lang="en-US" sz="2400" dirty="0">
                <a:latin typeface="Courier New" panose="02070309020205020404" pitchFamily="49" charset="0"/>
                <a:cs typeface="Courier New" panose="02070309020205020404" pitchFamily="49" charset="0"/>
              </a:rPr>
              <a:t> = width</a:t>
            </a:r>
            <a:br>
              <a:rPr lang="en-US" sz="2400" dirty="0">
                <a:latin typeface="Courier New" panose="02070309020205020404" pitchFamily="49" charset="0"/>
                <a:cs typeface="Courier New" panose="02070309020205020404" pitchFamily="49" charset="0"/>
              </a:rPr>
            </a:br>
            <a:r>
              <a:rPr lang="en-US" sz="2400" dirty="0">
                <a:latin typeface="Courier New" panose="02070309020205020404" pitchFamily="49" charset="0"/>
                <a:cs typeface="Courier New" panose="02070309020205020404" pitchFamily="49" charset="0"/>
              </a:rPr>
              <a:t>    def size(self):</a:t>
            </a:r>
            <a:br>
              <a:rPr lang="en-US" sz="2400" dirty="0">
                <a:latin typeface="Courier New" panose="02070309020205020404" pitchFamily="49" charset="0"/>
                <a:cs typeface="Courier New" panose="02070309020205020404" pitchFamily="49" charset="0"/>
              </a:rPr>
            </a:br>
            <a:r>
              <a:rPr lang="en-US" sz="2400" dirty="0">
                <a:latin typeface="Courier New" panose="02070309020205020404" pitchFamily="49" charset="0"/>
                <a:cs typeface="Courier New" panose="02070309020205020404" pitchFamily="49" charset="0"/>
              </a:rPr>
              <a:t>        return </a:t>
            </a:r>
            <a:r>
              <a:rPr lang="en-US" sz="2400" dirty="0" err="1">
                <a:latin typeface="Courier New" panose="02070309020205020404" pitchFamily="49" charset="0"/>
                <a:cs typeface="Courier New" panose="02070309020205020404" pitchFamily="49" charset="0"/>
              </a:rPr>
              <a:t>self.length</a:t>
            </a:r>
            <a:r>
              <a:rPr lang="en-US" sz="2400" dirty="0">
                <a:latin typeface="Courier New" panose="02070309020205020404" pitchFamily="49" charset="0"/>
                <a:cs typeface="Courier New" panose="02070309020205020404" pitchFamily="49" charset="0"/>
              </a:rPr>
              <a:t> * </a:t>
            </a:r>
            <a:r>
              <a:rPr lang="en-US" sz="2400" dirty="0" err="1">
                <a:latin typeface="Courier New" panose="02070309020205020404" pitchFamily="49" charset="0"/>
                <a:cs typeface="Courier New" panose="02070309020205020404" pitchFamily="49" charset="0"/>
              </a:rPr>
              <a:t>self.width</a:t>
            </a:r>
            <a:endParaRPr lang="en-US" sz="2400" dirty="0">
              <a:latin typeface="Arial" panose="020B0604020202020204" pitchFamily="34" charset="0"/>
            </a:endParaRPr>
          </a:p>
          <a:p>
            <a:r>
              <a:rPr lang="en-US" sz="2400" dirty="0">
                <a:latin typeface="Arial" panose="020B0604020202020204" pitchFamily="34" charset="0"/>
              </a:rPr>
              <a:t>And now you can define your objects: </a:t>
            </a:r>
          </a:p>
          <a:p>
            <a:pPr marL="457200" lvl="1" indent="0">
              <a:lnSpc>
                <a:spcPct val="100000"/>
              </a:lnSpc>
              <a:buNone/>
            </a:pPr>
            <a:r>
              <a:rPr lang="en-US" dirty="0">
                <a:latin typeface="Courier New" panose="02070309020205020404" pitchFamily="49" charset="0"/>
                <a:cs typeface="Courier New" panose="02070309020205020404" pitchFamily="49" charset="0"/>
              </a:rPr>
              <a:t>rectangle_1 = Rectangle(2,3)</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rectangle_2 = Rectangle(3,3)</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print(rectangle_1.size(), rectangle_2.size()) </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Onscreen: 6 9</a:t>
            </a:r>
          </a:p>
        </p:txBody>
      </p:sp>
      <p:sp>
        <p:nvSpPr>
          <p:cNvPr id="6" name="Slide Number Placeholder 5">
            <a:extLst>
              <a:ext uri="{FF2B5EF4-FFF2-40B4-BE49-F238E27FC236}">
                <a16:creationId xmlns:a16="http://schemas.microsoft.com/office/drawing/2014/main" id="{007DF11C-323B-CE00-6049-63BBBDB7E345}"/>
              </a:ext>
            </a:extLst>
          </p:cNvPr>
          <p:cNvSpPr>
            <a:spLocks noGrp="1"/>
          </p:cNvSpPr>
          <p:nvPr>
            <p:ph type="sldNum" sz="quarter" idx="12"/>
          </p:nvPr>
        </p:nvSpPr>
        <p:spPr/>
        <p:txBody>
          <a:bodyPr/>
          <a:lstStyle/>
          <a:p>
            <a:fld id="{937257EE-0CEF-4D7E-9E69-5277D6172560}" type="slidenum">
              <a:rPr lang="nl-NL" smtClean="0">
                <a:solidFill>
                  <a:prstClr val="black">
                    <a:tint val="75000"/>
                  </a:prstClr>
                </a:solidFill>
              </a:rPr>
              <a:pPr/>
              <a:t>52</a:t>
            </a:fld>
            <a:endParaRPr lang="nl-NL">
              <a:solidFill>
                <a:prstClr val="black">
                  <a:tint val="75000"/>
                </a:prstClr>
              </a:solidFill>
            </a:endParaRPr>
          </a:p>
        </p:txBody>
      </p:sp>
    </p:spTree>
    <p:extLst>
      <p:ext uri="{BB962C8B-B14F-4D97-AF65-F5344CB8AC3E}">
        <p14:creationId xmlns:p14="http://schemas.microsoft.com/office/powerpoint/2010/main" val="39480888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12F33F-A141-0F90-6E0C-B391F2959544}"/>
              </a:ext>
            </a:extLst>
          </p:cNvPr>
          <p:cNvSpPr>
            <a:spLocks noGrp="1"/>
          </p:cNvSpPr>
          <p:nvPr>
            <p:ph type="title"/>
          </p:nvPr>
        </p:nvSpPr>
        <p:spPr>
          <a:xfrm>
            <a:off x="545592" y="263097"/>
            <a:ext cx="10515600" cy="1325563"/>
          </a:xfrm>
        </p:spPr>
        <p:txBody>
          <a:bodyPr/>
          <a:lstStyle/>
          <a:p>
            <a:r>
              <a:rPr lang="en-US" b="1" dirty="0"/>
              <a:t>In Python, everything is an object </a:t>
            </a:r>
            <a:endParaRPr lang="nl-NL" b="1" dirty="0"/>
          </a:p>
        </p:txBody>
      </p:sp>
      <p:sp>
        <p:nvSpPr>
          <p:cNvPr id="3" name="Content Placeholder 2">
            <a:extLst>
              <a:ext uri="{FF2B5EF4-FFF2-40B4-BE49-F238E27FC236}">
                <a16:creationId xmlns:a16="http://schemas.microsoft.com/office/drawing/2014/main" id="{987FFBB7-D392-3BB1-6E4C-8815E69999CF}"/>
              </a:ext>
            </a:extLst>
          </p:cNvPr>
          <p:cNvSpPr>
            <a:spLocks noGrp="1"/>
          </p:cNvSpPr>
          <p:nvPr>
            <p:ph idx="1"/>
          </p:nvPr>
        </p:nvSpPr>
        <p:spPr>
          <a:xfrm>
            <a:off x="545592" y="1405000"/>
            <a:ext cx="10515600" cy="5032375"/>
          </a:xfrm>
        </p:spPr>
        <p:txBody>
          <a:bodyPr>
            <a:normAutofit/>
          </a:bodyPr>
          <a:lstStyle/>
          <a:p>
            <a:r>
              <a:rPr lang="en-GB" sz="2400" dirty="0"/>
              <a:t>Recall that every object has a type, a value, and zero or more names</a:t>
            </a:r>
          </a:p>
          <a:p>
            <a:r>
              <a:rPr lang="en-GB" sz="2400" dirty="0"/>
              <a:t>Functions that are encapsulated in objects are called methods</a:t>
            </a:r>
          </a:p>
          <a:p>
            <a:pPr lvl="1"/>
            <a:r>
              <a:rPr lang="en-GB" dirty="0"/>
              <a:t>Depending on the type, an object has several methods</a:t>
            </a:r>
          </a:p>
          <a:p>
            <a:pPr lvl="1"/>
            <a:r>
              <a:rPr lang="en-GB" dirty="0"/>
              <a:t>Methods can take arguments, and they also have access to the data inside the object</a:t>
            </a:r>
          </a:p>
          <a:p>
            <a:r>
              <a:rPr lang="en-GB" sz="2400" dirty="0"/>
              <a:t>For every datatype there is already a built-in class, that defines what you can do with an object of that type</a:t>
            </a:r>
          </a:p>
        </p:txBody>
      </p:sp>
      <p:sp>
        <p:nvSpPr>
          <p:cNvPr id="6" name="Slide Number Placeholder 5">
            <a:extLst>
              <a:ext uri="{FF2B5EF4-FFF2-40B4-BE49-F238E27FC236}">
                <a16:creationId xmlns:a16="http://schemas.microsoft.com/office/drawing/2014/main" id="{007DF11C-323B-CE00-6049-63BBBDB7E345}"/>
              </a:ext>
            </a:extLst>
          </p:cNvPr>
          <p:cNvSpPr>
            <a:spLocks noGrp="1"/>
          </p:cNvSpPr>
          <p:nvPr>
            <p:ph type="sldNum" sz="quarter" idx="12"/>
          </p:nvPr>
        </p:nvSpPr>
        <p:spPr/>
        <p:txBody>
          <a:bodyPr/>
          <a:lstStyle/>
          <a:p>
            <a:fld id="{937257EE-0CEF-4D7E-9E69-5277D6172560}" type="slidenum">
              <a:rPr lang="nl-NL" smtClean="0">
                <a:solidFill>
                  <a:prstClr val="black">
                    <a:tint val="75000"/>
                  </a:prstClr>
                </a:solidFill>
              </a:rPr>
              <a:pPr/>
              <a:t>53</a:t>
            </a:fld>
            <a:endParaRPr lang="nl-NL">
              <a:solidFill>
                <a:prstClr val="black">
                  <a:tint val="75000"/>
                </a:prstClr>
              </a:solidFill>
            </a:endParaRPr>
          </a:p>
        </p:txBody>
      </p:sp>
    </p:spTree>
    <p:extLst>
      <p:ext uri="{BB962C8B-B14F-4D97-AF65-F5344CB8AC3E}">
        <p14:creationId xmlns:p14="http://schemas.microsoft.com/office/powerpoint/2010/main" val="8151443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12F33F-A141-0F90-6E0C-B391F2959544}"/>
              </a:ext>
            </a:extLst>
          </p:cNvPr>
          <p:cNvSpPr>
            <a:spLocks noGrp="1"/>
          </p:cNvSpPr>
          <p:nvPr>
            <p:ph type="title"/>
          </p:nvPr>
        </p:nvSpPr>
        <p:spPr>
          <a:xfrm>
            <a:off x="545592" y="263097"/>
            <a:ext cx="10515600" cy="1325563"/>
          </a:xfrm>
        </p:spPr>
        <p:txBody>
          <a:bodyPr/>
          <a:lstStyle/>
          <a:p>
            <a:r>
              <a:rPr lang="en-US" b="1" dirty="0"/>
              <a:t>In Python, everything is an object </a:t>
            </a:r>
            <a:endParaRPr lang="nl-NL" b="1" dirty="0"/>
          </a:p>
        </p:txBody>
      </p:sp>
      <p:sp>
        <p:nvSpPr>
          <p:cNvPr id="3" name="Content Placeholder 2">
            <a:extLst>
              <a:ext uri="{FF2B5EF4-FFF2-40B4-BE49-F238E27FC236}">
                <a16:creationId xmlns:a16="http://schemas.microsoft.com/office/drawing/2014/main" id="{987FFBB7-D392-3BB1-6E4C-8815E69999CF}"/>
              </a:ext>
            </a:extLst>
          </p:cNvPr>
          <p:cNvSpPr>
            <a:spLocks noGrp="1"/>
          </p:cNvSpPr>
          <p:nvPr>
            <p:ph idx="1"/>
          </p:nvPr>
        </p:nvSpPr>
        <p:spPr>
          <a:xfrm>
            <a:off x="545592" y="1405000"/>
            <a:ext cx="10515600" cy="5032375"/>
          </a:xfrm>
        </p:spPr>
        <p:txBody>
          <a:bodyPr>
            <a:normAutofit fontScale="92500" lnSpcReduction="10000"/>
          </a:bodyPr>
          <a:lstStyle/>
          <a:p>
            <a:r>
              <a:rPr lang="en-GB" sz="2400" dirty="0"/>
              <a:t>Sometimes, methods return a value</a:t>
            </a:r>
          </a:p>
          <a:p>
            <a:r>
              <a:rPr lang="en-GB" sz="2400" dirty="0"/>
              <a:t>Sometimes, methods change the object itself, but this is only possible if the object is mutable</a:t>
            </a:r>
          </a:p>
          <a:p>
            <a:pPr lvl="1"/>
            <a:r>
              <a:rPr lang="en-GB" sz="2000" dirty="0"/>
              <a:t>If an object is immutable, the method applied on it must return a value as it cannot change that object itself</a:t>
            </a:r>
          </a:p>
          <a:p>
            <a:r>
              <a:rPr lang="en-GB" sz="2400" dirty="0"/>
              <a:t>Example of a method on an immutable object:</a:t>
            </a:r>
          </a:p>
          <a:p>
            <a:pPr lvl="1"/>
            <a:r>
              <a:rPr lang="en-GB" sz="2000" dirty="0">
                <a:latin typeface="Courier New" panose="02070309020205020404" pitchFamily="49" charset="0"/>
                <a:cs typeface="Courier New" panose="02070309020205020404" pitchFamily="49" charset="0"/>
              </a:rPr>
              <a:t>s1='UVA Amsterdam'</a:t>
            </a:r>
            <a:br>
              <a:rPr lang="en-GB" sz="2000" dirty="0">
                <a:latin typeface="Courier New" panose="02070309020205020404" pitchFamily="49" charset="0"/>
                <a:cs typeface="Courier New" panose="02070309020205020404" pitchFamily="49" charset="0"/>
              </a:rPr>
            </a:br>
            <a:r>
              <a:rPr lang="en-GB" sz="2000" dirty="0">
                <a:latin typeface="Courier New" panose="02070309020205020404" pitchFamily="49" charset="0"/>
                <a:cs typeface="Courier New" panose="02070309020205020404" pitchFamily="49" charset="0"/>
              </a:rPr>
              <a:t>s1=s1.upper() or s1.upper() </a:t>
            </a:r>
          </a:p>
          <a:p>
            <a:pPr lvl="1"/>
            <a:r>
              <a:rPr lang="en-GB" sz="2000" dirty="0"/>
              <a:t>Which code is correct?</a:t>
            </a:r>
          </a:p>
          <a:p>
            <a:pPr lvl="1"/>
            <a:r>
              <a:rPr lang="en-GB" sz="2000" dirty="0"/>
              <a:t>Answer: s1=s1.upper(), since the method upper() returns a new string. If you just do s1.upper() Python is ok with that, but the string itself cannot be changed. This error can be very difficult to find.</a:t>
            </a:r>
          </a:p>
          <a:p>
            <a:r>
              <a:rPr lang="en-GB" sz="2400" dirty="0"/>
              <a:t>For methods working on mutable objects, you have to know whether it changes the object or returns a value.</a:t>
            </a:r>
          </a:p>
          <a:p>
            <a:pPr lvl="1"/>
            <a:r>
              <a:rPr lang="en-GB" sz="2000" dirty="0"/>
              <a:t>Example (l1 is a list): l1. sort() sorts the list itself  </a:t>
            </a:r>
          </a:p>
          <a:p>
            <a:pPr lvl="1"/>
            <a:r>
              <a:rPr lang="en-GB" sz="2000" dirty="0"/>
              <a:t>Example (l1 is a list): l1. index('a') returns the index of the first element in the list with value 'a'</a:t>
            </a:r>
          </a:p>
        </p:txBody>
      </p:sp>
      <p:sp>
        <p:nvSpPr>
          <p:cNvPr id="6" name="Slide Number Placeholder 5">
            <a:extLst>
              <a:ext uri="{FF2B5EF4-FFF2-40B4-BE49-F238E27FC236}">
                <a16:creationId xmlns:a16="http://schemas.microsoft.com/office/drawing/2014/main" id="{007DF11C-323B-CE00-6049-63BBBDB7E345}"/>
              </a:ext>
            </a:extLst>
          </p:cNvPr>
          <p:cNvSpPr>
            <a:spLocks noGrp="1"/>
          </p:cNvSpPr>
          <p:nvPr>
            <p:ph type="sldNum" sz="quarter" idx="12"/>
          </p:nvPr>
        </p:nvSpPr>
        <p:spPr/>
        <p:txBody>
          <a:bodyPr/>
          <a:lstStyle/>
          <a:p>
            <a:fld id="{937257EE-0CEF-4D7E-9E69-5277D6172560}" type="slidenum">
              <a:rPr lang="nl-NL" smtClean="0">
                <a:solidFill>
                  <a:prstClr val="black">
                    <a:tint val="75000"/>
                  </a:prstClr>
                </a:solidFill>
              </a:rPr>
              <a:pPr/>
              <a:t>54</a:t>
            </a:fld>
            <a:endParaRPr lang="nl-NL">
              <a:solidFill>
                <a:prstClr val="black">
                  <a:tint val="75000"/>
                </a:prstClr>
              </a:solidFill>
            </a:endParaRPr>
          </a:p>
        </p:txBody>
      </p:sp>
    </p:spTree>
    <p:extLst>
      <p:ext uri="{BB962C8B-B14F-4D97-AF65-F5344CB8AC3E}">
        <p14:creationId xmlns:p14="http://schemas.microsoft.com/office/powerpoint/2010/main" val="31044759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12F33F-A141-0F90-6E0C-B391F2959544}"/>
              </a:ext>
            </a:extLst>
          </p:cNvPr>
          <p:cNvSpPr>
            <a:spLocks noGrp="1"/>
          </p:cNvSpPr>
          <p:nvPr>
            <p:ph type="title"/>
          </p:nvPr>
        </p:nvSpPr>
        <p:spPr>
          <a:xfrm>
            <a:off x="545592" y="263097"/>
            <a:ext cx="10515600" cy="1325563"/>
          </a:xfrm>
        </p:spPr>
        <p:txBody>
          <a:bodyPr/>
          <a:lstStyle/>
          <a:p>
            <a:r>
              <a:rPr lang="en-GB" b="1" dirty="0"/>
              <a:t>Importing additional functionality from packages</a:t>
            </a:r>
            <a:endParaRPr lang="nl-NL" b="1" dirty="0"/>
          </a:p>
        </p:txBody>
      </p:sp>
      <p:sp>
        <p:nvSpPr>
          <p:cNvPr id="3" name="Content Placeholder 2">
            <a:extLst>
              <a:ext uri="{FF2B5EF4-FFF2-40B4-BE49-F238E27FC236}">
                <a16:creationId xmlns:a16="http://schemas.microsoft.com/office/drawing/2014/main" id="{987FFBB7-D392-3BB1-6E4C-8815E69999CF}"/>
              </a:ext>
            </a:extLst>
          </p:cNvPr>
          <p:cNvSpPr>
            <a:spLocks noGrp="1"/>
          </p:cNvSpPr>
          <p:nvPr>
            <p:ph idx="1"/>
          </p:nvPr>
        </p:nvSpPr>
        <p:spPr>
          <a:xfrm>
            <a:off x="545592" y="1689100"/>
            <a:ext cx="10515600" cy="5032375"/>
          </a:xfrm>
        </p:spPr>
        <p:txBody>
          <a:bodyPr>
            <a:normAutofit/>
          </a:bodyPr>
          <a:lstStyle/>
          <a:p>
            <a:r>
              <a:rPr lang="en-GB" sz="2400" dirty="0"/>
              <a:t>Python ecosystem = core language + standard library + third-party </a:t>
            </a:r>
            <a:br>
              <a:rPr lang="en-GB" sz="2400" dirty="0"/>
            </a:br>
            <a:r>
              <a:rPr lang="en-GB" sz="2400" dirty="0"/>
              <a:t>packages</a:t>
            </a:r>
          </a:p>
          <a:p>
            <a:r>
              <a:rPr lang="en-GB" sz="2400" dirty="0"/>
              <a:t>The ecosystem is enormous, there is no way to make it available by  default</a:t>
            </a:r>
          </a:p>
          <a:p>
            <a:r>
              <a:rPr lang="en-GB" sz="2400" dirty="0"/>
              <a:t>That's why we need to install third-party packages separately, for example</a:t>
            </a:r>
          </a:p>
          <a:p>
            <a:r>
              <a:rPr lang="en-GB" sz="2400" dirty="0"/>
              <a:t>Even the standard library is large; it's functionality must be imported to be used</a:t>
            </a:r>
          </a:p>
          <a:p>
            <a:pPr lvl="1"/>
            <a:r>
              <a:rPr lang="en-GB" sz="2000" dirty="0"/>
              <a:t>E.g. import math</a:t>
            </a:r>
          </a:p>
          <a:p>
            <a:r>
              <a:rPr lang="en-GB" sz="2400" dirty="0"/>
              <a:t>Importing is about making the contents of a module (= Python file) </a:t>
            </a:r>
            <a:br>
              <a:rPr lang="en-GB" sz="2400" dirty="0"/>
            </a:br>
            <a:r>
              <a:rPr lang="en-GB" sz="2400" dirty="0"/>
              <a:t>available in the namespace of our program</a:t>
            </a:r>
          </a:p>
        </p:txBody>
      </p:sp>
      <p:sp>
        <p:nvSpPr>
          <p:cNvPr id="6" name="Slide Number Placeholder 5">
            <a:extLst>
              <a:ext uri="{FF2B5EF4-FFF2-40B4-BE49-F238E27FC236}">
                <a16:creationId xmlns:a16="http://schemas.microsoft.com/office/drawing/2014/main" id="{007DF11C-323B-CE00-6049-63BBBDB7E345}"/>
              </a:ext>
            </a:extLst>
          </p:cNvPr>
          <p:cNvSpPr>
            <a:spLocks noGrp="1"/>
          </p:cNvSpPr>
          <p:nvPr>
            <p:ph type="sldNum" sz="quarter" idx="12"/>
          </p:nvPr>
        </p:nvSpPr>
        <p:spPr/>
        <p:txBody>
          <a:bodyPr/>
          <a:lstStyle/>
          <a:p>
            <a:fld id="{937257EE-0CEF-4D7E-9E69-5277D6172560}" type="slidenum">
              <a:rPr lang="nl-NL" smtClean="0">
                <a:solidFill>
                  <a:prstClr val="black">
                    <a:tint val="75000"/>
                  </a:prstClr>
                </a:solidFill>
              </a:rPr>
              <a:pPr/>
              <a:t>55</a:t>
            </a:fld>
            <a:endParaRPr lang="nl-NL">
              <a:solidFill>
                <a:prstClr val="black">
                  <a:tint val="75000"/>
                </a:prstClr>
              </a:solidFill>
            </a:endParaRPr>
          </a:p>
        </p:txBody>
      </p:sp>
    </p:spTree>
    <p:extLst>
      <p:ext uri="{BB962C8B-B14F-4D97-AF65-F5344CB8AC3E}">
        <p14:creationId xmlns:p14="http://schemas.microsoft.com/office/powerpoint/2010/main" val="4492707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12F33F-A141-0F90-6E0C-B391F2959544}"/>
              </a:ext>
            </a:extLst>
          </p:cNvPr>
          <p:cNvSpPr>
            <a:spLocks noGrp="1"/>
          </p:cNvSpPr>
          <p:nvPr>
            <p:ph type="title"/>
          </p:nvPr>
        </p:nvSpPr>
        <p:spPr>
          <a:xfrm>
            <a:off x="545592" y="263097"/>
            <a:ext cx="10515600" cy="1325563"/>
          </a:xfrm>
        </p:spPr>
        <p:txBody>
          <a:bodyPr/>
          <a:lstStyle/>
          <a:p>
            <a:r>
              <a:rPr lang="en-GB" b="1" dirty="0"/>
              <a:t>Example: Importing additional functionality from packages</a:t>
            </a:r>
            <a:endParaRPr lang="nl-NL" b="1" dirty="0"/>
          </a:p>
        </p:txBody>
      </p:sp>
      <p:sp>
        <p:nvSpPr>
          <p:cNvPr id="3" name="Content Placeholder 2">
            <a:extLst>
              <a:ext uri="{FF2B5EF4-FFF2-40B4-BE49-F238E27FC236}">
                <a16:creationId xmlns:a16="http://schemas.microsoft.com/office/drawing/2014/main" id="{987FFBB7-D392-3BB1-6E4C-8815E69999CF}"/>
              </a:ext>
            </a:extLst>
          </p:cNvPr>
          <p:cNvSpPr>
            <a:spLocks noGrp="1"/>
          </p:cNvSpPr>
          <p:nvPr>
            <p:ph idx="1"/>
          </p:nvPr>
        </p:nvSpPr>
        <p:spPr>
          <a:xfrm>
            <a:off x="545592" y="1689100"/>
            <a:ext cx="10515600" cy="5032375"/>
          </a:xfrm>
        </p:spPr>
        <p:txBody>
          <a:bodyPr>
            <a:normAutofit/>
          </a:bodyPr>
          <a:lstStyle/>
          <a:p>
            <a:r>
              <a:rPr lang="en-GB" sz="2400" dirty="0"/>
              <a:t>Example: how to access the </a:t>
            </a:r>
            <a:r>
              <a:rPr lang="en-GB" sz="2400" dirty="0" err="1"/>
              <a:t>randint</a:t>
            </a:r>
            <a:r>
              <a:rPr lang="en-GB" sz="2400" dirty="0"/>
              <a:t> function in the random module of the </a:t>
            </a:r>
            <a:r>
              <a:rPr lang="en-GB" sz="2400" dirty="0" err="1"/>
              <a:t>numpy</a:t>
            </a:r>
            <a:r>
              <a:rPr lang="en-GB" sz="2400" dirty="0"/>
              <a:t> package</a:t>
            </a:r>
          </a:p>
          <a:p>
            <a:r>
              <a:rPr lang="en-GB" sz="2400" dirty="0"/>
              <a:t>Via import, you make an object available to your program</a:t>
            </a:r>
          </a:p>
          <a:p>
            <a:r>
              <a:rPr lang="nl-NL" sz="2400" dirty="0">
                <a:latin typeface="Courier New" panose="02070309020205020404" pitchFamily="49" charset="0"/>
              </a:rPr>
              <a:t>print(</a:t>
            </a:r>
            <a:r>
              <a:rPr lang="nl-NL" sz="2400" dirty="0" err="1">
                <a:latin typeface="Courier New" panose="02070309020205020404" pitchFamily="49" charset="0"/>
              </a:rPr>
              <a:t>numpy.random.randint</a:t>
            </a:r>
            <a:r>
              <a:rPr lang="nl-NL" sz="2400" dirty="0">
                <a:latin typeface="Courier New" panose="02070309020205020404" pitchFamily="49" charset="0"/>
              </a:rPr>
              <a:t>(1, 10)) # error</a:t>
            </a:r>
          </a:p>
          <a:p>
            <a:r>
              <a:rPr lang="nl-NL" sz="2400" dirty="0">
                <a:latin typeface="Courier New" panose="02070309020205020404" pitchFamily="49" charset="0"/>
              </a:rPr>
              <a:t>import </a:t>
            </a:r>
            <a:r>
              <a:rPr lang="nl-NL" sz="2400" dirty="0" err="1">
                <a:latin typeface="Courier New" panose="02070309020205020404" pitchFamily="49" charset="0"/>
              </a:rPr>
              <a:t>numpy</a:t>
            </a:r>
            <a:br>
              <a:rPr lang="nl-NL" sz="2400" dirty="0">
                <a:latin typeface="Courier New" panose="02070309020205020404" pitchFamily="49" charset="0"/>
              </a:rPr>
            </a:br>
            <a:r>
              <a:rPr lang="nl-NL" sz="2400" dirty="0">
                <a:latin typeface="Courier New" panose="02070309020205020404" pitchFamily="49" charset="0"/>
              </a:rPr>
              <a:t>print(</a:t>
            </a:r>
            <a:r>
              <a:rPr lang="nl-NL" sz="2400" dirty="0" err="1">
                <a:latin typeface="Courier New" panose="02070309020205020404" pitchFamily="49" charset="0"/>
              </a:rPr>
              <a:t>numpy.random.randint</a:t>
            </a:r>
            <a:r>
              <a:rPr lang="nl-NL" sz="2400" dirty="0">
                <a:latin typeface="Courier New" panose="02070309020205020404" pitchFamily="49" charset="0"/>
              </a:rPr>
              <a:t>(1, 10)) # </a:t>
            </a:r>
            <a:r>
              <a:rPr lang="nl-NL" sz="2400" dirty="0" err="1">
                <a:latin typeface="Courier New" panose="02070309020205020404" pitchFamily="49" charset="0"/>
              </a:rPr>
              <a:t>works</a:t>
            </a:r>
            <a:endParaRPr lang="nl-NL" sz="2400" dirty="0">
              <a:latin typeface="Courier New" panose="02070309020205020404" pitchFamily="49" charset="0"/>
            </a:endParaRPr>
          </a:p>
          <a:p>
            <a:r>
              <a:rPr lang="nl-NL" sz="2400" dirty="0">
                <a:latin typeface="Courier New" panose="02070309020205020404" pitchFamily="49" charset="0"/>
              </a:rPr>
              <a:t>import </a:t>
            </a:r>
            <a:r>
              <a:rPr lang="nl-NL" sz="2400" dirty="0" err="1">
                <a:latin typeface="Courier New" panose="02070309020205020404" pitchFamily="49" charset="0"/>
              </a:rPr>
              <a:t>numpy</a:t>
            </a:r>
            <a:r>
              <a:rPr lang="nl-NL" sz="2400" dirty="0">
                <a:latin typeface="Courier New" panose="02070309020205020404" pitchFamily="49" charset="0"/>
              </a:rPr>
              <a:t> as </a:t>
            </a:r>
            <a:r>
              <a:rPr lang="nl-NL" sz="2400" dirty="0" err="1">
                <a:latin typeface="Courier New" panose="02070309020205020404" pitchFamily="49" charset="0"/>
              </a:rPr>
              <a:t>np</a:t>
            </a:r>
            <a:br>
              <a:rPr lang="nl-NL" sz="2400" dirty="0">
                <a:latin typeface="Courier New" panose="02070309020205020404" pitchFamily="49" charset="0"/>
              </a:rPr>
            </a:br>
            <a:r>
              <a:rPr lang="nl-NL" sz="2400" dirty="0">
                <a:latin typeface="Courier New" panose="02070309020205020404" pitchFamily="49" charset="0"/>
              </a:rPr>
              <a:t>print(</a:t>
            </a:r>
            <a:r>
              <a:rPr lang="nl-NL" sz="2400" dirty="0" err="1">
                <a:latin typeface="Courier New" panose="02070309020205020404" pitchFamily="49" charset="0"/>
              </a:rPr>
              <a:t>np.random.randint</a:t>
            </a:r>
            <a:r>
              <a:rPr lang="nl-NL" sz="2400" dirty="0">
                <a:latin typeface="Courier New" panose="02070309020205020404" pitchFamily="49" charset="0"/>
              </a:rPr>
              <a:t>(1, 10))    # </a:t>
            </a:r>
            <a:r>
              <a:rPr lang="nl-NL" sz="2400" dirty="0" err="1">
                <a:latin typeface="Courier New" panose="02070309020205020404" pitchFamily="49" charset="0"/>
              </a:rPr>
              <a:t>works</a:t>
            </a:r>
            <a:r>
              <a:rPr lang="nl-NL" sz="2400" dirty="0">
                <a:latin typeface="Courier New" panose="02070309020205020404" pitchFamily="49" charset="0"/>
              </a:rPr>
              <a:t>  </a:t>
            </a:r>
            <a:br>
              <a:rPr lang="nl-NL" sz="2400" dirty="0">
                <a:latin typeface="Courier New" panose="02070309020205020404" pitchFamily="49" charset="0"/>
              </a:rPr>
            </a:br>
            <a:r>
              <a:rPr lang="nl-NL" sz="2400" dirty="0">
                <a:latin typeface="Courier New" panose="02070309020205020404" pitchFamily="49" charset="0"/>
              </a:rPr>
              <a:t>print(</a:t>
            </a:r>
            <a:r>
              <a:rPr lang="nl-NL" sz="2400" dirty="0" err="1">
                <a:latin typeface="Courier New" panose="02070309020205020404" pitchFamily="49" charset="0"/>
              </a:rPr>
              <a:t>numpy.random.randint</a:t>
            </a:r>
            <a:r>
              <a:rPr lang="nl-NL" sz="2400" dirty="0">
                <a:latin typeface="Courier New" panose="02070309020205020404" pitchFamily="49" charset="0"/>
              </a:rPr>
              <a:t>(1, 10)) # error</a:t>
            </a:r>
          </a:p>
          <a:p>
            <a:r>
              <a:rPr lang="nl-NL" sz="2400" dirty="0">
                <a:latin typeface="Courier New" panose="02070309020205020404" pitchFamily="49" charset="0"/>
              </a:rPr>
              <a:t>import </a:t>
            </a:r>
            <a:r>
              <a:rPr lang="nl-NL" sz="2400" dirty="0" err="1">
                <a:latin typeface="Courier New" panose="02070309020205020404" pitchFamily="49" charset="0"/>
              </a:rPr>
              <a:t>numpy.random</a:t>
            </a:r>
            <a:r>
              <a:rPr lang="nl-NL" sz="2400" dirty="0">
                <a:latin typeface="Courier New" panose="02070309020205020404" pitchFamily="49" charset="0"/>
              </a:rPr>
              <a:t> as </a:t>
            </a:r>
            <a:r>
              <a:rPr lang="nl-NL" sz="2400" dirty="0" err="1">
                <a:latin typeface="Courier New" panose="02070309020205020404" pitchFamily="49" charset="0"/>
              </a:rPr>
              <a:t>rnd</a:t>
            </a:r>
            <a:br>
              <a:rPr lang="nl-NL" sz="2400" dirty="0">
                <a:latin typeface="Courier New" panose="02070309020205020404" pitchFamily="49" charset="0"/>
              </a:rPr>
            </a:br>
            <a:r>
              <a:rPr lang="nl-NL" sz="2400" dirty="0">
                <a:latin typeface="Courier New" panose="02070309020205020404" pitchFamily="49" charset="0"/>
              </a:rPr>
              <a:t>print(</a:t>
            </a:r>
            <a:r>
              <a:rPr lang="nl-NL" sz="2400" dirty="0" err="1">
                <a:latin typeface="Courier New" panose="02070309020205020404" pitchFamily="49" charset="0"/>
              </a:rPr>
              <a:t>rnd.randint</a:t>
            </a:r>
            <a:r>
              <a:rPr lang="nl-NL" sz="2400" dirty="0">
                <a:latin typeface="Courier New" panose="02070309020205020404" pitchFamily="49" charset="0"/>
              </a:rPr>
              <a:t>(1, 10))          # </a:t>
            </a:r>
            <a:r>
              <a:rPr lang="nl-NL" sz="2400" dirty="0" err="1">
                <a:latin typeface="Courier New" panose="02070309020205020404" pitchFamily="49" charset="0"/>
              </a:rPr>
              <a:t>works</a:t>
            </a:r>
            <a:r>
              <a:rPr lang="nl-NL" sz="2400" dirty="0">
                <a:latin typeface="Courier New" panose="02070309020205020404" pitchFamily="49" charset="0"/>
              </a:rPr>
              <a:t>    </a:t>
            </a:r>
            <a:br>
              <a:rPr lang="nl-NL" sz="2400" dirty="0">
                <a:latin typeface="Courier New" panose="02070309020205020404" pitchFamily="49" charset="0"/>
              </a:rPr>
            </a:br>
            <a:r>
              <a:rPr lang="nl-NL" sz="2400" dirty="0">
                <a:latin typeface="Courier New" panose="02070309020205020404" pitchFamily="49" charset="0"/>
              </a:rPr>
              <a:t>print(</a:t>
            </a:r>
            <a:r>
              <a:rPr lang="nl-NL" sz="2400" dirty="0" err="1">
                <a:latin typeface="Courier New" panose="02070309020205020404" pitchFamily="49" charset="0"/>
              </a:rPr>
              <a:t>numpy.random.randint</a:t>
            </a:r>
            <a:r>
              <a:rPr lang="nl-NL" sz="2400" dirty="0">
                <a:latin typeface="Courier New" panose="02070309020205020404" pitchFamily="49" charset="0"/>
              </a:rPr>
              <a:t>(1, 10)) # error</a:t>
            </a:r>
            <a:br>
              <a:rPr lang="nl-NL" sz="2400" dirty="0">
                <a:latin typeface="Courier New" panose="02070309020205020404" pitchFamily="49" charset="0"/>
              </a:rPr>
            </a:br>
            <a:endParaRPr lang="nl-NL" sz="2400" dirty="0">
              <a:latin typeface="Courier New" panose="02070309020205020404" pitchFamily="49" charset="0"/>
            </a:endParaRPr>
          </a:p>
          <a:p>
            <a:endParaRPr lang="en-GB" sz="2400" dirty="0"/>
          </a:p>
        </p:txBody>
      </p:sp>
      <p:sp>
        <p:nvSpPr>
          <p:cNvPr id="6" name="Slide Number Placeholder 5">
            <a:extLst>
              <a:ext uri="{FF2B5EF4-FFF2-40B4-BE49-F238E27FC236}">
                <a16:creationId xmlns:a16="http://schemas.microsoft.com/office/drawing/2014/main" id="{007DF11C-323B-CE00-6049-63BBBDB7E345}"/>
              </a:ext>
            </a:extLst>
          </p:cNvPr>
          <p:cNvSpPr>
            <a:spLocks noGrp="1"/>
          </p:cNvSpPr>
          <p:nvPr>
            <p:ph type="sldNum" sz="quarter" idx="12"/>
          </p:nvPr>
        </p:nvSpPr>
        <p:spPr/>
        <p:txBody>
          <a:bodyPr/>
          <a:lstStyle/>
          <a:p>
            <a:fld id="{937257EE-0CEF-4D7E-9E69-5277D6172560}" type="slidenum">
              <a:rPr lang="nl-NL" smtClean="0">
                <a:solidFill>
                  <a:prstClr val="black">
                    <a:tint val="75000"/>
                  </a:prstClr>
                </a:solidFill>
              </a:rPr>
              <a:pPr/>
              <a:t>56</a:t>
            </a:fld>
            <a:endParaRPr lang="nl-NL">
              <a:solidFill>
                <a:prstClr val="black">
                  <a:tint val="75000"/>
                </a:prstClr>
              </a:solidFill>
            </a:endParaRPr>
          </a:p>
        </p:txBody>
      </p:sp>
    </p:spTree>
    <p:extLst>
      <p:ext uri="{BB962C8B-B14F-4D97-AF65-F5344CB8AC3E}">
        <p14:creationId xmlns:p14="http://schemas.microsoft.com/office/powerpoint/2010/main" val="34929137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12F33F-A141-0F90-6E0C-B391F2959544}"/>
              </a:ext>
            </a:extLst>
          </p:cNvPr>
          <p:cNvSpPr>
            <a:spLocks noGrp="1"/>
          </p:cNvSpPr>
          <p:nvPr>
            <p:ph type="title"/>
          </p:nvPr>
        </p:nvSpPr>
        <p:spPr>
          <a:xfrm>
            <a:off x="545592" y="263097"/>
            <a:ext cx="10515600" cy="1325563"/>
          </a:xfrm>
        </p:spPr>
        <p:txBody>
          <a:bodyPr/>
          <a:lstStyle/>
          <a:p>
            <a:r>
              <a:rPr lang="en-GB" b="1" dirty="0"/>
              <a:t>Example: Importing additional functionality from packages</a:t>
            </a:r>
            <a:endParaRPr lang="nl-NL" b="1" dirty="0"/>
          </a:p>
        </p:txBody>
      </p:sp>
      <p:sp>
        <p:nvSpPr>
          <p:cNvPr id="3" name="Content Placeholder 2">
            <a:extLst>
              <a:ext uri="{FF2B5EF4-FFF2-40B4-BE49-F238E27FC236}">
                <a16:creationId xmlns:a16="http://schemas.microsoft.com/office/drawing/2014/main" id="{987FFBB7-D392-3BB1-6E4C-8815E69999CF}"/>
              </a:ext>
            </a:extLst>
          </p:cNvPr>
          <p:cNvSpPr>
            <a:spLocks noGrp="1"/>
          </p:cNvSpPr>
          <p:nvPr>
            <p:ph idx="1"/>
          </p:nvPr>
        </p:nvSpPr>
        <p:spPr>
          <a:xfrm>
            <a:off x="522773" y="1689100"/>
            <a:ext cx="10515600" cy="5032375"/>
          </a:xfrm>
        </p:spPr>
        <p:txBody>
          <a:bodyPr>
            <a:normAutofit/>
          </a:bodyPr>
          <a:lstStyle/>
          <a:p>
            <a:r>
              <a:rPr lang="en-GB" sz="2400" dirty="0">
                <a:latin typeface="Courier New" panose="02070309020205020404" pitchFamily="49" charset="0"/>
                <a:cs typeface="Courier New" panose="02070309020205020404" pitchFamily="49" charset="0"/>
              </a:rPr>
              <a:t>from </a:t>
            </a:r>
            <a:r>
              <a:rPr lang="en-GB" sz="2400" dirty="0" err="1">
                <a:latin typeface="Courier New" panose="02070309020205020404" pitchFamily="49" charset="0"/>
                <a:cs typeface="Courier New" panose="02070309020205020404" pitchFamily="49" charset="0"/>
              </a:rPr>
              <a:t>numpy.random</a:t>
            </a:r>
            <a:r>
              <a:rPr lang="en-GB" sz="2400" dirty="0">
                <a:latin typeface="Courier New" panose="02070309020205020404" pitchFamily="49" charset="0"/>
                <a:cs typeface="Courier New" panose="02070309020205020404" pitchFamily="49" charset="0"/>
              </a:rPr>
              <a:t> import </a:t>
            </a:r>
            <a:r>
              <a:rPr lang="en-GB" sz="2400" dirty="0" err="1">
                <a:latin typeface="Courier New" panose="02070309020205020404" pitchFamily="49" charset="0"/>
                <a:cs typeface="Courier New" panose="02070309020205020404" pitchFamily="49" charset="0"/>
              </a:rPr>
              <a:t>randint</a:t>
            </a:r>
            <a:endParaRPr lang="en-GB" sz="2400" dirty="0">
              <a:latin typeface="Courier New" panose="02070309020205020404" pitchFamily="49" charset="0"/>
              <a:cs typeface="Courier New" panose="02070309020205020404" pitchFamily="49" charset="0"/>
            </a:endParaRPr>
          </a:p>
          <a:p>
            <a:pPr marL="0" indent="0">
              <a:buNone/>
            </a:pPr>
            <a:r>
              <a:rPr lang="en-GB" sz="2400" dirty="0">
                <a:latin typeface="Courier New" panose="02070309020205020404" pitchFamily="49" charset="0"/>
                <a:cs typeface="Courier New" panose="02070309020205020404" pitchFamily="49" charset="0"/>
              </a:rPr>
              <a:t> print(</a:t>
            </a:r>
            <a:r>
              <a:rPr lang="en-GB" sz="2400" dirty="0" err="1">
                <a:latin typeface="Courier New" panose="02070309020205020404" pitchFamily="49" charset="0"/>
                <a:cs typeface="Courier New" panose="02070309020205020404" pitchFamily="49" charset="0"/>
              </a:rPr>
              <a:t>randint</a:t>
            </a:r>
            <a:r>
              <a:rPr lang="en-GB" sz="2400" dirty="0">
                <a:latin typeface="Courier New" panose="02070309020205020404" pitchFamily="49" charset="0"/>
                <a:cs typeface="Courier New" panose="02070309020205020404" pitchFamily="49" charset="0"/>
              </a:rPr>
              <a:t>(1, 10))              # works</a:t>
            </a:r>
          </a:p>
          <a:p>
            <a:pPr marL="0" indent="0">
              <a:buNone/>
            </a:pPr>
            <a:r>
              <a:rPr lang="en-GB" sz="2400" dirty="0">
                <a:latin typeface="Courier New" panose="02070309020205020404" pitchFamily="49" charset="0"/>
                <a:cs typeface="Courier New" panose="02070309020205020404" pitchFamily="49" charset="0"/>
              </a:rPr>
              <a:t> print(</a:t>
            </a:r>
            <a:r>
              <a:rPr lang="en-GB" sz="2400" dirty="0" err="1">
                <a:latin typeface="Courier New" panose="02070309020205020404" pitchFamily="49" charset="0"/>
                <a:cs typeface="Courier New" panose="02070309020205020404" pitchFamily="49" charset="0"/>
              </a:rPr>
              <a:t>numpy.random.randint</a:t>
            </a:r>
            <a:r>
              <a:rPr lang="en-GB" sz="2400" dirty="0">
                <a:latin typeface="Courier New" panose="02070309020205020404" pitchFamily="49" charset="0"/>
                <a:cs typeface="Courier New" panose="02070309020205020404" pitchFamily="49" charset="0"/>
              </a:rPr>
              <a:t>(1, 10)) # error</a:t>
            </a:r>
          </a:p>
          <a:p>
            <a:r>
              <a:rPr lang="en-GB" sz="2400" dirty="0">
                <a:latin typeface="Courier New" panose="02070309020205020404" pitchFamily="49" charset="0"/>
                <a:cs typeface="Courier New" panose="02070309020205020404" pitchFamily="49" charset="0"/>
              </a:rPr>
              <a:t>from </a:t>
            </a:r>
            <a:r>
              <a:rPr lang="en-GB" sz="2400" dirty="0" err="1">
                <a:latin typeface="Courier New" panose="02070309020205020404" pitchFamily="49" charset="0"/>
                <a:cs typeface="Courier New" panose="02070309020205020404" pitchFamily="49" charset="0"/>
              </a:rPr>
              <a:t>numpy.random</a:t>
            </a:r>
            <a:r>
              <a:rPr lang="en-GB" sz="2400" dirty="0">
                <a:latin typeface="Courier New" panose="02070309020205020404" pitchFamily="49" charset="0"/>
                <a:cs typeface="Courier New" panose="02070309020205020404" pitchFamily="49" charset="0"/>
              </a:rPr>
              <a:t> import </a:t>
            </a:r>
            <a:r>
              <a:rPr lang="en-GB" sz="2400" dirty="0" err="1">
                <a:latin typeface="Courier New" panose="02070309020205020404" pitchFamily="49" charset="0"/>
                <a:cs typeface="Courier New" panose="02070309020205020404" pitchFamily="49" charset="0"/>
              </a:rPr>
              <a:t>randint</a:t>
            </a:r>
            <a:r>
              <a:rPr lang="en-GB" sz="2400" dirty="0">
                <a:latin typeface="Courier New" panose="02070309020205020404" pitchFamily="49" charset="0"/>
                <a:cs typeface="Courier New" panose="02070309020205020404" pitchFamily="49" charset="0"/>
              </a:rPr>
              <a:t> as </a:t>
            </a:r>
            <a:r>
              <a:rPr lang="en-GB" sz="2400" dirty="0" err="1">
                <a:latin typeface="Courier New" panose="02070309020205020404" pitchFamily="49" charset="0"/>
                <a:cs typeface="Courier New" panose="02070309020205020404" pitchFamily="49" charset="0"/>
              </a:rPr>
              <a:t>give_me_a_random_integer</a:t>
            </a:r>
            <a:endParaRPr lang="en-GB" sz="2400" dirty="0">
              <a:latin typeface="Courier New" panose="02070309020205020404" pitchFamily="49" charset="0"/>
              <a:cs typeface="Courier New" panose="02070309020205020404" pitchFamily="49" charset="0"/>
            </a:endParaRPr>
          </a:p>
          <a:p>
            <a:pPr marL="0" indent="0">
              <a:buNone/>
            </a:pPr>
            <a:r>
              <a:rPr lang="en-GB" sz="2400" dirty="0">
                <a:latin typeface="Courier New" panose="02070309020205020404" pitchFamily="49" charset="0"/>
                <a:cs typeface="Courier New" panose="02070309020205020404" pitchFamily="49" charset="0"/>
              </a:rPr>
              <a:t> print(</a:t>
            </a:r>
            <a:r>
              <a:rPr lang="en-GB" sz="2400" dirty="0" err="1">
                <a:latin typeface="Courier New" panose="02070309020205020404" pitchFamily="49" charset="0"/>
                <a:cs typeface="Courier New" panose="02070309020205020404" pitchFamily="49" charset="0"/>
              </a:rPr>
              <a:t>give_me_a_random_integer</a:t>
            </a:r>
            <a:r>
              <a:rPr lang="en-GB" sz="2400" dirty="0">
                <a:latin typeface="Courier New" panose="02070309020205020404" pitchFamily="49" charset="0"/>
                <a:cs typeface="Courier New" panose="02070309020205020404" pitchFamily="49" charset="0"/>
              </a:rPr>
              <a:t>(1, 10)) # works</a:t>
            </a:r>
          </a:p>
          <a:p>
            <a:pPr marL="0" indent="0">
              <a:buNone/>
            </a:pPr>
            <a:r>
              <a:rPr lang="en-GB" sz="2400" dirty="0">
                <a:latin typeface="Courier New" panose="02070309020205020404" pitchFamily="49" charset="0"/>
                <a:cs typeface="Courier New" panose="02070309020205020404" pitchFamily="49" charset="0"/>
              </a:rPr>
              <a:t> print(</a:t>
            </a:r>
            <a:r>
              <a:rPr lang="en-GB" sz="2400" dirty="0" err="1">
                <a:latin typeface="Courier New" panose="02070309020205020404" pitchFamily="49" charset="0"/>
                <a:cs typeface="Courier New" panose="02070309020205020404" pitchFamily="49" charset="0"/>
              </a:rPr>
              <a:t>numpy.random.randint</a:t>
            </a:r>
            <a:r>
              <a:rPr lang="en-GB" sz="2400" dirty="0">
                <a:latin typeface="Courier New" panose="02070309020205020404" pitchFamily="49" charset="0"/>
                <a:cs typeface="Courier New" panose="02070309020205020404" pitchFamily="49" charset="0"/>
              </a:rPr>
              <a:t>(1, 10))     # error</a:t>
            </a:r>
          </a:p>
          <a:p>
            <a:r>
              <a:rPr lang="en-GB" sz="2400" dirty="0"/>
              <a:t>NB!! Notice you can only give one name to an imported object, so if you use as to change the name, you no longer can use the original name </a:t>
            </a:r>
          </a:p>
          <a:p>
            <a:endParaRPr lang="en-GB" sz="2400" dirty="0">
              <a:latin typeface="Courier New" panose="02070309020205020404" pitchFamily="49" charset="0"/>
              <a:cs typeface="Courier New" panose="02070309020205020404" pitchFamily="49" charset="0"/>
            </a:endParaRPr>
          </a:p>
          <a:p>
            <a:pPr marL="0" indent="0">
              <a:buNone/>
            </a:pPr>
            <a:endParaRPr lang="en-GB" sz="2400" dirty="0">
              <a:solidFill>
                <a:srgbClr val="FF0000"/>
              </a:solidFill>
              <a:latin typeface="Courier New" panose="02070309020205020404" pitchFamily="49" charset="0"/>
              <a:cs typeface="Courier New" panose="02070309020205020404" pitchFamily="49" charset="0"/>
            </a:endParaRPr>
          </a:p>
        </p:txBody>
      </p:sp>
      <p:sp>
        <p:nvSpPr>
          <p:cNvPr id="6" name="Slide Number Placeholder 5">
            <a:extLst>
              <a:ext uri="{FF2B5EF4-FFF2-40B4-BE49-F238E27FC236}">
                <a16:creationId xmlns:a16="http://schemas.microsoft.com/office/drawing/2014/main" id="{007DF11C-323B-CE00-6049-63BBBDB7E345}"/>
              </a:ext>
            </a:extLst>
          </p:cNvPr>
          <p:cNvSpPr>
            <a:spLocks noGrp="1"/>
          </p:cNvSpPr>
          <p:nvPr>
            <p:ph type="sldNum" sz="quarter" idx="12"/>
          </p:nvPr>
        </p:nvSpPr>
        <p:spPr/>
        <p:txBody>
          <a:bodyPr/>
          <a:lstStyle/>
          <a:p>
            <a:fld id="{937257EE-0CEF-4D7E-9E69-5277D6172560}" type="slidenum">
              <a:rPr lang="nl-NL" smtClean="0">
                <a:solidFill>
                  <a:prstClr val="black">
                    <a:tint val="75000"/>
                  </a:prstClr>
                </a:solidFill>
              </a:rPr>
              <a:pPr/>
              <a:t>57</a:t>
            </a:fld>
            <a:endParaRPr lang="nl-NL">
              <a:solidFill>
                <a:prstClr val="black">
                  <a:tint val="75000"/>
                </a:prstClr>
              </a:solidFill>
            </a:endParaRPr>
          </a:p>
        </p:txBody>
      </p:sp>
    </p:spTree>
    <p:extLst>
      <p:ext uri="{BB962C8B-B14F-4D97-AF65-F5344CB8AC3E}">
        <p14:creationId xmlns:p14="http://schemas.microsoft.com/office/powerpoint/2010/main" val="27941683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106581</TotalTime>
  <Words>6040</Words>
  <Application>Microsoft Office PowerPoint</Application>
  <PresentationFormat>Widescreen</PresentationFormat>
  <Paragraphs>531</Paragraphs>
  <Slides>57</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57</vt:i4>
      </vt:variant>
    </vt:vector>
  </HeadingPairs>
  <TitlesOfParts>
    <vt:vector size="60" baseType="lpstr">
      <vt:lpstr>Arial</vt:lpstr>
      <vt:lpstr>Courier New</vt:lpstr>
      <vt:lpstr>Office Theme</vt:lpstr>
      <vt:lpstr>Introduction to Python</vt:lpstr>
      <vt:lpstr>What is Python?</vt:lpstr>
      <vt:lpstr>Why Python?</vt:lpstr>
      <vt:lpstr>Program for Today</vt:lpstr>
      <vt:lpstr>Organization of the course</vt:lpstr>
      <vt:lpstr>Instructors</vt:lpstr>
      <vt:lpstr>Communication</vt:lpstr>
      <vt:lpstr>Learning goals</vt:lpstr>
      <vt:lpstr>Tools</vt:lpstr>
      <vt:lpstr>Tools</vt:lpstr>
      <vt:lpstr>Running Python</vt:lpstr>
      <vt:lpstr>Study advice</vt:lpstr>
      <vt:lpstr>Assessment</vt:lpstr>
      <vt:lpstr>Python</vt:lpstr>
      <vt:lpstr>Logical lines of codes</vt:lpstr>
      <vt:lpstr>Physical lines of code</vt:lpstr>
      <vt:lpstr>Comments</vt:lpstr>
      <vt:lpstr>Objects</vt:lpstr>
      <vt:lpstr>Objects</vt:lpstr>
      <vt:lpstr>Assignment statements (I) </vt:lpstr>
      <vt:lpstr>Using assignment statements to create objects(II) </vt:lpstr>
      <vt:lpstr>Using assignment statements to create objects(III) </vt:lpstr>
      <vt:lpstr>Types of objects </vt:lpstr>
      <vt:lpstr>Types of objects</vt:lpstr>
      <vt:lpstr>Question</vt:lpstr>
      <vt:lpstr>Answer</vt:lpstr>
      <vt:lpstr>Names of objects</vt:lpstr>
      <vt:lpstr>Arithmetic Operators</vt:lpstr>
      <vt:lpstr>Arithmetic Operators</vt:lpstr>
      <vt:lpstr>Comparison operators</vt:lpstr>
      <vt:lpstr>Boolean operators</vt:lpstr>
      <vt:lpstr>Mutable vs immutable</vt:lpstr>
      <vt:lpstr>Question</vt:lpstr>
      <vt:lpstr>Answer</vt:lpstr>
      <vt:lpstr>An example with a string (immutable)</vt:lpstr>
      <vt:lpstr>An example with a list (mutable)</vt:lpstr>
      <vt:lpstr>Indexing</vt:lpstr>
      <vt:lpstr>Slicing (I)</vt:lpstr>
      <vt:lpstr>Slicing (I): examples when stepsize &gt;= 1</vt:lpstr>
      <vt:lpstr>Question: what is the result of the following program?</vt:lpstr>
      <vt:lpstr>Question: what is the result of the following program?</vt:lpstr>
      <vt:lpstr>Slicing (II): examples when stepsize &gt;=1</vt:lpstr>
      <vt:lpstr>Slicing (III): examples with negative steps</vt:lpstr>
      <vt:lpstr>Question: What will be printed?</vt:lpstr>
      <vt:lpstr>Question: What will be printed?</vt:lpstr>
      <vt:lpstr>Slicing with strings and tuples</vt:lpstr>
      <vt:lpstr>Changing a slice of a list</vt:lpstr>
      <vt:lpstr>'Changing' a slice of a string or a tupple</vt:lpstr>
      <vt:lpstr>Range</vt:lpstr>
      <vt:lpstr>Functions</vt:lpstr>
      <vt:lpstr>Objects</vt:lpstr>
      <vt:lpstr>Objects</vt:lpstr>
      <vt:lpstr>In Python, everything is an object </vt:lpstr>
      <vt:lpstr>In Python, everything is an object </vt:lpstr>
      <vt:lpstr>Importing additional functionality from packages</vt:lpstr>
      <vt:lpstr>Example: Importing additional functionality from packages</vt:lpstr>
      <vt:lpstr>Example: Importing additional functionality from packages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Intruction to Python</dc:title>
  <dc:creator>Ailko van der Veen</dc:creator>
  <cp:lastModifiedBy>Mathijs Janssen</cp:lastModifiedBy>
  <cp:revision>105</cp:revision>
  <cp:lastPrinted>2024-03-20T11:48:07Z</cp:lastPrinted>
  <dcterms:created xsi:type="dcterms:W3CDTF">2023-02-02T16:35:46Z</dcterms:created>
  <dcterms:modified xsi:type="dcterms:W3CDTF">2026-02-02T22:43:00Z</dcterms:modified>
</cp:coreProperties>
</file>