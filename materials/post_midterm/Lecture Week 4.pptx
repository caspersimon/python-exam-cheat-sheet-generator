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326" r:id="rId3"/>
    <p:sldId id="327" r:id="rId4"/>
    <p:sldId id="328" r:id="rId5"/>
    <p:sldId id="335" r:id="rId6"/>
    <p:sldId id="330" r:id="rId7"/>
    <p:sldId id="325" r:id="rId8"/>
    <p:sldId id="331" r:id="rId9"/>
    <p:sldId id="332" r:id="rId10"/>
    <p:sldId id="333" r:id="rId11"/>
    <p:sldId id="368" r:id="rId12"/>
    <p:sldId id="336" r:id="rId13"/>
    <p:sldId id="337" r:id="rId14"/>
    <p:sldId id="376" r:id="rId15"/>
    <p:sldId id="338" r:id="rId16"/>
    <p:sldId id="339" r:id="rId17"/>
    <p:sldId id="340" r:id="rId18"/>
    <p:sldId id="375" r:id="rId19"/>
    <p:sldId id="377" r:id="rId20"/>
    <p:sldId id="342" r:id="rId21"/>
    <p:sldId id="370" r:id="rId22"/>
    <p:sldId id="343" r:id="rId23"/>
    <p:sldId id="369" r:id="rId24"/>
    <p:sldId id="344" r:id="rId25"/>
    <p:sldId id="345" r:id="rId26"/>
    <p:sldId id="346" r:id="rId27"/>
    <p:sldId id="347" r:id="rId28"/>
    <p:sldId id="348" r:id="rId29"/>
    <p:sldId id="381" r:id="rId30"/>
    <p:sldId id="382" r:id="rId31"/>
    <p:sldId id="383" r:id="rId32"/>
    <p:sldId id="379" r:id="rId33"/>
    <p:sldId id="350" r:id="rId34"/>
    <p:sldId id="352" r:id="rId35"/>
    <p:sldId id="353" r:id="rId36"/>
    <p:sldId id="380" r:id="rId37"/>
    <p:sldId id="356" r:id="rId38"/>
    <p:sldId id="363" r:id="rId39"/>
    <p:sldId id="358" r:id="rId40"/>
    <p:sldId id="359" r:id="rId41"/>
    <p:sldId id="364" r:id="rId42"/>
    <p:sldId id="372" r:id="rId43"/>
    <p:sldId id="360" r:id="rId44"/>
    <p:sldId id="361" r:id="rId45"/>
    <p:sldId id="365" r:id="rId46"/>
    <p:sldId id="366" r:id="rId47"/>
    <p:sldId id="367" r:id="rId48"/>
    <p:sldId id="374" r:id="rId4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D06C89-9A29-4395-85E8-20B550D17094}" v="55" dt="2026-03-03T18:26:22.4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792" autoAdjust="0"/>
  </p:normalViewPr>
  <p:slideViewPr>
    <p:cSldViewPr snapToGrid="0">
      <p:cViewPr varScale="1">
        <p:scale>
          <a:sx n="77" d="100"/>
          <a:sy n="77" d="100"/>
        </p:scale>
        <p:origin x="912" y="67"/>
      </p:cViewPr>
      <p:guideLst/>
    </p:cSldViewPr>
  </p:slideViewPr>
  <p:outlineViewPr>
    <p:cViewPr>
      <p:scale>
        <a:sx n="33" d="100"/>
        <a:sy n="33" d="100"/>
      </p:scale>
      <p:origin x="0" y="-6670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ijs Janssen" userId="e1c712ed-fa05-4b32-a6ac-d3bcfe11202a" providerId="ADAL" clId="{8FD1F137-BF03-485D-B0D1-ED5AC4324200}"/>
    <pc:docChg chg="custSel addSld modSld">
      <pc:chgData name="Mathijs Janssen" userId="e1c712ed-fa05-4b32-a6ac-d3bcfe11202a" providerId="ADAL" clId="{8FD1F137-BF03-485D-B0D1-ED5AC4324200}" dt="2026-03-06T14:30:18.424" v="1515" actId="20577"/>
      <pc:docMkLst>
        <pc:docMk/>
      </pc:docMkLst>
      <pc:sldChg chg="mod modShow">
        <pc:chgData name="Mathijs Janssen" userId="e1c712ed-fa05-4b32-a6ac-d3bcfe11202a" providerId="ADAL" clId="{8FD1F137-BF03-485D-B0D1-ED5AC4324200}" dt="2026-03-03T12:44:44.313" v="0" actId="729"/>
        <pc:sldMkLst>
          <pc:docMk/>
          <pc:sldMk cId="1688873664" sldId="326"/>
        </pc:sldMkLst>
      </pc:sldChg>
      <pc:sldChg chg="modSp">
        <pc:chgData name="Mathijs Janssen" userId="e1c712ed-fa05-4b32-a6ac-d3bcfe11202a" providerId="ADAL" clId="{8FD1F137-BF03-485D-B0D1-ED5AC4324200}" dt="2026-03-03T15:18:45.338" v="1490" actId="20577"/>
        <pc:sldMkLst>
          <pc:docMk/>
          <pc:sldMk cId="471456932" sldId="330"/>
        </pc:sldMkLst>
        <pc:spChg chg="mod">
          <ac:chgData name="Mathijs Janssen" userId="e1c712ed-fa05-4b32-a6ac-d3bcfe11202a" providerId="ADAL" clId="{8FD1F137-BF03-485D-B0D1-ED5AC4324200}" dt="2026-03-03T15:18:45.338" v="1490" actId="20577"/>
          <ac:spMkLst>
            <pc:docMk/>
            <pc:sldMk cId="471456932" sldId="330"/>
            <ac:spMk id="3" creationId="{CB91C5D6-DFDE-636A-A87A-7035C641F4C7}"/>
          </ac:spMkLst>
        </pc:spChg>
      </pc:sldChg>
      <pc:sldChg chg="modSp">
        <pc:chgData name="Mathijs Janssen" userId="e1c712ed-fa05-4b32-a6ac-d3bcfe11202a" providerId="ADAL" clId="{8FD1F137-BF03-485D-B0D1-ED5AC4324200}" dt="2026-03-03T13:43:07.928" v="1479" actId="20577"/>
        <pc:sldMkLst>
          <pc:docMk/>
          <pc:sldMk cId="2566307803" sldId="353"/>
        </pc:sldMkLst>
        <pc:spChg chg="mod">
          <ac:chgData name="Mathijs Janssen" userId="e1c712ed-fa05-4b32-a6ac-d3bcfe11202a" providerId="ADAL" clId="{8FD1F137-BF03-485D-B0D1-ED5AC4324200}" dt="2026-03-03T13:43:07.928" v="1479" actId="20577"/>
          <ac:spMkLst>
            <pc:docMk/>
            <pc:sldMk cId="2566307803" sldId="353"/>
            <ac:spMk id="3" creationId="{CB91C5D6-DFDE-636A-A87A-7035C641F4C7}"/>
          </ac:spMkLst>
        </pc:spChg>
      </pc:sldChg>
      <pc:sldChg chg="modSp mod">
        <pc:chgData name="Mathijs Janssen" userId="e1c712ed-fa05-4b32-a6ac-d3bcfe11202a" providerId="ADAL" clId="{8FD1F137-BF03-485D-B0D1-ED5AC4324200}" dt="2026-03-03T13:44:20.641" v="1483" actId="20577"/>
        <pc:sldMkLst>
          <pc:docMk/>
          <pc:sldMk cId="2280641321" sldId="363"/>
        </pc:sldMkLst>
        <pc:spChg chg="mod">
          <ac:chgData name="Mathijs Janssen" userId="e1c712ed-fa05-4b32-a6ac-d3bcfe11202a" providerId="ADAL" clId="{8FD1F137-BF03-485D-B0D1-ED5AC4324200}" dt="2026-03-03T13:44:20.641" v="1483" actId="20577"/>
          <ac:spMkLst>
            <pc:docMk/>
            <pc:sldMk cId="2280641321" sldId="363"/>
            <ac:spMk id="2" creationId="{11DFC263-11F5-033B-4830-357794866397}"/>
          </ac:spMkLst>
        </pc:spChg>
      </pc:sldChg>
      <pc:sldChg chg="mod modShow">
        <pc:chgData name="Mathijs Janssen" userId="e1c712ed-fa05-4b32-a6ac-d3bcfe11202a" providerId="ADAL" clId="{8FD1F137-BF03-485D-B0D1-ED5AC4324200}" dt="2026-03-03T15:43:58.311" v="1491" actId="729"/>
        <pc:sldMkLst>
          <pc:docMk/>
          <pc:sldMk cId="3755287028" sldId="375"/>
        </pc:sldMkLst>
      </pc:sldChg>
      <pc:sldChg chg="modSp">
        <pc:chgData name="Mathijs Janssen" userId="e1c712ed-fa05-4b32-a6ac-d3bcfe11202a" providerId="ADAL" clId="{8FD1F137-BF03-485D-B0D1-ED5AC4324200}" dt="2026-03-03T18:26:22.489" v="1511" actId="20577"/>
        <pc:sldMkLst>
          <pc:docMk/>
          <pc:sldMk cId="3259188257" sldId="377"/>
        </pc:sldMkLst>
        <pc:spChg chg="mod">
          <ac:chgData name="Mathijs Janssen" userId="e1c712ed-fa05-4b32-a6ac-d3bcfe11202a" providerId="ADAL" clId="{8FD1F137-BF03-485D-B0D1-ED5AC4324200}" dt="2026-03-03T18:26:22.489" v="1511" actId="20577"/>
          <ac:spMkLst>
            <pc:docMk/>
            <pc:sldMk cId="3259188257" sldId="377"/>
            <ac:spMk id="3" creationId="{CB91C5D6-DFDE-636A-A87A-7035C641F4C7}"/>
          </ac:spMkLst>
        </pc:spChg>
      </pc:sldChg>
      <pc:sldChg chg="modSp new mod">
        <pc:chgData name="Mathijs Janssen" userId="e1c712ed-fa05-4b32-a6ac-d3bcfe11202a" providerId="ADAL" clId="{8FD1F137-BF03-485D-B0D1-ED5AC4324200}" dt="2026-03-03T13:19:50.154" v="417" actId="313"/>
        <pc:sldMkLst>
          <pc:docMk/>
          <pc:sldMk cId="107941934" sldId="381"/>
        </pc:sldMkLst>
        <pc:spChg chg="mod">
          <ac:chgData name="Mathijs Janssen" userId="e1c712ed-fa05-4b32-a6ac-d3bcfe11202a" providerId="ADAL" clId="{8FD1F137-BF03-485D-B0D1-ED5AC4324200}" dt="2026-03-03T12:49:56.459" v="34" actId="20577"/>
          <ac:spMkLst>
            <pc:docMk/>
            <pc:sldMk cId="107941934" sldId="381"/>
            <ac:spMk id="2" creationId="{0FF80D31-08B1-1136-9441-67816F32D41E}"/>
          </ac:spMkLst>
        </pc:spChg>
        <pc:spChg chg="mod">
          <ac:chgData name="Mathijs Janssen" userId="e1c712ed-fa05-4b32-a6ac-d3bcfe11202a" providerId="ADAL" clId="{8FD1F137-BF03-485D-B0D1-ED5AC4324200}" dt="2026-03-03T13:19:50.154" v="417" actId="313"/>
          <ac:spMkLst>
            <pc:docMk/>
            <pc:sldMk cId="107941934" sldId="381"/>
            <ac:spMk id="3" creationId="{355C5665-417E-EFC9-AE69-66668673A952}"/>
          </ac:spMkLst>
        </pc:spChg>
      </pc:sldChg>
      <pc:sldChg chg="modSp new mod">
        <pc:chgData name="Mathijs Janssen" userId="e1c712ed-fa05-4b32-a6ac-d3bcfe11202a" providerId="ADAL" clId="{8FD1F137-BF03-485D-B0D1-ED5AC4324200}" dt="2026-03-06T14:29:18.509" v="1513" actId="20577"/>
        <pc:sldMkLst>
          <pc:docMk/>
          <pc:sldMk cId="4098755492" sldId="382"/>
        </pc:sldMkLst>
        <pc:spChg chg="mod">
          <ac:chgData name="Mathijs Janssen" userId="e1c712ed-fa05-4b32-a6ac-d3bcfe11202a" providerId="ADAL" clId="{8FD1F137-BF03-485D-B0D1-ED5AC4324200}" dt="2026-03-06T14:29:18.509" v="1513" actId="20577"/>
          <ac:spMkLst>
            <pc:docMk/>
            <pc:sldMk cId="4098755492" sldId="382"/>
            <ac:spMk id="2" creationId="{14274280-CA7C-749E-0564-4B56A0E5A674}"/>
          </ac:spMkLst>
        </pc:spChg>
        <pc:spChg chg="mod">
          <ac:chgData name="Mathijs Janssen" userId="e1c712ed-fa05-4b32-a6ac-d3bcfe11202a" providerId="ADAL" clId="{8FD1F137-BF03-485D-B0D1-ED5AC4324200}" dt="2026-03-03T13:30:44.496" v="1077" actId="20577"/>
          <ac:spMkLst>
            <pc:docMk/>
            <pc:sldMk cId="4098755492" sldId="382"/>
            <ac:spMk id="3" creationId="{5736E1A1-D607-301F-B37B-09D7D0F9B45F}"/>
          </ac:spMkLst>
        </pc:spChg>
      </pc:sldChg>
      <pc:sldChg chg="modSp new mod">
        <pc:chgData name="Mathijs Janssen" userId="e1c712ed-fa05-4b32-a6ac-d3bcfe11202a" providerId="ADAL" clId="{8FD1F137-BF03-485D-B0D1-ED5AC4324200}" dt="2026-03-06T14:30:18.424" v="1515" actId="20577"/>
        <pc:sldMkLst>
          <pc:docMk/>
          <pc:sldMk cId="2551382550" sldId="383"/>
        </pc:sldMkLst>
        <pc:spChg chg="mod">
          <ac:chgData name="Mathijs Janssen" userId="e1c712ed-fa05-4b32-a6ac-d3bcfe11202a" providerId="ADAL" clId="{8FD1F137-BF03-485D-B0D1-ED5AC4324200}" dt="2026-03-06T14:30:18.424" v="1515" actId="20577"/>
          <ac:spMkLst>
            <pc:docMk/>
            <pc:sldMk cId="2551382550" sldId="383"/>
            <ac:spMk id="2" creationId="{8247757C-2AC6-1338-27FC-44942581D66C}"/>
          </ac:spMkLst>
        </pc:spChg>
        <pc:spChg chg="mod">
          <ac:chgData name="Mathijs Janssen" userId="e1c712ed-fa05-4b32-a6ac-d3bcfe11202a" providerId="ADAL" clId="{8FD1F137-BF03-485D-B0D1-ED5AC4324200}" dt="2026-03-03T13:41:14.608" v="1455" actId="20577"/>
          <ac:spMkLst>
            <pc:docMk/>
            <pc:sldMk cId="2551382550" sldId="383"/>
            <ac:spMk id="3" creationId="{5DB3BF0B-9129-52E6-F0A4-F6237913E00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149520-EE35-4A5D-B183-ECFD9C159729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C8D6A-272A-4BC6-A77D-265C1CA9D0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842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C8D6A-272A-4BC6-A77D-265C1CA9D00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468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82C18-A503-1EFE-0146-4C9F2201D1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49416-528B-13F6-2C0D-BB5E4579C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68B63-7CA1-E008-13B6-1801B276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3C89F-448C-4362-ADF6-3D377F6C4B6A}" type="datetime1">
              <a:rPr lang="nl-NL" smtClean="0"/>
              <a:t>6-3-2026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CD0B6-A659-29E6-B9CE-DF30E9BB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BAE83-4B17-FEFD-4C5F-9F6401716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0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F972C-F72A-CB7D-03BF-AF12EC80C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458CB-5D38-9D71-9515-F70B46EF7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BF662-1A87-B891-3979-30CA0AAF6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41F2D-CE16-4085-A3B0-29F1B452F151}" type="datetime1">
              <a:rPr lang="nl-NL" smtClean="0"/>
              <a:t>6-3-2026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53B6D-757C-82B2-3B85-E7E56036B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CD097-5F72-43BD-2F72-333C698E0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05152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BC7F9-C6C2-87E3-82B1-0BEB5FCD7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BF5F8-0CD9-178D-3488-65AA219B9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6EF8-3B35-9CF3-A69B-D68314F1B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01475-077B-45F9-B874-1FA623C9FBAD}" type="datetime1">
              <a:rPr lang="nl-NL" smtClean="0"/>
              <a:t>6-3-2026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281815-5329-8650-F30B-0DF16EE26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1BDD7-C048-0BF1-18EA-4C426585D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40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A4DF7-51CD-16E6-77C1-0AD9E79C4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034B-D47D-2C18-18CA-584C3BECD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8FA178-3EB6-78A4-6997-2321C864D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0D2B2-5A4D-2CD7-F9C7-DDC582501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E7EF8-ED3D-4F1E-8D1A-17EE6EF7656C}" type="datetime1">
              <a:rPr lang="nl-NL" smtClean="0"/>
              <a:t>6-3-2026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2A9D4-057D-23F5-30F3-AABD3302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F9C31-5202-FAE7-2803-73FF53BD8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0186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FDC5A-509E-3C4C-69F4-3333F397B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A17E6-D3F9-40BD-C0CF-0C8EAF342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D0D349-DC20-83D1-2EA3-B09214EFB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5C6B9B-288C-8176-28EE-AEA11B4873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D45A4C-414A-B4F3-1083-D2711B3A64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AA218B-7A31-08EB-864C-29F1038EF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9C61-008B-4A84-98A9-C90946520B64}" type="datetime1">
              <a:rPr lang="nl-NL" smtClean="0"/>
              <a:t>6-3-2026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D810CA-98B6-56EF-64B3-E94A4DD2B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DAB596-B1AB-C2E1-EE58-330B68AEE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54474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72FB8-ECEF-5181-3257-4FB9E7805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37B889-D4F7-18B3-A2C5-46060B836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6EAC6-AF81-4F02-B3CD-734C69566C9E}" type="datetime1">
              <a:rPr lang="nl-NL" smtClean="0"/>
              <a:t>6-3-2026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22E12-5503-3477-7CB7-9C3432A61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31E16-B94D-F116-2DAD-D744ED9C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8380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C25AAC-9D86-7F61-0ACD-E2C000DAD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6F291-54EE-4F98-ADB7-7EEF0EFF842D}" type="datetime1">
              <a:rPr lang="nl-NL" smtClean="0"/>
              <a:t>6-3-2026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2FD551-1EEF-D8C6-42E9-D4F9B8BD2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62C20-1294-9298-5F66-3ADF050C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4713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8D747-400B-4F47-6021-B292BDD64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D5ACC-42B5-BE16-60B1-ABAAF014D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744C54-93ED-216E-3975-EB48F290E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42FBC-83A9-12E4-E5C0-A82B5DE67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3873F-8744-458C-8944-084D09744889}" type="datetime1">
              <a:rPr lang="nl-NL" smtClean="0"/>
              <a:t>6-3-2026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A9697-2BD1-0272-8A7A-32629E1BD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F04A5-094E-D168-6B3E-27CD16BC3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3371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6F43A-C839-D00E-0757-F2F72382A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E27548-6E78-E0C5-B0ED-C1C430AB50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3582C-5781-748C-6A7E-0BA5CF0D13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31778-C266-FD37-6641-E8709444B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9618F-0FB9-40A9-AA84-F546657354AE}" type="datetime1">
              <a:rPr lang="nl-NL" smtClean="0"/>
              <a:t>6-3-2026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26EB7-0A5A-2663-C64A-BF74052FC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F1A26-74A3-8DFB-858E-DC22A3EAC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24076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BB7C3-19DB-3275-E61F-40B4C076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863A81-FCD9-A6B8-CB97-C29824F7A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7BF63-A44C-8DBD-1B93-844D5D52B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F80F9-9238-433E-BC45-43D2482415AF}" type="datetime1">
              <a:rPr lang="nl-NL" smtClean="0"/>
              <a:t>6-3-2026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9ABA6-ED0F-DC08-83FA-F824A846E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6C4E1-51E5-8032-6EA4-136E428A4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9913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F7B03F-71EB-6FF4-9AAC-8137F74DB1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2282D-B6A8-83FC-71CB-A7A99B8FB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4FD3D-E115-9A51-42B5-9AAE7711F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78153-7AF0-4306-98E8-FC2967B1FC2D}" type="datetime1">
              <a:rPr lang="nl-NL" smtClean="0"/>
              <a:t>6-3-2026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E029D-A8ED-D0A3-E0C7-6AD3F3E15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F61DF-E00E-8CB2-C275-EF2ABCDA9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72157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B89729-874D-6F0D-4AA2-77443C5FD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D22FC-8C75-8F07-08B6-29F3EE2768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965AE-F166-5995-21E7-5E29C2AA8F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3161C-6E5E-4297-8C17-7099C7E3AC26}" type="datetime1">
              <a:rPr lang="nl-NL" smtClean="0"/>
              <a:t>6-3-2026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B08FA-0989-30E9-CCAC-E826AFE1CF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62BB8-B861-FAFF-FA84-FADE132E1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B6F6A-0448-4EED-A121-7B4A352F61B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86001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A91FA-1313-11E2-018E-4967B62B42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Introduction to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2C341-99CC-9EA7-476B-19DF18973C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Week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3B6CC7-E8FE-59A6-7C4E-7B95E23A1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40831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027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/>
              <a:t>Python from basics to machine learning</a:t>
            </a:r>
            <a:br>
              <a:rPr lang="en-US" sz="3600" b="1" dirty="0"/>
            </a:br>
            <a:r>
              <a:rPr lang="en-US" sz="3600" b="1" dirty="0"/>
              <a:t>guest lecture by </a:t>
            </a:r>
            <a:r>
              <a:rPr lang="en-US" sz="3600" b="1" dirty="0" err="1"/>
              <a:t>Jadé</a:t>
            </a:r>
            <a:r>
              <a:rPr lang="en-US" sz="3600" b="1" dirty="0"/>
              <a:t> Dieteren (Amazon London)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1097682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 dirty="0"/>
              <a:t>Tomorrow, 7th of May, 17:00, C1.04</a:t>
            </a:r>
          </a:p>
          <a:p>
            <a:r>
              <a:rPr lang="en-US" sz="2200" i="1" dirty="0" err="1"/>
              <a:t>Jadé</a:t>
            </a:r>
            <a:r>
              <a:rPr lang="en-US" sz="2200" i="1" dirty="0"/>
              <a:t> will share her experience on:</a:t>
            </a:r>
          </a:p>
          <a:p>
            <a:pPr lvl="1"/>
            <a:r>
              <a:rPr lang="en-US" sz="2000" i="1" dirty="0"/>
              <a:t>learning Python</a:t>
            </a:r>
            <a:endParaRPr lang="en-US" sz="2000" dirty="0"/>
          </a:p>
          <a:p>
            <a:pPr lvl="1"/>
            <a:r>
              <a:rPr lang="en-US" sz="2000" i="1" dirty="0"/>
              <a:t>programming Python </a:t>
            </a:r>
            <a:endParaRPr lang="en-US" sz="2000" dirty="0"/>
          </a:p>
          <a:p>
            <a:pPr lvl="1"/>
            <a:r>
              <a:rPr lang="en-US" sz="2000" i="1" dirty="0"/>
              <a:t>using Python for data science </a:t>
            </a:r>
            <a:endParaRPr lang="en-US" sz="2000" dirty="0"/>
          </a:p>
          <a:p>
            <a:pPr lvl="1"/>
            <a:r>
              <a:rPr lang="en-US" sz="2000" i="1" dirty="0"/>
              <a:t>building machine learning models </a:t>
            </a:r>
            <a:endParaRPr lang="en-US" sz="2000" dirty="0"/>
          </a:p>
          <a:p>
            <a:r>
              <a:rPr lang="en-US" sz="2200" i="1" dirty="0"/>
              <a:t>During and after her lecture there will be ample time for questions and discussions.</a:t>
            </a:r>
            <a:endParaRPr lang="en-US" sz="2200" dirty="0"/>
          </a:p>
          <a:p>
            <a:r>
              <a:rPr lang="en-US" sz="2200" i="1" dirty="0" err="1"/>
              <a:t>Jadé</a:t>
            </a:r>
            <a:r>
              <a:rPr lang="en-US" sz="2200" i="1" dirty="0"/>
              <a:t> studied Econometrics &amp; Operations Research at Maastricht University (2014), followed by a Post-Master in Data Science &amp; Business analytics at Erasmus University (2018). She started her career as a Quantitative Researcher at </a:t>
            </a:r>
            <a:r>
              <a:rPr lang="en-US" sz="2200" i="1" dirty="0" err="1"/>
              <a:t>RaboResearch</a:t>
            </a:r>
            <a:r>
              <a:rPr lang="en-US" sz="2200" i="1" dirty="0"/>
              <a:t>, which is the economic research department of Rabobank. In 2021 she joined the Amazon Experience &amp; Technology (AET) organization in Prague. Last year, she relocated to London while continuing her role in the same science team.</a:t>
            </a:r>
            <a:endParaRPr lang="en-US" sz="2200" dirty="0"/>
          </a:p>
          <a:p>
            <a:r>
              <a:rPr lang="en-US" sz="2200" i="1" dirty="0"/>
              <a:t>In her current role as a Sr. Data Scientist, she focuses on experimentation and demand forecasting to drive operational efficiencies and improve employee experience for more than 1 million Amazon employees globally. </a:t>
            </a:r>
            <a:endParaRPr lang="en-US" sz="2200" dirty="0"/>
          </a:p>
          <a:p>
            <a:endParaRPr lang="en-US" sz="2400" noProof="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8887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Program for This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1097682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514350" indent="-514350">
              <a:buAutoNum type="arabicPeriod"/>
            </a:pPr>
            <a:r>
              <a:rPr lang="en-US" sz="2400" dirty="0">
                <a:latin typeface="Arial"/>
                <a:ea typeface="Calibri"/>
                <a:cs typeface="Arial"/>
              </a:rPr>
              <a:t>Defining strings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Arial"/>
                <a:ea typeface="Calibri"/>
                <a:cs typeface="Arial"/>
              </a:rPr>
              <a:t>Basic string manipulation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Arial"/>
                <a:ea typeface="Calibri"/>
                <a:cs typeface="Arial"/>
              </a:rPr>
              <a:t>String methods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Arial"/>
                <a:ea typeface="Calibri"/>
                <a:cs typeface="Arial"/>
              </a:rPr>
              <a:t>F-strings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Arial"/>
                <a:ea typeface="Calibri"/>
                <a:cs typeface="Arial"/>
              </a:rPr>
              <a:t>Object-oriented programming (OOP) concepts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Arial"/>
                <a:ea typeface="Calibri"/>
                <a:cs typeface="Arial"/>
              </a:rPr>
              <a:t>Error handling</a:t>
            </a:r>
          </a:p>
          <a:p>
            <a:pPr marL="514350" indent="-514350">
              <a:buAutoNum type="arabicPeriod"/>
            </a:pPr>
            <a:r>
              <a:rPr lang="en-US" sz="2400" dirty="0">
                <a:latin typeface="Arial"/>
                <a:ea typeface="Calibri"/>
                <a:cs typeface="Arial"/>
              </a:rPr>
              <a:t>Midterm and homework questions (next week)</a:t>
            </a:r>
          </a:p>
          <a:p>
            <a:endParaRPr lang="en-US" sz="20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 noProof="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5132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Defining strings with quotes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8876"/>
            <a:ext cx="12191999" cy="569912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/>
            <a:r>
              <a:rPr lang="en-US" dirty="0">
                <a:ea typeface="Calibri"/>
                <a:cs typeface="Calibri"/>
              </a:rPr>
              <a:t>When using single quotes, Python searches for a matching quote, and stops searching at the </a:t>
            </a:r>
            <a:r>
              <a:rPr lang="en-US" i="1" dirty="0">
                <a:ea typeface="Calibri"/>
                <a:cs typeface="Calibri"/>
              </a:rPr>
              <a:t>End of the Line </a:t>
            </a:r>
            <a:r>
              <a:rPr lang="en-US" dirty="0">
                <a:ea typeface="Calibri"/>
                <a:cs typeface="Calibri"/>
              </a:rPr>
              <a:t>(EOL)</a:t>
            </a:r>
          </a:p>
          <a:p>
            <a:pPr lvl="1"/>
            <a:r>
              <a:rPr lang="en-US" dirty="0">
                <a:ea typeface="Calibri"/>
                <a:cs typeface="Calibri"/>
              </a:rPr>
              <a:t>The following give an error (</a:t>
            </a:r>
            <a:r>
              <a:rPr lang="en-US" dirty="0" err="1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SyntaxError</a:t>
            </a:r>
            <a:r>
              <a:rPr lang="en-US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: EOL while scanning string):</a:t>
            </a:r>
            <a:r>
              <a:rPr lang="en-US" dirty="0">
                <a:ea typeface="Calibri"/>
                <a:cs typeface="Calibri"/>
              </a:rPr>
              <a:t> </a:t>
            </a:r>
          </a:p>
          <a:p>
            <a:pPr lvl="2"/>
            <a:r>
              <a:rPr lang="en-US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print("it')</a:t>
            </a:r>
          </a:p>
          <a:p>
            <a:pPr lvl="2"/>
            <a:r>
              <a:rPr lang="en-US" dirty="0">
                <a:latin typeface="Courier New" panose="02070309020205020404" pitchFamily="49" charset="0"/>
                <a:ea typeface="Calibri"/>
                <a:cs typeface="Courier New" panose="02070309020205020404" pitchFamily="49" charset="0"/>
              </a:rPr>
              <a:t>print('it")</a:t>
            </a:r>
            <a:endParaRPr lang="en-US" sz="2400" dirty="0">
              <a:latin typeface="Courier New" panose="02070309020205020404" pitchFamily="49" charset="0"/>
              <a:ea typeface="Calibri"/>
              <a:cs typeface="Courier New" panose="02070309020205020404" pitchFamily="49" charset="0"/>
            </a:endParaRPr>
          </a:p>
          <a:p>
            <a:pPr marL="342900" indent="-342900"/>
            <a:r>
              <a:rPr lang="en-US" dirty="0">
                <a:ea typeface="Calibri"/>
                <a:cs typeface="Calibri"/>
              </a:rPr>
              <a:t>When using triple quotes, Python searches for a matching triple, and stops searching at the </a:t>
            </a:r>
            <a:r>
              <a:rPr lang="en-US" i="1" dirty="0">
                <a:ea typeface="Calibri"/>
                <a:cs typeface="Calibri"/>
              </a:rPr>
              <a:t>End of the File </a:t>
            </a:r>
            <a:r>
              <a:rPr lang="en-US" dirty="0">
                <a:ea typeface="Calibri"/>
                <a:cs typeface="Calibri"/>
              </a:rPr>
              <a:t>(EOF)</a:t>
            </a:r>
          </a:p>
          <a:p>
            <a:pPr lvl="1"/>
            <a:r>
              <a:rPr lang="en-US" dirty="0">
                <a:ea typeface="Calibri"/>
                <a:cs typeface="Calibri"/>
              </a:rPr>
              <a:t>The following give an error (</a:t>
            </a:r>
            <a:r>
              <a:rPr lang="en-US" dirty="0">
                <a:latin typeface="Courier New"/>
                <a:ea typeface="Calibri"/>
                <a:cs typeface="Courier New"/>
              </a:rPr>
              <a:t>EOF while scanning string literal)</a:t>
            </a:r>
            <a:r>
              <a:rPr lang="en-US" dirty="0">
                <a:ea typeface="Calibri"/>
                <a:cs typeface="Calibri"/>
              </a:rPr>
              <a:t>: </a:t>
            </a:r>
          </a:p>
          <a:p>
            <a:pPr lvl="2"/>
            <a:r>
              <a:rPr lang="en-US" dirty="0">
                <a:latin typeface="Courier New"/>
                <a:ea typeface="Calibri"/>
                <a:cs typeface="Courier New"/>
              </a:rPr>
              <a:t>print('''it's</a:t>
            </a:r>
            <a:br>
              <a:rPr lang="en-US" dirty="0">
                <a:latin typeface="Courier New"/>
                <a:ea typeface="Calibri"/>
                <a:cs typeface="Courier New"/>
              </a:rPr>
            </a:br>
            <a:r>
              <a:rPr lang="en-US" dirty="0">
                <a:latin typeface="Courier New"/>
                <a:ea typeface="Calibri"/>
                <a:cs typeface="Courier New"/>
              </a:rPr>
              <a:t>a new line)</a:t>
            </a:r>
          </a:p>
          <a:p>
            <a:pPr lvl="2"/>
            <a:r>
              <a:rPr lang="en-US" dirty="0">
                <a:latin typeface="Courier New"/>
                <a:ea typeface="Calibri"/>
                <a:cs typeface="Courier New"/>
              </a:rPr>
              <a:t>print("""it's</a:t>
            </a:r>
            <a:br>
              <a:rPr lang="en-US" dirty="0">
                <a:latin typeface="Courier New"/>
                <a:ea typeface="Calibri"/>
                <a:cs typeface="Courier New"/>
              </a:rPr>
            </a:br>
            <a:r>
              <a:rPr lang="en-US" dirty="0">
                <a:latin typeface="Courier New"/>
                <a:ea typeface="Calibri"/>
                <a:cs typeface="Courier New"/>
              </a:rPr>
              <a:t>another new line</a:t>
            </a:r>
            <a:br>
              <a:rPr lang="en-US" dirty="0">
                <a:latin typeface="Courier New"/>
                <a:ea typeface="Calibri"/>
                <a:cs typeface="Courier New"/>
              </a:rPr>
            </a:br>
            <a:r>
              <a:rPr lang="en-US" dirty="0">
                <a:latin typeface="Courier New"/>
                <a:ea typeface="Calibri"/>
                <a:cs typeface="Courier New"/>
              </a:rPr>
              <a:t>"")		</a:t>
            </a:r>
            <a:endParaRPr lang="en-US" sz="2400" dirty="0">
              <a:latin typeface="Arial"/>
              <a:ea typeface="Calibri"/>
              <a:cs typeface="Arial"/>
            </a:endParaRPr>
          </a:p>
          <a:p>
            <a:endParaRPr lang="en-US" sz="2400" noProof="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9139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sz="4400" dirty="0">
                <a:latin typeface="Calibri"/>
                <a:ea typeface="Calibri"/>
                <a:cs typeface="Calibri"/>
              </a:rPr>
              <a:t>Quotes inside a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1097682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Calibri"/>
              </a:rPr>
              <a:t>The following works: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print("it's") # Onscreen: it's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print('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it"s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') # Onscreen: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it"s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The following gives an </a:t>
            </a:r>
            <a:r>
              <a:rPr lang="en-US" sz="2400" dirty="0">
                <a:ea typeface="Calibri"/>
                <a:cs typeface="Calibri"/>
              </a:rPr>
              <a:t>error (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SyntaxError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: invalid syntax</a:t>
            </a:r>
            <a:r>
              <a:rPr lang="en-US" sz="2400" dirty="0">
                <a:ea typeface="Calibri"/>
                <a:cs typeface="Calibri"/>
              </a:rPr>
              <a:t>):</a:t>
            </a:r>
            <a:endParaRPr lang="en-US" sz="2400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print("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it"s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")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print('it's')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Alternatively, working with </a:t>
            </a:r>
            <a:r>
              <a:rPr lang="en-US" sz="2400" i="1" dirty="0">
                <a:latin typeface="Calibri"/>
                <a:ea typeface="Calibri"/>
                <a:cs typeface="Calibri"/>
              </a:rPr>
              <a:t>escape characters </a:t>
            </a:r>
            <a:r>
              <a:rPr lang="en-US" sz="2400" dirty="0">
                <a:latin typeface="Calibri"/>
                <a:ea typeface="Calibri"/>
                <a:cs typeface="Calibri"/>
              </a:rPr>
              <a:t>also works: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print("it\"s\'s") # Onscreen: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it"s's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print('it\"s\'s') # Onscreen: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it"s's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Triple quotes work as well: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print("""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it"s's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""") # Onscreen: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it"s's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print('''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it"s's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''') # Onscreen: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it"s's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endParaRPr lang="en-US" sz="2400" dirty="0">
              <a:latin typeface="Courier New"/>
              <a:ea typeface="Calibri"/>
              <a:cs typeface="Courier New"/>
            </a:endParaRPr>
          </a:p>
          <a:p>
            <a:pPr marL="342900" indent="-342900"/>
            <a:endParaRPr lang="en-US" sz="2400" dirty="0">
              <a:latin typeface="Calibri"/>
              <a:ea typeface="Calibri"/>
              <a:cs typeface="Calibri"/>
            </a:endParaRPr>
          </a:p>
          <a:p>
            <a:pPr marL="342900" indent="-342900"/>
            <a:endParaRPr lang="en-US" sz="2400" dirty="0">
              <a:ea typeface="Calibri"/>
              <a:cs typeface="Calibri"/>
            </a:endParaRPr>
          </a:p>
          <a:p>
            <a:pPr marL="514350" indent="-514350">
              <a:buAutoNum type="arabicPeriod"/>
            </a:pPr>
            <a:endParaRPr lang="en-US" sz="2400" noProof="0" dirty="0">
              <a:latin typeface="Arial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8648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2" y="142875"/>
            <a:ext cx="11787717" cy="1325563"/>
          </a:xfrm>
        </p:spPr>
        <p:txBody>
          <a:bodyPr>
            <a:normAutofit/>
          </a:bodyPr>
          <a:lstStyle/>
          <a:p>
            <a:r>
              <a:rPr lang="en-US" sz="3600" dirty="0"/>
              <a:t>Escape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942" y="1158876"/>
            <a:ext cx="11923058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latin typeface="Calibri"/>
                <a:ea typeface="Calibri"/>
                <a:cs typeface="Calibri"/>
              </a:rPr>
              <a:t>\\  =  \</a:t>
            </a:r>
          </a:p>
          <a:p>
            <a:r>
              <a:rPr lang="en-US" sz="2000" dirty="0">
                <a:latin typeface="Calibri"/>
                <a:ea typeface="Calibri"/>
                <a:cs typeface="Calibri"/>
              </a:rPr>
              <a:t>\’  =  '</a:t>
            </a:r>
          </a:p>
          <a:p>
            <a:r>
              <a:rPr lang="en-US" sz="2000" dirty="0">
                <a:latin typeface="Calibri"/>
                <a:ea typeface="Calibri"/>
                <a:cs typeface="Calibri"/>
              </a:rPr>
              <a:t>\"  =  "</a:t>
            </a:r>
          </a:p>
          <a:p>
            <a:r>
              <a:rPr lang="en-US" sz="2000" dirty="0">
                <a:latin typeface="Calibri"/>
                <a:ea typeface="Calibri"/>
                <a:cs typeface="Calibri"/>
              </a:rPr>
              <a:t>\n = go to the next line</a:t>
            </a:r>
          </a:p>
          <a:p>
            <a:r>
              <a:rPr lang="en-US" sz="2000" dirty="0">
                <a:latin typeface="Calibri"/>
                <a:ea typeface="Calibri"/>
                <a:cs typeface="Calibri"/>
              </a:rPr>
              <a:t>\t = insert a tab</a:t>
            </a:r>
          </a:p>
          <a:p>
            <a:r>
              <a:rPr lang="en-US" sz="2000" dirty="0">
                <a:latin typeface="Courier New"/>
                <a:ea typeface="Calibri"/>
                <a:cs typeface="Courier New"/>
              </a:rPr>
              <a:t>print('The info, it\'s on the next\\following line in two columns:\n1\t2') 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# Onscreen: The info, it's on the next\following line in two columns: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# 1	2</a:t>
            </a:r>
          </a:p>
          <a:p>
            <a:r>
              <a:rPr lang="en-US" sz="2000" dirty="0">
                <a:latin typeface="Calibri"/>
                <a:ea typeface="Calibri"/>
                <a:cs typeface="Calibri"/>
              </a:rPr>
              <a:t>This is great, but if you must type the string yourself, using triple single or double quotes may be easier:</a:t>
            </a:r>
          </a:p>
          <a:p>
            <a:r>
              <a:rPr lang="en-US" sz="2000" dirty="0">
                <a:latin typeface="Courier New"/>
                <a:ea typeface="Calibri"/>
                <a:cs typeface="Courier New"/>
              </a:rPr>
              <a:t>print("""The info, it's on the next\following line in two columns: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1 2""")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# Onscreen: The info, it's on the next line in two columns: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# 1 2</a:t>
            </a:r>
            <a:endParaRPr lang="en-US" sz="2000" noProof="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71456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Basic string manipulation: built-in functions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1097682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latin typeface="Calibri"/>
                <a:ea typeface="Calibri"/>
                <a:cs typeface="Calibri"/>
              </a:rPr>
              <a:t>There are also some built-in functions that can be used with strings</a:t>
            </a:r>
          </a:p>
          <a:p>
            <a:pPr lvl="1"/>
            <a:r>
              <a:rPr lang="en-US" sz="2000" i="1" dirty="0">
                <a:latin typeface="Calibri"/>
                <a:ea typeface="Calibri"/>
                <a:cs typeface="Calibri"/>
              </a:rPr>
              <a:t>Built-in</a:t>
            </a:r>
            <a:r>
              <a:rPr lang="en-US" sz="2000" dirty="0">
                <a:latin typeface="Calibri"/>
                <a:ea typeface="Calibri"/>
                <a:cs typeface="Calibri"/>
              </a:rPr>
              <a:t> means that they are part of the Python system, you don't have to program them yourself</a:t>
            </a:r>
          </a:p>
          <a:p>
            <a:r>
              <a:rPr lang="en-US" sz="2000" dirty="0">
                <a:latin typeface="Calibri"/>
                <a:ea typeface="Calibri"/>
                <a:cs typeface="Calibri"/>
              </a:rPr>
              <a:t>The function </a:t>
            </a:r>
            <a:r>
              <a:rPr lang="en-US" sz="2000" dirty="0" err="1">
                <a:latin typeface="Courier New"/>
                <a:ea typeface="Calibri"/>
                <a:cs typeface="Calibri"/>
              </a:rPr>
              <a:t>len</a:t>
            </a:r>
            <a:r>
              <a:rPr lang="en-US" sz="2000" dirty="0">
                <a:latin typeface="Courier New"/>
                <a:ea typeface="Calibri"/>
                <a:cs typeface="Calibri"/>
              </a:rPr>
              <a:t>()</a:t>
            </a:r>
            <a:r>
              <a:rPr lang="en-US" sz="2000" dirty="0">
                <a:latin typeface="Calibri"/>
                <a:ea typeface="Calibri"/>
                <a:cs typeface="Calibri"/>
              </a:rPr>
              <a:t> gives you the length of a string: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alibri"/>
              </a:rPr>
              <a:t>a =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abcd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print(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len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(a)) # Onscreen: 4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000" i="1" dirty="0">
                <a:latin typeface="Calibri"/>
                <a:ea typeface="Calibri"/>
                <a:cs typeface="Calibri"/>
              </a:rPr>
              <a:t>Concatenation</a:t>
            </a:r>
            <a:r>
              <a:rPr lang="en-US" sz="2000" dirty="0">
                <a:latin typeface="Calibri"/>
                <a:ea typeface="Calibri"/>
                <a:cs typeface="Calibri"/>
              </a:rPr>
              <a:t>, which is used to concatenate strings, uses the + operator: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pPr lvl="1"/>
            <a:r>
              <a:rPr lang="en-US" sz="2000" dirty="0">
                <a:latin typeface="Courier New"/>
                <a:ea typeface="Calibri"/>
                <a:cs typeface="Calibri"/>
              </a:rPr>
              <a:t>a =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abcd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b =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ef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a = a + b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print(a) # Onscreen: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abcdef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r>
              <a:rPr lang="en-US" sz="2000" dirty="0">
                <a:latin typeface="Calibri"/>
                <a:ea typeface="Calibri"/>
                <a:cs typeface="Calibri"/>
              </a:rPr>
              <a:t>That you can use an operator for several </a:t>
            </a:r>
            <a:r>
              <a:rPr lang="en-US" sz="2000" dirty="0">
                <a:ea typeface="Calibri"/>
                <a:cs typeface="Calibri"/>
              </a:rPr>
              <a:t>different operations is called </a:t>
            </a:r>
            <a:r>
              <a:rPr lang="en-US" sz="2000" i="1" dirty="0">
                <a:ea typeface="Calibri"/>
                <a:cs typeface="Calibri"/>
              </a:rPr>
              <a:t>operator overloading</a:t>
            </a:r>
            <a:r>
              <a:rPr lang="en-US" sz="2000" dirty="0">
                <a:latin typeface="Calibri"/>
                <a:ea typeface="Calibri"/>
                <a:cs typeface="Calibri"/>
              </a:rPr>
              <a:t>, in this case the + operator to add numbers, to concatenate strings, to append to lists</a:t>
            </a:r>
            <a:endParaRPr lang="en-US" sz="2000" i="1" dirty="0">
              <a:latin typeface="Calibri"/>
              <a:ea typeface="Calibri"/>
              <a:cs typeface="Calibri"/>
            </a:endParaRPr>
          </a:p>
          <a:p>
            <a:r>
              <a:rPr lang="en-US" sz="2000" dirty="0">
                <a:latin typeface="Calibri"/>
                <a:ea typeface="Calibri"/>
                <a:cs typeface="Calibri"/>
              </a:rPr>
              <a:t>The function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sorted()</a:t>
            </a:r>
            <a:r>
              <a:rPr lang="en-US" sz="2000" dirty="0">
                <a:latin typeface="Calibri"/>
                <a:ea typeface="Calibri"/>
                <a:cs typeface="Calibri"/>
              </a:rPr>
              <a:t> can also be used to a string: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alibri"/>
              </a:rPr>
              <a:t>print(sorted('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acbd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')) # Onscreen: ['a', 'b', 'c', 'd']</a:t>
            </a:r>
            <a:endParaRPr lang="en-US" sz="2000" dirty="0">
              <a:ea typeface="Calibri"/>
              <a:cs typeface="Calibri"/>
            </a:endParaRPr>
          </a:p>
          <a:p>
            <a:pPr lvl="1"/>
            <a:r>
              <a:rPr lang="en-US" sz="2000" dirty="0">
                <a:latin typeface="Calibri"/>
                <a:ea typeface="Calibri"/>
                <a:cs typeface="Calibri"/>
              </a:rPr>
              <a:t>The result of sorting a string is a list. Later this lecture we will use the </a:t>
            </a:r>
            <a:r>
              <a:rPr lang="en-US" sz="2000" dirty="0">
                <a:latin typeface="Courier New"/>
                <a:ea typeface="Calibri"/>
                <a:cs typeface="Calibri"/>
              </a:rPr>
              <a:t>join</a:t>
            </a:r>
            <a:r>
              <a:rPr lang="en-US" sz="2000" dirty="0">
                <a:latin typeface="Calibri"/>
                <a:ea typeface="Calibri"/>
                <a:cs typeface="Calibri"/>
              </a:rPr>
              <a:t> method to transform this list back into a string</a:t>
            </a: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endParaRPr lang="en-US" sz="2400" dirty="0">
              <a:ea typeface="Calibri"/>
              <a:cs typeface="Calibri"/>
            </a:endParaRPr>
          </a:p>
          <a:p>
            <a:endParaRPr lang="en-US" sz="2400" noProof="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4102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1097682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Arial"/>
              </a:rPr>
              <a:t>Methods are functions</a:t>
            </a: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Methods are, just like functions, called by adding round brackets after the method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Arial"/>
              </a:rPr>
              <a:t>Within these round brackets you can add arguments that you want to pass to the method</a:t>
            </a: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The difference with a function is that you always must pass the object on which the method is applied as first argument to the method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Arial"/>
              </a:rPr>
              <a:t>This can be done in several ways, but most easily by using the dot operator (dot = .) </a:t>
            </a: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Compare a function call:</a:t>
            </a:r>
          </a:p>
          <a:p>
            <a:pPr lvl="1"/>
            <a:r>
              <a:rPr lang="en-US" sz="1800" dirty="0">
                <a:latin typeface="Courier New"/>
                <a:ea typeface="Calibri"/>
                <a:cs typeface="Arial"/>
              </a:rPr>
              <a:t>print(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len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('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abcd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')) # Onscreen: 4</a:t>
            </a:r>
            <a:endParaRPr lang="en-US" sz="1800" dirty="0"/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With a method call:</a:t>
            </a:r>
          </a:p>
          <a:p>
            <a:pPr lvl="1"/>
            <a:r>
              <a:rPr lang="en-US" sz="1800" dirty="0">
                <a:latin typeface="Courier New"/>
                <a:ea typeface="Calibri"/>
                <a:cs typeface="Arial"/>
              </a:rPr>
              <a:t>'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abcd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'.index('b') # Onscreen: 1</a:t>
            </a:r>
            <a:endParaRPr lang="en-US" sz="1800" dirty="0">
              <a:latin typeface="Courier New"/>
              <a:ea typeface="Calibri"/>
              <a:cs typeface="Calibri"/>
            </a:endParaRP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Though it seems like only one argument is passed to the method, two arguments are passed to this index method: the string object with value '</a:t>
            </a:r>
            <a:r>
              <a:rPr lang="en-US" sz="2400" dirty="0" err="1">
                <a:latin typeface="Calibri"/>
                <a:ea typeface="Calibri"/>
                <a:cs typeface="Arial"/>
              </a:rPr>
              <a:t>abcd</a:t>
            </a:r>
            <a:r>
              <a:rPr lang="en-US" sz="2400" dirty="0">
                <a:latin typeface="Calibri"/>
                <a:ea typeface="Calibri"/>
                <a:cs typeface="Arial"/>
              </a:rPr>
              <a:t>', and an object with value 'b'</a:t>
            </a: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Courier New"/>
            </a:endParaRPr>
          </a:p>
          <a:p>
            <a:endParaRPr lang="en-US" sz="2400" noProof="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250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String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1097682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Arial"/>
              </a:rPr>
              <a:t>Methods can either: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Arial"/>
              </a:rPr>
              <a:t>Change the object that is passed to them with the dot operator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Arial"/>
              </a:rPr>
              <a:t>Return a changed version of the object as a new object</a:t>
            </a: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If you program methods yourself, you can even let them do both</a:t>
            </a: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You can assume that the built-in methods of the standard library take only one option</a:t>
            </a:r>
            <a:endParaRPr lang="en-US" dirty="0">
              <a:latin typeface="Calibri"/>
              <a:ea typeface="Calibri"/>
              <a:cs typeface="Calibri" panose="020F0502020204030204"/>
            </a:endParaRPr>
          </a:p>
          <a:p>
            <a:pPr lvl="1"/>
            <a:r>
              <a:rPr lang="en-US" sz="2000" dirty="0">
                <a:latin typeface="Calibri"/>
                <a:ea typeface="Calibri"/>
                <a:cs typeface="Arial"/>
              </a:rPr>
              <a:t>For a built-in method, you must know which option it will be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Arial"/>
              </a:rPr>
              <a:t>With methods used in the Pandas library you can often change the default option via a parameter</a:t>
            </a:r>
            <a:endParaRPr lang="en-US" sz="2000" dirty="0">
              <a:ea typeface="Calibri"/>
              <a:cs typeface="Calibri"/>
            </a:endParaRP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Question: What will the option be in the case of a string method?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Arial"/>
              </a:rPr>
              <a:t>As strings are immutable, string methods can only return a new object</a:t>
            </a:r>
          </a:p>
          <a:p>
            <a:r>
              <a:rPr lang="en-US" sz="2400" dirty="0">
                <a:latin typeface="Calibri"/>
                <a:ea typeface="Calibri"/>
                <a:cs typeface="Calibri"/>
              </a:rPr>
              <a:t>Technically, even a method that changes an object returns a value: just like a function without a return statement, a method without a return statement will return </a:t>
            </a:r>
            <a:r>
              <a:rPr lang="en-US" sz="2000" dirty="0">
                <a:latin typeface="Courier New"/>
                <a:ea typeface="Calibri"/>
                <a:cs typeface="Calibri"/>
              </a:rPr>
              <a:t>None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Calibri"/>
              </a:rPr>
              <a:t>However, that returned value is not what you will be interested in</a:t>
            </a:r>
            <a:endParaRPr lang="en-US" dirty="0">
              <a:ea typeface="Calibri"/>
              <a:cs typeface="Calibri"/>
            </a:endParaRPr>
          </a:p>
          <a:p>
            <a:endParaRPr lang="en-US" sz="2400" noProof="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159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String methods: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1097682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Arial"/>
              </a:rPr>
              <a:t>For example, if you want to capitalize (make the first character uppercase) a string, which of the following code fragments will print: 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Abcd</a:t>
            </a:r>
            <a:endParaRPr lang="en-US" sz="2400" dirty="0">
              <a:latin typeface="Calibri"/>
              <a:ea typeface="Calibri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s1 =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abcd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s1 = s1.capitalize()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print(s1) 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s1 =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abcd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s1.capitalize()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print(s1)</a:t>
            </a:r>
          </a:p>
          <a:p>
            <a:pPr marL="457200" indent="-457200">
              <a:buAutoNum type="alphaLcParenR"/>
            </a:pPr>
            <a:r>
              <a:rPr lang="en-US" sz="2000" dirty="0">
                <a:latin typeface="Arial"/>
                <a:ea typeface="Calibri"/>
                <a:cs typeface="Arial"/>
              </a:rPr>
              <a:t>Both are correct</a:t>
            </a:r>
          </a:p>
          <a:p>
            <a:pPr marL="457200" indent="-457200">
              <a:buAutoNum type="alphaLcParenR"/>
            </a:pPr>
            <a:r>
              <a:rPr lang="en-US" sz="2000" dirty="0">
                <a:latin typeface="Arial"/>
                <a:ea typeface="Calibri"/>
                <a:cs typeface="Arial"/>
              </a:rPr>
              <a:t>Both are incorrect</a:t>
            </a:r>
          </a:p>
          <a:p>
            <a:pPr marL="457200" indent="-457200">
              <a:buAutoNum type="alphaLcParenR"/>
            </a:pPr>
            <a:r>
              <a:rPr lang="en-US" sz="2000" dirty="0">
                <a:latin typeface="Arial"/>
                <a:ea typeface="Calibri"/>
                <a:cs typeface="Arial"/>
              </a:rPr>
              <a:t>Only 1 is correct</a:t>
            </a:r>
          </a:p>
          <a:p>
            <a:pPr marL="457200" indent="-457200">
              <a:buAutoNum type="alphaLcParenR"/>
            </a:pPr>
            <a:r>
              <a:rPr lang="en-US" sz="2000" dirty="0">
                <a:latin typeface="Arial"/>
                <a:ea typeface="Calibri"/>
                <a:cs typeface="Arial"/>
              </a:rPr>
              <a:t>Only 2 is correct</a:t>
            </a:r>
          </a:p>
          <a:p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388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String methods: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1097682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Arial"/>
              </a:rPr>
              <a:t>For example, if you want to capitalize (make the first character uppercase) a string, which of the following code fragments will print: 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Abcd</a:t>
            </a:r>
            <a:endParaRPr lang="en-US" sz="2400" dirty="0">
              <a:latin typeface="Calibri"/>
              <a:ea typeface="Calibri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s1 =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abcd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s1 = s1.capitalize()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print(s1) 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s1 =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abcd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s1.capitalize()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print(s1)</a:t>
            </a:r>
          </a:p>
          <a:p>
            <a:pPr marL="457200" indent="-457200">
              <a:buAutoNum type="alphaLcParenR"/>
            </a:pPr>
            <a:r>
              <a:rPr lang="en-US" sz="2000" dirty="0">
                <a:latin typeface="Arial"/>
                <a:ea typeface="Calibri"/>
                <a:cs typeface="Arial"/>
              </a:rPr>
              <a:t>Both are correct</a:t>
            </a:r>
          </a:p>
          <a:p>
            <a:pPr marL="457200" indent="-457200">
              <a:buAutoNum type="alphaLcParenR"/>
            </a:pPr>
            <a:r>
              <a:rPr lang="en-US" sz="2000" dirty="0">
                <a:latin typeface="Arial"/>
                <a:ea typeface="Calibri"/>
                <a:cs typeface="Arial"/>
              </a:rPr>
              <a:t>Both are incorrect</a:t>
            </a:r>
          </a:p>
          <a:p>
            <a:pPr marL="457200" indent="-457200">
              <a:buAutoNum type="alphaLcParenR"/>
            </a:pPr>
            <a:r>
              <a:rPr lang="en-US" sz="2000" dirty="0">
                <a:latin typeface="Arial"/>
                <a:ea typeface="Calibri"/>
                <a:cs typeface="Arial"/>
              </a:rPr>
              <a:t>Only 1 is correct</a:t>
            </a:r>
          </a:p>
          <a:p>
            <a:pPr marL="457200" indent="-457200">
              <a:buAutoNum type="alphaLcParenR"/>
            </a:pPr>
            <a:r>
              <a:rPr lang="en-US" sz="2000" dirty="0">
                <a:latin typeface="Arial"/>
                <a:ea typeface="Calibri"/>
                <a:cs typeface="Arial"/>
              </a:rPr>
              <a:t>Only 2 is correct</a:t>
            </a:r>
          </a:p>
          <a:p>
            <a:pPr marL="514350" indent="-514350"/>
            <a:r>
              <a:rPr lang="en-US" sz="2000" dirty="0">
                <a:latin typeface="Arial"/>
                <a:ea typeface="Calibri"/>
                <a:cs typeface="Arial"/>
              </a:rPr>
              <a:t>Correct answer: c. s1.capitalize doesn't change string s1, but returns a new string. You must give that new string a name else you cannot use it in the print statement. The second code fragment, actually prints </a:t>
            </a:r>
            <a:r>
              <a:rPr lang="en-US" sz="2000" dirty="0" err="1">
                <a:latin typeface="Arial"/>
                <a:ea typeface="Calibri"/>
                <a:cs typeface="Arial"/>
              </a:rPr>
              <a:t>abcd</a:t>
            </a:r>
            <a:r>
              <a:rPr lang="en-US" sz="2000" dirty="0">
                <a:latin typeface="Arial"/>
                <a:ea typeface="Calibri"/>
                <a:cs typeface="Arial"/>
              </a:rPr>
              <a:t> </a:t>
            </a:r>
          </a:p>
          <a:p>
            <a:pPr marL="0" indent="0">
              <a:buNone/>
            </a:pPr>
            <a:endParaRPr lang="en-US" sz="2000" noProof="0" dirty="0">
              <a:latin typeface="Arial"/>
              <a:ea typeface="Calibri"/>
              <a:cs typeface="Arial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5224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String methods: change and test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1097682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Arial"/>
              </a:rPr>
              <a:t>Change the case: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pPr lvl="1"/>
            <a:r>
              <a:rPr lang="en-US" sz="1800" dirty="0">
                <a:latin typeface="Courier New"/>
                <a:ea typeface="Calibri"/>
                <a:cs typeface="Arial"/>
              </a:rPr>
              <a:t>print('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ABcd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'.upper()) # Onscreen: ABCD</a:t>
            </a:r>
          </a:p>
          <a:p>
            <a:pPr lvl="1"/>
            <a:r>
              <a:rPr lang="en-US" sz="1800" dirty="0">
                <a:latin typeface="Courier New"/>
                <a:ea typeface="Calibri"/>
                <a:cs typeface="Courier New"/>
              </a:rPr>
              <a:t>print('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ABcd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'.lower()) # Onscreen: 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abcd</a:t>
            </a:r>
            <a:endParaRPr lang="en-US" sz="1800" dirty="0">
              <a:latin typeface="Courier New"/>
              <a:ea typeface="Calibri"/>
              <a:cs typeface="Courier New"/>
            </a:endParaRP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Change only the first character into uppercase:</a:t>
            </a:r>
            <a:endParaRPr lang="en-US" sz="2400" dirty="0">
              <a:latin typeface="Calibri"/>
              <a:ea typeface="Calibri"/>
              <a:cs typeface="Courier New"/>
            </a:endParaRPr>
          </a:p>
          <a:p>
            <a:pPr lvl="1"/>
            <a:r>
              <a:rPr lang="en-US" sz="1800" dirty="0">
                <a:latin typeface="Courier New"/>
                <a:ea typeface="Calibri"/>
                <a:cs typeface="Arial"/>
              </a:rPr>
              <a:t>print('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abcd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'.capitalize()) # Onscreen: 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Abcd</a:t>
            </a:r>
            <a:endParaRPr lang="en-US" sz="1800" dirty="0">
              <a:latin typeface="Courier New"/>
              <a:ea typeface="Calibri"/>
              <a:cs typeface="Courier New"/>
            </a:endParaRP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NB! I use the word change a lot, but don't forget the string cannot be changed, we actually create a new string on the basis of the old string </a:t>
            </a: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Test the case of the letters in the string:</a:t>
            </a:r>
          </a:p>
          <a:p>
            <a:pPr lvl="1"/>
            <a:r>
              <a:rPr lang="en-US" sz="1800" dirty="0">
                <a:latin typeface="Courier New"/>
                <a:ea typeface="Calibri"/>
                <a:cs typeface="Arial"/>
              </a:rPr>
              <a:t>print('ABCD'.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isupper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()) # Onscreen: True</a:t>
            </a:r>
            <a:endParaRPr lang="en-US" sz="1800" dirty="0">
              <a:latin typeface="Calibri" panose="020F0502020204030204"/>
              <a:ea typeface="Calibri"/>
              <a:cs typeface="Calibri" panose="020F0502020204030204"/>
            </a:endParaRPr>
          </a:p>
          <a:p>
            <a:pPr lvl="1"/>
            <a:r>
              <a:rPr lang="en-US" sz="1800" dirty="0">
                <a:latin typeface="Courier New"/>
                <a:ea typeface="Calibri"/>
                <a:cs typeface="Courier New"/>
              </a:rPr>
              <a:t>print('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ABcd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'.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isupper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()) # Onscreen: False</a:t>
            </a:r>
            <a:endParaRPr lang="en-US" sz="1800" dirty="0">
              <a:latin typeface="Calibri" panose="020F0502020204030204"/>
              <a:ea typeface="Calibri"/>
              <a:cs typeface="Calibri"/>
            </a:endParaRPr>
          </a:p>
          <a:p>
            <a:pPr lvl="1"/>
            <a:r>
              <a:rPr lang="en-US" sz="1800" dirty="0">
                <a:latin typeface="Courier New"/>
                <a:ea typeface="Calibri"/>
                <a:cs typeface="Courier New"/>
              </a:rPr>
              <a:t>print('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ABcd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'.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islower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()) # Onscreen: False</a:t>
            </a:r>
            <a:endParaRPr lang="en-US" sz="1800" dirty="0">
              <a:latin typeface="Calibri" panose="020F0502020204030204"/>
              <a:ea typeface="Calibri"/>
              <a:cs typeface="Calibri"/>
            </a:endParaRPr>
          </a:p>
          <a:p>
            <a:pPr lvl="1"/>
            <a:r>
              <a:rPr lang="en-US" sz="1800" dirty="0">
                <a:latin typeface="Courier New"/>
                <a:ea typeface="Calibri"/>
                <a:cs typeface="Courier New"/>
              </a:rPr>
              <a:t>print('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abcd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'.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islower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()) # Onscreen: True</a:t>
            </a:r>
            <a:endParaRPr lang="en-US" sz="1800" dirty="0">
              <a:latin typeface="Calibri" panose="020F0502020204030204"/>
              <a:ea typeface="Calibri"/>
              <a:cs typeface="Calibri"/>
            </a:endParaRPr>
          </a:p>
          <a:p>
            <a:pPr lvl="1"/>
            <a:r>
              <a:rPr lang="en-US" sz="1800" dirty="0">
                <a:latin typeface="Courier New"/>
                <a:ea typeface="Calibri"/>
                <a:cs typeface="Courier New"/>
              </a:rPr>
              <a:t>print('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ABcd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'[:2].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isupper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()) # Onscreen: True</a:t>
            </a:r>
            <a:endParaRPr lang="en-US" sz="1800" dirty="0">
              <a:cs typeface="Calibri"/>
            </a:endParaRPr>
          </a:p>
          <a:p>
            <a:endParaRPr lang="en-US" sz="2000" dirty="0">
              <a:latin typeface="Courier New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1192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String methods: split</a:t>
            </a:r>
            <a:endParaRPr lang="en-US" dirty="0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2" y="1158876"/>
            <a:ext cx="11787717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Split a string: for example, consider </a:t>
            </a:r>
            <a:r>
              <a:rPr lang="en-US" sz="2000" dirty="0">
                <a:latin typeface="Courier New"/>
                <a:ea typeface="Calibri"/>
                <a:cs typeface="Arial"/>
              </a:rPr>
              <a:t>s1 = 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axbcxdefxg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 h\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nij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\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tk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</a:t>
            </a:r>
            <a:endParaRPr lang="nl-NL" sz="2000" dirty="0">
              <a:latin typeface="Calibri" panose="020F0502020204030204"/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print(s1.split('x')) # Onscreen: ['a',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bc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', 'def', 'g h\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nij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\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tk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']</a:t>
            </a:r>
            <a:endParaRPr lang="nl-NL" sz="2000" dirty="0">
              <a:latin typeface="Calibri" panose="020F0502020204030204"/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print(s1.split('x', 2)) # Onscreen: ['a',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bc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',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defxg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 h\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nij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\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tk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']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print(s1.rsplit('x', 2)) # Onscreen: ['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axbc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', 'def', 'g h\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nij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\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tk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']</a:t>
            </a:r>
            <a:endParaRPr lang="nl-NL" sz="2000" dirty="0">
              <a:latin typeface="Calibri" panose="020F0502020204030204"/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print(s1.split()) # Onscreen: ['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axbcxdefxg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', 'h',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ij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', 'k'] </a:t>
            </a:r>
            <a:endParaRPr lang="nl-NL" sz="2000" dirty="0">
              <a:latin typeface="Calibri" panose="020F0502020204030204"/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print(s1.split('q')) # Onscreen: ['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axbcxdefxg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 h\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nij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\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tk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']</a:t>
            </a:r>
            <a:endParaRPr lang="nl-NL" sz="2000" dirty="0">
              <a:cs typeface="Calibri"/>
            </a:endParaRPr>
          </a:p>
          <a:p>
            <a:r>
              <a:rPr lang="en-US" sz="2000" dirty="0">
                <a:latin typeface="Calibri"/>
                <a:ea typeface="Calibri"/>
                <a:cs typeface="Arial"/>
              </a:rPr>
              <a:t>The argument you pass to split, is used to split the string and is also removed from the string</a:t>
            </a:r>
          </a:p>
          <a:p>
            <a:pPr lvl="1"/>
            <a:r>
              <a:rPr lang="en-US" sz="2000" dirty="0">
                <a:latin typeface="Calibri"/>
                <a:ea typeface="Calibri"/>
                <a:cs typeface="Calibri"/>
              </a:rPr>
              <a:t>If the argument is not in the string, Python will return an element with only one element, which is a copy of the string</a:t>
            </a:r>
            <a:endParaRPr lang="en-US" sz="2000" dirty="0">
              <a:latin typeface="Calibri"/>
              <a:ea typeface="Calibri"/>
              <a:cs typeface="Arial"/>
            </a:endParaRPr>
          </a:p>
          <a:p>
            <a:pPr lvl="1"/>
            <a:r>
              <a:rPr lang="en-US" sz="2000" dirty="0">
                <a:latin typeface="Calibri"/>
                <a:ea typeface="Calibri"/>
                <a:cs typeface="Arial"/>
              </a:rPr>
              <a:t>If you also add a number, then that will be the maximum number of times Python will split the string</a:t>
            </a:r>
            <a:endParaRPr lang="en-US" sz="2000" dirty="0">
              <a:cs typeface="Arial"/>
            </a:endParaRPr>
          </a:p>
          <a:p>
            <a:r>
              <a:rPr lang="en-US" sz="2000" dirty="0">
                <a:latin typeface="Calibri"/>
                <a:ea typeface="Calibri"/>
                <a:cs typeface="Arial"/>
              </a:rPr>
              <a:t>The default is splitting around spaces, new lines (\n), and tabs (\t)</a:t>
            </a:r>
          </a:p>
          <a:p>
            <a:r>
              <a:rPr lang="en-US" sz="2000" dirty="0">
                <a:latin typeface="Calibri"/>
                <a:ea typeface="Calibri"/>
                <a:cs typeface="Arial"/>
              </a:rPr>
              <a:t>To split a string in physical lines: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s1 = 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axbcx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\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rdefxg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 \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nhij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 '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print(s1.split('\n'))	 # Onscreen: ['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axbcx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\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rdefxg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 ',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hij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']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print(s1.splitlines())	 # Onscreen: ['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axbcx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',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defxg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 ',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hij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']</a:t>
            </a:r>
          </a:p>
          <a:p>
            <a:r>
              <a:rPr lang="en-US" sz="2000" dirty="0">
                <a:latin typeface="Calibri"/>
                <a:ea typeface="Calibri"/>
                <a:cs typeface="Arial"/>
              </a:rPr>
              <a:t>I prefer the first</a:t>
            </a:r>
          </a:p>
          <a:p>
            <a:pPr lvl="1"/>
            <a:endParaRPr lang="en-US" sz="1200" dirty="0">
              <a:latin typeface="Courier New"/>
              <a:ea typeface="Calibri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223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String methods: join</a:t>
            </a:r>
            <a:endParaRPr lang="en-US" dirty="0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1097682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Arial"/>
              </a:rPr>
              <a:t>Join a string: for example:</a:t>
            </a:r>
            <a:r>
              <a:rPr lang="en-US" sz="2000" dirty="0">
                <a:latin typeface="Courier New"/>
                <a:ea typeface="Calibri"/>
                <a:cs typeface="Arial"/>
              </a:rPr>
              <a:t> l1 = ['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abc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', 'de',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fg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', 'h']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print('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xy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'.join(l1)) # Onscreen: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abcxydexyfgxyh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print(''.join(l1)) # Onscreen: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abcdefgh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How to sort a string: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 = sorted('0123456789', key=lambda x: str(int(x) % 2 == 1) + x))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print(''.join(a))	# Onscreen: '0246813579'</a:t>
            </a:r>
          </a:p>
          <a:p>
            <a:endParaRPr lang="en-US" sz="2000" dirty="0">
              <a:latin typeface="Courier New"/>
              <a:ea typeface="Calibri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5978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String methods: strip</a:t>
            </a:r>
            <a:endParaRPr lang="en-US" dirty="0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1097682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Strip a string: for example, consider</a:t>
            </a:r>
            <a:r>
              <a:rPr lang="en-US" sz="2000" dirty="0">
                <a:latin typeface="Arial"/>
                <a:ea typeface="Calibri"/>
                <a:cs typeface="Arial"/>
              </a:rPr>
              <a:t> </a:t>
            </a:r>
            <a:r>
              <a:rPr lang="en-US" sz="2000" dirty="0">
                <a:latin typeface="Courier New"/>
                <a:ea typeface="Calibri"/>
                <a:cs typeface="Arial"/>
              </a:rPr>
              <a:t>s1 = ' 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fgedee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  '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print(s1.strip(' e')) # Onscreen: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fged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print(s1.strip()) # Onscreen: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fgedee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print(s1.lstrip(' e')) # Onscreen: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fgedee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..  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print(s1.lstrip()) # Onscreen: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fgedee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..  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print(s1.rstrip(' e')) # Onscreen: ..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fged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print(s1.rstrip()) # Onscreen: ..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fgedee</a:t>
            </a:r>
            <a:endParaRPr lang="en-US" sz="2000" dirty="0">
              <a:latin typeface="Courier New"/>
              <a:cs typeface="Courier New"/>
            </a:endParaRPr>
          </a:p>
          <a:p>
            <a:pPr>
              <a:buFont typeface="Arial"/>
            </a:pPr>
            <a:r>
              <a:rPr lang="en-US" sz="2000" dirty="0">
                <a:latin typeface="Calibri"/>
                <a:ea typeface="Calibri"/>
                <a:cs typeface="Arial"/>
              </a:rPr>
              <a:t>Python removes characters from the object if they are in the passed string and stops as soon as it encounters a character that is not in the list</a:t>
            </a:r>
          </a:p>
          <a:p>
            <a:pPr>
              <a:buFont typeface="Arial"/>
            </a:pPr>
            <a:r>
              <a:rPr lang="en-US" sz="2000" dirty="0">
                <a:latin typeface="Courier New"/>
                <a:ea typeface="Calibri"/>
                <a:cs typeface="Arial"/>
              </a:rPr>
              <a:t>strip </a:t>
            </a:r>
            <a:r>
              <a:rPr lang="en-US" sz="2000" dirty="0">
                <a:latin typeface="Calibri"/>
                <a:ea typeface="Calibri"/>
                <a:cs typeface="Arial"/>
              </a:rPr>
              <a:t>works from both sides of the string, 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lstrip</a:t>
            </a:r>
            <a:r>
              <a:rPr lang="en-US" sz="2000" dirty="0">
                <a:latin typeface="Courier New"/>
                <a:ea typeface="Calibri"/>
                <a:cs typeface="Arial"/>
              </a:rPr>
              <a:t> </a:t>
            </a:r>
            <a:r>
              <a:rPr lang="en-US" sz="2000" dirty="0">
                <a:latin typeface="Calibri"/>
                <a:ea typeface="Calibri"/>
                <a:cs typeface="Arial"/>
              </a:rPr>
              <a:t>starts from the left side, and 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rstrip</a:t>
            </a:r>
            <a:r>
              <a:rPr lang="en-US" sz="2000" dirty="0">
                <a:latin typeface="Courier New"/>
                <a:ea typeface="Calibri"/>
                <a:cs typeface="Arial"/>
              </a:rPr>
              <a:t> </a:t>
            </a:r>
            <a:r>
              <a:rPr lang="en-US" sz="2000" dirty="0">
                <a:latin typeface="Calibri"/>
                <a:ea typeface="Calibri"/>
                <a:cs typeface="Arial"/>
              </a:rPr>
              <a:t>starts from the right side</a:t>
            </a:r>
          </a:p>
          <a:p>
            <a:pPr lvl="1">
              <a:buFont typeface="Arial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s1.strip(' e') </a:t>
            </a:r>
            <a:r>
              <a:rPr lang="en-US" sz="2000" dirty="0">
                <a:latin typeface="Calibri"/>
                <a:ea typeface="Calibri"/>
                <a:cs typeface="Arial"/>
              </a:rPr>
              <a:t>and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s1.lstrip(' e').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rstrip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(' e') </a:t>
            </a:r>
            <a:r>
              <a:rPr lang="en-US" sz="2000" dirty="0">
                <a:latin typeface="Calibri"/>
                <a:ea typeface="Calibri"/>
                <a:cs typeface="Arial"/>
              </a:rPr>
              <a:t>give the same result</a:t>
            </a:r>
            <a:endParaRPr lang="en-US" sz="2000" dirty="0">
              <a:latin typeface="Calibri"/>
              <a:cs typeface="Arial"/>
            </a:endParaRPr>
          </a:p>
          <a:p>
            <a:pPr>
              <a:buFont typeface="Arial"/>
            </a:pPr>
            <a:r>
              <a:rPr lang="en-US" sz="2000" dirty="0">
                <a:latin typeface="Arial"/>
                <a:ea typeface="Calibri"/>
                <a:cs typeface="Arial"/>
              </a:rPr>
              <a:t>The default is removing spaces, new lines (\n), and tabs (\t)</a:t>
            </a:r>
          </a:p>
          <a:p>
            <a:pPr lvl="1">
              <a:buFont typeface="Arial"/>
            </a:pPr>
            <a:r>
              <a:rPr lang="en-US" sz="2000" dirty="0">
                <a:latin typeface="Arial"/>
                <a:ea typeface="Calibri"/>
                <a:cs typeface="Arial"/>
              </a:rPr>
              <a:t>More types of so-called white spaces will be removed, but only these 3 you must know </a:t>
            </a:r>
            <a:endParaRPr lang="en-US" sz="2000" dirty="0">
              <a:cs typeface="Calibri"/>
            </a:endParaRPr>
          </a:p>
          <a:p>
            <a:pPr>
              <a:buFont typeface="Arial"/>
            </a:pPr>
            <a:r>
              <a:rPr lang="en-US" sz="2000" dirty="0">
                <a:latin typeface="Arial"/>
                <a:ea typeface="Calibri"/>
                <a:cs typeface="Arial"/>
              </a:rPr>
              <a:t>NB! The spaces in the strip examples are represented by dots in the Onscreen</a:t>
            </a:r>
          </a:p>
          <a:p>
            <a:pPr>
              <a:buFont typeface="Arial"/>
            </a:pPr>
            <a:endParaRPr lang="en-US" sz="2000" dirty="0">
              <a:latin typeface="Courier New"/>
              <a:ea typeface="Calibri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330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String methods: replace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1097682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Arial"/>
              </a:rPr>
              <a:t>Replace a substring: consider for example</a:t>
            </a:r>
            <a:r>
              <a:rPr lang="en-US" sz="2000" dirty="0">
                <a:latin typeface="Arial"/>
                <a:ea typeface="Calibri"/>
                <a:cs typeface="Arial"/>
              </a:rPr>
              <a:t> </a:t>
            </a:r>
            <a:r>
              <a:rPr lang="en-US" sz="2000" dirty="0">
                <a:latin typeface="Courier New"/>
                <a:ea typeface="Calibri"/>
                <a:cs typeface="Arial"/>
              </a:rPr>
              <a:t>s1 = 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abcdefghabcdefgh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':</a:t>
            </a:r>
          </a:p>
          <a:p>
            <a:pPr lvl="1">
              <a:buFont typeface="Arial"/>
              <a:buChar char="•"/>
            </a:pPr>
            <a:r>
              <a:rPr lang="en-US" sz="1800" dirty="0">
                <a:latin typeface="Courier New"/>
                <a:ea typeface="Calibri"/>
                <a:cs typeface="Courier New"/>
              </a:rPr>
              <a:t>print(s1.replace('a', 'aa')) # Onscreen: 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aabcdefghaabcdefgh</a:t>
            </a:r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>
              <a:buFont typeface="Arial"/>
              <a:buChar char="•"/>
            </a:pPr>
            <a:r>
              <a:rPr lang="en-US" sz="1800" dirty="0">
                <a:latin typeface="Courier New"/>
                <a:ea typeface="Calibri"/>
                <a:cs typeface="Courier New"/>
              </a:rPr>
              <a:t>print(s1.replace('a', 'aa', 1)) # Onscreen: 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aabcdefghabcdefgh</a:t>
            </a:r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>
              <a:buFont typeface="Arial"/>
              <a:buChar char="•"/>
            </a:pPr>
            <a:r>
              <a:rPr lang="en-US" sz="1800" dirty="0">
                <a:latin typeface="Courier New"/>
                <a:ea typeface="Calibri"/>
                <a:cs typeface="Courier New"/>
              </a:rPr>
              <a:t>print(s1.replace('a', '')) # Onscreen: 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bcdefghbcdefgh</a:t>
            </a:r>
            <a:endParaRPr lang="en-US" sz="1800" dirty="0">
              <a:latin typeface="Courier New"/>
              <a:ea typeface="Calibri"/>
              <a:cs typeface="Courier New"/>
            </a:endParaRPr>
          </a:p>
          <a:p>
            <a:pPr lvl="1">
              <a:buFont typeface="Arial"/>
              <a:buChar char="•"/>
            </a:pPr>
            <a:r>
              <a:rPr lang="en-US" sz="1800" dirty="0">
                <a:latin typeface="Courier New"/>
                <a:ea typeface="Calibri"/>
                <a:cs typeface="Courier New"/>
              </a:rPr>
              <a:t>print(s1.replace('q', '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qq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')) # Onscreen: 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abcdefghabcdefgh</a:t>
            </a:r>
            <a:endParaRPr lang="en-US" sz="1800" dirty="0">
              <a:latin typeface="Courier New"/>
              <a:cs typeface="Courier New"/>
            </a:endParaRPr>
          </a:p>
          <a:p>
            <a:pPr>
              <a:buFont typeface="Arial"/>
            </a:pPr>
            <a:r>
              <a:rPr lang="en-US" sz="2400" dirty="0">
                <a:latin typeface="Calibri"/>
                <a:ea typeface="Calibri"/>
                <a:cs typeface="Arial"/>
              </a:rPr>
              <a:t>The first passed string is the old substring and it will be replaced by the second passed string, that is the new substring</a:t>
            </a:r>
          </a:p>
          <a:p>
            <a:pPr>
              <a:buFont typeface="Arial"/>
            </a:pPr>
            <a:r>
              <a:rPr lang="en-US" sz="2400" dirty="0">
                <a:latin typeface="Calibri"/>
                <a:ea typeface="Calibri"/>
                <a:cs typeface="Arial"/>
              </a:rPr>
              <a:t>The new and the old substring can have any length</a:t>
            </a:r>
          </a:p>
          <a:p>
            <a:pPr lvl="1">
              <a:buFont typeface="Arial"/>
            </a:pPr>
            <a:r>
              <a:rPr lang="en-US" sz="2000" dirty="0">
                <a:latin typeface="Calibri"/>
                <a:ea typeface="Calibri"/>
                <a:cs typeface="Arial"/>
              </a:rPr>
              <a:t>Only the new string can be an empty string: you can use this to remove substrings from the string</a:t>
            </a:r>
            <a:endParaRPr lang="en-US" sz="2000" dirty="0">
              <a:latin typeface="Calibri"/>
              <a:cs typeface="Arial"/>
            </a:endParaRPr>
          </a:p>
          <a:p>
            <a:pPr>
              <a:buFont typeface="Arial"/>
            </a:pPr>
            <a:r>
              <a:rPr lang="en-US" sz="2400" dirty="0">
                <a:latin typeface="Calibri"/>
                <a:ea typeface="Calibri"/>
                <a:cs typeface="Arial"/>
              </a:rPr>
              <a:t>You can add an integer, and that will tell Python how many changes to make</a:t>
            </a:r>
          </a:p>
          <a:p>
            <a:pPr lvl="1">
              <a:buFont typeface="Arial"/>
            </a:pPr>
            <a:r>
              <a:rPr lang="en-US" sz="2000" dirty="0">
                <a:latin typeface="Calibri"/>
                <a:ea typeface="Calibri"/>
                <a:cs typeface="Arial"/>
              </a:rPr>
              <a:t>If you don't add a number Python will replace all old substrings</a:t>
            </a:r>
            <a:endParaRPr lang="en-US" sz="2000" dirty="0">
              <a:latin typeface="Calibri"/>
              <a:cs typeface="Calibri" panose="020F0502020204030204"/>
            </a:endParaRPr>
          </a:p>
          <a:p>
            <a:pPr>
              <a:buFont typeface="Arial"/>
            </a:pPr>
            <a:endParaRPr lang="en-US" sz="2000" dirty="0">
              <a:latin typeface="Courier New"/>
              <a:ea typeface="Calibri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3390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String methods: find, index</a:t>
            </a:r>
            <a:endParaRPr lang="en-US" dirty="0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458" y="1158876"/>
            <a:ext cx="11546541" cy="569912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Find a substring: consider for example</a:t>
            </a:r>
            <a:r>
              <a:rPr lang="en-US" sz="2000" dirty="0">
                <a:latin typeface="Courier New"/>
                <a:ea typeface="Calibri"/>
                <a:cs typeface="Arial"/>
              </a:rPr>
              <a:t> 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s1 =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abcdefghabcdefgh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	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print(s1.find('e'))			# On screen: 4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print(s1.index('e', 5)) 		# On screen: 12			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print(s1.find('e', 5, 10)) 	# On screen: -1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print(s1.index('e', 5, 13)) 	# On screen: 12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print(s1.find('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ef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')) 	# On screen: 4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print(s1.index('q')) 	# On screen: 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ValueError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: substring not found</a:t>
            </a:r>
          </a:p>
          <a:p>
            <a:pPr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With these methods, you can find the index of a substring in a string</a:t>
            </a:r>
            <a:endParaRPr lang="en-US" sz="2000" dirty="0">
              <a:latin typeface="Calibri"/>
              <a:cs typeface="Arial"/>
            </a:endParaRPr>
          </a:p>
          <a:p>
            <a:pPr>
              <a:buFont typeface="Arial"/>
            </a:pPr>
            <a:r>
              <a:rPr lang="en-US" sz="2000" dirty="0">
                <a:ea typeface="Calibri"/>
                <a:cs typeface="Arial"/>
              </a:rPr>
              <a:t>If you add one integer as an extra parameter, it will tell Python from where to start searching in the string</a:t>
            </a:r>
          </a:p>
          <a:p>
            <a:r>
              <a:rPr lang="en-US" sz="2000" dirty="0">
                <a:latin typeface="Calibri"/>
                <a:ea typeface="Calibri"/>
                <a:cs typeface="Arial"/>
              </a:rPr>
              <a:t>If you add another integer as an extra parameter, it will tell Python before which index to stop searching</a:t>
            </a:r>
          </a:p>
          <a:p>
            <a:r>
              <a:rPr lang="en-US" sz="2000" dirty="0">
                <a:ea typeface="Calibri"/>
                <a:cs typeface="Calibri"/>
              </a:rPr>
              <a:t>The only difference between </a:t>
            </a:r>
            <a:r>
              <a:rPr lang="en-US" sz="2000" dirty="0">
                <a:latin typeface="Courier New"/>
                <a:ea typeface="Calibri"/>
                <a:cs typeface="Calibri"/>
              </a:rPr>
              <a:t>find </a:t>
            </a:r>
            <a:r>
              <a:rPr lang="en-US" sz="2000" dirty="0">
                <a:ea typeface="Calibri"/>
                <a:cs typeface="Calibri"/>
              </a:rPr>
              <a:t>and </a:t>
            </a:r>
            <a:r>
              <a:rPr lang="en-US" sz="2000" dirty="0">
                <a:latin typeface="Courier New"/>
                <a:ea typeface="Calibri"/>
                <a:cs typeface="Calibri"/>
              </a:rPr>
              <a:t>index </a:t>
            </a:r>
            <a:r>
              <a:rPr lang="en-US" sz="2000" dirty="0">
                <a:ea typeface="Calibri"/>
                <a:cs typeface="Calibri"/>
              </a:rPr>
              <a:t>is that if </a:t>
            </a:r>
            <a:r>
              <a:rPr lang="en-US" sz="2000" dirty="0">
                <a:latin typeface="Courier New"/>
                <a:ea typeface="Calibri"/>
                <a:cs typeface="Calibri"/>
              </a:rPr>
              <a:t>find </a:t>
            </a:r>
            <a:r>
              <a:rPr lang="en-US" sz="2000" dirty="0">
                <a:ea typeface="Calibri"/>
                <a:cs typeface="Calibri"/>
              </a:rPr>
              <a:t>cannot find anything, </a:t>
            </a:r>
            <a:r>
              <a:rPr lang="en-US" sz="2000" dirty="0">
                <a:latin typeface="Courier New"/>
                <a:ea typeface="Calibri"/>
                <a:cs typeface="Calibri"/>
              </a:rPr>
              <a:t>find </a:t>
            </a:r>
            <a:r>
              <a:rPr lang="en-US" sz="2000" dirty="0">
                <a:ea typeface="Calibri"/>
                <a:cs typeface="Calibri"/>
              </a:rPr>
              <a:t>will return </a:t>
            </a:r>
            <a:r>
              <a:rPr lang="en-US" sz="2000" dirty="0">
                <a:latin typeface="Courier New"/>
                <a:ea typeface="Calibri"/>
                <a:cs typeface="Calibri"/>
              </a:rPr>
              <a:t>–1</a:t>
            </a:r>
            <a:r>
              <a:rPr lang="en-US" sz="2000" dirty="0">
                <a:ea typeface="Calibri"/>
                <a:cs typeface="Calibri"/>
              </a:rPr>
              <a:t> and if </a:t>
            </a:r>
            <a:r>
              <a:rPr lang="en-US" sz="2000" dirty="0">
                <a:latin typeface="Courier New"/>
                <a:ea typeface="Calibri"/>
                <a:cs typeface="Calibri"/>
              </a:rPr>
              <a:t>index</a:t>
            </a:r>
            <a:r>
              <a:rPr lang="en-US" sz="2000" dirty="0">
                <a:ea typeface="Calibri"/>
                <a:cs typeface="Calibri"/>
              </a:rPr>
              <a:t> cannot find anything </a:t>
            </a:r>
            <a:r>
              <a:rPr lang="en-US" sz="2000" dirty="0">
                <a:latin typeface="Courier New"/>
                <a:ea typeface="Calibri"/>
                <a:cs typeface="Calibri"/>
              </a:rPr>
              <a:t>index </a:t>
            </a:r>
            <a:r>
              <a:rPr lang="en-US" sz="2000" dirty="0">
                <a:ea typeface="Calibri"/>
                <a:cs typeface="Calibri"/>
              </a:rPr>
              <a:t>will throw an error. In all other cases </a:t>
            </a:r>
            <a:r>
              <a:rPr lang="en-US" sz="2000" dirty="0">
                <a:latin typeface="Courier New"/>
                <a:ea typeface="Calibri"/>
                <a:cs typeface="Calibri"/>
              </a:rPr>
              <a:t>find </a:t>
            </a:r>
            <a:r>
              <a:rPr lang="en-US" sz="2000" dirty="0">
                <a:ea typeface="Calibri"/>
                <a:cs typeface="Calibri"/>
              </a:rPr>
              <a:t>and </a:t>
            </a:r>
            <a:r>
              <a:rPr lang="en-US" sz="2000" dirty="0">
                <a:latin typeface="Courier New"/>
                <a:ea typeface="Calibri"/>
                <a:cs typeface="Calibri"/>
              </a:rPr>
              <a:t>index </a:t>
            </a:r>
            <a:r>
              <a:rPr lang="en-US" sz="2000" dirty="0">
                <a:ea typeface="Calibri"/>
                <a:cs typeface="Calibri"/>
              </a:rPr>
              <a:t>will return a non-negative integer. </a:t>
            </a:r>
          </a:p>
          <a:p>
            <a:endParaRPr lang="en-US" sz="2400" dirty="0">
              <a:latin typeface="Calibri"/>
              <a:ea typeface="Calibri"/>
              <a:cs typeface="Arial"/>
            </a:endParaRPr>
          </a:p>
          <a:p>
            <a:pPr marL="0" indent="0">
              <a:buNone/>
            </a:pPr>
            <a:endParaRPr lang="en-US" sz="2000" dirty="0">
              <a:latin typeface="Courier New"/>
              <a:ea typeface="Calibri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78232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76545-E225-EB0A-ADC2-2177BFB71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 </a:t>
            </a:r>
            <a:r>
              <a:rPr lang="nl-NL" dirty="0" err="1"/>
              <a:t>Datacamp</a:t>
            </a:r>
            <a:r>
              <a:rPr lang="nl-NL" dirty="0"/>
              <a:t> </a:t>
            </a:r>
            <a:r>
              <a:rPr lang="nl-NL" dirty="0" err="1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8138F-DFDA-90D2-F8D7-754FA1ED6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movie = 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film,however,is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all good&lt;\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&gt;'</a:t>
            </a:r>
          </a:p>
          <a:p>
            <a:r>
              <a:rPr lang="en-US" dirty="0"/>
              <a:t>You have to get rid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movie_tag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movie.rstrip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("&lt;\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&gt;")</a:t>
            </a:r>
          </a:p>
          <a:p>
            <a:r>
              <a:rPr lang="en-US" dirty="0"/>
              <a:t>Question: What do you think of this solution?</a:t>
            </a:r>
          </a:p>
          <a:p>
            <a:r>
              <a:rPr lang="en-US" dirty="0"/>
              <a:t>It breaks down in the following case:</a:t>
            </a:r>
          </a:p>
          <a:p>
            <a:r>
              <a:rPr lang="nl-NL" dirty="0">
                <a:latin typeface="Courier New" panose="02070309020205020404" pitchFamily="49" charset="0"/>
                <a:cs typeface="Courier New" panose="02070309020205020404" pitchFamily="49" charset="0"/>
              </a:rPr>
              <a:t>movie = '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film,however,is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good,especially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Siri&lt;\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&gt;'</a:t>
            </a:r>
          </a:p>
          <a:p>
            <a:r>
              <a:rPr lang="en-US" dirty="0"/>
              <a:t>What would be another option?</a:t>
            </a:r>
          </a:p>
          <a:p>
            <a:pPr>
              <a:lnSpc>
                <a:spcPct val="100000"/>
              </a:lnSpc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movie_tag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movie.replace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("&lt;\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&gt;", "")</a:t>
            </a:r>
          </a:p>
          <a:p>
            <a:r>
              <a:rPr lang="en-US" dirty="0"/>
              <a:t>Which is better and why?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F110E-B398-B89D-2476-1E2B5F78C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528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String methods: count</a:t>
            </a:r>
            <a:endParaRPr lang="en-US" dirty="0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1097682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Arial"/>
              </a:rPr>
              <a:t>Find a substring: consider for example</a:t>
            </a:r>
            <a:r>
              <a:rPr lang="en-US" sz="2000" dirty="0">
                <a:latin typeface="Courier New"/>
                <a:ea typeface="Calibri"/>
                <a:cs typeface="Arial"/>
              </a:rPr>
              <a:t> 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s1 = 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abcdefghabcdefgh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 </a:t>
            </a:r>
            <a:endParaRPr lang="nl-NL" sz="2000" dirty="0">
              <a:latin typeface="Courier New"/>
              <a:ea typeface="Calibri"/>
              <a:cs typeface="Courier New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print(s1.count('e')) 		# Onscreen: 2 </a:t>
            </a:r>
            <a:endParaRPr lang="en-US" sz="2000" dirty="0"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print(s1.count('e', 5))		# Onscreen: 1</a:t>
            </a:r>
            <a:endParaRPr lang="en-US" sz="2000" dirty="0">
              <a:latin typeface="Calibri" panose="020F0502020204030204"/>
              <a:ea typeface="Calibri"/>
              <a:cs typeface="Calibri" panose="020F0502020204030204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print(s1.count('e', 5, 10)) 	# Onscreen: 0 </a:t>
            </a:r>
            <a:endParaRPr lang="en-US" sz="2000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</a:t>
            </a:r>
            <a:r>
              <a:rPr lang="en-US" sz="2000">
                <a:latin typeface="Courier New"/>
                <a:ea typeface="Calibri"/>
                <a:cs typeface="Courier New"/>
              </a:rPr>
              <a:t>s1.count(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'e', 5, 13)) 	# Onscreen: 1</a:t>
            </a:r>
            <a:endParaRPr lang="en-US" sz="2000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print(s1.count('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ef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')) 		# Onscreen: 2 </a:t>
            </a:r>
            <a:endParaRPr lang="en-US" sz="2000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print(s1.count('q')) 		# Onscreen: 0</a:t>
            </a:r>
            <a:endParaRPr lang="en-US" sz="2000" dirty="0">
              <a:cs typeface="Calibri"/>
            </a:endParaRPr>
          </a:p>
          <a:p>
            <a:pPr>
              <a:buFont typeface="Arial"/>
            </a:pPr>
            <a:r>
              <a:rPr lang="en-US" sz="2400" dirty="0">
                <a:latin typeface="Calibri"/>
                <a:ea typeface="Calibri"/>
                <a:cs typeface="Arial"/>
              </a:rPr>
              <a:t>With these methods, you can find how often a substring occurs in a string</a:t>
            </a:r>
            <a:endParaRPr lang="en-US" sz="2400" dirty="0">
              <a:latin typeface="Calibri"/>
              <a:cs typeface="Arial"/>
            </a:endParaRPr>
          </a:p>
          <a:p>
            <a:pPr>
              <a:buFont typeface="Arial"/>
            </a:pPr>
            <a:r>
              <a:rPr lang="en-US" sz="2400" dirty="0">
                <a:ea typeface="Calibri"/>
                <a:cs typeface="Arial"/>
              </a:rPr>
              <a:t>If you add one integer as an extra parameter, it will tell Python from where to start searching</a:t>
            </a: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If you add another integer as an extra parameter, it will tell Python before which index to stop searching</a:t>
            </a:r>
          </a:p>
          <a:p>
            <a:pPr marL="0" indent="0">
              <a:buNone/>
            </a:pPr>
            <a:endParaRPr lang="en-US" sz="2000" dirty="0">
              <a:latin typeface="Courier New"/>
              <a:ea typeface="Calibri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23B6F6A-0448-4EED-A121-7B4A352F61BD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918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String methods: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Arial"/>
              </a:rPr>
              <a:t>You have a string called 's1', with only lowercase letters. You want to create a new string where only the last letter is capitalized and give it the name 's1'. Which of the following codes, gives the correct result?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s1 = s1[::-1].capitalize()[::-1]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s1 = s1[:-1]+ s1[-1].upper()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s1 = ''.join(list(s1)[:-1]+ [list(s1)[-1].upper()])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Calibri"/>
                <a:ea typeface="Calibri"/>
                <a:cs typeface="Arial"/>
              </a:rPr>
              <a:t>Only 1 is correct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Calibri"/>
                <a:ea typeface="Calibri"/>
                <a:cs typeface="Arial"/>
              </a:rPr>
              <a:t>Only 2 is correct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Calibri"/>
                <a:ea typeface="Calibri"/>
                <a:cs typeface="Arial"/>
              </a:rPr>
              <a:t>They are all correct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Calibri"/>
                <a:ea typeface="Calibri"/>
                <a:cs typeface="Arial"/>
              </a:rPr>
              <a:t>They are all incorrect</a:t>
            </a:r>
            <a:br>
              <a:rPr lang="en-US" sz="1600" dirty="0">
                <a:latin typeface="Arial"/>
                <a:ea typeface="Calibri"/>
                <a:cs typeface="Arial"/>
              </a:rPr>
            </a:br>
            <a:br>
              <a:rPr lang="en-US" sz="1600" dirty="0">
                <a:latin typeface="Arial"/>
                <a:ea typeface="Calibri"/>
                <a:cs typeface="Arial"/>
              </a:rPr>
            </a:br>
            <a:endParaRPr lang="en-US" sz="1600" dirty="0">
              <a:latin typeface="Arial"/>
              <a:ea typeface="Calibri"/>
              <a:cs typeface="Arial"/>
            </a:endParaRPr>
          </a:p>
          <a:p>
            <a:pPr marL="457200" indent="-457200">
              <a:buAutoNum type="alphaLcParenR"/>
            </a:pPr>
            <a:endParaRPr lang="en-US" sz="2000" dirty="0">
              <a:latin typeface="Arial"/>
              <a:ea typeface="Calibri"/>
              <a:cs typeface="Arial"/>
            </a:endParaRPr>
          </a:p>
          <a:p>
            <a:pPr marL="457200" indent="-457200">
              <a:buAutoNum type="alphaLcParenR"/>
            </a:pPr>
            <a:endParaRPr lang="en-US" sz="2000" dirty="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8792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String methods: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Arial"/>
              </a:rPr>
              <a:t>You have a string called 's1', with only lowercase letters. You want to create a new string where only the last letter is capitalized and give it the name 's1'. Which of the following codes, gives the correct result?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s1 = s1[::-1].capitalize()[::-1]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s1 = s1[:-1]+ s1[-1].upper()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s1 = ''.join(list(s1)[:-1]+ [list(s1)[-1].upper()])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Calibri"/>
                <a:ea typeface="Calibri"/>
                <a:cs typeface="Arial"/>
              </a:rPr>
              <a:t>Only 1 is correct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Calibri"/>
                <a:ea typeface="Calibri"/>
                <a:cs typeface="Arial"/>
              </a:rPr>
              <a:t>Only 2 is correct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Calibri"/>
                <a:ea typeface="Calibri"/>
                <a:cs typeface="Arial"/>
              </a:rPr>
              <a:t>They are all correct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Calibri"/>
                <a:ea typeface="Calibri"/>
                <a:cs typeface="Arial"/>
              </a:rPr>
              <a:t>They are all incorrect</a:t>
            </a:r>
          </a:p>
          <a:p>
            <a:pPr marL="457200" indent="-457200">
              <a:buFont typeface="Arial" panose="020B0604020202020204" pitchFamily="34" charset="0"/>
              <a:buAutoNum type="alphaLcParenR"/>
            </a:pPr>
            <a:r>
              <a:rPr lang="en-US" sz="2400" dirty="0">
                <a:ea typeface="Calibri"/>
                <a:cs typeface="Arial"/>
              </a:rPr>
              <a:t>Correct answer: c. This is quite a difficult question best to run it and see what happens, and try to understand</a:t>
            </a:r>
            <a:br>
              <a:rPr lang="en-US" sz="1600" dirty="0">
                <a:latin typeface="Arial"/>
                <a:ea typeface="Calibri"/>
                <a:cs typeface="Arial"/>
              </a:rPr>
            </a:br>
            <a:br>
              <a:rPr lang="en-US" sz="1600" dirty="0">
                <a:latin typeface="Arial"/>
                <a:ea typeface="Calibri"/>
                <a:cs typeface="Arial"/>
              </a:rPr>
            </a:br>
            <a:endParaRPr lang="en-US" sz="1600" dirty="0">
              <a:latin typeface="Arial"/>
              <a:ea typeface="Calibri"/>
              <a:cs typeface="Arial"/>
            </a:endParaRPr>
          </a:p>
          <a:p>
            <a:pPr marL="457200" indent="-457200">
              <a:buAutoNum type="alphaLcParenR"/>
            </a:pPr>
            <a:endParaRPr lang="en-US" sz="2000" dirty="0">
              <a:latin typeface="Arial"/>
              <a:ea typeface="Calibri"/>
              <a:cs typeface="Arial"/>
            </a:endParaRPr>
          </a:p>
          <a:p>
            <a:pPr marL="457200" indent="-457200">
              <a:buAutoNum type="alphaLcParenR"/>
            </a:pPr>
            <a:endParaRPr lang="en-US" sz="2000" dirty="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946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String methods: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Arial"/>
              </a:rPr>
              <a:t>How to sort a string?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s1 =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acbd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l1 = sorted(s1)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s1 = ''.join(l1) 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s1 =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acbd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l1 = list(s1)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l1 = l1.sort()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s1 = ''.join(l1)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Calibri"/>
                <a:ea typeface="Calibri"/>
                <a:cs typeface="Arial"/>
              </a:rPr>
              <a:t>Both are correct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Calibri"/>
                <a:ea typeface="Calibri"/>
                <a:cs typeface="Arial"/>
              </a:rPr>
              <a:t>Both are incorrect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Calibri"/>
                <a:ea typeface="Calibri"/>
                <a:cs typeface="Arial"/>
              </a:rPr>
              <a:t>Only 1 is correct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Calibri"/>
                <a:ea typeface="Calibri"/>
                <a:cs typeface="Arial"/>
              </a:rPr>
              <a:t>Only 2 is correct</a:t>
            </a:r>
          </a:p>
          <a:p>
            <a:pPr>
              <a:buFont typeface="Arial"/>
              <a:buChar char="•"/>
            </a:pPr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77625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String methods: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Arial"/>
              </a:rPr>
              <a:t>How to sort a string?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s1 =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acbd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l1 = sorted(s1)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s1 = ''.join(l1) 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s1 =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acbd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l1 = list(s1)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l1 = l1.sort()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s1 = ''.join(l1)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Calibri"/>
                <a:ea typeface="Calibri"/>
                <a:cs typeface="Arial"/>
              </a:rPr>
              <a:t>Both are correct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Calibri"/>
                <a:ea typeface="Calibri"/>
                <a:cs typeface="Arial"/>
              </a:rPr>
              <a:t>Both are incorrect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Calibri"/>
                <a:ea typeface="Calibri"/>
                <a:cs typeface="Arial"/>
              </a:rPr>
              <a:t>Only 1 is correct</a:t>
            </a:r>
          </a:p>
          <a:p>
            <a:pPr marL="457200" indent="-457200">
              <a:buAutoNum type="alphaLcParenR"/>
            </a:pPr>
            <a:r>
              <a:rPr lang="en-US" sz="2400" dirty="0">
                <a:latin typeface="Calibri"/>
                <a:ea typeface="Calibri"/>
                <a:cs typeface="Arial"/>
              </a:rPr>
              <a:t>Only 2 is correct</a:t>
            </a:r>
          </a:p>
          <a:p>
            <a:pPr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Arial"/>
              </a:rPr>
              <a:t>Correct answer: c. In the third line of code in option 2,</a:t>
            </a:r>
            <a:r>
              <a:rPr lang="en-US" sz="2000" dirty="0">
                <a:latin typeface="Courier New"/>
                <a:ea typeface="Calibri"/>
                <a:cs typeface="Arial"/>
              </a:rPr>
              <a:t> l1.sort()</a:t>
            </a:r>
            <a:r>
              <a:rPr lang="en-US" sz="2400" dirty="0">
                <a:latin typeface="Calibri"/>
                <a:ea typeface="Calibri"/>
                <a:cs typeface="Arial"/>
              </a:rPr>
              <a:t>, changes </a:t>
            </a:r>
            <a:r>
              <a:rPr lang="en-US" sz="2000" dirty="0">
                <a:latin typeface="Courier New"/>
                <a:ea typeface="Calibri"/>
                <a:cs typeface="Arial"/>
              </a:rPr>
              <a:t>l1</a:t>
            </a:r>
            <a:r>
              <a:rPr lang="en-US" sz="2400" dirty="0">
                <a:latin typeface="Calibri"/>
                <a:ea typeface="Calibri"/>
                <a:cs typeface="Arial"/>
              </a:rPr>
              <a:t> and returns </a:t>
            </a:r>
            <a:r>
              <a:rPr lang="en-US" sz="2000" dirty="0">
                <a:latin typeface="Courier New"/>
                <a:ea typeface="Calibri"/>
                <a:cs typeface="Arial"/>
              </a:rPr>
              <a:t>None</a:t>
            </a:r>
            <a:r>
              <a:rPr lang="en-US" sz="2400" dirty="0">
                <a:latin typeface="Calibri"/>
                <a:ea typeface="Calibri"/>
                <a:cs typeface="Arial"/>
              </a:rPr>
              <a:t>, and so in line 4 </a:t>
            </a:r>
            <a:r>
              <a:rPr lang="en-US" sz="2000" dirty="0">
                <a:latin typeface="Courier New"/>
                <a:ea typeface="Calibri"/>
                <a:cs typeface="Arial"/>
              </a:rPr>
              <a:t>l1</a:t>
            </a:r>
            <a:r>
              <a:rPr lang="en-US" sz="2400" dirty="0">
                <a:latin typeface="Calibri"/>
                <a:ea typeface="Calibri"/>
                <a:cs typeface="Arial"/>
              </a:rPr>
              <a:t> is now </a:t>
            </a:r>
            <a:r>
              <a:rPr lang="en-US" sz="2000" dirty="0">
                <a:latin typeface="Courier New"/>
                <a:ea typeface="Calibri"/>
                <a:cs typeface="Arial"/>
              </a:rPr>
              <a:t>None </a:t>
            </a:r>
            <a:r>
              <a:rPr lang="en-US" sz="2400" dirty="0">
                <a:latin typeface="Calibri"/>
                <a:ea typeface="Calibri"/>
                <a:cs typeface="Arial"/>
              </a:rPr>
              <a:t>and Python will throw an error </a:t>
            </a:r>
            <a:endParaRPr lang="en-US" sz="2400" dirty="0">
              <a:latin typeface="Calibri"/>
              <a:cs typeface="Arial"/>
            </a:endParaRPr>
          </a:p>
          <a:p>
            <a:pPr>
              <a:buFont typeface="Arial"/>
              <a:buChar char="•"/>
            </a:pPr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83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String module</a:t>
            </a:r>
            <a:endParaRPr lang="en-US" dirty="0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000" dirty="0">
                <a:latin typeface="Courier New"/>
                <a:ea typeface="Calibri"/>
                <a:cs typeface="Courier New"/>
              </a:rPr>
              <a:t>import string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print(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string.ascii_lowercase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) # Onscreen: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abcdefghijklmnopqrstuvwxyz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print(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string.ascii_uppercase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) # Onscreen: ABCDEFGHIJKLMNOPQRSTUVWXYZ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print(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string.ascii_letters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) 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# Onscreen: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abcdefghijklmnopqrstuvwxyzABCDEFGHIJKLMNOPQRSTUVWXYZ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print(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string.digits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) # Onscreen: 0123456789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print(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string.punctuation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) # Onscreen: "#$%&amp;'()*+,-./:;&lt;=&gt;?@[\]^_`{|}~ 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print(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string.whitespace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) # Onscreen: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 ('\t' in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string.whitespace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, '\n' in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string.whitespace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, ' ' in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string.whitespace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) # Onscreen: True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True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True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pPr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Arial"/>
              </a:rPr>
              <a:t>These are all strings that you can use after importing string</a:t>
            </a:r>
          </a:p>
          <a:p>
            <a:pPr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Arial"/>
              </a:rPr>
              <a:t>In general, laziness is a good thing for a programmer. Although it is hardly more work, using these constants instead of typing all those characters yourself, avoids making errors.</a:t>
            </a:r>
            <a:r>
              <a:rPr lang="en-US" sz="2400" dirty="0">
                <a:latin typeface="Calibri"/>
                <a:ea typeface="Calibri"/>
                <a:cs typeface="Courier New"/>
              </a:rPr>
              <a:t>   </a:t>
            </a:r>
            <a:endParaRPr lang="en-US" sz="2400" dirty="0">
              <a:latin typeface="Calibri"/>
              <a:cs typeface="Courier New"/>
            </a:endParaRPr>
          </a:p>
          <a:p>
            <a:pPr>
              <a:buFont typeface="Arial"/>
              <a:buChar char="•"/>
            </a:pPr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03547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F-strings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8876"/>
            <a:ext cx="121919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000" i="1" dirty="0">
                <a:latin typeface="Calibri"/>
                <a:ea typeface="Calibri"/>
                <a:cs typeface="Arial"/>
              </a:rPr>
              <a:t>F-strings</a:t>
            </a:r>
            <a:r>
              <a:rPr lang="en-US" sz="2000" dirty="0">
                <a:latin typeface="Calibri"/>
                <a:ea typeface="Calibri"/>
                <a:cs typeface="Arial"/>
              </a:rPr>
              <a:t> can be used to format output</a:t>
            </a:r>
            <a:endParaRPr lang="nl-NL" sz="2000" dirty="0">
              <a:latin typeface="Calibri"/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They can be very convenient</a:t>
            </a:r>
            <a:endParaRPr lang="nl-NL" sz="2000" dirty="0">
              <a:latin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Say you want a function that multiplies two integers and e.g., when you multiply 7 and 13, returns a string that looks as follows: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"0007 times 0013 gives 0091"</a:t>
            </a:r>
            <a:endParaRPr lang="en-US" sz="2000" dirty="0"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This can be done by writing a function with what we learned in the first 3 weeks:</a:t>
            </a:r>
          </a:p>
          <a:p>
            <a:pPr marL="0" indent="0">
              <a:buNone/>
            </a:pPr>
            <a:r>
              <a:rPr lang="en-US" sz="2000" dirty="0">
                <a:latin typeface="Courier New"/>
                <a:ea typeface="Calibri"/>
                <a:cs typeface="Arial"/>
              </a:rPr>
              <a:t>def main(a, b):</a:t>
            </a:r>
            <a:br>
              <a:rPr lang="en-US" sz="2000" dirty="0">
                <a:latin typeface="Courier New"/>
                <a:ea typeface="Calibri"/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Arial"/>
              </a:rPr>
              <a:t>    def format1(x):</a:t>
            </a:r>
            <a:br>
              <a:rPr lang="en-US" sz="2000" dirty="0">
                <a:latin typeface="Courier New"/>
                <a:ea typeface="Calibri"/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Arial"/>
              </a:rPr>
              <a:t>        return ('0000' + str(x))[-4:]</a:t>
            </a:r>
            <a:br>
              <a:rPr lang="en-US" sz="2000" dirty="0">
                <a:latin typeface="Courier New"/>
                <a:ea typeface="Calibri"/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Arial"/>
              </a:rPr>
              <a:t>    return format1(a) + ' times ' + format1(b) + ' gives ' + format1(a * b)</a:t>
            </a:r>
            <a:endParaRPr lang="en-US" sz="2000" dirty="0">
              <a:latin typeface="Courier New"/>
              <a:cs typeface="Calibri"/>
            </a:endParaRPr>
          </a:p>
          <a:p>
            <a:pPr lvl="1">
              <a:buFont typeface="Arial"/>
              <a:buChar char="•"/>
            </a:pPr>
            <a:endParaRPr lang="en-US" sz="2000" dirty="0">
              <a:latin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3652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F-strings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With an F-string, the task gets more convenient and more readable:</a:t>
            </a:r>
          </a:p>
          <a:p>
            <a:pPr lvl="1">
              <a:buFont typeface="Arial,Sans-Serif"/>
              <a:buChar char="•"/>
            </a:pPr>
            <a:r>
              <a:rPr lang="en-US" sz="1800" dirty="0">
                <a:latin typeface="Courier New"/>
                <a:ea typeface="Calibri"/>
                <a:cs typeface="Courier New"/>
              </a:rPr>
              <a:t>def main(a, b):</a:t>
            </a:r>
            <a:br>
              <a:rPr lang="en-US" sz="1800" dirty="0">
                <a:latin typeface="Courier New"/>
                <a:ea typeface="Calibri"/>
                <a:cs typeface="Courier New"/>
              </a:rPr>
            </a:br>
            <a:r>
              <a:rPr lang="en-US" sz="1800" dirty="0">
                <a:latin typeface="Courier New"/>
                <a:ea typeface="Calibri"/>
                <a:cs typeface="Courier New"/>
              </a:rPr>
              <a:t>    return f'{a:04d} times {b:04d} gives {a * b:04d}'</a:t>
            </a:r>
          </a:p>
          <a:p>
            <a:pPr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Inside the curly braces, before the colon you have the value and after the colon the formatting of that value</a:t>
            </a:r>
            <a:endParaRPr lang="en-US" sz="2000" dirty="0">
              <a:latin typeface="Calibri"/>
              <a:ea typeface="Calibri"/>
              <a:cs typeface="Calibri"/>
            </a:endParaRPr>
          </a:p>
          <a:p>
            <a:pPr lvl="1">
              <a:buFont typeface="Arial,Sans-Serif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You don't have to know the part after the colon for the exam, just the value part</a:t>
            </a:r>
            <a:endParaRPr lang="en-US" sz="2000" dirty="0">
              <a:latin typeface="Calibri"/>
              <a:cs typeface="Calibri"/>
            </a:endParaRPr>
          </a:p>
          <a:p>
            <a:pPr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In this case, the </a:t>
            </a:r>
            <a:r>
              <a:rPr lang="en-US" sz="2000" dirty="0">
                <a:latin typeface="Courier New"/>
                <a:ea typeface="Calibri"/>
                <a:cs typeface="Calibri"/>
              </a:rPr>
              <a:t>f</a:t>
            </a:r>
            <a:r>
              <a:rPr lang="en-US" sz="2400" dirty="0">
                <a:latin typeface="Calibri"/>
                <a:ea typeface="Calibri"/>
                <a:cs typeface="Calibri"/>
              </a:rPr>
              <a:t> means you deal with an integer, the 4 gives you the length, and the 0 tells Python to add extra zeroes in front if the number is shorter than 4 digits</a:t>
            </a:r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2070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F-strings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Arial"/>
              </a:rPr>
              <a:t>If you leave out the formatting part, Python will just apply the </a:t>
            </a:r>
            <a:r>
              <a:rPr lang="en-US" sz="2000" dirty="0">
                <a:latin typeface="Courier New"/>
                <a:ea typeface="Calibri"/>
                <a:cs typeface="Arial"/>
              </a:rPr>
              <a:t>str </a:t>
            </a:r>
            <a:r>
              <a:rPr lang="en-US" sz="2400" dirty="0">
                <a:latin typeface="Calibri"/>
                <a:ea typeface="Calibri"/>
                <a:cs typeface="Arial"/>
              </a:rPr>
              <a:t>function to the value</a:t>
            </a:r>
            <a:r>
              <a:rPr lang="en-US" sz="2000" dirty="0">
                <a:latin typeface="Arial"/>
                <a:ea typeface="Calibri"/>
                <a:cs typeface="Arial"/>
              </a:rPr>
              <a:t> </a:t>
            </a:r>
          </a:p>
          <a:p>
            <a:pPr lvl="1">
              <a:buFont typeface="Arial"/>
              <a:buChar char="•"/>
            </a:pPr>
            <a:r>
              <a:rPr lang="en-US" sz="1800" dirty="0">
                <a:latin typeface="Courier New"/>
                <a:ea typeface="Calibri"/>
                <a:cs typeface="Courier New"/>
              </a:rPr>
              <a:t>print(f'{a} {b}' == str(a) + ' ' + str(b)) # Onscreen: True</a:t>
            </a:r>
          </a:p>
          <a:p>
            <a:pPr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Arial"/>
              </a:rPr>
              <a:t>The values can be just simple values, or the returns of functions/methods, or slices or values from sequences or dictionaries: in short, all expressions that Python will evaluate to a value</a:t>
            </a:r>
          </a:p>
          <a:p>
            <a:pPr lvl="1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For example:</a:t>
            </a:r>
            <a:endParaRPr lang="en-US" sz="2000" dirty="0">
              <a:latin typeface="Calibri"/>
              <a:ea typeface="Calibri"/>
              <a:cs typeface="Calibri" panose="020F0502020204030204"/>
            </a:endParaRPr>
          </a:p>
          <a:p>
            <a:pPr lvl="2">
              <a:buFont typeface="Arial"/>
              <a:buChar char="•"/>
            </a:pPr>
            <a:r>
              <a:rPr lang="en-US" sz="1600" dirty="0">
                <a:latin typeface="Arial"/>
                <a:ea typeface="Calibri"/>
                <a:cs typeface="Arial"/>
              </a:rPr>
              <a:t>s1 = '</a:t>
            </a:r>
            <a:r>
              <a:rPr lang="en-US" sz="1600" dirty="0" err="1">
                <a:latin typeface="Courier New"/>
                <a:ea typeface="Calibri"/>
                <a:cs typeface="Courier New"/>
              </a:rPr>
              <a:t>tekst</a:t>
            </a:r>
            <a:r>
              <a:rPr lang="en-US" sz="1600" dirty="0">
                <a:latin typeface="Courier New"/>
                <a:ea typeface="Calibri"/>
                <a:cs typeface="Courier New"/>
              </a:rPr>
              <a:t>'</a:t>
            </a:r>
            <a:br>
              <a:rPr lang="en-US" sz="1600" dirty="0">
                <a:latin typeface="Courier New"/>
                <a:ea typeface="Calibri"/>
                <a:cs typeface="Courier New"/>
              </a:rPr>
            </a:br>
            <a:r>
              <a:rPr lang="en-US" sz="1600" dirty="0">
                <a:latin typeface="Courier New"/>
                <a:ea typeface="Calibri"/>
                <a:cs typeface="Courier New"/>
              </a:rPr>
              <a:t>t1 = (1, 2, 3)</a:t>
            </a:r>
            <a:br>
              <a:rPr lang="en-US" sz="1600" dirty="0">
                <a:latin typeface="Courier New"/>
                <a:ea typeface="Calibri"/>
                <a:cs typeface="Courier New"/>
              </a:rPr>
            </a:br>
            <a:r>
              <a:rPr lang="en-US" sz="1600" dirty="0">
                <a:latin typeface="Courier New"/>
                <a:ea typeface="Calibri"/>
                <a:cs typeface="Courier New"/>
              </a:rPr>
              <a:t>l1 = [4, 5, 6] </a:t>
            </a:r>
            <a:br>
              <a:rPr lang="en-US" sz="1600" dirty="0">
                <a:latin typeface="Courier New"/>
                <a:ea typeface="Calibri"/>
                <a:cs typeface="Courier New"/>
              </a:rPr>
            </a:br>
            <a:r>
              <a:rPr lang="en-US" sz="1600" dirty="0">
                <a:latin typeface="Courier New"/>
                <a:ea typeface="Calibri"/>
                <a:cs typeface="Courier New"/>
              </a:rPr>
              <a:t>capitals = {'Netherlands' : 'Amsterdam'}</a:t>
            </a:r>
            <a:br>
              <a:rPr lang="en-US" sz="1600" dirty="0">
                <a:latin typeface="Courier New"/>
                <a:ea typeface="Calibri"/>
                <a:cs typeface="Courier New"/>
              </a:rPr>
            </a:br>
            <a:r>
              <a:rPr lang="en-US" sz="1600" dirty="0">
                <a:latin typeface="Courier New"/>
                <a:ea typeface="Calibri"/>
                <a:cs typeface="Courier New"/>
              </a:rPr>
              <a:t>print(f'{s1} {s1.upper()} {t1[2]} {l1} {capitals["Netherlands"]}') </a:t>
            </a:r>
            <a:br>
              <a:rPr lang="en-US" sz="1600" dirty="0">
                <a:latin typeface="Courier New"/>
                <a:ea typeface="Calibri"/>
                <a:cs typeface="Courier New"/>
              </a:rPr>
            </a:br>
            <a:r>
              <a:rPr lang="en-US" sz="1600" dirty="0">
                <a:latin typeface="Courier New"/>
                <a:ea typeface="Calibri"/>
                <a:cs typeface="Courier New"/>
              </a:rPr>
              <a:t># Onscreen: </a:t>
            </a:r>
            <a:r>
              <a:rPr lang="en-US" sz="1600" dirty="0" err="1">
                <a:latin typeface="Courier New"/>
                <a:ea typeface="Calibri"/>
                <a:cs typeface="Courier New"/>
              </a:rPr>
              <a:t>tekst</a:t>
            </a:r>
            <a:r>
              <a:rPr lang="en-US" sz="1600" dirty="0">
                <a:latin typeface="Courier New"/>
                <a:ea typeface="Calibri"/>
                <a:cs typeface="Courier New"/>
              </a:rPr>
              <a:t> TEKST 3 [4, 5, 6] Amsterdam</a:t>
            </a:r>
            <a:r>
              <a:rPr lang="en-US" sz="1600" dirty="0">
                <a:latin typeface="Calibri"/>
                <a:ea typeface="Calibri"/>
                <a:cs typeface="Calibri"/>
              </a:rPr>
              <a:t> </a:t>
            </a:r>
            <a:endParaRPr lang="en-US" sz="1600" dirty="0">
              <a:cs typeface="Calibri"/>
            </a:endParaRPr>
          </a:p>
          <a:p>
            <a:pPr marL="0" indent="0">
              <a:buNone/>
            </a:pPr>
            <a:endParaRPr lang="en-US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3330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F-strings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</a:rPr>
              <a:t>Just like with strings in general, if you use one type of quotes on the outside, you should use the other type of quotes on the inside</a:t>
            </a:r>
          </a:p>
          <a:p>
            <a:pPr lvl="1">
              <a:buFont typeface="Arial,Sans-Serif"/>
              <a:buChar char="•"/>
            </a:pPr>
            <a:r>
              <a:rPr lang="en-US" sz="2000" dirty="0">
                <a:latin typeface="Calibri"/>
                <a:ea typeface="Calibri"/>
                <a:cs typeface="Calibri"/>
              </a:rPr>
              <a:t>If you cannot solve this problem, you can always use escape characters (\' and \")</a:t>
            </a:r>
            <a:endParaRPr lang="en-US" sz="2000" dirty="0">
              <a:latin typeface="Calibri"/>
              <a:cs typeface="Calibri"/>
            </a:endParaRPr>
          </a:p>
          <a:p>
            <a:pPr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Arial"/>
              </a:rPr>
              <a:t>If you need to escape a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{ </a:t>
            </a:r>
            <a:r>
              <a:rPr lang="en-US" sz="2400" dirty="0">
                <a:latin typeface="Calibri"/>
                <a:ea typeface="Calibri"/>
                <a:cs typeface="Arial"/>
              </a:rPr>
              <a:t>or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} </a:t>
            </a:r>
            <a:r>
              <a:rPr lang="en-US" sz="2400" dirty="0">
                <a:latin typeface="Calibri"/>
                <a:ea typeface="Calibri"/>
                <a:cs typeface="Arial"/>
              </a:rPr>
              <a:t>you cannot achieve that with a backward slash, but you can by doubling the braces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{{</a:t>
            </a:r>
            <a:r>
              <a:rPr lang="en-US" sz="2400" dirty="0">
                <a:latin typeface="Calibri"/>
                <a:ea typeface="Calibri"/>
                <a:cs typeface="Courier New"/>
              </a:rPr>
              <a:t> </a:t>
            </a:r>
            <a:r>
              <a:rPr lang="en-US" sz="2400" dirty="0">
                <a:latin typeface="Calibri"/>
                <a:ea typeface="Calibri"/>
                <a:cs typeface="Arial"/>
              </a:rPr>
              <a:t>and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}}</a:t>
            </a:r>
          </a:p>
          <a:p>
            <a:pPr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Arial"/>
              </a:rPr>
              <a:t>Although f-strings are very convenient, I find the documentation on the internet a bit difficult to comprehend, so I always end with trial and error, and success in the end</a:t>
            </a:r>
          </a:p>
          <a:p>
            <a:pPr>
              <a:buFont typeface="Arial,Sans-Serif"/>
              <a:buChar char="•"/>
            </a:pPr>
            <a:r>
              <a:rPr lang="en-US" sz="2400" dirty="0">
                <a:latin typeface="Calibri"/>
                <a:cs typeface="Arial"/>
              </a:rPr>
              <a:t>A </a:t>
            </a:r>
            <a:r>
              <a:rPr lang="en-US" sz="2400" dirty="0">
                <a:cs typeface="Arial"/>
              </a:rPr>
              <a:t>nice trick for debugging purposes:</a:t>
            </a:r>
            <a:br>
              <a:rPr lang="en-US" sz="2400" dirty="0"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a = 10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b = 'Amsterdam'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 (f'{a=}{b=}')	# Onscreen: a=10 b='Amsterdam'</a:t>
            </a:r>
          </a:p>
          <a:p>
            <a:pPr>
              <a:buFont typeface="Arial"/>
              <a:buChar char="•"/>
            </a:pPr>
            <a:endParaRPr lang="en-US" sz="2000" dirty="0">
              <a:latin typeface="Arial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90124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80D31-08B1-1136-9441-67816F32D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Programming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C5665-417E-EFC9-AE69-66668673A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Programming philosophy/approach</a:t>
            </a:r>
          </a:p>
          <a:p>
            <a:pPr lvl="1"/>
            <a:r>
              <a:rPr lang="en-US" dirty="0"/>
              <a:t>A way of </a:t>
            </a:r>
            <a:r>
              <a:rPr lang="en-US" dirty="0" err="1"/>
              <a:t>organising</a:t>
            </a:r>
            <a:r>
              <a:rPr lang="en-US" dirty="0"/>
              <a:t> code</a:t>
            </a:r>
          </a:p>
          <a:p>
            <a:r>
              <a:rPr lang="en-US" dirty="0"/>
              <a:t>Well-</a:t>
            </a:r>
            <a:r>
              <a:rPr lang="en-US" dirty="0" err="1"/>
              <a:t>organised</a:t>
            </a:r>
            <a:r>
              <a:rPr lang="en-US" dirty="0"/>
              <a:t> code: easier to understand, fix bugs and maintain/extend</a:t>
            </a:r>
          </a:p>
          <a:p>
            <a:r>
              <a:rPr lang="en-US" dirty="0"/>
              <a:t>Trade-off with performance</a:t>
            </a:r>
          </a:p>
          <a:p>
            <a:r>
              <a:rPr lang="en-US" dirty="0"/>
              <a:t>Usually only relevant in large projects</a:t>
            </a:r>
          </a:p>
          <a:p>
            <a:r>
              <a:rPr lang="en-US" dirty="0"/>
              <a:t>OOP is helpful for </a:t>
            </a:r>
            <a:r>
              <a:rPr lang="en-US" dirty="0" err="1"/>
              <a:t>organisation</a:t>
            </a:r>
            <a:r>
              <a:rPr lang="en-US" dirty="0"/>
              <a:t>, but not a guarantee for good </a:t>
            </a:r>
            <a:r>
              <a:rPr lang="en-US" dirty="0" err="1"/>
              <a:t>organisation</a:t>
            </a:r>
            <a:r>
              <a:rPr lang="en-US" dirty="0"/>
              <a:t> </a:t>
            </a:r>
          </a:p>
          <a:p>
            <a:r>
              <a:rPr lang="en-US" dirty="0"/>
              <a:t>(Alan Kay, “inventor” of OOP: better named “process-oriented programming”)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58930-4170-E2FC-9020-22F2EE88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79419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74280-CA7C-749E-0564-4B56A0E5A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Programming (Background)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6E1A1-D607-301F-B37B-09D7D0F9B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OOP is hard-wired into Python, but we can do more of it.</a:t>
            </a:r>
          </a:p>
          <a:p>
            <a:r>
              <a:rPr lang="en-US" dirty="0"/>
              <a:t>Everything is an object/process</a:t>
            </a:r>
          </a:p>
          <a:p>
            <a:r>
              <a:rPr lang="en-US" dirty="0"/>
              <a:t>Encapsulation: objects have data/attributes (name, age, </a:t>
            </a:r>
            <a:r>
              <a:rPr lang="en-US" dirty="0" err="1"/>
              <a:t>colour</a:t>
            </a:r>
            <a:r>
              <a:rPr lang="en-US" dirty="0"/>
              <a:t>) and methods/stuff we want to do with the data (index, sort, draw)</a:t>
            </a:r>
          </a:p>
          <a:p>
            <a:r>
              <a:rPr lang="en-US" dirty="0"/>
              <a:t>Abstraction: focus on what object does, hide how it does it.</a:t>
            </a:r>
          </a:p>
          <a:p>
            <a:r>
              <a:rPr lang="en-US" dirty="0"/>
              <a:t>Inheritance: objects take properties (attributes and methods) from </a:t>
            </a:r>
            <a:r>
              <a:rPr lang="en-US" dirty="0" err="1"/>
              <a:t>superclasses</a:t>
            </a:r>
            <a:r>
              <a:rPr lang="en-US" dirty="0"/>
              <a:t> (circle is a type of shape, consumer is a type of agent)</a:t>
            </a:r>
          </a:p>
          <a:p>
            <a:r>
              <a:rPr lang="en-US" dirty="0"/>
              <a:t>Polymorphism: conceptually similar methods have same name, even if implementation is different (draw circle vs draw rectangle)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8C2DF-CAC2-E7CA-B287-463134C8E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98755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7757C-2AC6-1338-27FC-44942581D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Programming (Background)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3BF0B-9129-52E6-F0A4-F6237913E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Advantage: if well chosen abstractions, focus on problem at hand</a:t>
            </a:r>
          </a:p>
          <a:p>
            <a:r>
              <a:rPr lang="en-US" dirty="0"/>
              <a:t>Easier to read, fix and extend</a:t>
            </a:r>
          </a:p>
          <a:p>
            <a:pPr lvl="1"/>
            <a:r>
              <a:rPr lang="en-US" dirty="0"/>
              <a:t>Compare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list1.len()</a:t>
            </a:r>
            <a:r>
              <a:rPr lang="en-US" dirty="0">
                <a:cs typeface="Courier New" panose="02070309020205020404" pitchFamily="49" charset="0"/>
              </a:rPr>
              <a:t>and</a:t>
            </a:r>
            <a:r>
              <a:rPr lang="en-US" sz="2000" dirty="0">
                <a:cs typeface="Courier New" panose="02070309020205020404" pitchFamily="49" charset="0"/>
              </a:rPr>
              <a:t> 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length = 0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x in list1:</a:t>
            </a:r>
          </a:p>
          <a:p>
            <a:pPr marL="1371600" lvl="3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length +=1</a:t>
            </a:r>
          </a:p>
          <a:p>
            <a:pPr marL="914400" lvl="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return length</a:t>
            </a:r>
          </a:p>
          <a:p>
            <a:r>
              <a:rPr lang="en-US" dirty="0"/>
              <a:t>If not well-chosen, classes can be a confusing mess</a:t>
            </a:r>
          </a:p>
          <a:p>
            <a:r>
              <a:rPr lang="en-US" dirty="0"/>
              <a:t>Choosing well is beyond the scope of this course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1595C2-8D4E-FCD7-71A0-09919A5A4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31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513825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Class definition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10924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class Rectangle: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   def __</a:t>
            </a:r>
            <a:r>
              <a:rPr lang="en-US" sz="20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init</a:t>
            </a: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__(self, length, width=1):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       </a:t>
            </a:r>
            <a:r>
              <a:rPr lang="en-US" sz="20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self.length</a:t>
            </a: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= length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       </a:t>
            </a:r>
            <a:r>
              <a:rPr lang="en-US" sz="20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self.width</a:t>
            </a: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= width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   def size(self, </a:t>
            </a:r>
            <a:r>
              <a:rPr lang="en-US" sz="20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data_type</a:t>
            </a: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=int):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       return </a:t>
            </a:r>
            <a:r>
              <a:rPr lang="en-US" sz="20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f"The</a:t>
            </a: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size = {</a:t>
            </a:r>
            <a:r>
              <a:rPr lang="en-US" sz="20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data_type</a:t>
            </a: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(</a:t>
            </a:r>
            <a:r>
              <a:rPr lang="en-US" sz="20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self.length</a:t>
            </a: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* </a:t>
            </a:r>
            <a:r>
              <a:rPr lang="en-US" sz="20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self.width</a:t>
            </a: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)}."</a:t>
            </a:r>
          </a:p>
          <a:p>
            <a:pPr marL="0" indent="0">
              <a:buNone/>
            </a:pPr>
            <a:r>
              <a:rPr lang="en-US" sz="2000" dirty="0">
                <a:latin typeface="Courier New"/>
                <a:ea typeface="Calibri"/>
                <a:cs typeface="Arial"/>
              </a:rPr>
              <a:t>rectangle_1 = Rectangle(2,3)</a:t>
            </a:r>
          </a:p>
          <a:p>
            <a:pPr marL="0" indent="0">
              <a:buNone/>
            </a:pPr>
            <a:r>
              <a:rPr lang="en-US" sz="2000" dirty="0">
                <a:latin typeface="Courier New"/>
                <a:ea typeface="Calibri"/>
                <a:cs typeface="Arial"/>
              </a:rPr>
              <a:t>rectangle_2 = Rectangle(3)</a:t>
            </a:r>
          </a:p>
          <a:p>
            <a:pPr marL="0" indent="0">
              <a:buNone/>
            </a:pPr>
            <a:r>
              <a:rPr lang="en-US" sz="2000" dirty="0">
                <a:latin typeface="Courier New"/>
                <a:ea typeface="Calibri"/>
                <a:cs typeface="Arial"/>
              </a:rPr>
              <a:t>rectangle_3 = Rectangle(2,2)</a:t>
            </a:r>
          </a:p>
          <a:p>
            <a:pPr marL="0" indent="0">
              <a:buNone/>
            </a:pPr>
            <a:r>
              <a:rPr lang="en-US" sz="2000" dirty="0">
                <a:latin typeface="Courier New"/>
                <a:ea typeface="Calibri"/>
                <a:cs typeface="Arial"/>
              </a:rPr>
              <a:t>for object in [rectangle_1, rectangle_2, rectangle_3, Rectangle(4,4)]:</a:t>
            </a:r>
          </a:p>
          <a:p>
            <a:pPr marL="0" indent="0">
              <a:buNone/>
            </a:pPr>
            <a:r>
              <a:rPr lang="en-US" sz="2000" dirty="0">
                <a:latin typeface="Courier New"/>
                <a:ea typeface="Calibri"/>
                <a:cs typeface="Arial"/>
              </a:rPr>
              <a:t>    print(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object.size</a:t>
            </a:r>
            <a:r>
              <a:rPr lang="en-US" sz="2000" dirty="0">
                <a:latin typeface="Courier New"/>
                <a:ea typeface="Calibri"/>
                <a:cs typeface="Arial"/>
              </a:rPr>
              <a:t>(float))</a:t>
            </a:r>
          </a:p>
          <a:p>
            <a:pPr marL="0" indent="0">
              <a:buNone/>
            </a:pPr>
            <a:r>
              <a:rPr lang="en-US" sz="2000" dirty="0">
                <a:latin typeface="Courier New"/>
                <a:ea typeface="Calibri"/>
                <a:cs typeface="Arial"/>
              </a:rPr>
              <a:t># On screen: 6.0</a:t>
            </a:r>
            <a:br>
              <a:rPr lang="en-US" sz="2000" dirty="0">
                <a:latin typeface="Courier New"/>
                <a:ea typeface="Calibri"/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Arial"/>
              </a:rPr>
              <a:t>             3.0</a:t>
            </a:r>
            <a:br>
              <a:rPr lang="en-US" sz="2000" dirty="0">
                <a:latin typeface="Courier New"/>
                <a:ea typeface="Calibri"/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Arial"/>
              </a:rPr>
              <a:t>             4.0</a:t>
            </a:r>
            <a:br>
              <a:rPr lang="en-US" sz="2000" dirty="0">
                <a:latin typeface="Courier New"/>
                <a:ea typeface="Calibri"/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Arial"/>
              </a:rPr>
              <a:t>             16.0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32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52723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Class </a:t>
            </a:r>
            <a:r>
              <a:rPr lang="en-US" dirty="0">
                <a:ea typeface="+mj-lt"/>
                <a:cs typeface="+mj-lt"/>
              </a:rPr>
              <a:t>definition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dirty="0">
                <a:latin typeface="Calibri"/>
                <a:ea typeface="Calibri"/>
                <a:cs typeface="Arial"/>
              </a:rPr>
              <a:t>A class definition starts with the </a:t>
            </a:r>
            <a:r>
              <a:rPr lang="en-US" dirty="0">
                <a:latin typeface="Courier New"/>
                <a:ea typeface="Calibri"/>
                <a:cs typeface="Courier New"/>
              </a:rPr>
              <a:t>class</a:t>
            </a:r>
            <a:r>
              <a:rPr lang="en-US" dirty="0">
                <a:latin typeface="Calibri"/>
                <a:ea typeface="Calibri"/>
                <a:cs typeface="Arial"/>
              </a:rPr>
              <a:t> keyword</a:t>
            </a:r>
          </a:p>
          <a:p>
            <a:pPr>
              <a:buFont typeface="Arial"/>
              <a:buChar char="•"/>
            </a:pPr>
            <a:r>
              <a:rPr lang="en-US" dirty="0">
                <a:latin typeface="Calibri"/>
                <a:ea typeface="Calibri"/>
                <a:cs typeface="Arial"/>
              </a:rPr>
              <a:t>The first line of the class definition ends with a colon (</a:t>
            </a:r>
            <a:r>
              <a:rPr lang="en-US" dirty="0">
                <a:latin typeface="Courier New"/>
                <a:ea typeface="Calibri"/>
                <a:cs typeface="Courier New"/>
                <a:sym typeface="Wingdings" panose="05000000000000000000" pitchFamily="2" charset="2"/>
              </a:rPr>
              <a:t>:</a:t>
            </a:r>
            <a:r>
              <a:rPr lang="en-US" dirty="0">
                <a:latin typeface="Calibri"/>
                <a:ea typeface="Calibri"/>
                <a:cs typeface="Arial"/>
                <a:sym typeface="Wingdings" panose="05000000000000000000" pitchFamily="2" charset="2"/>
              </a:rPr>
              <a:t>)</a:t>
            </a:r>
            <a:r>
              <a:rPr lang="en-US" dirty="0">
                <a:latin typeface="Calibri"/>
                <a:ea typeface="Calibri"/>
                <a:cs typeface="Arial"/>
              </a:rPr>
              <a:t>, so the next line(s) should be indented</a:t>
            </a:r>
          </a:p>
          <a:p>
            <a:pPr>
              <a:buFont typeface="Arial"/>
              <a:buChar char="•"/>
            </a:pPr>
            <a:r>
              <a:rPr lang="en-US" dirty="0">
                <a:latin typeface="Calibri"/>
                <a:ea typeface="Calibri"/>
                <a:cs typeface="Arial"/>
              </a:rPr>
              <a:t>Everything indented more  than the </a:t>
            </a:r>
            <a:r>
              <a:rPr lang="en-US" dirty="0">
                <a:latin typeface="Courier New"/>
                <a:ea typeface="Calibri"/>
                <a:cs typeface="Courier New"/>
              </a:rPr>
              <a:t>class</a:t>
            </a:r>
            <a:r>
              <a:rPr lang="en-US" sz="2400" dirty="0">
                <a:latin typeface="Courier New"/>
                <a:ea typeface="Calibri"/>
                <a:cs typeface="Courier New"/>
              </a:rPr>
              <a:t> </a:t>
            </a:r>
            <a:r>
              <a:rPr lang="en-US" dirty="0">
                <a:latin typeface="Calibri"/>
                <a:ea typeface="Calibri"/>
                <a:cs typeface="Arial"/>
              </a:rPr>
              <a:t>keyword is seen as part of the class definition</a:t>
            </a:r>
          </a:p>
          <a:p>
            <a:pPr lvl="1" indent="-342900">
              <a:buFont typeface="Arial"/>
              <a:buChar char="•"/>
            </a:pPr>
            <a:r>
              <a:rPr lang="en-US" dirty="0">
                <a:latin typeface="Calibri"/>
                <a:ea typeface="Calibri"/>
                <a:cs typeface="Arial"/>
              </a:rPr>
              <a:t>The class definition stops when the level of indentation is the same as that of the </a:t>
            </a:r>
            <a:r>
              <a:rPr lang="en-US" dirty="0">
                <a:latin typeface="Courier New"/>
                <a:ea typeface="Calibri"/>
                <a:cs typeface="Courier New"/>
              </a:rPr>
              <a:t>class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 </a:t>
            </a:r>
            <a:r>
              <a:rPr lang="en-US" dirty="0">
                <a:latin typeface="Calibri"/>
                <a:ea typeface="Calibri"/>
                <a:cs typeface="Arial"/>
              </a:rPr>
              <a:t>keyword</a:t>
            </a: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33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65203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>
                <a:cs typeface="Calibri Light"/>
              </a:rPr>
              <a:t>Object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1787717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ourier New"/>
                <a:ea typeface="Calibri"/>
                <a:cs typeface="Arial"/>
              </a:rPr>
              <a:t>class Rectangle:</a:t>
            </a:r>
            <a:br>
              <a:rPr lang="en-US" sz="2000" dirty="0">
                <a:latin typeface="Courier New"/>
                <a:ea typeface="Calibri"/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Arial"/>
              </a:rPr>
              <a:t>    def __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init</a:t>
            </a:r>
            <a:r>
              <a:rPr lang="en-US" sz="2000" dirty="0">
                <a:latin typeface="Courier New"/>
                <a:ea typeface="Calibri"/>
                <a:cs typeface="Arial"/>
              </a:rPr>
              <a:t>__(self, length, width=1):</a:t>
            </a:r>
            <a:br>
              <a:rPr lang="en-US" sz="2000" dirty="0">
                <a:latin typeface="Courier New"/>
                <a:ea typeface="Calibri"/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Arial"/>
              </a:rPr>
              <a:t>        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self.length</a:t>
            </a:r>
            <a:r>
              <a:rPr lang="en-US" sz="2000" dirty="0">
                <a:latin typeface="Courier New"/>
                <a:ea typeface="Calibri"/>
                <a:cs typeface="Arial"/>
              </a:rPr>
              <a:t> = length</a:t>
            </a:r>
            <a:br>
              <a:rPr lang="en-US" sz="2000" dirty="0">
                <a:latin typeface="Courier New"/>
                <a:ea typeface="Calibri"/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Arial"/>
              </a:rPr>
              <a:t>        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self.width</a:t>
            </a:r>
            <a:r>
              <a:rPr lang="en-US" sz="2000" dirty="0">
                <a:latin typeface="Courier New"/>
                <a:ea typeface="Calibri"/>
                <a:cs typeface="Arial"/>
              </a:rPr>
              <a:t> = width</a:t>
            </a:r>
            <a:br>
              <a:rPr lang="en-US" sz="2000" dirty="0">
                <a:latin typeface="Courier New"/>
                <a:ea typeface="Calibri"/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Arial"/>
              </a:rPr>
              <a:t>    def size(self, 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data_type</a:t>
            </a:r>
            <a:r>
              <a:rPr lang="en-US" sz="2000" dirty="0">
                <a:latin typeface="Courier New"/>
                <a:ea typeface="Calibri"/>
                <a:cs typeface="Arial"/>
              </a:rPr>
              <a:t>=int):</a:t>
            </a:r>
            <a:br>
              <a:rPr lang="en-US" sz="2000" dirty="0">
                <a:latin typeface="Courier New"/>
                <a:ea typeface="Calibri"/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Arial"/>
              </a:rPr>
              <a:t>        return 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f"The</a:t>
            </a:r>
            <a:r>
              <a:rPr lang="en-US" sz="2000" dirty="0">
                <a:latin typeface="Courier New"/>
                <a:ea typeface="Calibri"/>
                <a:cs typeface="Arial"/>
              </a:rPr>
              <a:t> size = {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data_type</a:t>
            </a:r>
            <a:r>
              <a:rPr lang="en-US" sz="2000" dirty="0">
                <a:latin typeface="Courier New"/>
                <a:ea typeface="Calibri"/>
                <a:cs typeface="Arial"/>
              </a:rPr>
              <a:t>(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self.length</a:t>
            </a:r>
            <a:r>
              <a:rPr lang="en-US" sz="2000" dirty="0">
                <a:latin typeface="Courier New"/>
                <a:ea typeface="Calibri"/>
                <a:cs typeface="Arial"/>
              </a:rPr>
              <a:t> * 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self.width</a:t>
            </a:r>
            <a:r>
              <a:rPr lang="en-US" sz="2000" dirty="0">
                <a:latin typeface="Courier New"/>
                <a:ea typeface="Calibri"/>
                <a:cs typeface="Arial"/>
              </a:rPr>
              <a:t>)}."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rectangle_1 = Rectangle(2,3)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rectangle_2 = Rectangle(3)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rectangle_3 = Rectangle(2,2)</a:t>
            </a:r>
          </a:p>
          <a:p>
            <a:pPr marL="0" indent="0">
              <a:buNone/>
            </a:pPr>
            <a:r>
              <a:rPr lang="en-US" sz="2000" dirty="0">
                <a:latin typeface="Courier New"/>
                <a:ea typeface="Calibri"/>
                <a:cs typeface="Arial"/>
              </a:rPr>
              <a:t>for object in [rectangle_1, rectangle_2, rectangle_3, Rectangle(4,4)]:</a:t>
            </a:r>
            <a:br>
              <a:rPr lang="en-US" sz="2000" dirty="0">
                <a:latin typeface="Courier New"/>
                <a:ea typeface="Calibri"/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Arial"/>
              </a:rPr>
              <a:t>    print(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object.size</a:t>
            </a:r>
            <a:r>
              <a:rPr lang="en-US" sz="2000" dirty="0">
                <a:latin typeface="Courier New"/>
                <a:ea typeface="Calibri"/>
                <a:cs typeface="Arial"/>
              </a:rPr>
              <a:t>())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34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22797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Object creation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dirty="0">
                <a:latin typeface="Courier New"/>
                <a:ea typeface="Calibri"/>
                <a:cs typeface="Courier New"/>
              </a:rPr>
              <a:t>rectangle_1 = Rectangle(2,3) </a:t>
            </a:r>
          </a:p>
          <a:p>
            <a:r>
              <a:rPr lang="en-US" dirty="0">
                <a:latin typeface="Calibri"/>
                <a:ea typeface="Calibri"/>
                <a:cs typeface="Courier New"/>
              </a:rPr>
              <a:t>Python will:</a:t>
            </a:r>
            <a:endParaRPr lang="en-US" dirty="0">
              <a:latin typeface="Calibri"/>
              <a:ea typeface="Calibri"/>
              <a:cs typeface="Arial"/>
            </a:endParaRPr>
          </a:p>
          <a:p>
            <a:pPr marL="800100" lvl="1" indent="-342900">
              <a:buAutoNum type="arabicPeriod"/>
            </a:pPr>
            <a:r>
              <a:rPr lang="en-US" dirty="0">
                <a:latin typeface="Calibri"/>
                <a:ea typeface="Calibri"/>
                <a:cs typeface="Arial"/>
              </a:rPr>
              <a:t>Create a new object (empty at this point)</a:t>
            </a:r>
          </a:p>
          <a:p>
            <a:pPr marL="800100" lvl="1" indent="-342900">
              <a:buAutoNum type="arabicPeriod"/>
            </a:pPr>
            <a:r>
              <a:rPr lang="en-US" dirty="0">
                <a:latin typeface="Calibri"/>
                <a:ea typeface="Calibri"/>
                <a:cs typeface="Arial"/>
              </a:rPr>
              <a:t>Pass that object and the arguments between the brackets, in this case 2 and 3, to the</a:t>
            </a:r>
            <a:r>
              <a:rPr lang="en-US" dirty="0">
                <a:latin typeface="Arial"/>
                <a:ea typeface="Calibri"/>
                <a:cs typeface="Arial"/>
              </a:rPr>
              <a:t> </a:t>
            </a:r>
            <a:r>
              <a:rPr lang="en-US" dirty="0">
                <a:latin typeface="Courier New"/>
                <a:ea typeface="Calibri"/>
                <a:cs typeface="Courier New"/>
              </a:rPr>
              <a:t>__</a:t>
            </a:r>
            <a:r>
              <a:rPr lang="en-US" dirty="0" err="1">
                <a:latin typeface="Courier New"/>
                <a:ea typeface="Calibri"/>
                <a:cs typeface="Courier New"/>
              </a:rPr>
              <a:t>init</a:t>
            </a:r>
            <a:r>
              <a:rPr lang="en-US" dirty="0">
                <a:latin typeface="Courier New"/>
                <a:ea typeface="Calibri"/>
                <a:cs typeface="Courier New"/>
              </a:rPr>
              <a:t>__ </a:t>
            </a:r>
            <a:r>
              <a:rPr lang="en-US" dirty="0">
                <a:latin typeface="Calibri"/>
                <a:ea typeface="Calibri"/>
                <a:cs typeface="Arial"/>
              </a:rPr>
              <a:t>method that is defined inside the class definition</a:t>
            </a:r>
            <a:endParaRPr lang="en-US" dirty="0">
              <a:latin typeface="Calibri"/>
              <a:ea typeface="Calibri"/>
              <a:cs typeface="Courier New"/>
            </a:endParaRPr>
          </a:p>
          <a:p>
            <a:pPr marL="1257300" lvl="2"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Arial"/>
              </a:rPr>
              <a:t>Python calls the </a:t>
            </a:r>
            <a:r>
              <a:rPr lang="en-US" sz="2400" dirty="0">
                <a:latin typeface="Courier New"/>
                <a:ea typeface="Calibri"/>
                <a:cs typeface="Courier New"/>
              </a:rPr>
              <a:t>__</a:t>
            </a:r>
            <a:r>
              <a:rPr lang="en-US" sz="2400" dirty="0" err="1">
                <a:latin typeface="Courier New"/>
                <a:ea typeface="Calibri"/>
                <a:cs typeface="Courier New"/>
              </a:rPr>
              <a:t>init</a:t>
            </a:r>
            <a:r>
              <a:rPr lang="en-US" sz="2400" dirty="0">
                <a:latin typeface="Courier New"/>
                <a:ea typeface="Calibri"/>
                <a:cs typeface="Courier New"/>
              </a:rPr>
              <a:t>__</a:t>
            </a:r>
            <a:r>
              <a:rPr lang="en-US" sz="2400" dirty="0">
                <a:latin typeface="Arial"/>
                <a:ea typeface="Calibri"/>
                <a:cs typeface="Arial"/>
              </a:rPr>
              <a:t> </a:t>
            </a:r>
            <a:r>
              <a:rPr lang="en-US" sz="2400" dirty="0">
                <a:latin typeface="Calibri"/>
                <a:ea typeface="Calibri"/>
                <a:cs typeface="Arial"/>
              </a:rPr>
              <a:t>method in the following way:</a:t>
            </a:r>
            <a:r>
              <a:rPr lang="en-US" sz="2400" dirty="0">
                <a:latin typeface="Arial"/>
                <a:ea typeface="Calibri"/>
                <a:cs typeface="Arial"/>
              </a:rPr>
              <a:t> </a:t>
            </a:r>
            <a:r>
              <a:rPr lang="en-US" sz="2400" dirty="0">
                <a:latin typeface="Courier New"/>
                <a:ea typeface="Calibri"/>
                <a:cs typeface="Courier New"/>
              </a:rPr>
              <a:t>__</a:t>
            </a:r>
            <a:r>
              <a:rPr lang="en-US" sz="2400" dirty="0" err="1">
                <a:latin typeface="Courier New"/>
                <a:ea typeface="Calibri"/>
                <a:cs typeface="Courier New"/>
              </a:rPr>
              <a:t>init</a:t>
            </a:r>
            <a:r>
              <a:rPr lang="en-US" sz="2400" dirty="0">
                <a:latin typeface="Courier New"/>
                <a:ea typeface="Calibri"/>
                <a:cs typeface="Courier New"/>
              </a:rPr>
              <a:t>__(rectangle_1, 2, 3)</a:t>
            </a:r>
            <a:endParaRPr lang="en-US" sz="2400" dirty="0">
              <a:latin typeface="Courier New"/>
              <a:cs typeface="Courier New"/>
            </a:endParaRPr>
          </a:p>
          <a:p>
            <a:pPr marL="800100" lvl="1" indent="-342900">
              <a:buAutoNum type="arabicPeriod"/>
            </a:pPr>
            <a:r>
              <a:rPr lang="en-US" dirty="0">
                <a:latin typeface="Calibri"/>
                <a:ea typeface="Calibri"/>
                <a:cs typeface="Arial"/>
              </a:rPr>
              <a:t>Assign the name</a:t>
            </a:r>
            <a:r>
              <a:rPr lang="en-US" dirty="0">
                <a:latin typeface="Arial"/>
                <a:ea typeface="Calibri"/>
                <a:cs typeface="Arial"/>
              </a:rPr>
              <a:t> </a:t>
            </a:r>
            <a:r>
              <a:rPr lang="en-US" dirty="0">
                <a:latin typeface="Courier New"/>
                <a:ea typeface="Calibri"/>
                <a:cs typeface="Courier New"/>
              </a:rPr>
              <a:t>rectangle_1 </a:t>
            </a:r>
            <a:r>
              <a:rPr lang="en-US" dirty="0">
                <a:latin typeface="Calibri"/>
                <a:ea typeface="Calibri"/>
                <a:cs typeface="Arial"/>
              </a:rPr>
              <a:t>to the new object</a:t>
            </a:r>
          </a:p>
          <a:p>
            <a:pPr>
              <a:buFont typeface="Arial"/>
              <a:buChar char="•"/>
            </a:pPr>
            <a:r>
              <a:rPr lang="en-US" dirty="0">
                <a:latin typeface="Calibri"/>
                <a:ea typeface="Calibri"/>
                <a:cs typeface="Arial"/>
              </a:rPr>
              <a:t>The creation of an object this way, is called the </a:t>
            </a:r>
            <a:r>
              <a:rPr lang="en-US" i="1" dirty="0">
                <a:latin typeface="Calibri"/>
                <a:ea typeface="Calibri"/>
                <a:cs typeface="Arial"/>
              </a:rPr>
              <a:t>instantiation </a:t>
            </a:r>
            <a:r>
              <a:rPr lang="en-US" dirty="0">
                <a:latin typeface="Calibri"/>
                <a:ea typeface="Calibri"/>
                <a:cs typeface="Arial"/>
              </a:rPr>
              <a:t>of the object</a:t>
            </a:r>
          </a:p>
          <a:p>
            <a:pPr>
              <a:buFont typeface="Arial"/>
              <a:buChar char="•"/>
            </a:pPr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35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630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>
                <a:cs typeface="Calibri Light"/>
              </a:rPr>
              <a:t>Class 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class </a:t>
            </a: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Rectangle</a:t>
            </a:r>
            <a:r>
              <a:rPr lang="en-US" sz="1800" dirty="0">
                <a:latin typeface="Courier New"/>
                <a:ea typeface="Calibri"/>
                <a:cs typeface="Arial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    def __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init</a:t>
            </a:r>
            <a:r>
              <a:rPr lang="en-US" sz="1800" dirty="0">
                <a:latin typeface="Courier New"/>
                <a:ea typeface="Calibri"/>
                <a:cs typeface="Arial"/>
              </a:rPr>
              <a:t>__(self, length, width=1):</a:t>
            </a:r>
            <a:br>
              <a:rPr lang="en-US" sz="1800" dirty="0">
                <a:latin typeface="Courier New"/>
                <a:ea typeface="Calibri"/>
                <a:cs typeface="Arial"/>
              </a:rPr>
            </a:br>
            <a:r>
              <a:rPr lang="en-US" sz="1800" dirty="0">
                <a:latin typeface="Courier New"/>
                <a:ea typeface="Calibri"/>
                <a:cs typeface="Arial"/>
              </a:rPr>
              <a:t>        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self.length</a:t>
            </a:r>
            <a:r>
              <a:rPr lang="en-US" sz="1800" dirty="0">
                <a:latin typeface="Courier New"/>
                <a:ea typeface="Calibri"/>
                <a:cs typeface="Arial"/>
              </a:rPr>
              <a:t> = length</a:t>
            </a:r>
            <a:br>
              <a:rPr lang="en-US" sz="1800" dirty="0">
                <a:latin typeface="Courier New"/>
                <a:ea typeface="Calibri"/>
                <a:cs typeface="Arial"/>
              </a:rPr>
            </a:br>
            <a:r>
              <a:rPr lang="en-US" sz="1800" dirty="0">
                <a:latin typeface="Courier New"/>
                <a:ea typeface="Calibri"/>
                <a:cs typeface="Arial"/>
              </a:rPr>
              <a:t>        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self.width</a:t>
            </a:r>
            <a:r>
              <a:rPr lang="en-US" sz="1800" dirty="0">
                <a:latin typeface="Courier New"/>
                <a:ea typeface="Calibri"/>
                <a:cs typeface="Arial"/>
              </a:rPr>
              <a:t> = width</a:t>
            </a:r>
            <a:br>
              <a:rPr lang="en-US" sz="1800" dirty="0">
                <a:latin typeface="Courier New"/>
                <a:ea typeface="Calibri"/>
                <a:cs typeface="Arial"/>
              </a:rPr>
            </a:br>
            <a:r>
              <a:rPr lang="en-US" sz="1800" dirty="0">
                <a:latin typeface="Courier New"/>
                <a:ea typeface="Calibri"/>
                <a:cs typeface="Arial"/>
              </a:rPr>
              <a:t>    def size(self, 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data_type</a:t>
            </a:r>
            <a:r>
              <a:rPr lang="en-US" sz="1800" dirty="0">
                <a:latin typeface="Courier New"/>
                <a:ea typeface="Calibri"/>
                <a:cs typeface="Arial"/>
              </a:rPr>
              <a:t>=int):</a:t>
            </a:r>
            <a:br>
              <a:rPr lang="en-US" sz="1800" dirty="0">
                <a:latin typeface="Courier New"/>
                <a:ea typeface="Calibri"/>
                <a:cs typeface="Arial"/>
              </a:rPr>
            </a:br>
            <a:r>
              <a:rPr lang="en-US" sz="1800" dirty="0">
                <a:latin typeface="Courier New"/>
                <a:ea typeface="Calibri"/>
                <a:cs typeface="Arial"/>
              </a:rPr>
              <a:t>        return 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f"The</a:t>
            </a:r>
            <a:r>
              <a:rPr lang="en-US" sz="1800" dirty="0">
                <a:latin typeface="Courier New"/>
                <a:ea typeface="Calibri"/>
                <a:cs typeface="Arial"/>
              </a:rPr>
              <a:t> size = {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data_type</a:t>
            </a:r>
            <a:r>
              <a:rPr lang="en-US" sz="1800" dirty="0">
                <a:latin typeface="Courier New"/>
                <a:ea typeface="Calibri"/>
                <a:cs typeface="Arial"/>
              </a:rPr>
              <a:t>(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self.length</a:t>
            </a:r>
            <a:r>
              <a:rPr lang="en-US" sz="1800" dirty="0">
                <a:latin typeface="Courier New"/>
                <a:ea typeface="Calibri"/>
                <a:cs typeface="Arial"/>
              </a:rPr>
              <a:t> * 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self.width</a:t>
            </a:r>
            <a:r>
              <a:rPr lang="en-US" sz="1800" dirty="0">
                <a:latin typeface="Courier New"/>
                <a:ea typeface="Calibri"/>
                <a:cs typeface="Arial"/>
              </a:rPr>
              <a:t>)}."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rectangle_1 = Rectangle(2,3)</a:t>
            </a:r>
            <a:br>
              <a:rPr lang="en-US" sz="1800" dirty="0">
                <a:latin typeface="Courier New"/>
                <a:ea typeface="Calibri"/>
                <a:cs typeface="Arial"/>
              </a:rPr>
            </a:br>
            <a:r>
              <a:rPr lang="en-US" sz="1800" dirty="0">
                <a:latin typeface="Courier New"/>
                <a:ea typeface="Calibri"/>
                <a:cs typeface="Arial"/>
              </a:rPr>
              <a:t>rectangle_2 = Rectangle(3)</a:t>
            </a:r>
            <a:br>
              <a:rPr lang="en-US" sz="1800" dirty="0">
                <a:latin typeface="Courier New"/>
                <a:ea typeface="Calibri"/>
                <a:cs typeface="Arial"/>
              </a:rPr>
            </a:br>
            <a:r>
              <a:rPr lang="en-US" sz="1800" dirty="0">
                <a:latin typeface="Courier New"/>
                <a:ea typeface="Calibri"/>
                <a:cs typeface="Arial"/>
              </a:rPr>
              <a:t>rectangle_3 = Rectangle(2,2)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for object in [rectangle_1, rectangle_2, rectangle_3, Rectangle(4,4)]:</a:t>
            </a:r>
            <a:br>
              <a:rPr lang="en-US" sz="1800" dirty="0">
                <a:latin typeface="Courier New"/>
                <a:ea typeface="Calibri"/>
                <a:cs typeface="Arial"/>
              </a:rPr>
            </a:br>
            <a:r>
              <a:rPr lang="en-US" sz="1800" dirty="0">
                <a:latin typeface="Courier New"/>
                <a:ea typeface="Calibri"/>
                <a:cs typeface="Arial"/>
              </a:rPr>
              <a:t>    print(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object.size</a:t>
            </a:r>
            <a:r>
              <a:rPr lang="en-US" sz="1800" dirty="0">
                <a:latin typeface="Courier New"/>
                <a:ea typeface="Calibri"/>
                <a:cs typeface="Arial"/>
              </a:rPr>
              <a:t>())</a:t>
            </a:r>
          </a:p>
          <a:p>
            <a:pPr>
              <a:buFont typeface="Arial,Sans-Serif"/>
              <a:buChar char="•"/>
            </a:pPr>
            <a:r>
              <a:rPr lang="en-US" sz="2400" dirty="0">
                <a:latin typeface="Calibri"/>
                <a:ea typeface="Calibri"/>
                <a:cs typeface="Arial"/>
              </a:rPr>
              <a:t>It is a convention to start class names with a capital letter</a:t>
            </a:r>
          </a:p>
          <a:p>
            <a:pPr lvl="1" indent="-342900">
              <a:buFont typeface="Arial,Sans-Serif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Convention means: Python doesn't care, but people do</a:t>
            </a:r>
          </a:p>
          <a:p>
            <a:pPr marL="0" indent="0">
              <a:buNone/>
            </a:pPr>
            <a:b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</a:br>
            <a:endParaRPr lang="en-US" sz="2000" dirty="0">
              <a:latin typeface="Arial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36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71459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>
                <a:cs typeface="Calibri Light"/>
              </a:rPr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class Rectangle: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    </a:t>
            </a: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def __</a:t>
            </a:r>
            <a:r>
              <a:rPr lang="en-US" sz="18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init</a:t>
            </a: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__(self, length, width=1):</a:t>
            </a:r>
            <a:b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</a:b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       </a:t>
            </a:r>
            <a:r>
              <a:rPr lang="en-US" sz="18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self.length</a:t>
            </a: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= length</a:t>
            </a:r>
            <a:b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</a:b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       </a:t>
            </a:r>
            <a:r>
              <a:rPr lang="en-US" sz="18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self.width</a:t>
            </a: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= width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   def size(self):</a:t>
            </a:r>
            <a:b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</a:b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       return </a:t>
            </a:r>
            <a:r>
              <a:rPr lang="en-US" sz="18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f"The</a:t>
            </a: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size = {</a:t>
            </a:r>
            <a:r>
              <a:rPr lang="en-US" sz="18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self.length</a:t>
            </a: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* </a:t>
            </a:r>
            <a:r>
              <a:rPr lang="en-US" sz="18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self.width</a:t>
            </a: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}."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rectangle_1 = Rectangle(2,3)</a:t>
            </a:r>
            <a:br>
              <a:rPr lang="en-US" sz="1800" dirty="0">
                <a:latin typeface="Courier New"/>
                <a:ea typeface="Calibri"/>
                <a:cs typeface="Arial"/>
              </a:rPr>
            </a:br>
            <a:r>
              <a:rPr lang="en-US" sz="1800" dirty="0">
                <a:latin typeface="Courier New"/>
                <a:ea typeface="Calibri"/>
                <a:cs typeface="Arial"/>
              </a:rPr>
              <a:t>rectangle_2 = Rectangle(3)</a:t>
            </a:r>
            <a:br>
              <a:rPr lang="en-US" sz="1800" dirty="0">
                <a:latin typeface="Courier New"/>
                <a:ea typeface="Calibri"/>
                <a:cs typeface="Arial"/>
              </a:rPr>
            </a:br>
            <a:r>
              <a:rPr lang="en-US" sz="1800" dirty="0">
                <a:latin typeface="Courier New"/>
                <a:ea typeface="Calibri"/>
                <a:cs typeface="Arial"/>
              </a:rPr>
              <a:t>rectangle_3 = Rectangle(2,2)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for object in [rectangle_1, rectangle_2, rectangle_3, Rectangle(4,4)]:</a:t>
            </a:r>
            <a:br>
              <a:rPr lang="en-US" sz="1800" dirty="0">
                <a:latin typeface="Courier New"/>
                <a:ea typeface="Calibri"/>
                <a:cs typeface="Arial"/>
              </a:rPr>
            </a:br>
            <a:r>
              <a:rPr lang="en-US" sz="1800" dirty="0">
                <a:latin typeface="Courier New"/>
                <a:ea typeface="Calibri"/>
                <a:cs typeface="Arial"/>
              </a:rPr>
              <a:t>    print(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object.size</a:t>
            </a:r>
            <a:r>
              <a:rPr lang="en-US" sz="1800" dirty="0">
                <a:latin typeface="Courier New"/>
                <a:ea typeface="Calibri"/>
                <a:cs typeface="Arial"/>
              </a:rPr>
              <a:t>())</a:t>
            </a:r>
          </a:p>
          <a:p>
            <a:pPr marL="0" indent="0">
              <a:buNone/>
            </a:pPr>
            <a:endParaRPr lang="en-US" sz="1800" dirty="0">
              <a:highlight>
                <a:srgbClr val="C0C0C0"/>
              </a:highlight>
              <a:latin typeface="Courier New"/>
              <a:ea typeface="Calibri"/>
              <a:cs typeface="Arial"/>
            </a:endParaRPr>
          </a:p>
          <a:p>
            <a:pPr marL="0" indent="0">
              <a:buNone/>
            </a:pPr>
            <a:b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</a:br>
            <a:endParaRPr lang="en-US" sz="2000" dirty="0">
              <a:latin typeface="Arial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37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87087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400" dirty="0">
                <a:ea typeface="Calibri"/>
                <a:cs typeface="Arial"/>
              </a:rPr>
              <a:t>Definitions of functions and methods look the same</a:t>
            </a:r>
          </a:p>
          <a:p>
            <a:pPr>
              <a:buFont typeface="Arial"/>
              <a:buChar char="•"/>
            </a:pPr>
            <a:r>
              <a:rPr lang="en-US" sz="2400" dirty="0">
                <a:ea typeface="Calibri"/>
                <a:cs typeface="Arial"/>
              </a:rPr>
              <a:t>The difference is that a method always expects </a:t>
            </a:r>
            <a:r>
              <a:rPr lang="en-US" sz="2400" dirty="0">
                <a:ea typeface="Calibri"/>
                <a:cs typeface="Calibri"/>
              </a:rPr>
              <a:t>an object </a:t>
            </a:r>
            <a:r>
              <a:rPr lang="en-US" sz="2400" dirty="0">
                <a:ea typeface="Calibri"/>
                <a:cs typeface="Arial"/>
              </a:rPr>
              <a:t>as the first argument</a:t>
            </a:r>
            <a:endParaRPr lang="en-US" dirty="0">
              <a:ea typeface="Calibri"/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en-US" sz="2400" dirty="0">
                <a:ea typeface="Calibri"/>
                <a:cs typeface="Arial"/>
              </a:rPr>
              <a:t>The object itself is passed to the method via the dot operator:</a:t>
            </a:r>
            <a:endParaRPr lang="en-US" dirty="0">
              <a:ea typeface="Calibri"/>
              <a:cs typeface="Calibri"/>
            </a:endParaRPr>
          </a:p>
          <a:p>
            <a:pPr lvl="1" indent="-342900">
              <a:buFont typeface="Arial"/>
              <a:buChar char="•"/>
            </a:pPr>
            <a:r>
              <a:rPr lang="en-US" sz="2000" dirty="0">
                <a:ea typeface="Calibri"/>
                <a:cs typeface="Arial"/>
              </a:rPr>
              <a:t>The method call</a:t>
            </a:r>
            <a:r>
              <a:rPr lang="en-US" sz="2000" dirty="0">
                <a:latin typeface="Courier New"/>
                <a:ea typeface="Calibri"/>
                <a:cs typeface="Arial"/>
              </a:rPr>
              <a:t>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rectangle_1.size(float)</a:t>
            </a:r>
            <a:r>
              <a:rPr lang="en-US" sz="2000" dirty="0">
                <a:ea typeface="Calibri"/>
                <a:cs typeface="Arial"/>
              </a:rPr>
              <a:t> passes the object with the name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rectangle_1 </a:t>
            </a:r>
            <a:r>
              <a:rPr lang="en-US" sz="2000" dirty="0">
                <a:ea typeface="Calibri"/>
                <a:cs typeface="Arial"/>
              </a:rPr>
              <a:t>to the method as the first argument, 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float </a:t>
            </a:r>
            <a:r>
              <a:rPr lang="en-US" sz="2000" dirty="0">
                <a:ea typeface="Calibri"/>
                <a:cs typeface="Arial"/>
              </a:rPr>
              <a:t>is the second argument</a:t>
            </a:r>
          </a:p>
          <a:p>
            <a:pPr>
              <a:buFont typeface="Arial"/>
              <a:buChar char="•"/>
            </a:pPr>
            <a:r>
              <a:rPr lang="en-US" sz="2400" dirty="0">
                <a:ea typeface="Calibri"/>
                <a:cs typeface="Arial"/>
              </a:rPr>
              <a:t>By convention, the corresponding parameter is called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self</a:t>
            </a: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You call these methods with the help of round brackets, pass the object via the dot operator, and pass other arguments between the brackets</a:t>
            </a:r>
            <a:endParaRPr lang="en-US" sz="2400" dirty="0">
              <a:latin typeface="Courier New"/>
              <a:ea typeface="Calibri"/>
              <a:cs typeface="Courier New"/>
            </a:endParaRP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print(rectangle_1.size()) # Onscreen: 6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print(rectangle_2.size()) # Onscreen: This rectangle is 3 by 1</a:t>
            </a: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You have two type of methods:</a:t>
            </a:r>
          </a:p>
          <a:p>
            <a:pPr lvl="1"/>
            <a:r>
              <a:rPr lang="en-US" sz="2000" dirty="0">
                <a:ea typeface="Calibri"/>
                <a:cs typeface="Arial"/>
              </a:rPr>
              <a:t>Methods you call directly like 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size()</a:t>
            </a:r>
          </a:p>
          <a:p>
            <a:pPr lvl="1"/>
            <a:r>
              <a:rPr lang="en-US" sz="2000" dirty="0">
                <a:ea typeface="Calibri"/>
                <a:cs typeface="Arial"/>
              </a:rPr>
              <a:t>Methods that you call indirectly like 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init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 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endParaRPr lang="en-US" sz="2000" dirty="0">
              <a:latin typeface="Courier New"/>
              <a:cs typeface="Courier New"/>
            </a:endParaRPr>
          </a:p>
          <a:p>
            <a:pPr>
              <a:buFont typeface="Arial"/>
              <a:buChar char="•"/>
            </a:pPr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38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064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>
                <a:latin typeface="Calibri Light"/>
                <a:cs typeface="Arial"/>
              </a:rPr>
              <a:t>__</a:t>
            </a:r>
            <a:r>
              <a:rPr lang="en-US" dirty="0" err="1">
                <a:latin typeface="Calibri Light"/>
                <a:cs typeface="Arial"/>
              </a:rPr>
              <a:t>init</a:t>
            </a:r>
            <a:r>
              <a:rPr lang="en-US" dirty="0">
                <a:latin typeface="Calibri Light"/>
                <a:cs typeface="Arial"/>
              </a:rPr>
              <a:t>__</a:t>
            </a:r>
            <a:r>
              <a:rPr lang="en-US" dirty="0">
                <a:cs typeface="Arial"/>
              </a:rPr>
              <a:t> </a:t>
            </a:r>
            <a:r>
              <a:rPr lang="en-US" dirty="0">
                <a:cs typeface="Calibri Light"/>
              </a:rPr>
              <a:t>method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ourier New"/>
                <a:ea typeface="Calibri"/>
                <a:cs typeface="Arial"/>
              </a:rPr>
              <a:t>class Rectangle:</a:t>
            </a:r>
          </a:p>
          <a:p>
            <a:pPr marL="0" indent="0">
              <a:buNone/>
            </a:pPr>
            <a:r>
              <a:rPr lang="en-US" sz="2000" dirty="0">
                <a:latin typeface="Courier New"/>
                <a:ea typeface="Calibri"/>
                <a:cs typeface="Arial"/>
              </a:rPr>
              <a:t>    </a:t>
            </a: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def __</a:t>
            </a:r>
            <a:r>
              <a:rPr lang="en-US" sz="20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init</a:t>
            </a: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__(self, length, width=1):</a:t>
            </a:r>
            <a:b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</a:b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       </a:t>
            </a:r>
            <a:r>
              <a:rPr lang="en-US" sz="20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self.length</a:t>
            </a: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= length</a:t>
            </a:r>
            <a:b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</a:b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       </a:t>
            </a:r>
            <a:r>
              <a:rPr lang="en-US" sz="20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self.width</a:t>
            </a: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= width</a:t>
            </a:r>
            <a:b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Arial"/>
              </a:rPr>
              <a:t>    def size(self, 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data_type</a:t>
            </a:r>
            <a:r>
              <a:rPr lang="en-US" sz="2000" dirty="0">
                <a:latin typeface="Courier New"/>
                <a:ea typeface="Calibri"/>
                <a:cs typeface="Arial"/>
              </a:rPr>
              <a:t>=int):</a:t>
            </a:r>
            <a:br>
              <a:rPr lang="en-US" sz="2000" dirty="0">
                <a:latin typeface="Courier New"/>
                <a:ea typeface="Calibri"/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Arial"/>
              </a:rPr>
              <a:t>        return 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f"The</a:t>
            </a:r>
            <a:r>
              <a:rPr lang="en-US" sz="2000" dirty="0">
                <a:latin typeface="Courier New"/>
                <a:ea typeface="Calibri"/>
                <a:cs typeface="Arial"/>
              </a:rPr>
              <a:t> size = {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data_type</a:t>
            </a:r>
            <a:r>
              <a:rPr lang="en-US" sz="2000" dirty="0">
                <a:latin typeface="Courier New"/>
                <a:ea typeface="Calibri"/>
                <a:cs typeface="Arial"/>
              </a:rPr>
              <a:t>(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self.length</a:t>
            </a:r>
            <a:r>
              <a:rPr lang="en-US" sz="2000" dirty="0">
                <a:latin typeface="Courier New"/>
                <a:ea typeface="Calibri"/>
                <a:cs typeface="Arial"/>
              </a:rPr>
              <a:t> * 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self.width</a:t>
            </a:r>
            <a:r>
              <a:rPr lang="en-US" sz="2000" dirty="0">
                <a:latin typeface="Courier New"/>
                <a:ea typeface="Calibri"/>
                <a:cs typeface="Arial"/>
              </a:rPr>
              <a:t>)}."</a:t>
            </a:r>
          </a:p>
          <a:p>
            <a:pPr marL="0" indent="0">
              <a:buNone/>
            </a:pPr>
            <a:r>
              <a:rPr lang="en-US" sz="2000" dirty="0">
                <a:latin typeface="Courier New"/>
                <a:ea typeface="Calibri"/>
                <a:cs typeface="Arial"/>
              </a:rPr>
              <a:t>rectangle_1 = Rectangle(2,3)</a:t>
            </a:r>
            <a:br>
              <a:rPr lang="en-US" sz="2000" dirty="0">
                <a:latin typeface="Courier New"/>
                <a:ea typeface="Calibri"/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Arial"/>
              </a:rPr>
              <a:t>rectangle_2 = Rectangle(3)</a:t>
            </a:r>
            <a:br>
              <a:rPr lang="en-US" sz="2000" dirty="0">
                <a:latin typeface="Courier New"/>
                <a:ea typeface="Calibri"/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Arial"/>
              </a:rPr>
              <a:t>rectangle_3 = Rectangle(2,2)</a:t>
            </a:r>
          </a:p>
          <a:p>
            <a:pPr marL="0" indent="0">
              <a:buNone/>
            </a:pPr>
            <a:r>
              <a:rPr lang="en-US" sz="2000" dirty="0">
                <a:latin typeface="Courier New"/>
                <a:ea typeface="Calibri"/>
                <a:cs typeface="Arial"/>
              </a:rPr>
              <a:t>for object in [rectangle_1, rectangle_2, rectangle_3, Rectangle(4,4)]:</a:t>
            </a:r>
            <a:br>
              <a:rPr lang="en-US" sz="2000" dirty="0">
                <a:latin typeface="Courier New"/>
                <a:ea typeface="Calibri"/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Arial"/>
              </a:rPr>
              <a:t>    print(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object.size</a:t>
            </a:r>
            <a:r>
              <a:rPr lang="en-US" sz="2000" dirty="0">
                <a:latin typeface="Courier New"/>
                <a:ea typeface="Calibri"/>
                <a:cs typeface="Arial"/>
              </a:rPr>
              <a:t>())</a:t>
            </a:r>
          </a:p>
          <a:p>
            <a:pPr marL="0" indent="0">
              <a:buNone/>
            </a:pPr>
            <a:b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</a:br>
            <a:endParaRPr lang="en-US" sz="2000" dirty="0">
              <a:latin typeface="Arial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39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582951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833098" cy="1325563"/>
          </a:xfrm>
        </p:spPr>
        <p:txBody>
          <a:bodyPr/>
          <a:lstStyle/>
          <a:p>
            <a:r>
              <a:rPr lang="en-US" dirty="0"/>
              <a:t>__</a:t>
            </a:r>
            <a:r>
              <a:rPr lang="en-US" dirty="0" err="1"/>
              <a:t>init</a:t>
            </a:r>
            <a:r>
              <a:rPr lang="en-US" dirty="0"/>
              <a:t>__ method </a:t>
            </a:r>
            <a:r>
              <a:rPr lang="en-US" dirty="0">
                <a:cs typeface="Calibri Light"/>
              </a:rPr>
              <a:t>(a </a:t>
            </a:r>
            <a:r>
              <a:rPr lang="en-US" dirty="0" err="1">
                <a:cs typeface="Calibri Light"/>
              </a:rPr>
              <a:t>dunder</a:t>
            </a:r>
            <a:r>
              <a:rPr lang="en-US" dirty="0">
                <a:cs typeface="Calibri Light"/>
              </a:rPr>
              <a:t> method)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The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init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</a:t>
            </a:r>
            <a:r>
              <a:rPr lang="en-US" sz="2000" dirty="0">
                <a:latin typeface="Arial"/>
                <a:ea typeface="Calibri"/>
                <a:cs typeface="Arial"/>
              </a:rPr>
              <a:t> </a:t>
            </a:r>
            <a:r>
              <a:rPr lang="en-US" sz="2000" dirty="0">
                <a:latin typeface="Calibri"/>
                <a:ea typeface="Calibri"/>
                <a:cs typeface="Arial"/>
              </a:rPr>
              <a:t>method is called automatically by Python after Python creates an object</a:t>
            </a:r>
          </a:p>
          <a:p>
            <a:pPr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The object itself and the arguments are passed to the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init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 </a:t>
            </a:r>
            <a:r>
              <a:rPr lang="en-US" sz="2000" dirty="0">
                <a:latin typeface="Calibri"/>
                <a:ea typeface="Calibri"/>
                <a:cs typeface="Arial"/>
              </a:rPr>
              <a:t>method</a:t>
            </a:r>
          </a:p>
          <a:p>
            <a:pPr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Python calls the</a:t>
            </a:r>
            <a:r>
              <a:rPr lang="en-US" sz="2000" dirty="0">
                <a:latin typeface="Arial"/>
                <a:ea typeface="Calibri"/>
                <a:cs typeface="Arial"/>
              </a:rPr>
              <a:t>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init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 </a:t>
            </a:r>
            <a:r>
              <a:rPr lang="en-US" sz="2000" dirty="0">
                <a:latin typeface="Calibri"/>
                <a:ea typeface="Calibri"/>
                <a:cs typeface="Arial"/>
              </a:rPr>
              <a:t>method for you, so the name should be exactly</a:t>
            </a:r>
            <a:r>
              <a:rPr lang="en-US" sz="2000" dirty="0">
                <a:latin typeface="Arial"/>
                <a:ea typeface="Calibri"/>
                <a:cs typeface="Arial"/>
              </a:rPr>
              <a:t>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init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</a:t>
            </a:r>
          </a:p>
          <a:p>
            <a:pPr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The first thing you should do is storing the passed arguments into the objects itself, if the information is to be used outside the 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init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 </a:t>
            </a:r>
            <a:r>
              <a:rPr lang="en-US" sz="2000" dirty="0">
                <a:ea typeface="Calibri"/>
                <a:cs typeface="Arial"/>
              </a:rPr>
              <a:t>method. Otherwise, the information is only available during the   execution of the 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init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 </a:t>
            </a:r>
            <a:r>
              <a:rPr lang="en-US" sz="2000" dirty="0">
                <a:ea typeface="Calibri"/>
                <a:cs typeface="Arial"/>
              </a:rPr>
              <a:t>method </a:t>
            </a:r>
          </a:p>
          <a:p>
            <a:pPr lvl="1">
              <a:buFont typeface="Arial"/>
              <a:buChar char="•"/>
            </a:pPr>
            <a:r>
              <a:rPr lang="en-US" sz="20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self.length</a:t>
            </a: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Courier New"/>
              </a:rPr>
              <a:t> = length</a:t>
            </a:r>
          </a:p>
          <a:p>
            <a:pPr lvl="1">
              <a:buFont typeface="Arial"/>
              <a:buChar char="•"/>
            </a:pPr>
            <a:r>
              <a:rPr lang="en-US" sz="20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self.width</a:t>
            </a:r>
            <a: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 = width</a:t>
            </a:r>
          </a:p>
          <a:p>
            <a:pPr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The</a:t>
            </a:r>
            <a:r>
              <a:rPr lang="en-US" sz="2000" dirty="0">
                <a:latin typeface="Arial"/>
                <a:ea typeface="Calibri"/>
                <a:cs typeface="Arial"/>
              </a:rPr>
              <a:t>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init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 </a:t>
            </a:r>
            <a:r>
              <a:rPr lang="en-US" sz="2000" dirty="0">
                <a:latin typeface="Calibri"/>
                <a:ea typeface="Calibri"/>
                <a:cs typeface="Arial"/>
              </a:rPr>
              <a:t>method can have a return statement, but that is only allowed to return </a:t>
            </a:r>
            <a:r>
              <a:rPr lang="en-US" sz="2000" dirty="0">
                <a:latin typeface="Courier New"/>
                <a:ea typeface="Calibri"/>
                <a:cs typeface="Arial"/>
              </a:rPr>
              <a:t>None</a:t>
            </a:r>
            <a:endParaRPr lang="en-US" sz="2000" dirty="0">
              <a:latin typeface="Calibri"/>
              <a:ea typeface="Calibri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2000" dirty="0">
                <a:ea typeface="Calibri"/>
                <a:cs typeface="Arial"/>
              </a:rPr>
              <a:t>The</a:t>
            </a:r>
            <a:r>
              <a:rPr lang="en-US" sz="2000" dirty="0">
                <a:latin typeface="Arial"/>
                <a:ea typeface="Calibri"/>
                <a:cs typeface="Arial"/>
              </a:rPr>
              <a:t>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init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 </a:t>
            </a:r>
            <a:r>
              <a:rPr lang="en-US" sz="2000" dirty="0">
                <a:ea typeface="Calibri"/>
                <a:cs typeface="Arial"/>
              </a:rPr>
              <a:t>method is a so-called </a:t>
            </a:r>
            <a:r>
              <a:rPr lang="en-US" sz="2000" dirty="0" err="1">
                <a:ea typeface="Calibri"/>
                <a:cs typeface="Arial"/>
              </a:rPr>
              <a:t>dunder</a:t>
            </a:r>
            <a:r>
              <a:rPr lang="en-US" sz="2000" dirty="0">
                <a:ea typeface="Calibri"/>
                <a:cs typeface="Arial"/>
              </a:rPr>
              <a:t> method. </a:t>
            </a:r>
            <a:r>
              <a:rPr lang="en-US" sz="2000" dirty="0" err="1">
                <a:ea typeface="Calibri"/>
                <a:cs typeface="Arial"/>
              </a:rPr>
              <a:t>Dunder</a:t>
            </a:r>
            <a:r>
              <a:rPr lang="en-US" sz="2000" dirty="0">
                <a:ea typeface="Calibri"/>
                <a:cs typeface="Arial"/>
              </a:rPr>
              <a:t> means </a:t>
            </a:r>
            <a:r>
              <a:rPr lang="en-US" sz="2000" b="1" dirty="0">
                <a:ea typeface="Calibri"/>
                <a:cs typeface="Arial"/>
              </a:rPr>
              <a:t>d</a:t>
            </a:r>
            <a:r>
              <a:rPr lang="en-US" sz="2000" dirty="0">
                <a:ea typeface="Calibri"/>
                <a:cs typeface="Arial"/>
              </a:rPr>
              <a:t>ouble </a:t>
            </a:r>
            <a:r>
              <a:rPr lang="en-US" sz="2000" b="1" dirty="0">
                <a:ea typeface="Calibri"/>
                <a:cs typeface="Arial"/>
              </a:rPr>
              <a:t>under</a:t>
            </a:r>
            <a:r>
              <a:rPr lang="en-US" sz="2000" dirty="0">
                <a:ea typeface="Calibri"/>
                <a:cs typeface="Arial"/>
              </a:rPr>
              <a:t>score. </a:t>
            </a:r>
            <a:r>
              <a:rPr lang="en-US" sz="2000" dirty="0" err="1">
                <a:ea typeface="Calibri"/>
                <a:cs typeface="Arial"/>
              </a:rPr>
              <a:t>Dunder</a:t>
            </a:r>
            <a:r>
              <a:rPr lang="en-US" sz="2000" dirty="0">
                <a:ea typeface="Calibri"/>
                <a:cs typeface="Arial"/>
              </a:rPr>
              <a:t> methods are automatically called by Python. For example, 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__add__ </a:t>
            </a:r>
            <a:r>
              <a:rPr lang="en-US" sz="2000" dirty="0">
                <a:ea typeface="Calibri"/>
                <a:cs typeface="Arial"/>
              </a:rPr>
              <a:t>is automatically called when you use the plus operator. As the 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__add__ </a:t>
            </a:r>
            <a:r>
              <a:rPr lang="en-US" sz="2000" dirty="0" err="1">
                <a:ea typeface="Calibri"/>
                <a:cs typeface="Arial"/>
              </a:rPr>
              <a:t>dunder</a:t>
            </a:r>
            <a:r>
              <a:rPr lang="en-US" sz="2000" dirty="0">
                <a:ea typeface="Calibri"/>
                <a:cs typeface="Arial"/>
              </a:rPr>
              <a:t> method can be defined for several classes, it can have a different working depending on the context. This is the so-called operator overloading</a:t>
            </a:r>
          </a:p>
          <a:p>
            <a:pPr>
              <a:buFont typeface="Arial"/>
              <a:buChar char="•"/>
            </a:pPr>
            <a:r>
              <a:rPr lang="en-US" sz="2000" dirty="0" err="1">
                <a:ea typeface="Calibri"/>
                <a:cs typeface="Arial"/>
              </a:rPr>
              <a:t>Dunder</a:t>
            </a:r>
            <a:r>
              <a:rPr lang="en-US" sz="2000" dirty="0">
                <a:ea typeface="Calibri"/>
                <a:cs typeface="Arial"/>
              </a:rPr>
              <a:t> methods are in general not directly called by you but are automatically called by Python. However, it is often possible to call them directly. The </a:t>
            </a:r>
            <a:r>
              <a:rPr lang="en-US" sz="2000" dirty="0" err="1">
                <a:ea typeface="Calibri"/>
                <a:cs typeface="Arial"/>
              </a:rPr>
              <a:t>dunder</a:t>
            </a:r>
            <a:r>
              <a:rPr lang="en-US" sz="2000" dirty="0">
                <a:ea typeface="Calibri"/>
                <a:cs typeface="Arial"/>
              </a:rPr>
              <a:t> method __add__ is the method automatically called when Python processes the + operator, can also be called directly</a:t>
            </a:r>
            <a:br>
              <a:rPr lang="en-US" sz="2000" dirty="0">
                <a:ea typeface="Calibri"/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print([1,2,3].__add__([4,5]))	# On screen: [1, 2, 3, 4, 5]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40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8196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>
                <a:latin typeface="Calibri Light"/>
                <a:cs typeface="Arial"/>
              </a:rPr>
              <a:t>Class attributes 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53" y="1158876"/>
            <a:ext cx="12129247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class Rectangle: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    </a:t>
            </a:r>
            <a:r>
              <a:rPr lang="en-US" sz="18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total_size</a:t>
            </a: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= 0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    def __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init</a:t>
            </a:r>
            <a:r>
              <a:rPr lang="en-US" sz="1800" dirty="0">
                <a:latin typeface="Courier New"/>
                <a:ea typeface="Calibri"/>
                <a:cs typeface="Arial"/>
              </a:rPr>
              <a:t>__(self, length, width=1):</a:t>
            </a:r>
            <a:br>
              <a:rPr lang="en-US" sz="1800" dirty="0">
                <a:latin typeface="Courier New"/>
                <a:ea typeface="Calibri"/>
                <a:cs typeface="Arial"/>
              </a:rPr>
            </a:br>
            <a:r>
              <a:rPr lang="en-US" sz="1800" dirty="0">
                <a:latin typeface="Courier New"/>
                <a:ea typeface="Calibri"/>
                <a:cs typeface="Arial"/>
              </a:rPr>
              <a:t>        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self.length</a:t>
            </a:r>
            <a:r>
              <a:rPr lang="en-US" sz="1800" dirty="0">
                <a:latin typeface="Courier New"/>
                <a:ea typeface="Calibri"/>
                <a:cs typeface="Arial"/>
              </a:rPr>
              <a:t> = length</a:t>
            </a:r>
            <a:br>
              <a:rPr lang="en-US" sz="1800" dirty="0">
                <a:latin typeface="Courier New"/>
                <a:ea typeface="Calibri"/>
                <a:cs typeface="Arial"/>
              </a:rPr>
            </a:br>
            <a:r>
              <a:rPr lang="en-US" sz="1800" dirty="0">
                <a:latin typeface="Courier New"/>
                <a:ea typeface="Calibri"/>
                <a:cs typeface="Arial"/>
              </a:rPr>
              <a:t>        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self.width</a:t>
            </a:r>
            <a:r>
              <a:rPr lang="en-US" sz="1800" dirty="0">
                <a:latin typeface="Courier New"/>
                <a:ea typeface="Calibri"/>
                <a:cs typeface="Arial"/>
              </a:rPr>
              <a:t> = width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        </a:t>
            </a:r>
            <a:r>
              <a:rPr lang="en-US" sz="18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Rectangle.total_size</a:t>
            </a: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+= </a:t>
            </a:r>
            <a:r>
              <a:rPr lang="en-US" sz="18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self.length</a:t>
            </a: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* </a:t>
            </a:r>
            <a:r>
              <a:rPr lang="en-US" sz="18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self.width</a:t>
            </a:r>
            <a:endParaRPr lang="en-US" sz="1800" dirty="0">
              <a:highlight>
                <a:srgbClr val="C0C0C0"/>
              </a:highlight>
              <a:latin typeface="Courier New"/>
              <a:ea typeface="Calibri"/>
              <a:cs typeface="Arial"/>
            </a:endParaRP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        print(f'{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self.length</a:t>
            </a:r>
            <a:r>
              <a:rPr lang="en-US" sz="1800" dirty="0">
                <a:latin typeface="Courier New"/>
                <a:ea typeface="Calibri"/>
                <a:cs typeface="Arial"/>
              </a:rPr>
              <a:t>} by {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self.width</a:t>
            </a:r>
            <a:r>
              <a:rPr lang="en-US" sz="1800" dirty="0">
                <a:latin typeface="Courier New"/>
                <a:ea typeface="Calibri"/>
                <a:cs typeface="Arial"/>
              </a:rPr>
              <a:t>} created, </a:t>
            </a: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{</a:t>
            </a:r>
            <a:r>
              <a:rPr lang="en-US" sz="18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Rectangle.total_size</a:t>
            </a: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= }</a:t>
            </a:r>
            <a:r>
              <a:rPr lang="en-US" sz="1800" dirty="0">
                <a:latin typeface="Courier New"/>
                <a:ea typeface="Calibri"/>
                <a:cs typeface="Arial"/>
              </a:rPr>
              <a:t>')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    def size(self, 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data_type</a:t>
            </a:r>
            <a:r>
              <a:rPr lang="en-US" sz="1800" dirty="0">
                <a:latin typeface="Courier New"/>
                <a:ea typeface="Calibri"/>
                <a:cs typeface="Arial"/>
              </a:rPr>
              <a:t>=int):</a:t>
            </a:r>
            <a:br>
              <a:rPr lang="en-US" sz="1800" dirty="0">
                <a:latin typeface="Courier New"/>
                <a:ea typeface="Calibri"/>
                <a:cs typeface="Arial"/>
              </a:rPr>
            </a:br>
            <a:r>
              <a:rPr lang="en-US" sz="1800" dirty="0">
                <a:latin typeface="Courier New"/>
                <a:ea typeface="Calibri"/>
                <a:cs typeface="Arial"/>
              </a:rPr>
              <a:t>        return 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f"The</a:t>
            </a:r>
            <a:r>
              <a:rPr lang="en-US" sz="1800" dirty="0">
                <a:latin typeface="Courier New"/>
                <a:ea typeface="Calibri"/>
                <a:cs typeface="Arial"/>
              </a:rPr>
              <a:t> size = {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data_type</a:t>
            </a:r>
            <a:r>
              <a:rPr lang="en-US" sz="1800" dirty="0">
                <a:latin typeface="Courier New"/>
                <a:ea typeface="Calibri"/>
                <a:cs typeface="Arial"/>
              </a:rPr>
              <a:t>(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self.length</a:t>
            </a:r>
            <a:r>
              <a:rPr lang="en-US" sz="1800" dirty="0">
                <a:latin typeface="Courier New"/>
                <a:ea typeface="Calibri"/>
                <a:cs typeface="Arial"/>
              </a:rPr>
              <a:t> * 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self.width</a:t>
            </a:r>
            <a:r>
              <a:rPr lang="en-US" sz="1800" dirty="0">
                <a:latin typeface="Courier New"/>
                <a:ea typeface="Calibri"/>
                <a:cs typeface="Arial"/>
              </a:rPr>
              <a:t>)}."</a:t>
            </a:r>
            <a:br>
              <a:rPr lang="en-US" sz="1800" dirty="0">
                <a:latin typeface="Courier New"/>
                <a:ea typeface="Calibri"/>
                <a:cs typeface="Arial"/>
              </a:rPr>
            </a:br>
            <a:r>
              <a:rPr lang="en-US" sz="1800" dirty="0">
                <a:latin typeface="Courier New"/>
                <a:ea typeface="Calibri"/>
                <a:cs typeface="Arial"/>
              </a:rPr>
              <a:t>    def __del__(self):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        </a:t>
            </a:r>
            <a:r>
              <a:rPr lang="en-US" sz="18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Rectangle.total_size</a:t>
            </a: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-= </a:t>
            </a:r>
            <a:r>
              <a:rPr lang="en-US" sz="18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self.length</a:t>
            </a: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* </a:t>
            </a:r>
            <a:r>
              <a:rPr lang="en-US" sz="18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self.width</a:t>
            </a:r>
            <a:endParaRPr lang="en-US" sz="1800" dirty="0">
              <a:highlight>
                <a:srgbClr val="C0C0C0"/>
              </a:highlight>
              <a:latin typeface="Courier New"/>
              <a:ea typeface="Calibri"/>
              <a:cs typeface="Arial"/>
            </a:endParaRP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        print(f'{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self.length</a:t>
            </a:r>
            <a:r>
              <a:rPr lang="en-US" sz="1800" dirty="0">
                <a:latin typeface="Courier New"/>
                <a:ea typeface="Calibri"/>
                <a:cs typeface="Arial"/>
              </a:rPr>
              <a:t>} by {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self.width</a:t>
            </a:r>
            <a:r>
              <a:rPr lang="en-US" sz="1800" dirty="0">
                <a:latin typeface="Courier New"/>
                <a:ea typeface="Calibri"/>
                <a:cs typeface="Arial"/>
              </a:rPr>
              <a:t>} deleted, </a:t>
            </a: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{</a:t>
            </a:r>
            <a:r>
              <a:rPr lang="en-US" sz="18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Rectangle.total_size</a:t>
            </a: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= }</a:t>
            </a:r>
            <a:r>
              <a:rPr lang="en-US" sz="1800" dirty="0">
                <a:latin typeface="Courier New"/>
                <a:ea typeface="Calibri"/>
                <a:cs typeface="Arial"/>
              </a:rPr>
              <a:t>')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    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print(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Rectangle.total_size</a:t>
            </a:r>
            <a:r>
              <a:rPr lang="en-US" sz="1800" dirty="0">
                <a:latin typeface="Courier New"/>
                <a:ea typeface="Calibri"/>
                <a:cs typeface="Arial"/>
              </a:rPr>
              <a:t>)	# On screen: 0</a:t>
            </a:r>
            <a:br>
              <a:rPr lang="en-US" sz="1800" dirty="0">
                <a:latin typeface="Courier New"/>
                <a:ea typeface="Calibri"/>
                <a:cs typeface="Arial"/>
              </a:rPr>
            </a:br>
            <a:r>
              <a:rPr lang="en-US" sz="1800" dirty="0">
                <a:latin typeface="Courier New"/>
                <a:ea typeface="Calibri"/>
                <a:cs typeface="Arial"/>
              </a:rPr>
              <a:t>rectangle_1 = Rectangle(2,3)	# On screen: 2 by 3 created, 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Rectangle.total_size</a:t>
            </a:r>
            <a:r>
              <a:rPr lang="en-US" sz="1800" dirty="0">
                <a:latin typeface="Courier New"/>
                <a:ea typeface="Calibri"/>
                <a:cs typeface="Arial"/>
              </a:rPr>
              <a:t> = 6 </a:t>
            </a:r>
            <a:br>
              <a:rPr lang="en-US" sz="1800" dirty="0">
                <a:latin typeface="Courier New"/>
                <a:ea typeface="Calibri"/>
                <a:cs typeface="Arial"/>
              </a:rPr>
            </a:br>
            <a:r>
              <a:rPr lang="en-US" sz="1800" dirty="0">
                <a:latin typeface="Courier New"/>
                <a:ea typeface="Calibri"/>
                <a:cs typeface="Arial"/>
              </a:rPr>
              <a:t>rectangle_2 = Rectangle(2)		# On screen: 2 by 1 created, 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Rectangle.total_size</a:t>
            </a:r>
            <a:r>
              <a:rPr lang="en-US" sz="1800" dirty="0">
                <a:latin typeface="Courier New"/>
                <a:ea typeface="Calibri"/>
                <a:cs typeface="Arial"/>
              </a:rPr>
              <a:t> = 8</a:t>
            </a:r>
            <a:br>
              <a:rPr lang="en-US" sz="1800" dirty="0">
                <a:latin typeface="Courier New"/>
                <a:ea typeface="Calibri"/>
                <a:cs typeface="Arial"/>
              </a:rPr>
            </a:br>
            <a:r>
              <a:rPr lang="en-US" sz="1800" dirty="0">
                <a:latin typeface="Courier New"/>
                <a:ea typeface="Calibri"/>
                <a:cs typeface="Arial"/>
              </a:rPr>
              <a:t>del rectangle_1			# On screen: 2 by 3 deleted, 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Rectangle.total_size</a:t>
            </a:r>
            <a:r>
              <a:rPr lang="en-US" sz="1800" dirty="0">
                <a:latin typeface="Courier New"/>
                <a:ea typeface="Calibri"/>
                <a:cs typeface="Arial"/>
              </a:rPr>
              <a:t> = 2 </a:t>
            </a:r>
            <a:br>
              <a:rPr lang="en-US" sz="1800" dirty="0">
                <a:latin typeface="Courier New"/>
                <a:ea typeface="Calibri"/>
                <a:cs typeface="Arial"/>
              </a:rPr>
            </a:br>
            <a:r>
              <a:rPr lang="en-US" sz="1800" dirty="0">
                <a:latin typeface="Courier New"/>
                <a:ea typeface="Calibri"/>
                <a:cs typeface="Arial"/>
              </a:rPr>
              <a:t>del rectangle_2			# On screen: 2 by 1 deleted, 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Rectangle.total_size</a:t>
            </a:r>
            <a:r>
              <a:rPr lang="en-US" sz="1800" dirty="0">
                <a:latin typeface="Courier New"/>
                <a:ea typeface="Calibri"/>
                <a:cs typeface="Arial"/>
              </a:rPr>
              <a:t> = 0 </a:t>
            </a:r>
            <a:br>
              <a:rPr lang="en-US" sz="1800" dirty="0">
                <a:latin typeface="Courier New"/>
                <a:ea typeface="Calibri"/>
                <a:cs typeface="Arial"/>
              </a:rPr>
            </a:br>
            <a:endParaRPr lang="en-US" sz="1800" dirty="0">
              <a:latin typeface="Arial"/>
              <a:ea typeface="Calibri"/>
              <a:cs typeface="Arial"/>
            </a:endParaRPr>
          </a:p>
          <a:p>
            <a:pPr marL="0" indent="0">
              <a:buNone/>
            </a:pPr>
            <a:endParaRPr lang="en-US" sz="2000" dirty="0">
              <a:latin typeface="Arial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41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76218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Class attributes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Calibri"/>
                <a:ea typeface="Calibri"/>
                <a:cs typeface="Arial"/>
              </a:rPr>
              <a:t>Class attributes are objects where you store information that you want to use in several objects created on the basis of the same class</a:t>
            </a:r>
          </a:p>
          <a:p>
            <a:r>
              <a:rPr lang="en-US" sz="2400" dirty="0">
                <a:latin typeface="Calibri"/>
                <a:ea typeface="Calibri"/>
                <a:cs typeface="Arial"/>
              </a:rPr>
              <a:t>You can reference class attributes outside the class:</a:t>
            </a:r>
            <a:endParaRPr lang="en-US" sz="2400" dirty="0">
              <a:latin typeface="Calibri"/>
              <a:ea typeface="Calibri"/>
              <a:cs typeface="Courier New"/>
            </a:endParaRPr>
          </a:p>
          <a:p>
            <a:pPr lvl="1"/>
            <a:r>
              <a:rPr lang="en-US" sz="1800" dirty="0">
                <a:latin typeface="Courier New"/>
                <a:ea typeface="Calibri"/>
                <a:cs typeface="Courier New"/>
              </a:rPr>
              <a:t>print(</a:t>
            </a:r>
            <a:r>
              <a:rPr lang="en-US" sz="1800" dirty="0" err="1">
                <a:latin typeface="Courier New"/>
                <a:ea typeface="Calibri"/>
                <a:cs typeface="Courier New"/>
              </a:rPr>
              <a:t>Rectangle.objects_in_existence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) # Onscreen: 2</a:t>
            </a:r>
            <a:endParaRPr lang="en-US" sz="2000" dirty="0">
              <a:latin typeface="Courier New"/>
              <a:ea typeface="Calibri"/>
              <a:cs typeface="Courier New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42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763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>
                <a:latin typeface="Calibri Light"/>
                <a:cs typeface="Arial"/>
              </a:rPr>
              <a:t>__del__</a:t>
            </a:r>
            <a:r>
              <a:rPr lang="en-US" dirty="0">
                <a:cs typeface="Arial"/>
              </a:rPr>
              <a:t> </a:t>
            </a:r>
            <a:r>
              <a:rPr lang="en-US" dirty="0">
                <a:cs typeface="Calibri Light"/>
              </a:rPr>
              <a:t>method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class </a:t>
            </a:r>
            <a:r>
              <a:rPr lang="en-US" sz="1800" dirty="0">
                <a:latin typeface="Courier New"/>
                <a:ea typeface="Calibri"/>
                <a:cs typeface="Courier New"/>
              </a:rPr>
              <a:t>Rectangle</a:t>
            </a:r>
            <a:r>
              <a:rPr lang="en-US" sz="1800" dirty="0">
                <a:latin typeface="Courier New"/>
                <a:ea typeface="Calibri"/>
                <a:cs typeface="Arial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    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objects_in_existence</a:t>
            </a:r>
            <a:r>
              <a:rPr lang="en-US" sz="1800" dirty="0">
                <a:latin typeface="Courier New"/>
                <a:ea typeface="Calibri"/>
                <a:cs typeface="Arial"/>
              </a:rPr>
              <a:t> = 0  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    def __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init</a:t>
            </a:r>
            <a:r>
              <a:rPr lang="en-US" sz="1800" dirty="0">
                <a:latin typeface="Courier New"/>
                <a:ea typeface="Calibri"/>
                <a:cs typeface="Arial"/>
              </a:rPr>
              <a:t>__(self, length, width=1):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        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self.length</a:t>
            </a:r>
            <a:r>
              <a:rPr lang="en-US" sz="1800" dirty="0">
                <a:latin typeface="Courier New"/>
                <a:ea typeface="Calibri"/>
                <a:cs typeface="Arial"/>
              </a:rPr>
              <a:t> = length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        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self.width</a:t>
            </a:r>
            <a:r>
              <a:rPr lang="en-US" sz="1800" dirty="0">
                <a:latin typeface="Courier New"/>
                <a:ea typeface="Calibri"/>
                <a:cs typeface="Arial"/>
              </a:rPr>
              <a:t> = width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        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Rectangle.objects_in_existence</a:t>
            </a:r>
            <a:r>
              <a:rPr lang="en-US" sz="1800" dirty="0">
                <a:latin typeface="Courier New"/>
                <a:ea typeface="Calibri"/>
                <a:cs typeface="Arial"/>
              </a:rPr>
              <a:t> += 1  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    def size(self):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cs typeface="Arial"/>
              </a:rPr>
              <a:t>        return </a:t>
            </a:r>
            <a:r>
              <a:rPr lang="en-US" sz="1800" dirty="0" err="1">
                <a:latin typeface="Courier New"/>
                <a:cs typeface="Arial"/>
              </a:rPr>
              <a:t>f"size</a:t>
            </a:r>
            <a:r>
              <a:rPr lang="en-US" sz="1800" dirty="0">
                <a:latin typeface="Courier New"/>
                <a:cs typeface="Arial"/>
              </a:rPr>
              <a:t> = {</a:t>
            </a:r>
            <a:r>
              <a:rPr lang="en-US" sz="1800" dirty="0" err="1">
                <a:latin typeface="Courier New"/>
                <a:cs typeface="Arial"/>
              </a:rPr>
              <a:t>self.length</a:t>
            </a:r>
            <a:r>
              <a:rPr lang="en-US" sz="1800" dirty="0">
                <a:latin typeface="Courier New"/>
                <a:cs typeface="Arial"/>
              </a:rPr>
              <a:t> * </a:t>
            </a:r>
            <a:r>
              <a:rPr lang="en-US" sz="1800" dirty="0" err="1">
                <a:latin typeface="Courier New"/>
                <a:cs typeface="Arial"/>
              </a:rPr>
              <a:t>self.width</a:t>
            </a:r>
            <a:r>
              <a:rPr lang="en-US" sz="1800" dirty="0">
                <a:latin typeface="Courier New"/>
                <a:cs typeface="Arial"/>
              </a:rPr>
              <a:t>}"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    def info(self):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        return 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f'This</a:t>
            </a:r>
            <a:r>
              <a:rPr lang="en-US" sz="1800" dirty="0">
                <a:latin typeface="Courier New"/>
                <a:ea typeface="Calibri"/>
                <a:cs typeface="Arial"/>
              </a:rPr>
              <a:t> rectangle is {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self.length</a:t>
            </a:r>
            <a:r>
              <a:rPr lang="en-US" sz="1800" dirty="0">
                <a:latin typeface="Courier New"/>
                <a:ea typeface="Calibri"/>
                <a:cs typeface="Arial"/>
              </a:rPr>
              <a:t>} by {</a:t>
            </a:r>
            <a:r>
              <a:rPr lang="en-US" sz="1800" dirty="0" err="1">
                <a:latin typeface="Courier New"/>
                <a:ea typeface="Calibri"/>
                <a:cs typeface="Arial"/>
              </a:rPr>
              <a:t>self.width</a:t>
            </a:r>
            <a:r>
              <a:rPr lang="en-US" sz="1800" dirty="0">
                <a:latin typeface="Courier New"/>
                <a:ea typeface="Calibri"/>
                <a:cs typeface="Arial"/>
              </a:rPr>
              <a:t>}'</a:t>
            </a:r>
          </a:p>
          <a:p>
            <a:pPr marL="0" indent="0">
              <a:buNone/>
            </a:pPr>
            <a:r>
              <a:rPr lang="en-US" sz="1800" dirty="0">
                <a:latin typeface="Courier New"/>
                <a:ea typeface="Calibri"/>
                <a:cs typeface="Arial"/>
              </a:rPr>
              <a:t>   </a:t>
            </a: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 def __del__(self):</a:t>
            </a:r>
          </a:p>
          <a:p>
            <a:pPr marL="0" indent="0">
              <a:buNone/>
            </a:pP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        </a:t>
            </a:r>
            <a:r>
              <a:rPr lang="en-US" sz="1800" dirty="0" err="1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Rectangle.objects_in_existence</a:t>
            </a:r>
            <a:r>
              <a:rPr lang="en-US" sz="18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  <a:t> -= 1</a:t>
            </a:r>
          </a:p>
          <a:p>
            <a:pPr>
              <a:buNone/>
            </a:pPr>
            <a:r>
              <a:rPr lang="en-US" sz="1800" dirty="0">
                <a:latin typeface="Courier New"/>
                <a:cs typeface="Courier New"/>
              </a:rPr>
              <a:t>rectangle_1 = Rectangle(2,3)</a:t>
            </a:r>
          </a:p>
          <a:p>
            <a:pPr>
              <a:buNone/>
            </a:pPr>
            <a:r>
              <a:rPr lang="en-US" sz="1800" dirty="0">
                <a:latin typeface="Courier New"/>
                <a:cs typeface="Courier New"/>
              </a:rPr>
              <a:t>rectangle_2 = Rectangle(3)</a:t>
            </a:r>
            <a:endParaRPr lang="en-US" sz="1800" dirty="0"/>
          </a:p>
          <a:p>
            <a:pPr marL="0" indent="0">
              <a:buNone/>
            </a:pPr>
            <a:br>
              <a:rPr lang="en-US" sz="2000" dirty="0">
                <a:highlight>
                  <a:srgbClr val="C0C0C0"/>
                </a:highlight>
                <a:latin typeface="Courier New"/>
                <a:ea typeface="Calibri"/>
                <a:cs typeface="Arial"/>
              </a:rPr>
            </a:br>
            <a:endParaRPr lang="en-US" sz="2000" dirty="0">
              <a:latin typeface="Arial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43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262572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__del__ 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Arial"/>
              </a:rPr>
              <a:t>The 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__del__</a:t>
            </a:r>
            <a:r>
              <a:rPr lang="en-US" sz="2400" dirty="0">
                <a:latin typeface="Calibri"/>
                <a:ea typeface="Calibri"/>
                <a:cs typeface="Courier New"/>
              </a:rPr>
              <a:t> </a:t>
            </a:r>
            <a:r>
              <a:rPr lang="en-US" sz="2400" dirty="0">
                <a:latin typeface="Calibri"/>
                <a:ea typeface="Calibri"/>
                <a:cs typeface="Arial"/>
              </a:rPr>
              <a:t>method is called automatically just before an object is deleted</a:t>
            </a:r>
          </a:p>
          <a:p>
            <a:pPr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Arial"/>
              </a:rPr>
              <a:t>While a class definition without an</a:t>
            </a:r>
            <a:r>
              <a:rPr lang="en-US" sz="2000" dirty="0">
                <a:latin typeface="Courier New"/>
                <a:ea typeface="Calibri"/>
                <a:cs typeface="Arial"/>
              </a:rPr>
              <a:t> __</a:t>
            </a:r>
            <a:r>
              <a:rPr lang="en-US" sz="2000" dirty="0" err="1">
                <a:latin typeface="Courier New"/>
                <a:ea typeface="Calibri"/>
                <a:cs typeface="Arial"/>
              </a:rPr>
              <a:t>init</a:t>
            </a:r>
            <a:r>
              <a:rPr lang="en-US" sz="2000" dirty="0">
                <a:latin typeface="Courier New"/>
                <a:ea typeface="Calibri"/>
                <a:cs typeface="Arial"/>
              </a:rPr>
              <a:t>__ </a:t>
            </a:r>
            <a:r>
              <a:rPr lang="en-US" sz="2400" dirty="0">
                <a:latin typeface="Calibri"/>
                <a:ea typeface="Calibri"/>
                <a:cs typeface="Arial"/>
              </a:rPr>
              <a:t>method makes no sense, a class without a </a:t>
            </a:r>
            <a:r>
              <a:rPr lang="en-US" sz="2000" dirty="0">
                <a:latin typeface="Courier New"/>
                <a:ea typeface="Calibri"/>
                <a:cs typeface="Arial"/>
              </a:rPr>
              <a:t>__del__</a:t>
            </a:r>
            <a:r>
              <a:rPr lang="en-US" sz="2400" dirty="0">
                <a:latin typeface="Calibri"/>
                <a:ea typeface="Calibri"/>
                <a:cs typeface="Arial"/>
              </a:rPr>
              <a:t> method is very common</a:t>
            </a:r>
          </a:p>
          <a:p>
            <a:pPr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Arial"/>
              </a:rPr>
              <a:t>You can delete an object with a </a:t>
            </a:r>
            <a:r>
              <a:rPr lang="en-US" sz="2400" dirty="0">
                <a:latin typeface="Calibri"/>
                <a:ea typeface="Calibri"/>
                <a:cs typeface="Courier New"/>
              </a:rPr>
              <a:t>del</a:t>
            </a:r>
            <a:r>
              <a:rPr lang="en-US" sz="2400" dirty="0">
                <a:latin typeface="Calibri"/>
                <a:ea typeface="Calibri"/>
                <a:cs typeface="Arial"/>
              </a:rPr>
              <a:t> statement, or have it automatically deleted  when there is no longer any reference to this object </a:t>
            </a:r>
            <a:r>
              <a:rPr lang="en-US" sz="2400" dirty="0">
                <a:latin typeface="Calibri"/>
                <a:ea typeface="Calibri"/>
                <a:cs typeface="Calibri"/>
              </a:rPr>
              <a:t>(this is called</a:t>
            </a:r>
            <a:r>
              <a:rPr lang="en-US" sz="2400" i="1" dirty="0">
                <a:latin typeface="Calibri"/>
                <a:ea typeface="Calibri"/>
                <a:cs typeface="Calibri"/>
              </a:rPr>
              <a:t> garbage collection</a:t>
            </a:r>
            <a:r>
              <a:rPr lang="en-US" sz="2400" dirty="0">
                <a:latin typeface="Calibri"/>
                <a:ea typeface="Calibri"/>
                <a:cs typeface="Calibri"/>
              </a:rPr>
              <a:t>)</a:t>
            </a:r>
            <a:r>
              <a:rPr lang="en-US" sz="2400" dirty="0">
                <a:latin typeface="Calibri"/>
                <a:ea typeface="Calibri"/>
                <a:cs typeface="Arial"/>
              </a:rPr>
              <a:t>, as explained in week 1</a:t>
            </a:r>
          </a:p>
          <a:p>
            <a:pPr lvl="1" indent="-342900">
              <a:buFont typeface="Arial"/>
              <a:buChar char="•"/>
            </a:pPr>
            <a:r>
              <a:rPr lang="en-US" sz="2000" dirty="0">
                <a:latin typeface="Calibri"/>
                <a:ea typeface="Calibri"/>
                <a:cs typeface="Arial"/>
              </a:rPr>
              <a:t>In both cases Python will check whether you defined a  </a:t>
            </a:r>
            <a:r>
              <a:rPr lang="en-US" sz="1800" dirty="0">
                <a:latin typeface="Courier New"/>
                <a:ea typeface="Calibri"/>
                <a:cs typeface="Arial"/>
              </a:rPr>
              <a:t>__del__</a:t>
            </a:r>
            <a:r>
              <a:rPr lang="en-US" sz="2000" dirty="0">
                <a:latin typeface="Calibri"/>
                <a:ea typeface="Calibri"/>
                <a:cs typeface="Arial"/>
              </a:rPr>
              <a:t> method and call it for you</a:t>
            </a:r>
            <a:endParaRPr lang="en-US" sz="2000" dirty="0">
              <a:cs typeface="Calibri"/>
            </a:endParaRPr>
          </a:p>
          <a:p>
            <a:pPr>
              <a:buFont typeface="Arial"/>
              <a:buChar char="•"/>
            </a:pPr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44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4493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2875"/>
            <a:ext cx="12191999" cy="740703"/>
          </a:xfrm>
        </p:spPr>
        <p:txBody>
          <a:bodyPr>
            <a:noAutofit/>
          </a:bodyPr>
          <a:lstStyle/>
          <a:p>
            <a:r>
              <a:rPr lang="en-US" sz="3600" dirty="0"/>
              <a:t>Referencing and defining attributes outside class and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5" y="770402"/>
            <a:ext cx="12192000" cy="569912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You can reference and define class and object attributes from the 'outside'</a:t>
            </a:r>
            <a:br>
              <a:rPr lang="en-US" sz="20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Rectangle: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objects_in_existence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__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__(self, length, width=1):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self.length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length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self.width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width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Rectangle.objects_in_existence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+= 1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def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info_about_attribute_a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(self):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f'{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Rectangle.a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=}, {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self.a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=}'</a:t>
            </a:r>
          </a:p>
          <a:p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rectangle_1 = Rectangle(2,3)</a:t>
            </a:r>
          </a:p>
          <a:p>
            <a:r>
              <a:rPr lang="en-US" altLang="en-US" sz="20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We can define attributes, and refer to attributes from outside a class/object 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rectangle_1 = Rectangle(2,3)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Rectangle.a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5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rectangle_1.a = 10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Rectangle.a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rectangle_1.a) 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#On screen: 1 5 10</a:t>
            </a:r>
          </a:p>
          <a:p>
            <a:r>
              <a:rPr lang="en-US" altLang="en-US" sz="20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Now we can define, and refer to class/object attributes from outside the class/object 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print(rectangle_1.info_about_attribute_a()</a:t>
            </a:r>
            <a:b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On screen: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Rectangle.a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=5,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self.a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=10</a:t>
            </a:r>
          </a:p>
          <a:p>
            <a:r>
              <a:rPr lang="en-US" altLang="en-US" sz="2000" dirty="0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Though insightful, not an example to follow</a:t>
            </a:r>
          </a:p>
          <a:p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45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092402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/>
            <a:r>
              <a:rPr lang="en-US" dirty="0">
                <a:latin typeface="Calibri"/>
                <a:ea typeface="Calibri"/>
                <a:cs typeface="Arial"/>
              </a:rPr>
              <a:t>We saw:</a:t>
            </a:r>
            <a:br>
              <a:rPr lang="en-US" dirty="0">
                <a:latin typeface="Calibri"/>
                <a:ea typeface="Calibri"/>
                <a:cs typeface="Arial"/>
              </a:rPr>
            </a:br>
            <a:r>
              <a:rPr lang="en-US" sz="2000" dirty="0">
                <a:latin typeface="Courier New"/>
                <a:ea typeface="Calibri"/>
                <a:cs typeface="Arial"/>
              </a:rPr>
              <a:t>s1 = 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abcdefghabcdefgh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print(s1.find('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')) # Onscreen: -1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print(s1.index('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')) # Onscreen: 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ValueError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: substring not found</a:t>
            </a:r>
            <a:endParaRPr lang="en-US" sz="2000" dirty="0">
              <a:latin typeface="Courier New"/>
              <a:cs typeface="Courier New"/>
            </a:endParaRPr>
          </a:p>
          <a:p>
            <a:pPr marL="285750" indent="-285750"/>
            <a:r>
              <a:rPr lang="en-US" dirty="0">
                <a:latin typeface="Calibri"/>
                <a:ea typeface="Calibri"/>
                <a:cs typeface="Arial"/>
              </a:rPr>
              <a:t>Both ways to tell the caller of the method that the substring is not found are fine</a:t>
            </a:r>
          </a:p>
          <a:p>
            <a:pPr marL="742950" lvl="1" indent="-285750"/>
            <a:r>
              <a:rPr lang="en-US" dirty="0">
                <a:latin typeface="Calibri"/>
                <a:ea typeface="Calibri"/>
                <a:cs typeface="Arial"/>
              </a:rPr>
              <a:t>However, you could prefer the way the </a:t>
            </a:r>
            <a:r>
              <a:rPr lang="en-US" sz="2000" dirty="0">
                <a:latin typeface="Courier New"/>
                <a:ea typeface="Calibri"/>
                <a:cs typeface="Arial"/>
              </a:rPr>
              <a:t>find </a:t>
            </a:r>
            <a:r>
              <a:rPr lang="en-US" dirty="0">
                <a:latin typeface="Calibri"/>
                <a:ea typeface="Calibri"/>
                <a:cs typeface="Arial"/>
              </a:rPr>
              <a:t>method deals with not finding the substring over the way the </a:t>
            </a:r>
            <a:r>
              <a:rPr lang="en-US" sz="2000" dirty="0">
                <a:latin typeface="Courier New"/>
                <a:ea typeface="Calibri"/>
                <a:cs typeface="Arial"/>
              </a:rPr>
              <a:t>index </a:t>
            </a:r>
            <a:r>
              <a:rPr lang="en-US" dirty="0">
                <a:latin typeface="Calibri"/>
                <a:ea typeface="Calibri"/>
                <a:cs typeface="Arial"/>
              </a:rPr>
              <a:t>method deals with it (by throwing an error), or the other way around</a:t>
            </a:r>
            <a:endParaRPr lang="en-US" dirty="0">
              <a:cs typeface="Calibri"/>
            </a:endParaRPr>
          </a:p>
          <a:p>
            <a:pPr marL="285750" indent="-285750"/>
            <a:r>
              <a:rPr lang="en-US" dirty="0">
                <a:latin typeface="Calibri"/>
                <a:ea typeface="Calibri"/>
                <a:cs typeface="Arial"/>
              </a:rPr>
              <a:t>Python has a nice way to deal with errors, which is used a lot in the real world</a:t>
            </a:r>
          </a:p>
          <a:p>
            <a:pPr marL="742950" lvl="1" indent="-285750"/>
            <a:r>
              <a:rPr lang="en-US" dirty="0">
                <a:latin typeface="Calibri"/>
                <a:ea typeface="Calibri"/>
                <a:cs typeface="Arial"/>
              </a:rPr>
              <a:t>It is not part of the exam, but it will be used in one future homework question</a:t>
            </a:r>
            <a:endParaRPr lang="en-US" dirty="0">
              <a:cs typeface="Calibri"/>
            </a:endParaRPr>
          </a:p>
          <a:p>
            <a:endParaRPr lang="en-US" sz="2400" dirty="0">
              <a:latin typeface="Calibri"/>
              <a:ea typeface="Calibri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46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2009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/>
            <a:r>
              <a:rPr lang="en-US" sz="2400" dirty="0">
                <a:latin typeface="Calibri"/>
                <a:ea typeface="Calibri"/>
                <a:cs typeface="Arial"/>
              </a:rPr>
              <a:t>If you want to have an index function that when not finding returns -1 instead of throwing an error, you can do the following: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def 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my_index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(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s,needle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):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    try: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        result = 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s.index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(needle)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    except: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        result = -1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    return result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s1 ='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abcdefghabcdefgh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print(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my_index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(s1, 'e'))	# Onscreen: 4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print(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my_index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(s1,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'))	# Onscreen: -1</a:t>
            </a:r>
          </a:p>
          <a:p>
            <a:pPr marL="342900" indent="-342900"/>
            <a:r>
              <a:rPr lang="en-US" sz="2400" dirty="0">
                <a:latin typeface="Calibri"/>
                <a:ea typeface="Calibri"/>
                <a:cs typeface="Calibri"/>
              </a:rPr>
              <a:t>Although you can make it more complicated, this is the basis: you tell Python in the try part to run some code and tell Python in the except part, what Python should do in case of an exception (error)</a:t>
            </a:r>
          </a:p>
          <a:p>
            <a:pPr marL="342900" indent="-342900"/>
            <a:r>
              <a:rPr lang="en-US" sz="2400" dirty="0">
                <a:latin typeface="Calibri"/>
                <a:ea typeface="Calibri"/>
                <a:cs typeface="Calibri"/>
              </a:rPr>
              <a:t>Instead of Python throwing an error and killing your program, which means that the rest of your code won't be executed, your program stays in control</a:t>
            </a:r>
            <a:endParaRPr lang="en-US" sz="2400" dirty="0">
              <a:cs typeface="Calibri"/>
            </a:endParaRPr>
          </a:p>
          <a:p>
            <a:endParaRPr lang="en-US" sz="3200" dirty="0">
              <a:cs typeface="Calibri"/>
            </a:endParaRPr>
          </a:p>
          <a:p>
            <a:pPr marL="285750" indent="-285750"/>
            <a:endParaRPr lang="en-US" sz="1800" dirty="0">
              <a:latin typeface="Courier New"/>
              <a:ea typeface="Calibri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47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18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FC263-11F5-033B-4830-35779486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3" y="142875"/>
            <a:ext cx="10515600" cy="1325563"/>
          </a:xfrm>
        </p:spPr>
        <p:txBody>
          <a:bodyPr/>
          <a:lstStyle/>
          <a:p>
            <a:r>
              <a:rPr lang="en-US" dirty="0"/>
              <a:t>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1C5D6-DFDE-636A-A87A-7035C641F4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83" y="1158876"/>
            <a:ext cx="10833099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/>
            <a:r>
              <a:rPr lang="en-US" sz="2400" dirty="0">
                <a:latin typeface="Calibri"/>
                <a:ea typeface="Calibri"/>
                <a:cs typeface="Arial"/>
              </a:rPr>
              <a:t>If you want to have a find function that when not finding throws an error, instead of returning -1, you can do the following: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def 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my_find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(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s,needle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):2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    if (result := 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s.find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(needle)) == -1: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        raise 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ValueError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("substring not found")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    return result</a:t>
            </a:r>
          </a:p>
          <a:p>
            <a:pPr lvl="1"/>
            <a:r>
              <a:rPr lang="en-US" sz="2000" dirty="0">
                <a:latin typeface="Courier New"/>
                <a:ea typeface="Calibri"/>
                <a:cs typeface="Courier New"/>
              </a:rPr>
              <a:t>s1 ='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abcdefghabcdefgh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print(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my_find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(s1, 'e'))	# Onscreen: 4</a:t>
            </a:r>
            <a:br>
              <a:rPr lang="en-US" sz="2000" dirty="0">
                <a:latin typeface="Courier New"/>
                <a:ea typeface="Calibri"/>
                <a:cs typeface="Courier New"/>
              </a:rPr>
            </a:br>
            <a:r>
              <a:rPr lang="en-US" sz="2000" dirty="0">
                <a:latin typeface="Courier New"/>
                <a:ea typeface="Calibri"/>
                <a:cs typeface="Courier New"/>
              </a:rPr>
              <a:t>print(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my_find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(s1, '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i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'))	# Onscreen: </a:t>
            </a:r>
            <a:r>
              <a:rPr lang="en-US" sz="2000" dirty="0" err="1">
                <a:latin typeface="Courier New"/>
                <a:ea typeface="Calibri"/>
                <a:cs typeface="Courier New"/>
              </a:rPr>
              <a:t>ValueError</a:t>
            </a:r>
            <a:r>
              <a:rPr lang="en-US" sz="2000" dirty="0">
                <a:latin typeface="Courier New"/>
                <a:ea typeface="Calibri"/>
                <a:cs typeface="Courier New"/>
              </a:rPr>
              <a:t>: substring not found</a:t>
            </a:r>
          </a:p>
          <a:p>
            <a:pPr>
              <a:buFont typeface="Arial"/>
              <a:buChar char="•"/>
            </a:pPr>
            <a:r>
              <a:rPr lang="en-US" sz="2400" dirty="0">
                <a:ea typeface="Calibri"/>
                <a:cs typeface="Calibri"/>
              </a:rPr>
              <a:t>Not throwing an error can be tricky:</a:t>
            </a:r>
          </a:p>
          <a:p>
            <a:pPr>
              <a:buFont typeface="Arial"/>
              <a:buChar char="•"/>
            </a:pPr>
            <a:r>
              <a:rPr lang="en-US" sz="2400" dirty="0">
                <a:latin typeface="Courier New"/>
                <a:ea typeface="Calibri"/>
                <a:cs typeface="Courier New"/>
              </a:rPr>
              <a:t>s1 = '</a:t>
            </a:r>
            <a:r>
              <a:rPr lang="en-US" sz="2400" dirty="0" err="1">
                <a:latin typeface="Courier New"/>
                <a:ea typeface="Calibri"/>
                <a:cs typeface="Courier New"/>
              </a:rPr>
              <a:t>abcdefghabcdefgh</a:t>
            </a:r>
            <a:r>
              <a:rPr lang="en-US" sz="2400" dirty="0">
                <a:latin typeface="Courier New"/>
                <a:ea typeface="Calibri"/>
                <a:cs typeface="Courier New"/>
              </a:rPr>
              <a:t>'</a:t>
            </a:r>
          </a:p>
          <a:p>
            <a:pPr>
              <a:buFont typeface="Arial"/>
              <a:buChar char="•"/>
            </a:pPr>
            <a:r>
              <a:rPr lang="en-US" sz="2400" dirty="0">
                <a:ea typeface="Calibri"/>
                <a:cs typeface="Calibri"/>
              </a:rPr>
              <a:t>Question: What is the result of </a:t>
            </a:r>
            <a:r>
              <a:rPr lang="en-US" sz="2400" dirty="0">
                <a:latin typeface="Courier New"/>
                <a:ea typeface="Calibri"/>
                <a:cs typeface="Calibri"/>
              </a:rPr>
              <a:t>print(s1[s1.find('</a:t>
            </a:r>
            <a:r>
              <a:rPr lang="en-US" sz="2400" dirty="0" err="1">
                <a:latin typeface="Courier New"/>
                <a:ea typeface="Calibri"/>
                <a:cs typeface="Calibri"/>
              </a:rPr>
              <a:t>i</a:t>
            </a:r>
            <a:r>
              <a:rPr lang="en-US" sz="2400" dirty="0">
                <a:latin typeface="Courier New"/>
                <a:ea typeface="Calibri"/>
                <a:cs typeface="Calibri"/>
              </a:rPr>
              <a:t>')])</a:t>
            </a:r>
            <a:r>
              <a:rPr lang="en-US" sz="2400" dirty="0">
                <a:ea typeface="Calibri"/>
                <a:cs typeface="Calibri"/>
              </a:rPr>
              <a:t>  </a:t>
            </a:r>
            <a:endParaRPr lang="en-US" sz="1800" dirty="0">
              <a:latin typeface="Courier New"/>
              <a:ea typeface="Calibri"/>
              <a:cs typeface="Courier New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EA020-85F1-2CB4-C59F-6F128C6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3B6F6A-0448-4EED-A121-7B4A352F61BD}" type="slidenum">
              <a:rPr lang="nl-NL" smtClean="0"/>
              <a:t>48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728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43408</TotalTime>
  <Words>6444</Words>
  <Application>Microsoft Office PowerPoint</Application>
  <PresentationFormat>Widescreen</PresentationFormat>
  <Paragraphs>483</Paragraphs>
  <Slides>48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4" baseType="lpstr">
      <vt:lpstr>Arial</vt:lpstr>
      <vt:lpstr>Arial,Sans-Serif</vt:lpstr>
      <vt:lpstr>Calibri</vt:lpstr>
      <vt:lpstr>Calibri Light</vt:lpstr>
      <vt:lpstr>Courier New</vt:lpstr>
      <vt:lpstr>Office Theme</vt:lpstr>
      <vt:lpstr>Introduction to Python</vt:lpstr>
      <vt:lpstr>Python from basics to machine learning guest lecture by Jadé Dieteren (Amazon London) </vt:lpstr>
      <vt:lpstr>Program for This Week</vt:lpstr>
      <vt:lpstr>Defining strings with quotes</vt:lpstr>
      <vt:lpstr>Quotes inside a string</vt:lpstr>
      <vt:lpstr>Escape characters</vt:lpstr>
      <vt:lpstr>Basic string manipulation: built-in functions</vt:lpstr>
      <vt:lpstr>String methods</vt:lpstr>
      <vt:lpstr>String methods</vt:lpstr>
      <vt:lpstr>String methods: Question</vt:lpstr>
      <vt:lpstr>String methods: Question</vt:lpstr>
      <vt:lpstr>String methods: change and test case</vt:lpstr>
      <vt:lpstr>String methods: split</vt:lpstr>
      <vt:lpstr>String methods: join</vt:lpstr>
      <vt:lpstr>String methods: strip</vt:lpstr>
      <vt:lpstr>String methods: replace</vt:lpstr>
      <vt:lpstr>String methods: find, index</vt:lpstr>
      <vt:lpstr>A Datacamp example</vt:lpstr>
      <vt:lpstr>String methods: count</vt:lpstr>
      <vt:lpstr>String methods: Question</vt:lpstr>
      <vt:lpstr>String methods: Question</vt:lpstr>
      <vt:lpstr>String methods: Question</vt:lpstr>
      <vt:lpstr>String methods: Question</vt:lpstr>
      <vt:lpstr>String module</vt:lpstr>
      <vt:lpstr>F-strings</vt:lpstr>
      <vt:lpstr>F-strings</vt:lpstr>
      <vt:lpstr>F-strings</vt:lpstr>
      <vt:lpstr>F-strings</vt:lpstr>
      <vt:lpstr>Object-Oriented Programming</vt:lpstr>
      <vt:lpstr>Object-Oriented Programming (Background)</vt:lpstr>
      <vt:lpstr>Object-Oriented Programming (Background)</vt:lpstr>
      <vt:lpstr>Class definition</vt:lpstr>
      <vt:lpstr>Class definition</vt:lpstr>
      <vt:lpstr>Object creation</vt:lpstr>
      <vt:lpstr>Object creation</vt:lpstr>
      <vt:lpstr>Class name</vt:lpstr>
      <vt:lpstr>Methods</vt:lpstr>
      <vt:lpstr>Methods</vt:lpstr>
      <vt:lpstr>__init__ method</vt:lpstr>
      <vt:lpstr>__init__ method (a dunder method)</vt:lpstr>
      <vt:lpstr>Class attributes </vt:lpstr>
      <vt:lpstr>Class attributes </vt:lpstr>
      <vt:lpstr>__del__ method</vt:lpstr>
      <vt:lpstr>__del__ method</vt:lpstr>
      <vt:lpstr>Referencing and defining attributes outside class and object</vt:lpstr>
      <vt:lpstr>Error handling</vt:lpstr>
      <vt:lpstr>Error handling</vt:lpstr>
      <vt:lpstr>Error handling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</dc:title>
  <dc:creator>Ailko van der Veen</dc:creator>
  <cp:lastModifiedBy>Mathijs Janssen</cp:lastModifiedBy>
  <cp:revision>830</cp:revision>
  <dcterms:created xsi:type="dcterms:W3CDTF">2023-04-29T20:15:45Z</dcterms:created>
  <dcterms:modified xsi:type="dcterms:W3CDTF">2026-03-06T14:30:27Z</dcterms:modified>
</cp:coreProperties>
</file>