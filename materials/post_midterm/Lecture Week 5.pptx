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63" r:id="rId3"/>
    <p:sldId id="383" r:id="rId4"/>
    <p:sldId id="384" r:id="rId5"/>
    <p:sldId id="392" r:id="rId6"/>
    <p:sldId id="394" r:id="rId7"/>
    <p:sldId id="396" r:id="rId8"/>
    <p:sldId id="475" r:id="rId9"/>
    <p:sldId id="397" r:id="rId10"/>
    <p:sldId id="401" r:id="rId11"/>
    <p:sldId id="399" r:id="rId12"/>
    <p:sldId id="403" r:id="rId13"/>
    <p:sldId id="407" r:id="rId14"/>
    <p:sldId id="408" r:id="rId15"/>
    <p:sldId id="473" r:id="rId16"/>
    <p:sldId id="409" r:id="rId17"/>
    <p:sldId id="410" r:id="rId18"/>
    <p:sldId id="411" r:id="rId19"/>
    <p:sldId id="412" r:id="rId20"/>
    <p:sldId id="492" r:id="rId21"/>
    <p:sldId id="413" r:id="rId22"/>
    <p:sldId id="415" r:id="rId23"/>
    <p:sldId id="441" r:id="rId24"/>
    <p:sldId id="493" r:id="rId25"/>
    <p:sldId id="416" r:id="rId26"/>
    <p:sldId id="418" r:id="rId27"/>
    <p:sldId id="476" r:id="rId28"/>
    <p:sldId id="477" r:id="rId29"/>
    <p:sldId id="478" r:id="rId30"/>
    <p:sldId id="479" r:id="rId31"/>
    <p:sldId id="480" r:id="rId32"/>
    <p:sldId id="481" r:id="rId33"/>
    <p:sldId id="482" r:id="rId34"/>
    <p:sldId id="483" r:id="rId35"/>
    <p:sldId id="439" r:id="rId36"/>
    <p:sldId id="484" r:id="rId37"/>
    <p:sldId id="485" r:id="rId38"/>
    <p:sldId id="489" r:id="rId39"/>
    <p:sldId id="445" r:id="rId40"/>
    <p:sldId id="446" r:id="rId41"/>
    <p:sldId id="490" r:id="rId42"/>
    <p:sldId id="444" r:id="rId43"/>
    <p:sldId id="486" r:id="rId44"/>
    <p:sldId id="487" r:id="rId45"/>
    <p:sldId id="491" r:id="rId46"/>
    <p:sldId id="449" r:id="rId47"/>
    <p:sldId id="450" r:id="rId48"/>
    <p:sldId id="452" r:id="rId49"/>
    <p:sldId id="453" r:id="rId50"/>
    <p:sldId id="465" r:id="rId51"/>
    <p:sldId id="455" r:id="rId52"/>
    <p:sldId id="456" r:id="rId53"/>
    <p:sldId id="457" r:id="rId54"/>
    <p:sldId id="472" r:id="rId55"/>
    <p:sldId id="458" r:id="rId56"/>
    <p:sldId id="466" r:id="rId57"/>
    <p:sldId id="459" r:id="rId58"/>
    <p:sldId id="460" r:id="rId59"/>
    <p:sldId id="461" r:id="rId60"/>
    <p:sldId id="462" r:id="rId61"/>
    <p:sldId id="463" r:id="rId62"/>
    <p:sldId id="467" r:id="rId63"/>
    <p:sldId id="468" r:id="rId64"/>
    <p:sldId id="469" r:id="rId65"/>
    <p:sldId id="470" r:id="rId66"/>
    <p:sldId id="471" r:id="rId6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A0269-F4E5-456A-82A9-BFAE9E5AF675}" v="30" dt="2026-03-11T14:21:39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js Janssen" userId="e1c712ed-fa05-4b32-a6ac-d3bcfe11202a" providerId="ADAL" clId="{8FD1F137-BF03-485D-B0D1-ED5AC4324200}"/>
    <pc:docChg chg="undo custSel addSld delSld modSld">
      <pc:chgData name="Mathijs Janssen" userId="e1c712ed-fa05-4b32-a6ac-d3bcfe11202a" providerId="ADAL" clId="{8FD1F137-BF03-485D-B0D1-ED5AC4324200}" dt="2026-03-11T14:21:39.219" v="1098" actId="313"/>
      <pc:docMkLst>
        <pc:docMk/>
      </pc:docMkLst>
      <pc:sldChg chg="modSp">
        <pc:chgData name="Mathijs Janssen" userId="e1c712ed-fa05-4b32-a6ac-d3bcfe11202a" providerId="ADAL" clId="{8FD1F137-BF03-485D-B0D1-ED5AC4324200}" dt="2026-03-09T18:51:19.114" v="4" actId="20577"/>
        <pc:sldMkLst>
          <pc:docMk/>
          <pc:sldMk cId="2045302924" sldId="384"/>
        </pc:sldMkLst>
        <pc:spChg chg="mod">
          <ac:chgData name="Mathijs Janssen" userId="e1c712ed-fa05-4b32-a6ac-d3bcfe11202a" providerId="ADAL" clId="{8FD1F137-BF03-485D-B0D1-ED5AC4324200}" dt="2026-03-09T18:51:19.114" v="4" actId="20577"/>
          <ac:spMkLst>
            <pc:docMk/>
            <pc:sldMk cId="2045302924" sldId="384"/>
            <ac:spMk id="3" creationId="{95511E4F-BDB1-97A8-09B1-31FB5DE88E07}"/>
          </ac:spMkLst>
        </pc:spChg>
      </pc:sldChg>
      <pc:sldChg chg="modSp mod">
        <pc:chgData name="Mathijs Janssen" userId="e1c712ed-fa05-4b32-a6ac-d3bcfe11202a" providerId="ADAL" clId="{8FD1F137-BF03-485D-B0D1-ED5AC4324200}" dt="2026-03-10T13:14:43.886" v="24" actId="20577"/>
        <pc:sldMkLst>
          <pc:docMk/>
          <pc:sldMk cId="2242742803" sldId="403"/>
        </pc:sldMkLst>
        <pc:spChg chg="mod">
          <ac:chgData name="Mathijs Janssen" userId="e1c712ed-fa05-4b32-a6ac-d3bcfe11202a" providerId="ADAL" clId="{8FD1F137-BF03-485D-B0D1-ED5AC4324200}" dt="2026-03-09T18:57:06.860" v="8" actId="20577"/>
          <ac:spMkLst>
            <pc:docMk/>
            <pc:sldMk cId="2242742803" sldId="403"/>
            <ac:spMk id="2" creationId="{7C936EBB-EEA5-0797-236F-A4296A770765}"/>
          </ac:spMkLst>
        </pc:spChg>
        <pc:spChg chg="mod">
          <ac:chgData name="Mathijs Janssen" userId="e1c712ed-fa05-4b32-a6ac-d3bcfe11202a" providerId="ADAL" clId="{8FD1F137-BF03-485D-B0D1-ED5AC4324200}" dt="2026-03-10T13:14:43.886" v="24" actId="20577"/>
          <ac:spMkLst>
            <pc:docMk/>
            <pc:sldMk cId="2242742803" sldId="403"/>
            <ac:spMk id="3" creationId="{95511E4F-BDB1-97A8-09B1-31FB5DE88E07}"/>
          </ac:spMkLst>
        </pc:spChg>
      </pc:sldChg>
      <pc:sldChg chg="addSp delSp modSp mod">
        <pc:chgData name="Mathijs Janssen" userId="e1c712ed-fa05-4b32-a6ac-d3bcfe11202a" providerId="ADAL" clId="{8FD1F137-BF03-485D-B0D1-ED5AC4324200}" dt="2026-03-10T13:48:08.962" v="329" actId="27309"/>
        <pc:sldMkLst>
          <pc:docMk/>
          <pc:sldMk cId="2201448753" sldId="413"/>
        </pc:sldMkLst>
        <pc:graphicFrameChg chg="add del modGraphic">
          <ac:chgData name="Mathijs Janssen" userId="e1c712ed-fa05-4b32-a6ac-d3bcfe11202a" providerId="ADAL" clId="{8FD1F137-BF03-485D-B0D1-ED5AC4324200}" dt="2026-03-10T13:48:08.962" v="329" actId="27309"/>
          <ac:graphicFrameMkLst>
            <pc:docMk/>
            <pc:sldMk cId="2201448753" sldId="413"/>
            <ac:graphicFrameMk id="6" creationId="{072CAD36-F70B-0968-3E5B-00D64680C10B}"/>
          </ac:graphicFrameMkLst>
        </pc:graphicFrameChg>
      </pc:sldChg>
      <pc:sldChg chg="modSp">
        <pc:chgData name="Mathijs Janssen" userId="e1c712ed-fa05-4b32-a6ac-d3bcfe11202a" providerId="ADAL" clId="{8FD1F137-BF03-485D-B0D1-ED5AC4324200}" dt="2026-03-09T20:30:20.465" v="10" actId="20577"/>
        <pc:sldMkLst>
          <pc:docMk/>
          <pc:sldMk cId="1414686593" sldId="455"/>
        </pc:sldMkLst>
        <pc:spChg chg="mod">
          <ac:chgData name="Mathijs Janssen" userId="e1c712ed-fa05-4b32-a6ac-d3bcfe11202a" providerId="ADAL" clId="{8FD1F137-BF03-485D-B0D1-ED5AC4324200}" dt="2026-03-09T20:30:20.465" v="10" actId="20577"/>
          <ac:spMkLst>
            <pc:docMk/>
            <pc:sldMk cId="1414686593" sldId="455"/>
            <ac:spMk id="3" creationId="{95511E4F-BDB1-97A8-09B1-31FB5DE88E07}"/>
          </ac:spMkLst>
        </pc:spChg>
      </pc:sldChg>
      <pc:sldChg chg="modSp">
        <pc:chgData name="Mathijs Janssen" userId="e1c712ed-fa05-4b32-a6ac-d3bcfe11202a" providerId="ADAL" clId="{8FD1F137-BF03-485D-B0D1-ED5AC4324200}" dt="2026-03-09T20:36:35.339" v="12" actId="20577"/>
        <pc:sldMkLst>
          <pc:docMk/>
          <pc:sldMk cId="519917242" sldId="459"/>
        </pc:sldMkLst>
        <pc:spChg chg="mod">
          <ac:chgData name="Mathijs Janssen" userId="e1c712ed-fa05-4b32-a6ac-d3bcfe11202a" providerId="ADAL" clId="{8FD1F137-BF03-485D-B0D1-ED5AC4324200}" dt="2026-03-09T20:36:35.339" v="12" actId="20577"/>
          <ac:spMkLst>
            <pc:docMk/>
            <pc:sldMk cId="519917242" sldId="459"/>
            <ac:spMk id="3" creationId="{95511E4F-BDB1-97A8-09B1-31FB5DE88E07}"/>
          </ac:spMkLst>
        </pc:spChg>
      </pc:sldChg>
      <pc:sldChg chg="modSp">
        <pc:chgData name="Mathijs Janssen" userId="e1c712ed-fa05-4b32-a6ac-d3bcfe11202a" providerId="ADAL" clId="{8FD1F137-BF03-485D-B0D1-ED5AC4324200}" dt="2026-03-11T14:21:39.219" v="1098" actId="313"/>
        <pc:sldMkLst>
          <pc:docMk/>
          <pc:sldMk cId="1843174344" sldId="468"/>
        </pc:sldMkLst>
        <pc:spChg chg="mod">
          <ac:chgData name="Mathijs Janssen" userId="e1c712ed-fa05-4b32-a6ac-d3bcfe11202a" providerId="ADAL" clId="{8FD1F137-BF03-485D-B0D1-ED5AC4324200}" dt="2026-03-11T14:21:39.219" v="1098" actId="313"/>
          <ac:spMkLst>
            <pc:docMk/>
            <pc:sldMk cId="1843174344" sldId="468"/>
            <ac:spMk id="3" creationId="{95511E4F-BDB1-97A8-09B1-31FB5DE88E07}"/>
          </ac:spMkLst>
        </pc:spChg>
      </pc:sldChg>
      <pc:sldChg chg="addSp delSp modSp new mod">
        <pc:chgData name="Mathijs Janssen" userId="e1c712ed-fa05-4b32-a6ac-d3bcfe11202a" providerId="ADAL" clId="{8FD1F137-BF03-485D-B0D1-ED5AC4324200}" dt="2026-03-10T13:45:02.828" v="327" actId="403"/>
        <pc:sldMkLst>
          <pc:docMk/>
          <pc:sldMk cId="2976038828" sldId="492"/>
        </pc:sldMkLst>
        <pc:spChg chg="mod">
          <ac:chgData name="Mathijs Janssen" userId="e1c712ed-fa05-4b32-a6ac-d3bcfe11202a" providerId="ADAL" clId="{8FD1F137-BF03-485D-B0D1-ED5AC4324200}" dt="2026-03-10T13:32:18.498" v="65" actId="20577"/>
          <ac:spMkLst>
            <pc:docMk/>
            <pc:sldMk cId="2976038828" sldId="492"/>
            <ac:spMk id="2" creationId="{105BEAC6-2D4C-6C1F-2C0C-E40142589BCE}"/>
          </ac:spMkLst>
        </pc:spChg>
        <pc:spChg chg="mod">
          <ac:chgData name="Mathijs Janssen" userId="e1c712ed-fa05-4b32-a6ac-d3bcfe11202a" providerId="ADAL" clId="{8FD1F137-BF03-485D-B0D1-ED5AC4324200}" dt="2026-03-10T13:45:02.828" v="327" actId="403"/>
          <ac:spMkLst>
            <pc:docMk/>
            <pc:sldMk cId="2976038828" sldId="492"/>
            <ac:spMk id="3" creationId="{B0F8CEEF-2D8B-E021-11FB-81763082E83E}"/>
          </ac:spMkLst>
        </pc:spChg>
        <pc:picChg chg="add del mod">
          <ac:chgData name="Mathijs Janssen" userId="e1c712ed-fa05-4b32-a6ac-d3bcfe11202a" providerId="ADAL" clId="{8FD1F137-BF03-485D-B0D1-ED5AC4324200}" dt="2026-03-10T13:40:12.194" v="191" actId="478"/>
          <ac:picMkLst>
            <pc:docMk/>
            <pc:sldMk cId="2976038828" sldId="492"/>
            <ac:picMk id="6" creationId="{90CD42A6-54CE-9090-C4C2-2A2AD4E481BF}"/>
          </ac:picMkLst>
        </pc:picChg>
      </pc:sldChg>
      <pc:sldChg chg="modSp new mod">
        <pc:chgData name="Mathijs Janssen" userId="e1c712ed-fa05-4b32-a6ac-d3bcfe11202a" providerId="ADAL" clId="{8FD1F137-BF03-485D-B0D1-ED5AC4324200}" dt="2026-03-10T14:37:33.352" v="1088" actId="27636"/>
        <pc:sldMkLst>
          <pc:docMk/>
          <pc:sldMk cId="836335700" sldId="493"/>
        </pc:sldMkLst>
        <pc:spChg chg="mod">
          <ac:chgData name="Mathijs Janssen" userId="e1c712ed-fa05-4b32-a6ac-d3bcfe11202a" providerId="ADAL" clId="{8FD1F137-BF03-485D-B0D1-ED5AC4324200}" dt="2026-03-10T14:12:19.392" v="370" actId="20577"/>
          <ac:spMkLst>
            <pc:docMk/>
            <pc:sldMk cId="836335700" sldId="493"/>
            <ac:spMk id="2" creationId="{6F5EEFA5-0063-639C-7D96-BEFF4C92BE61}"/>
          </ac:spMkLst>
        </pc:spChg>
        <pc:spChg chg="mod">
          <ac:chgData name="Mathijs Janssen" userId="e1c712ed-fa05-4b32-a6ac-d3bcfe11202a" providerId="ADAL" clId="{8FD1F137-BF03-485D-B0D1-ED5AC4324200}" dt="2026-03-10T14:37:33.352" v="1088" actId="27636"/>
          <ac:spMkLst>
            <pc:docMk/>
            <pc:sldMk cId="836335700" sldId="493"/>
            <ac:spMk id="3" creationId="{CBE4B0B6-D367-FCB0-E09A-8D935384E6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AB9C6-D5AC-49AF-B0AF-5BEC2D1975A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DEE77-AD7E-4CBE-B03A-DCB65F5C9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2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2C18-A503-1EFE-0146-4C9F2201D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49416-528B-13F6-2C0D-BB5E4579C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8B63-7CA1-E008-13B6-1801B276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3C8B9-33ED-4AA6-AC04-4CF59EF6B83E}" type="datetime1">
              <a:rPr lang="nl-NL" smtClean="0"/>
              <a:t>11-3-2026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CD0B6-A659-29E6-B9CE-DF30E9BB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BAE83-4B17-FEFD-4C5F-9F640171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0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972C-F72A-CB7D-03BF-AF12EC80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58CB-5D38-9D71-9515-F70B46EF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BF662-1A87-B891-3979-30CA0AAF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6BF9-FE07-4BF4-87B9-95AC4CE634FC}" type="datetime1">
              <a:rPr lang="nl-NL" smtClean="0"/>
              <a:t>11-3-2026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53B6D-757C-82B2-3B85-E7E56036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D097-5F72-43BD-2F72-333C698E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515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C7F9-C6C2-87E3-82B1-0BEB5FCD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BF5F8-0CD9-178D-3488-65AA219B9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6EF8-3B35-9CF3-A69B-D68314F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2DBCC-5AEB-46E2-A30E-E1E4A7D4EB51}" type="datetime1">
              <a:rPr lang="nl-NL" smtClean="0"/>
              <a:t>11-3-2026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81815-5329-8650-F30B-0DF16EE2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BDD7-C048-0BF1-18EA-4C426585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0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4DF7-51CD-16E6-77C1-0AD9E79C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034B-D47D-2C18-18CA-584C3BECD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FA178-3EB6-78A4-6997-2321C864D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0D2B2-5A4D-2CD7-F9C7-DDC58250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457EC-3820-4DD5-9711-EF077FDBACF0}" type="datetime1">
              <a:rPr lang="nl-NL" smtClean="0"/>
              <a:t>11-3-2026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A9D4-057D-23F5-30F3-AABD3302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F9C31-5202-FAE7-2803-73FF53BD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018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DC5A-509E-3C4C-69F4-3333F397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A17E6-D3F9-40BD-C0CF-0C8EAF342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0D349-DC20-83D1-2EA3-B09214EFB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C6B9B-288C-8176-28EE-AEA11B487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45A4C-414A-B4F3-1083-D2711B3A6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A218B-7A31-08EB-864C-29F1038E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95257-BBB1-4C4E-9F14-744D8B0096F7}" type="datetime1">
              <a:rPr lang="nl-NL" smtClean="0"/>
              <a:t>11-3-2026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810CA-98B6-56EF-64B3-E94A4DD2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AB596-B1AB-C2E1-EE58-330B68AE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47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2FB8-ECEF-5181-3257-4FB9E780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7B889-D4F7-18B3-A2C5-46060B83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B4687-182F-491C-AF7A-91A1E5B6943C}" type="datetime1">
              <a:rPr lang="nl-NL" smtClean="0"/>
              <a:t>11-3-2026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22E12-5503-3477-7CB7-9C3432A6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31E16-B94D-F116-2DAD-D744ED9C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838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25AAC-9D86-7F61-0ACD-E2C000DA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5FA26-7E75-4130-9723-46164DF4BF1C}" type="datetime1">
              <a:rPr lang="nl-NL" smtClean="0"/>
              <a:t>11-3-2026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FD551-1EEF-D8C6-42E9-D4F9B8BD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62C20-1294-9298-5F66-3ADF050C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471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D747-400B-4F47-6021-B292BDD6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5ACC-42B5-BE16-60B1-ABAAF014D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44C54-93ED-216E-3975-EB48F290E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42FBC-83A9-12E4-E5C0-A82B5DE6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085C9-5618-4D69-9DBF-6B76E3F69165}" type="datetime1">
              <a:rPr lang="nl-NL" smtClean="0"/>
              <a:t>11-3-2026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A9697-2BD1-0272-8A7A-32629E1B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04A5-094E-D168-6B3E-27CD16BC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337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F43A-C839-D00E-0757-F2F72382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27548-6E78-E0C5-B0ED-C1C430AB5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3582C-5781-748C-6A7E-0BA5CF0D1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1778-C266-FD37-6641-E8709444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51669-156C-49F9-8D79-E4190B86A811}" type="datetime1">
              <a:rPr lang="nl-NL" smtClean="0"/>
              <a:t>11-3-2026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26EB7-0A5A-2663-C64A-BF74052F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F1A26-74A3-8DFB-858E-DC22A3EA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407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B7C3-19DB-3275-E61F-40B4C076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63A81-FCD9-A6B8-CB97-C29824F7A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7BF63-A44C-8DBD-1B93-844D5D52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242E-B6E8-4112-93C4-C3C7D0E7D49B}" type="datetime1">
              <a:rPr lang="nl-NL" smtClean="0"/>
              <a:t>11-3-2026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9ABA6-ED0F-DC08-83FA-F824A846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6C4E1-51E5-8032-6EA4-136E428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991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7B03F-71EB-6FF4-9AAC-8137F74DB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2282D-B6A8-83FC-71CB-A7A99B8FB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4FD3D-E115-9A51-42B5-9AAE7711F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A658-25C0-4932-AE81-730CBD9F87E2}" type="datetime1">
              <a:rPr lang="nl-NL" smtClean="0"/>
              <a:t>11-3-2026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E029D-A8ED-D0A3-E0C7-6AD3F3E1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61DF-E00E-8CB2-C275-EF2ABCDA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215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89729-874D-6F0D-4AA2-77443C5F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D22FC-8C75-8F07-08B6-29F3EE276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65AE-F166-5995-21E7-5E29C2AA8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6C5DF-0C87-40AD-9161-BCCB20ABC435}" type="datetime1">
              <a:rPr lang="nl-NL" smtClean="0"/>
              <a:t>11-3-2026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B08FA-0989-30E9-CCAC-E826AFE1C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62BB8-B861-FAFF-FA84-FADE132E1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600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91FA-1313-11E2-018E-4967B62B4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2C341-99CC-9EA7-476B-19DF18973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/>
              <a:t>Week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F8255-6433-1D99-1C18-B36D03B6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0831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Autofit/>
          </a:bodyPr>
          <a:lstStyle/>
          <a:p>
            <a:pPr algn="l"/>
            <a:r>
              <a:rPr lang="en-US" sz="4000" noProof="0" dirty="0">
                <a:cs typeface="Arial" panose="020B0604020202020204" pitchFamily="34" charset="0"/>
              </a:rPr>
              <a:t>Program for This Week: Data analysis with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cs typeface="Arial" panose="020B0604020202020204" pitchFamily="34" charset="0"/>
              </a:rPr>
              <a:t>Dataframe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cs typeface="Arial" panose="020B0604020202020204" pitchFamily="34" charset="0"/>
              </a:rPr>
              <a:t>Series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Selection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Missing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Operations on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Merging (concatenate and join)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Grouping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Merging and grouping are part of the weekly exercises but are not exam material.</a:t>
            </a:r>
            <a:endParaRPr lang="nl-NL" sz="2400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441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Pandas </a:t>
            </a:r>
            <a:r>
              <a:rPr lang="nl-NL" sz="4000" dirty="0" err="1"/>
              <a:t>DataFrame</a:t>
            </a:r>
            <a:endParaRPr lang="en-US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0"/>
            <a:ext cx="12192000" cy="56046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Pandas is one of the standard libraries in data science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</a:rPr>
              <a:t>The most important datatype used in Pandas is the </a:t>
            </a:r>
            <a:r>
              <a:rPr lang="en-US" sz="2000" b="0" i="1" u="none" strike="noStrike" baseline="0" dirty="0" err="1">
                <a:solidFill>
                  <a:srgbClr val="000000"/>
                </a:solidFill>
              </a:rPr>
              <a:t>DataFrame</a:t>
            </a:r>
            <a:endParaRPr lang="en-US" sz="2000" b="0" i="1" u="none" strike="noStrike" baseline="0" dirty="0">
              <a:solidFill>
                <a:srgbClr val="000000"/>
              </a:solidFill>
            </a:endParaRP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sz="1800" b="0" i="0" strike="noStrike" baseline="0" dirty="0" err="1">
                <a:solidFill>
                  <a:srgbClr val="000000"/>
                </a:solidFill>
              </a:rPr>
              <a:t>DataFrame</a:t>
            </a:r>
            <a:r>
              <a:rPr lang="en-US" sz="1800" b="0" i="0" u="none" strike="noStrike" baseline="0" dirty="0">
                <a:solidFill>
                  <a:srgbClr val="000000"/>
                </a:solidFill>
              </a:rPr>
              <a:t> contains tabular data just like a spreadsheet in excel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A Dataframe with only one column is called a Series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</a:rPr>
              <a:t>Pandas is built on top of NumPy, so there is overhead because of the c</a:t>
            </a:r>
            <a:r>
              <a:rPr lang="en-US" sz="2000" b="0" i="0" u="none" strike="noStrike" dirty="0">
                <a:solidFill>
                  <a:srgbClr val="000000"/>
                </a:solidFill>
              </a:rPr>
              <a:t>onversion to and from NumPy structures</a:t>
            </a:r>
            <a:endParaRPr lang="en-US" sz="20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</a:rPr>
              <a:t>NumPy lacks the flexibility of Python, and therefore is fast when crunching numbers 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</a:rPr>
              <a:t>Pandas works fast with uniform numerical data, but can be slow when working with string data</a:t>
            </a:r>
          </a:p>
          <a:p>
            <a:r>
              <a:rPr lang="en-US" sz="2000" dirty="0">
                <a:solidFill>
                  <a:srgbClr val="000000"/>
                </a:solidFill>
              </a:rPr>
              <a:t>Pandas is very flexible, this comes with a performance price</a:t>
            </a:r>
            <a:endParaRPr lang="en-US" sz="20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Like NumPy, Pandas offers </a:t>
            </a:r>
            <a:r>
              <a:rPr lang="en-US" sz="2000" i="1" dirty="0">
                <a:solidFill>
                  <a:srgbClr val="000000"/>
                </a:solidFill>
              </a:rPr>
              <a:t>vectorization: </a:t>
            </a:r>
            <a:r>
              <a:rPr lang="en-US" sz="2000" dirty="0">
                <a:solidFill>
                  <a:srgbClr val="000000"/>
                </a:solidFill>
              </a:rPr>
              <a:t>you can apply a function to all elements of a column/row/frame. Vectorization will probably be faster than loops or the map function in Python, but that is not a given</a:t>
            </a:r>
          </a:p>
          <a:p>
            <a:r>
              <a:rPr lang="en-US" sz="2000" dirty="0">
                <a:solidFill>
                  <a:srgbClr val="000000"/>
                </a:solidFill>
              </a:rPr>
              <a:t>Vectorization can make your code more readable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An interesting library for data science is Polar, written in Rust, avoiding Pandas/</a:t>
            </a:r>
            <a:r>
              <a:rPr lang="en-US" sz="2000" dirty="0" err="1">
                <a:solidFill>
                  <a:srgbClr val="000000"/>
                </a:solidFill>
              </a:rPr>
              <a:t>Numpy</a:t>
            </a:r>
            <a:r>
              <a:rPr lang="en-US" sz="2000" dirty="0">
                <a:solidFill>
                  <a:srgbClr val="000000"/>
                </a:solidFill>
              </a:rPr>
              <a:t> conversion overhead. https://www.datacamp.com/blog/an-introduction-to-polars-python-s-tool-for-large-scale-data-analysis. </a:t>
            </a:r>
          </a:p>
          <a:p>
            <a:r>
              <a:rPr lang="en-US" sz="2000" dirty="0">
                <a:solidFill>
                  <a:srgbClr val="000000"/>
                </a:solidFill>
              </a:rPr>
              <a:t>Interesting is also Microsoft's project 'Python in excel' where your interface is not a Pandas </a:t>
            </a:r>
            <a:r>
              <a:rPr lang="en-US" sz="2000" dirty="0" err="1">
                <a:solidFill>
                  <a:srgbClr val="000000"/>
                </a:solidFill>
              </a:rPr>
              <a:t>DataFrame</a:t>
            </a:r>
            <a:r>
              <a:rPr lang="en-US" sz="2000" dirty="0">
                <a:solidFill>
                  <a:srgbClr val="000000"/>
                </a:solidFill>
              </a:rPr>
              <a:t> but an excel spreadsheet. https://support.microsoft.com/en-us/office/introduction-to-python-in-excel-55643c2e-ff56-4168-b1ce-9428c8308545</a:t>
            </a: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909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pPr algn="l"/>
            <a:r>
              <a:rPr lang="nl-NL" sz="4000" dirty="0" err="1"/>
              <a:t>DataFrame</a:t>
            </a:r>
            <a:r>
              <a:rPr lang="nl-NL" sz="4000" dirty="0"/>
              <a:t>, rownames </a:t>
            </a:r>
            <a:r>
              <a:rPr lang="nl-NL" sz="4000" dirty="0" err="1"/>
              <a:t>and</a:t>
            </a:r>
            <a:r>
              <a:rPr lang="nl-NL" sz="4000" dirty="0"/>
              <a:t> colnames</a:t>
            </a:r>
            <a:endParaRPr lang="en-US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0"/>
            <a:ext cx="11434836" cy="5604669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3200" dirty="0"/>
              <a:t>Name, Length and Weight are the names of the </a:t>
            </a:r>
            <a:r>
              <a:rPr lang="en-US" sz="3200" i="1" dirty="0"/>
              <a:t>columns </a:t>
            </a:r>
            <a:r>
              <a:rPr lang="en-US" sz="3200" dirty="0"/>
              <a:t>and First, Second, and Third are the names of the </a:t>
            </a:r>
            <a:r>
              <a:rPr lang="en-US" sz="3200" i="1" dirty="0"/>
              <a:t>rows </a:t>
            </a:r>
            <a:r>
              <a:rPr lang="en-US" sz="3200" dirty="0"/>
              <a:t>(also called </a:t>
            </a:r>
            <a:r>
              <a:rPr lang="en-US" sz="3200" i="1" dirty="0"/>
              <a:t>indices</a:t>
            </a:r>
            <a:r>
              <a:rPr lang="en-US" sz="3200" dirty="0"/>
              <a:t>)</a:t>
            </a:r>
            <a:endParaRPr lang="en-US" sz="3200" dirty="0">
              <a:ea typeface="Calibri"/>
              <a:cs typeface="Calibri"/>
            </a:endParaRPr>
          </a:p>
          <a:p>
            <a:r>
              <a:rPr lang="en-US" sz="3200" dirty="0"/>
              <a:t>In these slides we will call these </a:t>
            </a:r>
            <a:r>
              <a:rPr lang="en-US" sz="3200" i="1" dirty="0"/>
              <a:t>colnames</a:t>
            </a:r>
            <a:r>
              <a:rPr lang="en-US" sz="3200" dirty="0"/>
              <a:t> and </a:t>
            </a:r>
            <a:r>
              <a:rPr lang="en-US" sz="3200" i="1" dirty="0"/>
              <a:t>rownames</a:t>
            </a:r>
            <a:r>
              <a:rPr lang="en-US" sz="3200" dirty="0"/>
              <a:t>, respectively, and you can get these the following way: </a:t>
            </a:r>
            <a:endParaRPr lang="en-US" sz="3200" dirty="0">
              <a:ea typeface="Calibri"/>
              <a:cs typeface="Calibri"/>
            </a:endParaRPr>
          </a:p>
          <a:p>
            <a:pPr lvl="1"/>
            <a:r>
              <a:rPr lang="en-US" sz="3200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lang="en-US" sz="3200" dirty="0" err="1">
                <a:solidFill>
                  <a:srgbClr val="000000"/>
                </a:solidFill>
                <a:latin typeface="Courier New"/>
                <a:cs typeface="Courier New"/>
              </a:rPr>
              <a:t>df.index</a:t>
            </a:r>
            <a:r>
              <a:rPr lang="en-US" sz="3200" dirty="0">
                <a:solidFill>
                  <a:srgbClr val="000000"/>
                </a:solidFill>
                <a:latin typeface="Courier New"/>
                <a:cs typeface="Courier New"/>
              </a:rPr>
              <a:t>)      # Onscreen: </a:t>
            </a:r>
            <a:r>
              <a:rPr lang="en-US" altLang="en-US" sz="3200" dirty="0">
                <a:solidFill>
                  <a:srgbClr val="000000"/>
                </a:solidFill>
                <a:latin typeface="Courier New"/>
                <a:cs typeface="Courier New"/>
              </a:rPr>
              <a:t>Index(['First', 'Second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', 'Third'],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dtype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='object')</a:t>
            </a:r>
            <a:r>
              <a:rPr lang="en-US" altLang="en-US" sz="3200" dirty="0"/>
              <a:t> </a:t>
            </a:r>
            <a:endParaRPr lang="en-US" altLang="en-US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lvl="1"/>
            <a:r>
              <a:rPr lang="en-US" sz="3200" dirty="0">
                <a:solidFill>
                  <a:srgbClr val="000000"/>
                </a:solidFill>
                <a:latin typeface="Courier New"/>
                <a:cs typeface="Courier New"/>
              </a:rPr>
              <a:t>print(</a:t>
            </a:r>
            <a:r>
              <a:rPr lang="en-US" sz="3200" dirty="0" err="1">
                <a:solidFill>
                  <a:srgbClr val="000000"/>
                </a:solidFill>
                <a:latin typeface="Courier New"/>
                <a:cs typeface="Courier New"/>
              </a:rPr>
              <a:t>df.columns</a:t>
            </a:r>
            <a:r>
              <a:rPr lang="en-US" sz="3200" dirty="0">
                <a:solidFill>
                  <a:srgbClr val="000000"/>
                </a:solidFill>
                <a:latin typeface="Courier New"/>
                <a:cs typeface="Courier New"/>
              </a:rPr>
              <a:t>)    # Onscreen: </a:t>
            </a:r>
            <a:r>
              <a:rPr lang="en-US" altLang="en-US" sz="3200" dirty="0">
                <a:solidFill>
                  <a:srgbClr val="000000"/>
                </a:solidFill>
                <a:latin typeface="Courier New"/>
                <a:cs typeface="Courier New"/>
              </a:rPr>
              <a:t>Index(['Name', 'Length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', 'Weight'],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dtype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='object')</a:t>
            </a:r>
          </a:p>
          <a:p>
            <a:r>
              <a:rPr lang="en-US" sz="3200" dirty="0" err="1">
                <a:latin typeface="Courier New"/>
                <a:ea typeface="Calibri"/>
                <a:cs typeface="Courier New"/>
              </a:rPr>
              <a:t>df.index</a:t>
            </a:r>
            <a:r>
              <a:rPr lang="en-US" sz="32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3200" dirty="0">
                <a:ea typeface="Calibri"/>
                <a:cs typeface="Calibri"/>
              </a:rPr>
              <a:t>and</a:t>
            </a:r>
            <a:r>
              <a:rPr lang="en-US" sz="32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3200" dirty="0" err="1">
                <a:latin typeface="Courier New"/>
                <a:ea typeface="Calibri"/>
                <a:cs typeface="Courier New"/>
              </a:rPr>
              <a:t>df.columns</a:t>
            </a:r>
            <a:r>
              <a:rPr lang="en-US" sz="32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3200" dirty="0">
                <a:ea typeface="Calibri"/>
                <a:cs typeface="Calibri"/>
              </a:rPr>
              <a:t>are special attributes, over which you can iterate,  and apply slicing and indexing to</a:t>
            </a:r>
          </a:p>
          <a:p>
            <a:r>
              <a:rPr lang="en-US" sz="3200" dirty="0">
                <a:ea typeface="Calibri"/>
                <a:cs typeface="Calibri"/>
              </a:rPr>
              <a:t>These objects also have a map method, which you can use to apply a function to their elements </a:t>
            </a:r>
          </a:p>
          <a:p>
            <a:r>
              <a:rPr lang="en-US" sz="3200" dirty="0">
                <a:ea typeface="Calibri"/>
                <a:cs typeface="Calibri"/>
              </a:rPr>
              <a:t>Elements of these </a:t>
            </a:r>
            <a:r>
              <a:rPr lang="nl-NL" sz="3200" dirty="0" err="1">
                <a:ea typeface="Calibri"/>
                <a:cs typeface="Calibri"/>
              </a:rPr>
              <a:t>objects</a:t>
            </a:r>
            <a:r>
              <a:rPr lang="nl-NL" sz="3200" dirty="0">
                <a:ea typeface="Calibri"/>
                <a:cs typeface="Calibri"/>
              </a:rPr>
              <a:t> </a:t>
            </a:r>
            <a:r>
              <a:rPr lang="en-US" sz="3200" dirty="0">
                <a:ea typeface="Calibri"/>
                <a:cs typeface="Calibri"/>
              </a:rPr>
              <a:t>cannot be changed, but</a:t>
            </a:r>
            <a:r>
              <a:rPr lang="nl-NL" sz="3200" dirty="0">
                <a:ea typeface="Calibri"/>
                <a:cs typeface="Calibri"/>
              </a:rPr>
              <a:t> </a:t>
            </a:r>
            <a:r>
              <a:rPr lang="nl-NL" sz="3200" dirty="0" err="1">
                <a:ea typeface="Calibri"/>
                <a:cs typeface="Calibri"/>
              </a:rPr>
              <a:t>they</a:t>
            </a:r>
            <a:r>
              <a:rPr lang="nl-NL" sz="3200" dirty="0">
                <a:ea typeface="Calibri"/>
                <a:cs typeface="Calibri"/>
              </a:rPr>
              <a:t> </a:t>
            </a:r>
            <a:r>
              <a:rPr lang="en-US" sz="3200" dirty="0">
                <a:ea typeface="Calibri"/>
                <a:cs typeface="Calibri"/>
              </a:rPr>
              <a:t>can be overwritten in full:</a:t>
            </a:r>
          </a:p>
          <a:p>
            <a:pPr lvl="1"/>
            <a:r>
              <a:rPr lang="en-US" sz="3200" dirty="0" err="1">
                <a:latin typeface="Courier New"/>
                <a:ea typeface="Calibri"/>
                <a:cs typeface="Courier New"/>
              </a:rPr>
              <a:t>df.index</a:t>
            </a:r>
            <a:r>
              <a:rPr lang="en-US" sz="3200" dirty="0">
                <a:latin typeface="Courier New"/>
                <a:ea typeface="Calibri"/>
                <a:cs typeface="Courier New"/>
              </a:rPr>
              <a:t>[1] = 'fourth'                    # Onscreen: Error</a:t>
            </a:r>
          </a:p>
          <a:p>
            <a:pPr lvl="1"/>
            <a:r>
              <a:rPr lang="en-US" sz="3200" dirty="0" err="1">
                <a:latin typeface="Courier New"/>
                <a:ea typeface="Calibri"/>
                <a:cs typeface="Courier New"/>
              </a:rPr>
              <a:t>df.index</a:t>
            </a:r>
            <a:r>
              <a:rPr lang="en-US" sz="3200" dirty="0">
                <a:latin typeface="Courier New"/>
                <a:ea typeface="Calibri"/>
                <a:cs typeface="Courier New"/>
              </a:rPr>
              <a:t> = ['First', 'Fourth', 'Third']   # Works </a:t>
            </a:r>
            <a:r>
              <a:rPr lang="en-US" altLang="en-US" sz="3200" dirty="0"/>
              <a:t> </a:t>
            </a:r>
            <a:endParaRPr lang="en-US" sz="3200" dirty="0">
              <a:ea typeface="Calibri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</a:t>
            </a:fld>
            <a:endParaRPr lang="nl-N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DB7B0-6F9E-9B85-F934-DE19DF4BB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018253"/>
              </p:ext>
            </p:extLst>
          </p:nvPr>
        </p:nvGraphicFramePr>
        <p:xfrm>
          <a:off x="712608" y="1253331"/>
          <a:ext cx="81280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143183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64999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9983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280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3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2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Third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2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30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libri Light"/>
                <a:cs typeface="Calibri Light"/>
              </a:rPr>
              <a:t>Creating a </a:t>
            </a:r>
            <a:r>
              <a:rPr lang="en-US" sz="4000" dirty="0" err="1">
                <a:latin typeface="Calibri Light"/>
                <a:cs typeface="Calibri Light"/>
              </a:rPr>
              <a:t>DataFrame</a:t>
            </a:r>
            <a:r>
              <a:rPr lang="en-US" sz="4000" dirty="0">
                <a:latin typeface="Calibri Light"/>
                <a:cs typeface="Calibri Light"/>
              </a:rPr>
              <a:t> using a dictionary </a:t>
            </a:r>
            <a:endParaRPr lang="en-US" sz="4000" noProof="0" dirty="0">
              <a:latin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82" y="1253331"/>
            <a:ext cx="11920416" cy="54520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Say you want to create the following dataframe:</a:t>
            </a:r>
            <a:endParaRPr lang="en-US" sz="2400" dirty="0">
              <a:ea typeface="Calibri"/>
              <a:cs typeface="Calibri"/>
            </a:endParaRP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r>
              <a:rPr lang="en-US" sz="2400" dirty="0"/>
              <a:t>One</a:t>
            </a:r>
            <a:r>
              <a:rPr lang="en-US" sz="2400" dirty="0">
                <a:cs typeface="Calibri"/>
              </a:rPr>
              <a:t> of the easiest ways to create this dataframe is by using </a:t>
            </a:r>
            <a:r>
              <a:rPr lang="en-US" sz="2400" dirty="0"/>
              <a:t>a </a:t>
            </a:r>
            <a:r>
              <a:rPr lang="en-US" sz="2400" dirty="0">
                <a:cs typeface="Calibri"/>
              </a:rPr>
              <a:t>dictionary: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Courier New"/>
              </a:rPr>
              <a:t>import pandas as pd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d1 = {'Name':['A', 'B', 'C'],'Length':[153, 160, 150],'Weight':[55, 70, 60]}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df1 =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pd.DataFrame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(d1, index=['First', 'Second', 'Third'])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print(df1)</a:t>
            </a:r>
            <a:endParaRPr lang="nl-NL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32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</a:t>
            </a:fld>
            <a:endParaRPr lang="nl-N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DB7B0-6F9E-9B85-F934-DE19DF4BBCFD}"/>
              </a:ext>
            </a:extLst>
          </p:cNvPr>
          <p:cNvGraphicFramePr>
            <a:graphicFrameLocks noGrp="1"/>
          </p:cNvGraphicFramePr>
          <p:nvPr/>
        </p:nvGraphicFramePr>
        <p:xfrm>
          <a:off x="603551" y="1701747"/>
          <a:ext cx="81280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143183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64999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9983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280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3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2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Third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2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67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cs typeface="Calibri Light"/>
              </a:rPr>
              <a:t>Creating a </a:t>
            </a:r>
            <a:r>
              <a:rPr lang="en-US" sz="4000" dirty="0" err="1">
                <a:cs typeface="Calibri Light"/>
              </a:rPr>
              <a:t>DataFrame</a:t>
            </a:r>
            <a:r>
              <a:rPr lang="en-US" sz="4000" dirty="0">
                <a:cs typeface="Calibri Light"/>
              </a:rPr>
              <a:t> using a dictionary 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Let's do some closer inspection of the code, line by line: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cs typeface="Courier New"/>
              </a:rPr>
              <a:t>import pandas as pd</a:t>
            </a:r>
            <a:endParaRPr lang="nl-NL" sz="2000" dirty="0">
              <a:latin typeface="Calibri" panose="020F0502020204030204"/>
              <a:cs typeface="Calibri"/>
            </a:endParaRPr>
          </a:p>
          <a:p>
            <a:pPr lvl="1"/>
            <a:r>
              <a:rPr lang="en-US" sz="2000" dirty="0">
                <a:latin typeface="Calibri"/>
                <a:cs typeface="Courier New"/>
              </a:rPr>
              <a:t>You need to import the Pandas package just like the math package as it is </a:t>
            </a:r>
            <a:r>
              <a:rPr lang="en-US" sz="2000" dirty="0"/>
              <a:t>not </a:t>
            </a:r>
            <a:r>
              <a:rPr lang="nl-NL" sz="2000" dirty="0"/>
              <a:t>standard</a:t>
            </a:r>
            <a:r>
              <a:rPr lang="en-US" sz="2000" dirty="0"/>
              <a:t> imported in Python</a:t>
            </a:r>
            <a:endParaRPr lang="nl-NL" sz="2000" dirty="0">
              <a:ea typeface="Calibri"/>
              <a:cs typeface="Calibri"/>
            </a:endParaRPr>
          </a:p>
          <a:p>
            <a:pPr lvl="1"/>
            <a:r>
              <a:rPr lang="en-US" sz="2000" dirty="0"/>
              <a:t>We rename the package to </a:t>
            </a:r>
            <a:r>
              <a:rPr lang="en-US" sz="2000" dirty="0">
                <a:latin typeface="Courier New"/>
                <a:cs typeface="Courier New"/>
              </a:rPr>
              <a:t>pd</a:t>
            </a:r>
            <a:r>
              <a:rPr lang="en-US" sz="2000" dirty="0"/>
              <a:t>, this is simply a convention 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cs typeface="Courier New"/>
              </a:rPr>
              <a:t>d1 = {'Name':['A','B','C'],'Length':[153,160,150],'Weight':[55,70,60]}</a:t>
            </a:r>
            <a:endParaRPr lang="nl-NL" sz="2000" dirty="0">
              <a:latin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cs typeface="Courier New"/>
              </a:rPr>
              <a:t>We create a dictionary, </a:t>
            </a:r>
            <a:r>
              <a:rPr lang="en-US" sz="2000" dirty="0"/>
              <a:t>where each </a:t>
            </a:r>
            <a:r>
              <a:rPr lang="en-US" sz="2000" dirty="0" err="1"/>
              <a:t>key:value</a:t>
            </a:r>
            <a:r>
              <a:rPr lang="en-US" sz="2000" dirty="0"/>
              <a:t> pair represents a column: the keys are the colnames and the values of the columns are in the </a:t>
            </a:r>
            <a:r>
              <a:rPr lang="en-US" sz="2000" dirty="0" err="1"/>
              <a:t>sublists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latin typeface="Courier New"/>
                <a:cs typeface="Courier New"/>
              </a:rPr>
              <a:t>df1 = </a:t>
            </a:r>
            <a:r>
              <a:rPr lang="en-US" sz="2000" dirty="0" err="1">
                <a:latin typeface="Courier New"/>
                <a:cs typeface="Courier New"/>
              </a:rPr>
              <a:t>pd.DataFrame</a:t>
            </a:r>
            <a:r>
              <a:rPr lang="en-US" sz="2000" dirty="0">
                <a:latin typeface="Courier New"/>
                <a:cs typeface="Courier New"/>
              </a:rPr>
              <a:t> (d1, index=['</a:t>
            </a:r>
            <a:r>
              <a:rPr lang="en-US" sz="2000" dirty="0" err="1">
                <a:latin typeface="Courier New"/>
                <a:cs typeface="Courier New"/>
              </a:rPr>
              <a:t>First','Second','Third</a:t>
            </a:r>
            <a:r>
              <a:rPr lang="en-US" sz="2000" dirty="0">
                <a:latin typeface="Courier New"/>
                <a:cs typeface="Courier New"/>
              </a:rPr>
              <a:t>'])</a:t>
            </a:r>
            <a:endParaRPr lang="nl-NL" sz="2000" dirty="0">
              <a:latin typeface="Courier New"/>
              <a:cs typeface="Courier New"/>
            </a:endParaRPr>
          </a:p>
          <a:p>
            <a:pPr lvl="1"/>
            <a:r>
              <a:rPr lang="en-US" sz="2000" dirty="0">
                <a:latin typeface="Calibri"/>
                <a:cs typeface="Courier New"/>
              </a:rPr>
              <a:t>We use the </a:t>
            </a:r>
            <a:r>
              <a:rPr lang="en-US" sz="2000" dirty="0" err="1">
                <a:latin typeface="Calibri"/>
                <a:cs typeface="Arial"/>
              </a:rPr>
              <a:t>DataFrame</a:t>
            </a:r>
            <a:r>
              <a:rPr lang="en-US" sz="2000" dirty="0">
                <a:latin typeface="Calibri"/>
                <a:cs typeface="Arial"/>
              </a:rPr>
              <a:t> class from the Pandas package to create a dataframe object and give it the name</a:t>
            </a:r>
            <a:r>
              <a:rPr lang="en-US" sz="2000" dirty="0">
                <a:latin typeface="Arial"/>
                <a:cs typeface="Arial"/>
              </a:rPr>
              <a:t> </a:t>
            </a:r>
            <a:r>
              <a:rPr lang="en-US" sz="1800" dirty="0">
                <a:latin typeface="Courier New"/>
                <a:cs typeface="Courier New"/>
              </a:rPr>
              <a:t>df1</a:t>
            </a:r>
            <a:endParaRPr lang="nl-NL" sz="1800" dirty="0">
              <a:latin typeface="Courier New"/>
              <a:cs typeface="Courier New"/>
            </a:endParaRPr>
          </a:p>
          <a:p>
            <a:pPr lvl="1"/>
            <a:r>
              <a:rPr lang="nl-NL" sz="2000" dirty="0">
                <a:latin typeface="Calibri"/>
                <a:cs typeface="Arial"/>
              </a:rPr>
              <a:t>The</a:t>
            </a:r>
            <a:r>
              <a:rPr lang="en-US" sz="2000" dirty="0">
                <a:latin typeface="Calibri"/>
                <a:cs typeface="Arial"/>
              </a:rPr>
              <a:t> index parameter defines the rownames</a:t>
            </a:r>
          </a:p>
          <a:p>
            <a:r>
              <a:rPr lang="en-US" sz="2000" dirty="0">
                <a:latin typeface="Courier New"/>
                <a:cs typeface="Courier New"/>
              </a:rPr>
              <a:t>print(df1)</a:t>
            </a:r>
            <a:endParaRPr lang="nl-NL" sz="2000" dirty="0">
              <a:latin typeface="Calibri"/>
              <a:cs typeface="Arial"/>
            </a:endParaRPr>
          </a:p>
          <a:p>
            <a:pPr lvl="1"/>
            <a:r>
              <a:rPr lang="en-US" sz="2000" dirty="0">
                <a:latin typeface="Calibri"/>
                <a:cs typeface="Courier New"/>
              </a:rPr>
              <a:t>Print the created </a:t>
            </a:r>
            <a:r>
              <a:rPr lang="en-US" sz="2000" dirty="0">
                <a:latin typeface="Calibri"/>
                <a:cs typeface="Arial"/>
              </a:rPr>
              <a:t>dataframe object to see whether it </a:t>
            </a:r>
            <a:r>
              <a:rPr lang="nl-NL" sz="2000" dirty="0" err="1">
                <a:latin typeface="Calibri"/>
                <a:cs typeface="Arial"/>
              </a:rPr>
              <a:t>turned</a:t>
            </a:r>
            <a:r>
              <a:rPr lang="nl-NL" sz="2000" dirty="0">
                <a:latin typeface="Calibri"/>
                <a:cs typeface="Arial"/>
              </a:rPr>
              <a:t> out </a:t>
            </a:r>
            <a:r>
              <a:rPr lang="en-US" sz="2000" dirty="0">
                <a:latin typeface="Calibri"/>
                <a:cs typeface="Arial"/>
              </a:rPr>
              <a:t>as we planned</a:t>
            </a:r>
            <a:endParaRPr lang="nl-NL" sz="2000" dirty="0">
              <a:latin typeface="Calibri"/>
              <a:cs typeface="Arial"/>
            </a:endParaRPr>
          </a:p>
          <a:p>
            <a:endParaRPr lang="nl-NL" sz="2000" dirty="0">
              <a:ea typeface="Calibri"/>
              <a:cs typeface="Calibri"/>
            </a:endParaRPr>
          </a:p>
          <a:p>
            <a:endParaRPr lang="en-US" sz="22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681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nl-NL" sz="4000" dirty="0" err="1"/>
              <a:t>Creating</a:t>
            </a:r>
            <a:r>
              <a:rPr lang="nl-NL" sz="4000" dirty="0"/>
              <a:t> a</a:t>
            </a:r>
            <a:r>
              <a:rPr lang="en-US" sz="4000" dirty="0"/>
              <a:t> D</a:t>
            </a:r>
            <a:r>
              <a:rPr lang="nl-NL" sz="4000" dirty="0" err="1"/>
              <a:t>ataFrame</a:t>
            </a:r>
            <a:r>
              <a:rPr lang="nl-NL" sz="4000" dirty="0"/>
              <a:t> </a:t>
            </a:r>
            <a:r>
              <a:rPr lang="nl-NL" sz="4000" dirty="0" err="1"/>
              <a:t>using</a:t>
            </a:r>
            <a:r>
              <a:rPr lang="nl-NL" sz="4000" dirty="0"/>
              <a:t> a list of </a:t>
            </a:r>
            <a:r>
              <a:rPr lang="nl-NL" sz="4000" dirty="0" err="1"/>
              <a:t>lists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nl-NL" sz="2400" dirty="0" err="1"/>
              <a:t>Alternatively</a:t>
            </a:r>
            <a:r>
              <a:rPr lang="nl-NL" sz="2400" dirty="0">
                <a:latin typeface="Calibri"/>
                <a:cs typeface="Calibri"/>
              </a:rPr>
              <a:t>, </a:t>
            </a:r>
            <a:r>
              <a:rPr lang="nl-NL" sz="2400" dirty="0" err="1">
                <a:latin typeface="Calibri"/>
                <a:cs typeface="Calibri"/>
              </a:rPr>
              <a:t>you</a:t>
            </a:r>
            <a:r>
              <a:rPr lang="nl-NL" sz="2400" dirty="0">
                <a:latin typeface="Calibri"/>
                <a:cs typeface="Calibri"/>
              </a:rPr>
              <a:t> </a:t>
            </a:r>
            <a:r>
              <a:rPr lang="nl-NL" sz="2400" dirty="0" err="1">
                <a:latin typeface="Calibri"/>
                <a:cs typeface="Calibri"/>
              </a:rPr>
              <a:t>can</a:t>
            </a:r>
            <a:r>
              <a:rPr lang="nl-NL" sz="2400" dirty="0">
                <a:latin typeface="Calibri"/>
                <a:cs typeface="Calibri"/>
              </a:rPr>
              <a:t> </a:t>
            </a:r>
            <a:r>
              <a:rPr lang="nl-NL" sz="2400" dirty="0" err="1">
                <a:latin typeface="Calibri"/>
                <a:cs typeface="Calibri"/>
              </a:rPr>
              <a:t>create</a:t>
            </a:r>
            <a:r>
              <a:rPr lang="nl-NL" sz="2400" dirty="0">
                <a:latin typeface="Calibri"/>
                <a:cs typeface="Calibri"/>
              </a:rPr>
              <a:t> a dataframe </a:t>
            </a:r>
            <a:r>
              <a:rPr lang="nl-NL" sz="2400" dirty="0" err="1">
                <a:latin typeface="Calibri"/>
                <a:cs typeface="Calibri"/>
              </a:rPr>
              <a:t>using</a:t>
            </a:r>
            <a:r>
              <a:rPr lang="nl-NL" sz="2400" dirty="0">
                <a:latin typeface="Calibri"/>
                <a:cs typeface="Calibri"/>
              </a:rPr>
              <a:t> a </a:t>
            </a:r>
            <a:r>
              <a:rPr lang="nl-NL" sz="2400" dirty="0"/>
              <a:t>list of </a:t>
            </a:r>
            <a:r>
              <a:rPr lang="nl-NL" sz="2400" dirty="0" err="1"/>
              <a:t>lists</a:t>
            </a:r>
            <a:r>
              <a:rPr lang="nl-NL" sz="2400" dirty="0"/>
              <a:t>, </a:t>
            </a:r>
            <a:r>
              <a:rPr lang="nl-NL" sz="2400" dirty="0" err="1"/>
              <a:t>where</a:t>
            </a:r>
            <a:r>
              <a:rPr lang="nl-NL" sz="2400" dirty="0"/>
              <a:t> </a:t>
            </a:r>
            <a:r>
              <a:rPr lang="nl-NL" sz="2400" dirty="0" err="1"/>
              <a:t>every</a:t>
            </a:r>
            <a:r>
              <a:rPr lang="nl-NL" sz="2400" dirty="0"/>
              <a:t> </a:t>
            </a:r>
            <a:r>
              <a:rPr lang="nl-NL" sz="2400" dirty="0" err="1"/>
              <a:t>sublist</a:t>
            </a:r>
            <a:r>
              <a:rPr lang="nl-NL" sz="2400" dirty="0"/>
              <a:t> </a:t>
            </a:r>
            <a:r>
              <a:rPr lang="nl-NL" sz="2400" dirty="0" err="1"/>
              <a:t>represents</a:t>
            </a:r>
            <a:r>
              <a:rPr lang="nl-NL" sz="2400" dirty="0"/>
              <a:t> a </a:t>
            </a:r>
            <a:r>
              <a:rPr lang="nl-NL" sz="2400" dirty="0" err="1"/>
              <a:t>row</a:t>
            </a:r>
            <a:r>
              <a:rPr lang="nl-NL" sz="2400" dirty="0"/>
              <a:t> </a:t>
            </a:r>
            <a:endParaRPr lang="nl-NL" sz="2400" dirty="0">
              <a:ea typeface="Calibri"/>
              <a:cs typeface="Calibri"/>
            </a:endParaRPr>
          </a:p>
          <a:p>
            <a:r>
              <a:rPr lang="nl-NL" sz="2000" dirty="0">
                <a:latin typeface="Courier New"/>
                <a:cs typeface="Courier New"/>
              </a:rPr>
              <a:t>import </a:t>
            </a:r>
            <a:r>
              <a:rPr lang="nl-NL" sz="2000" dirty="0" err="1">
                <a:latin typeface="Courier New"/>
                <a:cs typeface="Courier New"/>
              </a:rPr>
              <a:t>pandas</a:t>
            </a:r>
            <a:r>
              <a:rPr lang="nl-NL" sz="2000" dirty="0">
                <a:latin typeface="Courier New"/>
                <a:cs typeface="Courier New"/>
              </a:rPr>
              <a:t> as </a:t>
            </a:r>
            <a:r>
              <a:rPr lang="nl-NL" sz="2000" dirty="0" err="1">
                <a:latin typeface="Courier New"/>
                <a:cs typeface="Courier New"/>
              </a:rPr>
              <a:t>pd</a:t>
            </a:r>
            <a:br>
              <a:rPr lang="nl-NL" sz="2000" dirty="0">
                <a:latin typeface="Courier New"/>
                <a:cs typeface="Courier New"/>
              </a:rPr>
            </a:br>
            <a:r>
              <a:rPr lang="nl-NL" sz="2000" dirty="0">
                <a:latin typeface="Courier New"/>
                <a:cs typeface="Courier New"/>
              </a:rPr>
              <a:t>l1 = [['A', 153, 55], ['B', 160, 70], ['C', 150, 60]]</a:t>
            </a:r>
            <a:br>
              <a:rPr lang="nl-NL" sz="2000" dirty="0">
                <a:latin typeface="Courier New"/>
                <a:cs typeface="Courier New"/>
              </a:rPr>
            </a:br>
            <a:r>
              <a:rPr lang="nl-NL" sz="2000" dirty="0">
                <a:latin typeface="Courier New"/>
                <a:cs typeface="Courier New"/>
              </a:rPr>
              <a:t>df1 = </a:t>
            </a:r>
            <a:r>
              <a:rPr lang="nl-NL" sz="2000" dirty="0" err="1">
                <a:latin typeface="Courier New"/>
                <a:cs typeface="Courier New"/>
              </a:rPr>
              <a:t>pd.DataFrame</a:t>
            </a:r>
            <a:r>
              <a:rPr lang="nl-NL" sz="2000" dirty="0">
                <a:latin typeface="Courier New"/>
                <a:cs typeface="Courier New"/>
              </a:rPr>
              <a:t> (l1, index=['First', 'Second', '</a:t>
            </a:r>
            <a:r>
              <a:rPr lang="nl-NL" sz="2000" dirty="0" err="1">
                <a:latin typeface="Courier New"/>
                <a:cs typeface="Courier New"/>
              </a:rPr>
              <a:t>Third</a:t>
            </a:r>
            <a:r>
              <a:rPr lang="nl-NL" sz="2000" dirty="0">
                <a:latin typeface="Courier New"/>
                <a:cs typeface="Courier New"/>
              </a:rPr>
              <a:t>'], columns=['Name', '</a:t>
            </a:r>
            <a:r>
              <a:rPr lang="nl-NL" sz="2000" dirty="0" err="1">
                <a:latin typeface="Courier New"/>
                <a:cs typeface="Courier New"/>
              </a:rPr>
              <a:t>Length</a:t>
            </a:r>
            <a:r>
              <a:rPr lang="nl-NL" sz="2000" dirty="0">
                <a:latin typeface="Courier New"/>
                <a:cs typeface="Courier New"/>
              </a:rPr>
              <a:t>', '</a:t>
            </a:r>
            <a:r>
              <a:rPr lang="nl-NL" sz="2000" dirty="0" err="1">
                <a:latin typeface="Courier New"/>
                <a:cs typeface="Courier New"/>
              </a:rPr>
              <a:t>Weight</a:t>
            </a:r>
            <a:r>
              <a:rPr lang="nl-NL" sz="2000" dirty="0">
                <a:latin typeface="Courier New"/>
                <a:cs typeface="Courier New"/>
              </a:rPr>
              <a:t>'])</a:t>
            </a:r>
            <a:br>
              <a:rPr lang="nl-NL" sz="2000" dirty="0">
                <a:latin typeface="Courier New"/>
                <a:cs typeface="Courier New"/>
              </a:rPr>
            </a:br>
            <a:r>
              <a:rPr lang="nl-NL" sz="2000" dirty="0">
                <a:latin typeface="Courier New"/>
                <a:cs typeface="Courier New"/>
              </a:rPr>
              <a:t>print(df1)</a:t>
            </a:r>
          </a:p>
          <a:p>
            <a:r>
              <a:rPr lang="nl-NL" sz="2400" dirty="0" err="1">
                <a:latin typeface="Calibri"/>
                <a:cs typeface="Calibri"/>
              </a:rPr>
              <a:t>Since</a:t>
            </a:r>
            <a:r>
              <a:rPr lang="nl-NL" sz="2400" dirty="0">
                <a:latin typeface="Calibri"/>
                <a:cs typeface="Calibri"/>
              </a:rPr>
              <a:t> </a:t>
            </a:r>
            <a:r>
              <a:rPr lang="nl-NL" sz="2400" dirty="0" err="1">
                <a:latin typeface="Calibri"/>
                <a:cs typeface="Calibri"/>
              </a:rPr>
              <a:t>there</a:t>
            </a:r>
            <a:r>
              <a:rPr lang="nl-NL" sz="2400" dirty="0">
                <a:latin typeface="Calibri"/>
                <a:cs typeface="Calibri"/>
              </a:rPr>
              <a:t> are no </a:t>
            </a:r>
            <a:r>
              <a:rPr lang="nl-NL" sz="2400" dirty="0" err="1">
                <a:latin typeface="Calibri"/>
                <a:cs typeface="Calibri"/>
              </a:rPr>
              <a:t>keys</a:t>
            </a:r>
            <a:r>
              <a:rPr lang="nl-NL" sz="2400" dirty="0">
                <a:latin typeface="Calibri"/>
                <a:cs typeface="Calibri"/>
              </a:rPr>
              <a:t>, </a:t>
            </a:r>
            <a:r>
              <a:rPr lang="nl-NL" sz="2400" dirty="0" err="1">
                <a:latin typeface="Calibri"/>
                <a:cs typeface="Calibri"/>
              </a:rPr>
              <a:t>you</a:t>
            </a:r>
            <a:r>
              <a:rPr lang="nl-NL" sz="2400" dirty="0">
                <a:latin typeface="Calibri"/>
                <a:cs typeface="Calibri"/>
              </a:rPr>
              <a:t> must pass the </a:t>
            </a:r>
            <a:r>
              <a:rPr lang="nl-NL" sz="2400" dirty="0" err="1">
                <a:latin typeface="Calibri"/>
                <a:cs typeface="Calibri"/>
              </a:rPr>
              <a:t>names</a:t>
            </a:r>
            <a:r>
              <a:rPr lang="nl-NL" sz="2400" dirty="0">
                <a:latin typeface="Calibri"/>
                <a:cs typeface="Calibri"/>
              </a:rPr>
              <a:t> of the columns </a:t>
            </a:r>
            <a:r>
              <a:rPr lang="nl-NL" sz="2400" dirty="0" err="1">
                <a:latin typeface="Calibri"/>
                <a:cs typeface="Calibri"/>
              </a:rPr>
              <a:t>another</a:t>
            </a:r>
            <a:r>
              <a:rPr lang="nl-NL" sz="2400" dirty="0">
                <a:latin typeface="Calibri"/>
                <a:cs typeface="Calibri"/>
              </a:rPr>
              <a:t> way </a:t>
            </a:r>
            <a:r>
              <a:rPr lang="nl-NL" sz="2400" dirty="0" err="1">
                <a:latin typeface="Calibri"/>
                <a:cs typeface="Calibri"/>
              </a:rPr>
              <a:t>to</a:t>
            </a:r>
            <a:r>
              <a:rPr lang="nl-NL" sz="2400" dirty="0">
                <a:latin typeface="Calibri"/>
                <a:cs typeface="Calibri"/>
              </a:rPr>
              <a:t> the </a:t>
            </a:r>
            <a:r>
              <a:rPr lang="nl-NL" sz="2400" dirty="0" err="1">
                <a:latin typeface="Calibri"/>
                <a:cs typeface="Calibri"/>
              </a:rPr>
              <a:t>DataFrame</a:t>
            </a:r>
            <a:r>
              <a:rPr lang="nl-NL" sz="2400" dirty="0">
                <a:latin typeface="Calibri"/>
                <a:cs typeface="Calibri"/>
              </a:rPr>
              <a:t> class </a:t>
            </a:r>
          </a:p>
          <a:p>
            <a:r>
              <a:rPr lang="nl-NL" sz="2400" dirty="0" err="1">
                <a:latin typeface="Calibri"/>
                <a:ea typeface="Calibri"/>
                <a:cs typeface="Calibri"/>
              </a:rPr>
              <a:t>Instead</a:t>
            </a:r>
            <a:r>
              <a:rPr lang="nl-NL" sz="2400" dirty="0">
                <a:latin typeface="Calibri"/>
                <a:ea typeface="Calibri"/>
                <a:cs typeface="Calibri"/>
              </a:rPr>
              <a:t> of a list of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lists</a:t>
            </a:r>
            <a:r>
              <a:rPr lang="nl-NL" sz="2400" dirty="0">
                <a:latin typeface="Calibri"/>
                <a:ea typeface="Calibri"/>
                <a:cs typeface="Calibri"/>
              </a:rPr>
              <a:t>,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you</a:t>
            </a:r>
            <a:r>
              <a:rPr lang="nl-NL" sz="2400" dirty="0">
                <a:latin typeface="Calibri"/>
                <a:ea typeface="Calibri"/>
                <a:cs typeface="Calibri"/>
              </a:rPr>
              <a:t>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can</a:t>
            </a:r>
            <a:r>
              <a:rPr lang="nl-NL" sz="2400" dirty="0">
                <a:latin typeface="Calibri"/>
                <a:ea typeface="Calibri"/>
                <a:cs typeface="Calibri"/>
              </a:rPr>
              <a:t>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use</a:t>
            </a:r>
            <a:r>
              <a:rPr lang="nl-NL" sz="2400" dirty="0">
                <a:latin typeface="Calibri"/>
                <a:ea typeface="Calibri"/>
                <a:cs typeface="Calibri"/>
              </a:rPr>
              <a:t> a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tuple</a:t>
            </a:r>
            <a:r>
              <a:rPr lang="nl-NL" sz="2400" dirty="0">
                <a:latin typeface="Calibri"/>
                <a:ea typeface="Calibri"/>
                <a:cs typeface="Calibri"/>
              </a:rPr>
              <a:t> of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lists</a:t>
            </a:r>
            <a:r>
              <a:rPr lang="nl-NL" sz="2400" dirty="0">
                <a:latin typeface="Calibri"/>
                <a:ea typeface="Calibri"/>
                <a:cs typeface="Calibri"/>
              </a:rPr>
              <a:t>, or a list of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tuples</a:t>
            </a:r>
            <a:r>
              <a:rPr lang="nl-NL" sz="2400" dirty="0">
                <a:latin typeface="Calibri"/>
                <a:ea typeface="Calibri"/>
                <a:cs typeface="Calibri"/>
              </a:rPr>
              <a:t>, or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tuples</a:t>
            </a:r>
            <a:r>
              <a:rPr lang="nl-NL" sz="2400" dirty="0">
                <a:latin typeface="Calibri"/>
                <a:ea typeface="Calibri"/>
                <a:cs typeface="Calibri"/>
              </a:rPr>
              <a:t> of </a:t>
            </a:r>
            <a:r>
              <a:rPr lang="nl-NL" sz="2400" dirty="0" err="1">
                <a:latin typeface="Calibri"/>
                <a:ea typeface="Calibri"/>
                <a:cs typeface="Calibri"/>
              </a:rPr>
              <a:t>tuples</a:t>
            </a:r>
            <a:endParaRPr lang="nl-NL" sz="2400" dirty="0">
              <a:ea typeface="Calibri"/>
              <a:cs typeface="Calibri"/>
            </a:endParaRPr>
          </a:p>
          <a:p>
            <a:endParaRPr lang="nl-NL" sz="24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02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508618" cy="1325563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Creating a </a:t>
            </a:r>
            <a:r>
              <a:rPr lang="en-US" sz="4000" dirty="0" err="1"/>
              <a:t>DataFrame</a:t>
            </a:r>
            <a:r>
              <a:rPr lang="en-US" sz="4000" dirty="0"/>
              <a:t> using the transpose operator</a:t>
            </a:r>
            <a:endParaRPr lang="en-US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Courier New"/>
                <a:ea typeface="Calibri"/>
                <a:cs typeface="Courier New"/>
              </a:rPr>
              <a:t>import pandas as pd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d1 = {'First':['A', 153, 55],'Second':['B', 160, 70],'Third':['C', 150, 60]}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df1 =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pd.DataFrame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 (d1, index=['Name', 'Length', 'Weight'] )</a:t>
            </a: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print(df1)</a:t>
            </a: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 = df1.T</a:t>
            </a: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print(df1)</a:t>
            </a:r>
            <a:endParaRPr lang="en-US" sz="2000" dirty="0">
              <a:latin typeface="Courier New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DB7B0-6F9E-9B85-F934-DE19DF4BB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84127"/>
              </p:ext>
            </p:extLst>
          </p:nvPr>
        </p:nvGraphicFramePr>
        <p:xfrm>
          <a:off x="687441" y="5136515"/>
          <a:ext cx="81280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143183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64999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9983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280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3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2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Third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252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9038DC-03A4-6E21-1225-42929825F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30773"/>
              </p:ext>
            </p:extLst>
          </p:nvPr>
        </p:nvGraphicFramePr>
        <p:xfrm>
          <a:off x="687441" y="2556021"/>
          <a:ext cx="81280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143183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64999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9983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280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Third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4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2000" dirty="0"/>
                        <a:t>Name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23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2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2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5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r>
              <a:rPr lang="nl-NL" sz="4000" dirty="0" err="1"/>
              <a:t>Creating</a:t>
            </a:r>
            <a:r>
              <a:rPr lang="nl-NL" sz="4000" dirty="0"/>
              <a:t> a</a:t>
            </a:r>
            <a:r>
              <a:rPr lang="en-US" sz="4000" dirty="0"/>
              <a:t> D</a:t>
            </a:r>
            <a:r>
              <a:rPr lang="nl-NL" sz="4000" dirty="0" err="1"/>
              <a:t>ataFrame</a:t>
            </a:r>
            <a:r>
              <a:rPr lang="nl-NL" sz="4000" dirty="0"/>
              <a:t> </a:t>
            </a:r>
            <a:r>
              <a:rPr lang="nl-NL" sz="4000" dirty="0" err="1"/>
              <a:t>using</a:t>
            </a:r>
            <a:r>
              <a:rPr lang="nl-NL" sz="4000" dirty="0"/>
              <a:t> default col </a:t>
            </a:r>
            <a:r>
              <a:rPr lang="nl-NL" sz="4000" dirty="0" err="1"/>
              <a:t>and</a:t>
            </a:r>
            <a:r>
              <a:rPr lang="nl-NL" sz="4000" dirty="0"/>
              <a:t> </a:t>
            </a:r>
            <a:r>
              <a:rPr lang="nl-NL" sz="4000" dirty="0" err="1"/>
              <a:t>row</a:t>
            </a:r>
            <a:r>
              <a:rPr lang="nl-NL" sz="4000" dirty="0"/>
              <a:t> </a:t>
            </a:r>
            <a:r>
              <a:rPr lang="nl-NL" sz="4000" dirty="0" err="1"/>
              <a:t>names</a:t>
            </a:r>
            <a:endParaRPr lang="nl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200" dirty="0">
                <a:latin typeface="Courier New"/>
                <a:cs typeface="Courier New"/>
              </a:rPr>
              <a:t>import pandas as pd</a:t>
            </a:r>
            <a:br>
              <a:rPr lang="en-US" sz="2200" dirty="0">
                <a:latin typeface="Courier New"/>
                <a:cs typeface="Courier New"/>
              </a:rPr>
            </a:br>
            <a:r>
              <a:rPr lang="en-US" sz="2200" dirty="0">
                <a:latin typeface="Courier New"/>
                <a:cs typeface="Courier New"/>
              </a:rPr>
              <a:t>l1 = [['A', 153, 55], ['B', 160, 70], ['C', 150, 60]]</a:t>
            </a:r>
            <a:br>
              <a:rPr lang="en-US" sz="2200" dirty="0">
                <a:latin typeface="Courier New"/>
                <a:cs typeface="Courier New"/>
              </a:rPr>
            </a:br>
            <a:r>
              <a:rPr lang="en-US" sz="2200" dirty="0">
                <a:latin typeface="Courier New"/>
                <a:cs typeface="Courier New"/>
              </a:rPr>
              <a:t>df1 = </a:t>
            </a:r>
            <a:r>
              <a:rPr lang="en-US" sz="2200" dirty="0" err="1">
                <a:latin typeface="Courier New"/>
                <a:cs typeface="Courier New"/>
              </a:rPr>
              <a:t>pd.DataFrame</a:t>
            </a:r>
            <a:r>
              <a:rPr lang="en-US" sz="2200" dirty="0">
                <a:latin typeface="Courier New"/>
                <a:cs typeface="Courier New"/>
              </a:rPr>
              <a:t> (l1)</a:t>
            </a:r>
          </a:p>
          <a:p>
            <a:r>
              <a:rPr lang="en-US" sz="2400" dirty="0">
                <a:latin typeface="Calibri"/>
                <a:cs typeface="Arial"/>
              </a:rPr>
              <a:t>The result of this code will be:</a:t>
            </a: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r>
              <a:rPr lang="en-US" sz="2400" dirty="0">
                <a:latin typeface="Calibri"/>
                <a:cs typeface="Arial"/>
              </a:rPr>
              <a:t>You might think they look a lot like indices from a list, and it does, but looks can be deceiving since they are colnames and rownames, and are more like keys in dictionaries</a:t>
            </a:r>
            <a:br>
              <a:rPr lang="en-US" sz="2400" dirty="0">
                <a:latin typeface="Calibri"/>
                <a:cs typeface="Arial"/>
              </a:rPr>
            </a:br>
            <a:endParaRPr lang="en-US" sz="20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9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4C028EAC-4A9F-1D74-DF27-1E8DAD1A3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299461"/>
              </p:ext>
            </p:extLst>
          </p:nvPr>
        </p:nvGraphicFramePr>
        <p:xfrm>
          <a:off x="735050" y="2771967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424675514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57621546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512668002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3297219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dirty="0">
                          <a:effectLst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884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A​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153​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55​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87837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B​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160​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70​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2152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C​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150​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effectLst/>
                        </a:rPr>
                        <a:t>60​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952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nl-NL" sz="4000" dirty="0" err="1"/>
              <a:t>Creating</a:t>
            </a:r>
            <a:r>
              <a:rPr lang="nl-NL" sz="4000" dirty="0"/>
              <a:t> a series </a:t>
            </a:r>
            <a:r>
              <a:rPr lang="nl-NL" sz="4000" dirty="0" err="1"/>
              <a:t>using</a:t>
            </a:r>
            <a:r>
              <a:rPr lang="nl-NL" sz="4000" dirty="0"/>
              <a:t> a </a:t>
            </a:r>
            <a:r>
              <a:rPr lang="nl-NL" sz="4000" dirty="0" err="1"/>
              <a:t>dictionary</a:t>
            </a:r>
            <a:r>
              <a:rPr lang="nl-NL" sz="4000" dirty="0"/>
              <a:t> or a list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Say you want to create the following series</a:t>
            </a: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import pandas as pd</a:t>
            </a:r>
            <a:br>
              <a:rPr lang="en-US" sz="24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ourier New"/>
                <a:ea typeface="Calibri"/>
                <a:cs typeface="Courier New"/>
              </a:rPr>
              <a:t>d1 = {'First': 153, 'Second': 160, 'Third': 150}</a:t>
            </a:r>
            <a:br>
              <a:rPr lang="en-US" sz="24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ourier New"/>
                <a:ea typeface="Calibri"/>
                <a:cs typeface="Courier New"/>
              </a:rPr>
              <a:t>s1 = 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pd.Series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(d1, name = 'Length')</a:t>
            </a:r>
            <a:br>
              <a:rPr lang="en-US" sz="24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ourier New"/>
                <a:ea typeface="Calibri"/>
                <a:cs typeface="Courier New"/>
              </a:rPr>
              <a:t>print(s1)</a:t>
            </a:r>
            <a:endParaRPr lang="en-US" sz="2400" dirty="0"/>
          </a:p>
          <a:p>
            <a:r>
              <a:rPr lang="en-US" sz="2200" dirty="0">
                <a:latin typeface="Courier New"/>
                <a:ea typeface="Calibri"/>
                <a:cs typeface="Courier New"/>
              </a:rPr>
              <a:t>import pandas as pd</a:t>
            </a:r>
            <a:br>
              <a:rPr lang="en-US" sz="2200" dirty="0">
                <a:latin typeface="Courier New"/>
                <a:ea typeface="Calibri"/>
                <a:cs typeface="Courier New"/>
              </a:rPr>
            </a:br>
            <a:r>
              <a:rPr lang="en-US" sz="2200" dirty="0">
                <a:latin typeface="Courier New"/>
                <a:ea typeface="Calibri"/>
                <a:cs typeface="Courier New"/>
              </a:rPr>
              <a:t>l1 = [153, 160, 150]</a:t>
            </a:r>
            <a:br>
              <a:rPr lang="en-US" sz="2200" dirty="0">
                <a:latin typeface="Courier New"/>
                <a:ea typeface="Calibri"/>
                <a:cs typeface="Courier New"/>
              </a:rPr>
            </a:br>
            <a:r>
              <a:rPr lang="en-US" sz="2200" dirty="0">
                <a:latin typeface="Courier New"/>
                <a:ea typeface="Calibri"/>
                <a:cs typeface="Courier New"/>
              </a:rPr>
              <a:t>s1 = </a:t>
            </a:r>
            <a:r>
              <a:rPr lang="en-US" sz="2200" dirty="0" err="1">
                <a:latin typeface="Courier New"/>
                <a:ea typeface="Calibri"/>
                <a:cs typeface="Courier New"/>
              </a:rPr>
              <a:t>pd.Series</a:t>
            </a:r>
            <a:r>
              <a:rPr lang="en-US" sz="2200" dirty="0">
                <a:latin typeface="Courier New"/>
                <a:ea typeface="Calibri"/>
                <a:cs typeface="Courier New"/>
              </a:rPr>
              <a:t>(l1,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name = 'Length', </a:t>
            </a:r>
            <a:r>
              <a:rPr lang="en-US" sz="2200" dirty="0">
                <a:latin typeface="Courier New"/>
                <a:ea typeface="Calibri"/>
                <a:cs typeface="Courier New"/>
              </a:rPr>
              <a:t>index=['First', 'Second', 'Third'])</a:t>
            </a:r>
            <a:br>
              <a:rPr lang="en-US" sz="2200" dirty="0">
                <a:latin typeface="Courier New"/>
                <a:ea typeface="Calibri"/>
                <a:cs typeface="Courier New"/>
              </a:rPr>
            </a:br>
            <a:r>
              <a:rPr lang="en-US" sz="2200" dirty="0">
                <a:latin typeface="Courier New"/>
                <a:ea typeface="Calibri"/>
                <a:cs typeface="Courier New"/>
              </a:rPr>
              <a:t>print(s1)</a:t>
            </a:r>
            <a:endParaRPr lang="en-US" dirty="0"/>
          </a:p>
          <a:p>
            <a:pPr lvl="1"/>
            <a:endParaRPr lang="en-US" sz="2000" dirty="0">
              <a:latin typeface="Calibri"/>
              <a:ea typeface="Calibri"/>
              <a:cs typeface="Calibri"/>
            </a:endParaRPr>
          </a:p>
          <a:p>
            <a:pPr lvl="1"/>
            <a:endParaRPr lang="en-US" sz="2000" dirty="0">
              <a:latin typeface="Calibri"/>
              <a:ea typeface="Calibri"/>
              <a:cs typeface="Calibri"/>
            </a:endParaRPr>
          </a:p>
          <a:p>
            <a:endParaRPr lang="en-US" sz="26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10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138CBC3F-E2D9-13E9-5464-7168E15D5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704943"/>
              </p:ext>
            </p:extLst>
          </p:nvPr>
        </p:nvGraphicFramePr>
        <p:xfrm>
          <a:off x="673402" y="1631798"/>
          <a:ext cx="81153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650">
                  <a:extLst>
                    <a:ext uri="{9D8B030D-6E8A-4147-A177-3AD203B41FA5}">
                      <a16:colId xmlns:a16="http://schemas.microsoft.com/office/drawing/2014/main" val="3443706072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1194010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First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407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effectLst/>
                        </a:rPr>
                        <a:t>Second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effectLst/>
                        </a:rPr>
                        <a:t>160​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58515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effectLst/>
                        </a:rPr>
                        <a:t>Third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effectLst/>
                        </a:rPr>
                        <a:t>150​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83302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Name: Length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371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17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Series using defaults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ourier New"/>
                <a:ea typeface="Calibri"/>
                <a:cs typeface="Courier New"/>
              </a:rPr>
              <a:t>import pandas as pd</a:t>
            </a:r>
            <a:br>
              <a:rPr lang="en-US" sz="24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ourier New"/>
                <a:ea typeface="Calibri"/>
                <a:cs typeface="Courier New"/>
              </a:rPr>
              <a:t>l1 = [153, 160, 150]</a:t>
            </a:r>
            <a:br>
              <a:rPr lang="en-US" sz="24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ourier New"/>
                <a:ea typeface="Calibri"/>
                <a:cs typeface="Courier New"/>
              </a:rPr>
              <a:t>s1 = 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pd.Series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(l1)</a:t>
            </a:r>
            <a:br>
              <a:rPr lang="en-US" sz="24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ourier New"/>
                <a:ea typeface="Calibri"/>
                <a:cs typeface="Courier New"/>
              </a:rPr>
              <a:t>print(s1)</a:t>
            </a:r>
          </a:p>
          <a:p>
            <a:r>
              <a:rPr lang="en-US" sz="2400" dirty="0">
                <a:cs typeface="Arial"/>
              </a:rPr>
              <a:t>The result of this code will be: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11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138CBC3F-E2D9-13E9-5464-7168E15D5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00448"/>
              </p:ext>
            </p:extLst>
          </p:nvPr>
        </p:nvGraphicFramePr>
        <p:xfrm>
          <a:off x="673402" y="3192150"/>
          <a:ext cx="81153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650">
                  <a:extLst>
                    <a:ext uri="{9D8B030D-6E8A-4147-A177-3AD203B41FA5}">
                      <a16:colId xmlns:a16="http://schemas.microsoft.com/office/drawing/2014/main" val="3443706072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1194010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407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effectLst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effectLst/>
                        </a:rPr>
                        <a:t>160​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58515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>
                          <a:effectLst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dirty="0">
                          <a:effectLst/>
                        </a:rPr>
                        <a:t>150​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83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74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Dataframe and Series indices are like keys in dictionaries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000" dirty="0"/>
              <a:t>With </a:t>
            </a:r>
            <a:r>
              <a:rPr lang="en-US" sz="2000" dirty="0">
                <a:latin typeface="Calibri"/>
                <a:cs typeface="Calibri"/>
              </a:rPr>
              <a:t>a list you can do the following:</a:t>
            </a:r>
            <a:endParaRPr lang="en-US" sz="2000" dirty="0">
              <a:latin typeface="Calibri"/>
              <a:cs typeface="Courier New"/>
            </a:endParaRPr>
          </a:p>
          <a:p>
            <a:r>
              <a:rPr lang="en-US" sz="2000" dirty="0">
                <a:latin typeface="Courier New"/>
                <a:cs typeface="Calibri"/>
              </a:rPr>
              <a:t>l1 = [153, 160, 150]</a:t>
            </a:r>
            <a:br>
              <a:rPr lang="en-US" sz="2000" dirty="0">
                <a:latin typeface="Courier New"/>
                <a:cs typeface="Calibri"/>
              </a:rPr>
            </a:br>
            <a:r>
              <a:rPr lang="en-US" sz="2000" dirty="0">
                <a:latin typeface="Courier New"/>
                <a:cs typeface="Calibri"/>
              </a:rPr>
              <a:t>del l1[1]</a:t>
            </a:r>
            <a:br>
              <a:rPr lang="en-US" sz="2000" dirty="0">
                <a:latin typeface="Courier New"/>
                <a:cs typeface="Calibri"/>
              </a:rPr>
            </a:br>
            <a:r>
              <a:rPr lang="en-US" sz="2000" dirty="0">
                <a:latin typeface="Courier New"/>
                <a:cs typeface="Calibri"/>
              </a:rPr>
              <a:t>del l1[1]</a:t>
            </a:r>
            <a:br>
              <a:rPr lang="en-US" sz="2000" dirty="0">
                <a:latin typeface="Courier New"/>
                <a:cs typeface="Calibri"/>
              </a:rPr>
            </a:br>
            <a:r>
              <a:rPr lang="en-US" sz="2000" dirty="0">
                <a:latin typeface="Courier New"/>
                <a:cs typeface="Calibri"/>
              </a:rPr>
              <a:t>print (l1)          # Onscreen: [153]</a:t>
            </a:r>
          </a:p>
          <a:p>
            <a:r>
              <a:rPr lang="en-US" sz="2000" dirty="0">
                <a:latin typeface="Calibri"/>
                <a:cs typeface="Calibri"/>
              </a:rPr>
              <a:t>You cannot do that with a dictionary:</a:t>
            </a:r>
          </a:p>
          <a:p>
            <a:r>
              <a:rPr lang="en-US" sz="2000" dirty="0">
                <a:latin typeface="Courier New"/>
                <a:cs typeface="Calibri"/>
              </a:rPr>
              <a:t>d1 = {0:153, 1:160, 2:150}</a:t>
            </a:r>
            <a:br>
              <a:rPr lang="en-US" sz="2000" dirty="0">
                <a:latin typeface="Courier New"/>
                <a:cs typeface="Calibri"/>
              </a:rPr>
            </a:br>
            <a:r>
              <a:rPr lang="en-US" sz="2000" dirty="0">
                <a:latin typeface="Courier New"/>
                <a:cs typeface="Calibri"/>
              </a:rPr>
              <a:t>del d1[1]</a:t>
            </a:r>
            <a:br>
              <a:rPr lang="en-US" sz="2000" dirty="0">
                <a:latin typeface="Courier New"/>
                <a:cs typeface="Calibri"/>
              </a:rPr>
            </a:br>
            <a:r>
              <a:rPr lang="en-US" sz="2000" dirty="0">
                <a:latin typeface="Courier New"/>
                <a:cs typeface="Calibri"/>
              </a:rPr>
              <a:t>del d1[1]           # Onscreen: </a:t>
            </a:r>
            <a:r>
              <a:rPr lang="en-US" sz="2000" b="1" dirty="0" err="1">
                <a:latin typeface="Courier New"/>
                <a:cs typeface="Courier New"/>
              </a:rPr>
              <a:t>KeyError</a:t>
            </a:r>
            <a:r>
              <a:rPr lang="en-US" sz="2000" dirty="0">
                <a:latin typeface="Courier New"/>
                <a:cs typeface="Courier New"/>
              </a:rPr>
              <a:t>: 1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000" dirty="0">
                <a:latin typeface="Calibri"/>
                <a:cs typeface="Calibri"/>
              </a:rPr>
              <a:t>And, not with a series (or dataframe):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cs typeface="Calibri"/>
              </a:rPr>
              <a:t>s1 =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pd.Series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([153, 160, 150])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s1.drop(1)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s1.drop(1)     #</a:t>
            </a:r>
            <a:r>
              <a:rPr lang="nl-NL" sz="2000" dirty="0">
                <a:latin typeface="Courier New"/>
                <a:ea typeface="Calibri"/>
                <a:cs typeface="Courier New"/>
              </a:rPr>
              <a:t>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Onscreen: </a:t>
            </a:r>
            <a:r>
              <a:rPr lang="en-US" sz="2000" b="1" dirty="0" err="1">
                <a:latin typeface="Courier New"/>
                <a:ea typeface="Calibri"/>
                <a:cs typeface="Courier New"/>
              </a:rPr>
              <a:t>KeyError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 '[1] not found in axis'</a:t>
            </a:r>
            <a:endParaRPr lang="en-US" sz="2000" dirty="0">
              <a:latin typeface="Courier New"/>
              <a:cs typeface="Courier New"/>
            </a:endParaRPr>
          </a:p>
          <a:p>
            <a:r>
              <a:rPr lang="en-US" sz="2000" dirty="0">
                <a:latin typeface="Calibri"/>
                <a:cs typeface="Calibri"/>
              </a:rPr>
              <a:t>The reason is that de indices of a list give relative positions and are recalculated, while indices in a series (and in a dataframe), and keys in a dictionary are not recalculated</a:t>
            </a:r>
            <a:endParaRPr lang="en-US" sz="2000" dirty="0">
              <a:latin typeface="Courier New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274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/>
              <a:t>Viewing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Assume you created a dataframe like this:</a:t>
            </a:r>
            <a:endParaRPr lang="nl-NL" sz="2400" dirty="0"/>
          </a:p>
          <a:p>
            <a:pPr lvl="1"/>
            <a:r>
              <a:rPr lang="en-US" sz="2000" dirty="0">
                <a:latin typeface="Courier New"/>
                <a:ea typeface="Calibri"/>
                <a:cs typeface="Calibri"/>
              </a:rPr>
              <a:t>import pandas as pd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l1 = ['A', 'B', 'C', 'D'] * 250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l2 = [160, 170, 180, 190, 200] * 200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l3 = [55, 66] * 500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d1 = {'Name':l1, 'Length': l2, 'Weight': l3} 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df1 =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pd.DataFrame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(d1)</a:t>
            </a:r>
            <a:endParaRPr lang="en-US" sz="2000" dirty="0">
              <a:latin typeface="Courier New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If you do: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print(df1)</a:t>
            </a:r>
            <a:r>
              <a:rPr lang="en-US" sz="2400" dirty="0">
                <a:latin typeface="Calibri"/>
                <a:ea typeface="Calibri"/>
                <a:cs typeface="Calibri"/>
              </a:rPr>
              <a:t>,</a:t>
            </a:r>
            <a:r>
              <a:rPr lang="en-US" sz="2000" dirty="0">
                <a:latin typeface="Calibri"/>
                <a:ea typeface="Calibri"/>
                <a:cs typeface="Calibri"/>
              </a:rPr>
              <a:t> Python will only show you the first 5 and the last 5 rows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To have a bit more control, you could use:</a:t>
            </a:r>
          </a:p>
          <a:p>
            <a:pPr lvl="1"/>
            <a:r>
              <a:rPr lang="en-US" sz="2200" dirty="0">
                <a:latin typeface="Calibri"/>
                <a:ea typeface="Calibri"/>
                <a:cs typeface="Calibri"/>
              </a:rPr>
              <a:t> 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print(df1.head(3))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2000" dirty="0">
                <a:latin typeface="Calibri"/>
                <a:ea typeface="Calibri"/>
                <a:cs typeface="Calibri"/>
              </a:rPr>
              <a:t>to print the first 3 rows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print(df1.tail(7))</a:t>
            </a:r>
            <a:r>
              <a:rPr lang="en-US" sz="2000" dirty="0">
                <a:latin typeface="Calibri"/>
                <a:ea typeface="Calibri"/>
                <a:cs typeface="Calibri"/>
              </a:rPr>
              <a:t> to print the last 7 rows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You can use 'any' number as an argument in </a:t>
            </a:r>
            <a:r>
              <a:rPr lang="en-US" sz="1800" dirty="0">
                <a:latin typeface="Courier New"/>
                <a:ea typeface="Calibri"/>
                <a:cs typeface="Calibri"/>
              </a:rPr>
              <a:t>head() </a:t>
            </a:r>
            <a:r>
              <a:rPr lang="en-US" sz="2000" dirty="0">
                <a:latin typeface="Calibri"/>
                <a:ea typeface="Calibri"/>
                <a:cs typeface="Calibri"/>
              </a:rPr>
              <a:t>and</a:t>
            </a:r>
            <a:r>
              <a:rPr lang="en-US" sz="1800" dirty="0">
                <a:latin typeface="Courier New"/>
                <a:ea typeface="Calibri"/>
                <a:cs typeface="Calibri"/>
              </a:rPr>
              <a:t> tail()</a:t>
            </a:r>
            <a:r>
              <a:rPr lang="en-US" sz="2000" dirty="0">
                <a:latin typeface="Calibri"/>
                <a:ea typeface="Calibri"/>
                <a:cs typeface="Calibri"/>
              </a:rPr>
              <a:t>, but the default is 5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37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/>
              <a:t>Viewing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If you are more interested in some quick statistics, you can use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describe()</a:t>
            </a:r>
            <a:endParaRPr lang="en-US" sz="2400" dirty="0">
              <a:latin typeface="Calibri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We can apply this to our dataframe with 1000 rows: </a:t>
            </a:r>
            <a:r>
              <a:rPr lang="en-US" sz="2000" dirty="0">
                <a:latin typeface="Courier New"/>
                <a:ea typeface="Calibri"/>
                <a:cs typeface="Arial"/>
              </a:rPr>
              <a:t>print(df1.describe())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This results in: </a:t>
            </a:r>
          </a:p>
          <a:p>
            <a:pPr lvl="1"/>
            <a:r>
              <a:rPr lang="en-US" sz="14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         Length      Weight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count 1000.000000 1000.000000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mean   180.000000   60.500000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std     14.149212    5.502752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min    160.000000   55.000000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25%    170.000000   55.000000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50%    180.000000   60.500000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75%    190.000000   66.000000 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max    200.000000   66.000000</a:t>
            </a:r>
            <a:r>
              <a:rPr lang="en-US" sz="1800" dirty="0">
                <a:latin typeface="Courier New"/>
                <a:ea typeface="Calibri"/>
                <a:cs typeface="Calibri"/>
              </a:rPr>
              <a:t> </a:t>
            </a:r>
          </a:p>
          <a:p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650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Sorting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ea typeface="Calibri"/>
                <a:cs typeface="Arial"/>
              </a:rPr>
              <a:t>Sorting a dataframe by rownames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Calibri"/>
                <a:cs typeface="Arial"/>
              </a:rPr>
              <a:t>Sorting a dataframe by colnames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Calibri"/>
                <a:cs typeface="Arial"/>
              </a:rPr>
              <a:t>Sorting a dataframe by the values in a row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Calibri"/>
                <a:cs typeface="Arial"/>
              </a:rPr>
              <a:t>Sorting a dataframe by the values in a </a:t>
            </a:r>
            <a:r>
              <a:rPr lang="en-US" sz="2400" dirty="0">
                <a:latin typeface="Calibri"/>
                <a:ea typeface="Calibri"/>
                <a:cs typeface="Arial"/>
              </a:rPr>
              <a:t>column</a:t>
            </a:r>
            <a:endParaRPr lang="en-US" sz="2400" dirty="0">
              <a:latin typeface="Courier New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892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r>
              <a:rPr lang="en-US" dirty="0"/>
              <a:t>Sorting a dataframe by rownames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You have the following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dateframe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  <a:endParaRPr lang="nl-NL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alibri"/>
              </a:rPr>
              <a:t>df1 = df1.sort_index(axis=0, ascending=False))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Arial"/>
              </a:rPr>
              <a:t>ascending = True</a:t>
            </a:r>
            <a:r>
              <a:rPr lang="en-US" sz="2000" dirty="0">
                <a:latin typeface="Calibri"/>
                <a:ea typeface="Calibri"/>
                <a:cs typeface="Arial"/>
              </a:rPr>
              <a:t> is the default</a:t>
            </a:r>
          </a:p>
          <a:p>
            <a:r>
              <a:rPr lang="en-US" sz="2200" dirty="0">
                <a:latin typeface="Courier New"/>
                <a:ea typeface="Calibri"/>
                <a:cs typeface="Arial"/>
              </a:rPr>
              <a:t>axis = 0</a:t>
            </a:r>
            <a:r>
              <a:rPr lang="en-US" sz="2400" dirty="0">
                <a:latin typeface="Calibri"/>
                <a:ea typeface="Calibri"/>
                <a:cs typeface="Arial"/>
              </a:rPr>
              <a:t>,</a:t>
            </a:r>
            <a:r>
              <a:rPr lang="en-US" sz="2200" dirty="0">
                <a:latin typeface="Courier New"/>
                <a:ea typeface="Calibri"/>
                <a:cs typeface="Arial"/>
              </a:rPr>
              <a:t> </a:t>
            </a:r>
            <a:r>
              <a:rPr lang="en-US" sz="2400" dirty="0">
                <a:latin typeface="Calibri"/>
                <a:ea typeface="Calibri"/>
                <a:cs typeface="Arial"/>
              </a:rPr>
              <a:t>and</a:t>
            </a:r>
            <a:r>
              <a:rPr lang="en-US" sz="2200" dirty="0">
                <a:latin typeface="Courier New"/>
                <a:ea typeface="Calibri"/>
                <a:cs typeface="Arial"/>
              </a:rPr>
              <a:t> ascending = True</a:t>
            </a:r>
            <a:r>
              <a:rPr lang="en-US" sz="2400" dirty="0">
                <a:latin typeface="Calibri"/>
                <a:ea typeface="Calibri"/>
                <a:cs typeface="Arial"/>
              </a:rPr>
              <a:t> are the defaults</a:t>
            </a: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16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27BBA19-1FF5-177E-3097-C48AD1199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67047"/>
              </p:ext>
            </p:extLst>
          </p:nvPr>
        </p:nvGraphicFramePr>
        <p:xfrm>
          <a:off x="373673" y="1698674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6834253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77404765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52163921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427911936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7137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883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87912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67371"/>
                  </a:ext>
                </a:extLst>
              </a:tr>
            </a:tbl>
          </a:graphicData>
        </a:graphic>
      </p:graphicFrame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AFD10F72-7703-BF5F-6FB8-8A8CFF2C3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01771"/>
              </p:ext>
            </p:extLst>
          </p:nvPr>
        </p:nvGraphicFramePr>
        <p:xfrm>
          <a:off x="350227" y="4207412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4000074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617450892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350108613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78338034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0217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08311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524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382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45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r>
              <a:rPr lang="en-US" dirty="0"/>
              <a:t>Sorting a dataframe by colnames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You have the following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dateframe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  <a:endParaRPr lang="nl-NL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alibri"/>
              </a:rPr>
              <a:t>df1=df1.sort_index(axis=1, ascending=False)</a:t>
            </a: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r>
              <a:rPr lang="en-US" sz="2200" dirty="0">
                <a:latin typeface="Courier New"/>
                <a:ea typeface="Calibri"/>
                <a:cs typeface="Arial"/>
              </a:rPr>
              <a:t>ascending = True</a:t>
            </a:r>
            <a:r>
              <a:rPr lang="en-US" sz="2400" dirty="0">
                <a:ea typeface="Calibri"/>
                <a:cs typeface="Arial"/>
              </a:rPr>
              <a:t> is the default</a:t>
            </a: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sz="1800" dirty="0">
              <a:latin typeface="Courier New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17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27BBA19-1FF5-177E-3097-C48AD1199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707109"/>
              </p:ext>
            </p:extLst>
          </p:nvPr>
        </p:nvGraphicFramePr>
        <p:xfrm>
          <a:off x="373673" y="1698674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6834253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77404765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52163921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427911936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7137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883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87912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67371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5F10B8D-C0DA-6800-6520-E1984BDE2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201159"/>
              </p:ext>
            </p:extLst>
          </p:nvPr>
        </p:nvGraphicFramePr>
        <p:xfrm>
          <a:off x="345831" y="4239543"/>
          <a:ext cx="812800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143183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964999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29983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5280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Weight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Name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Length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947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First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55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153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23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Second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70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160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2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Third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60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02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21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324060" cy="1325563"/>
          </a:xfrm>
        </p:spPr>
        <p:txBody>
          <a:bodyPr>
            <a:normAutofit/>
          </a:bodyPr>
          <a:lstStyle/>
          <a:p>
            <a:r>
              <a:rPr lang="en-US" sz="4400" dirty="0">
                <a:ea typeface="Calibri"/>
                <a:cs typeface="Arial"/>
              </a:rPr>
              <a:t>Sorting a dataframe by the values in a </a:t>
            </a:r>
            <a:r>
              <a:rPr lang="en-US" dirty="0"/>
              <a:t>column</a:t>
            </a:r>
            <a:br>
              <a:rPr lang="en-US" sz="4400" dirty="0">
                <a:latin typeface="Calibri"/>
                <a:ea typeface="Calibri"/>
                <a:cs typeface="Calibri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You have the following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dateframe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  <a:endParaRPr lang="nl-NL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alibri"/>
              </a:rPr>
              <a:t>df1=df1.sort_values(by='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Length', axis=0, ascending=False)</a:t>
            </a:r>
            <a:endParaRPr lang="en-US" sz="2000" dirty="0">
              <a:ea typeface="Calibri" panose="020F0502020204030204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sz="2000" dirty="0">
              <a:latin typeface="Calibri"/>
              <a:ea typeface="Calibri"/>
              <a:cs typeface="Arial"/>
            </a:endParaRPr>
          </a:p>
          <a:p>
            <a:pPr lvl="1"/>
            <a:r>
              <a:rPr lang="en-US" sz="2000" dirty="0">
                <a:ea typeface="Calibri"/>
                <a:cs typeface="Arial"/>
              </a:rPr>
              <a:t>This only works if all elements in the column have datatypes for which the &gt; operator works</a:t>
            </a:r>
          </a:p>
          <a:p>
            <a:pPr lvl="1"/>
            <a:r>
              <a:rPr lang="en-US" sz="2000" dirty="0">
                <a:ea typeface="Calibri"/>
                <a:cs typeface="Arial"/>
              </a:rPr>
              <a:t>You can pass a list with several colnames to the by parameter, and several </a:t>
            </a:r>
            <a:r>
              <a:rPr lang="en-US" sz="2000" dirty="0" err="1">
                <a:ea typeface="Calibri"/>
                <a:cs typeface="Arial"/>
              </a:rPr>
              <a:t>booleans</a:t>
            </a:r>
            <a:r>
              <a:rPr lang="en-US" sz="2000" dirty="0">
                <a:ea typeface="Calibri"/>
                <a:cs typeface="Arial"/>
              </a:rPr>
              <a:t> to the ascending parameter  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Arial"/>
              </a:rPr>
              <a:t>axis = 0</a:t>
            </a:r>
            <a:r>
              <a:rPr lang="en-US" sz="2000" dirty="0">
                <a:ea typeface="Calibri"/>
                <a:cs typeface="Arial"/>
              </a:rPr>
              <a:t>,</a:t>
            </a:r>
            <a:r>
              <a:rPr lang="en-US" sz="2000" dirty="0">
                <a:latin typeface="Courier New"/>
                <a:ea typeface="Calibri"/>
                <a:cs typeface="Arial"/>
              </a:rPr>
              <a:t> </a:t>
            </a:r>
            <a:r>
              <a:rPr lang="en-US" sz="2000" dirty="0">
                <a:ea typeface="Calibri"/>
                <a:cs typeface="Arial"/>
              </a:rPr>
              <a:t>and</a:t>
            </a:r>
            <a:r>
              <a:rPr lang="en-US" sz="2000" dirty="0">
                <a:latin typeface="Courier New"/>
                <a:ea typeface="Calibri"/>
                <a:cs typeface="Arial"/>
              </a:rPr>
              <a:t> ascending = True</a:t>
            </a:r>
            <a:r>
              <a:rPr lang="en-US" sz="2000" dirty="0">
                <a:ea typeface="Calibri"/>
                <a:cs typeface="Arial"/>
              </a:rPr>
              <a:t> are the defaults</a:t>
            </a:r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18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27BBA19-1FF5-177E-3097-C48AD1199939}"/>
              </a:ext>
            </a:extLst>
          </p:cNvPr>
          <p:cNvGraphicFramePr>
            <a:graphicFrameLocks noGrp="1"/>
          </p:cNvGraphicFramePr>
          <p:nvPr/>
        </p:nvGraphicFramePr>
        <p:xfrm>
          <a:off x="373673" y="1698674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6834253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77404765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52163921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427911936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7137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883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87912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67371"/>
                  </a:ext>
                </a:extLst>
              </a:tr>
            </a:tbl>
          </a:graphicData>
        </a:graphic>
      </p:graphicFrame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43C8DCFC-ABF1-B1C3-754B-674703FAE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424541"/>
              </p:ext>
            </p:extLst>
          </p:nvPr>
        </p:nvGraphicFramePr>
        <p:xfrm>
          <a:off x="373673" y="3919041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9536736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18292696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146088656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349929571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i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7406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9474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2551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154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90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r>
              <a:rPr lang="en-US" sz="4400" dirty="0">
                <a:ea typeface="Calibri"/>
                <a:cs typeface="Arial"/>
              </a:rPr>
              <a:t>Sorting a dataframe by the values in a 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You have the following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dateframe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  <a:endParaRPr lang="nl-NL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alibri"/>
              </a:rPr>
              <a:t>df1=df1.sort_values(by='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First', ascending=False, axis=1)</a:t>
            </a: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This only works if all elements in a row have datatypes for which the &gt; operator works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You can pass a list with several rownames to the by parameter, and several </a:t>
            </a:r>
            <a:r>
              <a:rPr lang="en-US" sz="2000" dirty="0" err="1">
                <a:latin typeface="Calibri"/>
                <a:ea typeface="Calibri"/>
                <a:cs typeface="Arial"/>
              </a:rPr>
              <a:t>booleans</a:t>
            </a:r>
            <a:r>
              <a:rPr lang="en-US" sz="2000" dirty="0">
                <a:latin typeface="Calibri"/>
                <a:ea typeface="Calibri"/>
                <a:cs typeface="Arial"/>
              </a:rPr>
              <a:t> to the ascending parameter  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Arial"/>
              </a:rPr>
              <a:t>axis = 0</a:t>
            </a:r>
            <a:r>
              <a:rPr lang="en-US" sz="2000" dirty="0">
                <a:ea typeface="Calibri"/>
                <a:cs typeface="Arial"/>
              </a:rPr>
              <a:t>,</a:t>
            </a:r>
            <a:r>
              <a:rPr lang="en-US" sz="2000" dirty="0">
                <a:latin typeface="Courier New"/>
                <a:ea typeface="Calibri"/>
                <a:cs typeface="Arial"/>
              </a:rPr>
              <a:t> </a:t>
            </a:r>
            <a:r>
              <a:rPr lang="en-US" sz="2000" dirty="0">
                <a:ea typeface="Calibri"/>
                <a:cs typeface="Arial"/>
              </a:rPr>
              <a:t>and</a:t>
            </a:r>
            <a:r>
              <a:rPr lang="en-US" sz="2000" dirty="0">
                <a:latin typeface="Courier New"/>
                <a:ea typeface="Calibri"/>
                <a:cs typeface="Arial"/>
              </a:rPr>
              <a:t> ascending = True</a:t>
            </a:r>
            <a:r>
              <a:rPr lang="en-US" sz="2000" dirty="0">
                <a:ea typeface="Calibri"/>
                <a:cs typeface="Arial"/>
              </a:rPr>
              <a:t> are the defaults</a:t>
            </a:r>
          </a:p>
          <a:p>
            <a:pPr marL="457200" lvl="1" indent="0">
              <a:buNone/>
            </a:pPr>
            <a:r>
              <a:rPr lang="en-US" sz="2000" dirty="0">
                <a:latin typeface="Calibri"/>
                <a:ea typeface="Calibri"/>
                <a:cs typeface="Arial"/>
              </a:rPr>
              <a:t> </a:t>
            </a:r>
          </a:p>
          <a:p>
            <a:pPr lvl="1"/>
            <a:endParaRPr lang="en-US" sz="2000" dirty="0">
              <a:latin typeface="Calibri"/>
              <a:ea typeface="Calibri"/>
              <a:cs typeface="Arial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19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27BBA19-1FF5-177E-3097-C48AD1199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214540"/>
              </p:ext>
            </p:extLst>
          </p:nvPr>
        </p:nvGraphicFramePr>
        <p:xfrm>
          <a:off x="373673" y="1698674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68342533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77404765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521639217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427911936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7137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6883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200​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87912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300​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67371"/>
                  </a:ext>
                </a:extLst>
              </a:tr>
            </a:tbl>
          </a:graphicData>
        </a:graphic>
      </p:graphicFrame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9B1E5A0F-9B52-2F81-8F21-735F0AA76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728850"/>
              </p:ext>
            </p:extLst>
          </p:nvPr>
        </p:nvGraphicFramePr>
        <p:xfrm>
          <a:off x="373673" y="3913798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187747788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781229711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484981742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143529998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Length​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Weight​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4672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First​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5122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Second​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51642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Third​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644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52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EAC6-2D4C-6C1F-2C0C-E4014258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from a </a:t>
            </a:r>
            <a:r>
              <a:rPr lang="en-US" dirty="0" err="1"/>
              <a:t>dataframe</a:t>
            </a:r>
            <a:r>
              <a:rPr lang="en-US" dirty="0"/>
              <a:t> using columns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CEEF-2D8B-E021-11FB-81763082E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531" y="1825625"/>
            <a:ext cx="10515600" cy="4351338"/>
          </a:xfrm>
        </p:spPr>
        <p:txBody>
          <a:bodyPr/>
          <a:lstStyle/>
          <a:p>
            <a:r>
              <a:rPr lang="en-US" dirty="0"/>
              <a:t>You can use the column names to select the corresponding column, similar to using keys in a dictionary:</a:t>
            </a:r>
          </a:p>
          <a:p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df1 = df1[‘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’]</a:t>
            </a:r>
          </a:p>
          <a:p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df1 = df1[[‘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’,’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’]]</a:t>
            </a:r>
          </a:p>
          <a:p>
            <a:r>
              <a:rPr lang="nl-NL" dirty="0" err="1">
                <a:cs typeface="Courier New" panose="02070309020205020404" pitchFamily="49" charset="0"/>
              </a:rPr>
              <a:t>Notice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that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several</a:t>
            </a:r>
            <a:r>
              <a:rPr lang="nl-NL" dirty="0">
                <a:cs typeface="Courier New" panose="02070309020205020404" pitchFamily="49" charset="0"/>
              </a:rPr>
              <a:t> columns are </a:t>
            </a:r>
            <a:r>
              <a:rPr lang="nl-NL" dirty="0" err="1">
                <a:cs typeface="Courier New" panose="02070309020205020404" pitchFamily="49" charset="0"/>
              </a:rPr>
              <a:t>passed</a:t>
            </a:r>
            <a:r>
              <a:rPr lang="nl-NL" dirty="0">
                <a:cs typeface="Courier New" panose="02070309020205020404" pitchFamily="49" charset="0"/>
              </a:rPr>
              <a:t> as a list!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3DA57-3CC9-3021-AAC1-61311938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6038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Selecting from a dataframe, using loc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000" dirty="0">
                <a:latin typeface="Courier New"/>
                <a:ea typeface="Calibri"/>
                <a:cs typeface="Calibri"/>
              </a:rPr>
              <a:t>loc </a:t>
            </a:r>
            <a:r>
              <a:rPr lang="en-US" sz="2400" dirty="0">
                <a:latin typeface="Calibri"/>
                <a:ea typeface="Calibri"/>
                <a:cs typeface="Calibri"/>
              </a:rPr>
              <a:t>works on the rownames and the colnames of the dataframe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df1.loc[</a:t>
            </a:r>
            <a:r>
              <a:rPr lang="en-US" sz="2000" i="1" dirty="0" err="1">
                <a:latin typeface="Courier New"/>
                <a:ea typeface="Calibri"/>
                <a:cs typeface="Courier New"/>
              </a:rPr>
              <a:t>row_selection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, </a:t>
            </a:r>
            <a:r>
              <a:rPr lang="en-US" sz="2000" i="1" dirty="0" err="1">
                <a:latin typeface="Courier New"/>
                <a:ea typeface="Calibri"/>
                <a:cs typeface="Courier New"/>
              </a:rPr>
              <a:t>col_selection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]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ourier New"/>
              </a:rPr>
              <a:t>Between the square brackets there are two parts: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1800" dirty="0">
                <a:latin typeface="Calibri"/>
                <a:ea typeface="Calibri"/>
                <a:cs typeface="Courier New"/>
              </a:rPr>
              <a:t>Before the comma, you give your selection of </a:t>
            </a:r>
            <a:r>
              <a:rPr lang="en-US" sz="1800" dirty="0">
                <a:latin typeface="Calibri"/>
                <a:ea typeface="Calibri"/>
                <a:cs typeface="Calibri"/>
              </a:rPr>
              <a:t>rownames</a:t>
            </a:r>
          </a:p>
          <a:p>
            <a:pPr lvl="2"/>
            <a:r>
              <a:rPr lang="en-US" sz="1800" dirty="0">
                <a:latin typeface="Calibri"/>
                <a:ea typeface="Calibri"/>
                <a:cs typeface="Calibri"/>
              </a:rPr>
              <a:t>After the comma, you give your selection of colnames</a:t>
            </a:r>
          </a:p>
          <a:p>
            <a:r>
              <a:rPr lang="en-US" sz="2000" dirty="0" err="1">
                <a:latin typeface="Courier New"/>
                <a:ea typeface="Calibri"/>
                <a:cs typeface="Courier New"/>
              </a:rPr>
              <a:t>row_selection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 </a:t>
            </a:r>
            <a:r>
              <a:rPr lang="en-US" sz="2400" dirty="0">
                <a:latin typeface="Calibri"/>
                <a:ea typeface="Calibri"/>
                <a:cs typeface="Courier New"/>
              </a:rPr>
              <a:t>can be filled in in different ways: 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Slicing: </a:t>
            </a:r>
            <a:r>
              <a:rPr lang="en-US" sz="1800" dirty="0" err="1">
                <a:latin typeface="Courier New"/>
                <a:ea typeface="Calibri"/>
                <a:cs typeface="Calibri"/>
              </a:rPr>
              <a:t>first_name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: </a:t>
            </a:r>
            <a:r>
              <a:rPr lang="en-US" sz="1800" i="1" dirty="0" err="1">
                <a:latin typeface="Courier New"/>
                <a:ea typeface="Calibri"/>
                <a:cs typeface="Courier New"/>
              </a:rPr>
              <a:t>last_name</a:t>
            </a:r>
            <a:endParaRPr lang="en-US" sz="1800" i="1" dirty="0">
              <a:latin typeface="Courier New"/>
              <a:ea typeface="Calibri"/>
              <a:cs typeface="Courier New"/>
            </a:endParaRPr>
          </a:p>
          <a:p>
            <a:pPr lvl="2"/>
            <a:r>
              <a:rPr lang="en-US" sz="1800" dirty="0">
                <a:latin typeface="Calibri"/>
                <a:ea typeface="Calibri"/>
                <a:cs typeface="Courier New"/>
              </a:rPr>
              <a:t>You select from the rows from the top to the bottom </a:t>
            </a:r>
            <a:endParaRPr lang="en-US" sz="1800" dirty="0">
              <a:latin typeface="Calibri" panose="020F0502020204030204"/>
              <a:ea typeface="Calibri"/>
              <a:cs typeface="Calibri"/>
            </a:endParaRPr>
          </a:p>
          <a:p>
            <a:pPr lvl="2"/>
            <a:r>
              <a:rPr lang="en-US" sz="1800" dirty="0">
                <a:latin typeface="Calibri"/>
                <a:ea typeface="Calibri"/>
                <a:cs typeface="Courier New"/>
              </a:rPr>
              <a:t>Y</a:t>
            </a:r>
            <a:r>
              <a:rPr lang="en-US" sz="1800" dirty="0">
                <a:latin typeface="Calibri"/>
                <a:ea typeface="Calibri"/>
                <a:cs typeface="Calibri"/>
              </a:rPr>
              <a:t>our selection is a list of rownames: the first one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first_name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, </a:t>
            </a:r>
            <a:r>
              <a:rPr lang="en-US" sz="1800" dirty="0">
                <a:latin typeface="Calibri"/>
                <a:ea typeface="Calibri"/>
                <a:cs typeface="Calibri"/>
              </a:rPr>
              <a:t>the last one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last_name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(inclusive!) and all the rows in between</a:t>
            </a:r>
          </a:p>
          <a:p>
            <a:pPr lvl="2"/>
            <a:r>
              <a:rPr lang="en-US" sz="1800" dirty="0">
                <a:latin typeface="Calibri"/>
                <a:ea typeface="Calibri"/>
                <a:cs typeface="Calibri"/>
              </a:rPr>
              <a:t>If you leave out</a:t>
            </a:r>
            <a:r>
              <a:rPr lang="en-US" sz="1600" dirty="0">
                <a:latin typeface="Calibri"/>
                <a:ea typeface="Calibri"/>
                <a:cs typeface="Calibri"/>
              </a:rPr>
              <a:t>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first_name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the default is the first row and if you leave out the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last_name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the default is the last row</a:t>
            </a:r>
          </a:p>
          <a:p>
            <a:pPr lvl="2"/>
            <a:r>
              <a:rPr lang="en-US" sz="1800" dirty="0">
                <a:latin typeface="Calibri"/>
                <a:ea typeface="Calibri"/>
                <a:cs typeface="Calibri"/>
              </a:rPr>
              <a:t>So, if you leave out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first_name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and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last_name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,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you select all the rows</a:t>
            </a:r>
            <a:endParaRPr lang="en-US" sz="1800" dirty="0"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A list with 1 or more rownames: e.g. </a:t>
            </a:r>
            <a:r>
              <a:rPr lang="en-US" sz="1800" dirty="0">
                <a:latin typeface="Courier New"/>
                <a:ea typeface="Calibri"/>
                <a:cs typeface="Calibri"/>
              </a:rPr>
              <a:t>['First', Third']  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One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rowname</a:t>
            </a:r>
            <a:r>
              <a:rPr lang="en-US" sz="2000" dirty="0">
                <a:latin typeface="Calibri"/>
                <a:ea typeface="Calibri"/>
                <a:cs typeface="Calibri"/>
              </a:rPr>
              <a:t>: e.g. </a:t>
            </a:r>
            <a:r>
              <a:rPr lang="en-US" sz="1800" dirty="0">
                <a:latin typeface="Courier New"/>
                <a:ea typeface="Calibri"/>
                <a:cs typeface="Calibri"/>
              </a:rPr>
              <a:t>'First'</a:t>
            </a:r>
            <a:r>
              <a:rPr lang="en-US" dirty="0">
                <a:latin typeface="Calibri"/>
                <a:ea typeface="Calibri"/>
                <a:cs typeface="Calibri"/>
              </a:rPr>
              <a:t>    </a:t>
            </a:r>
          </a:p>
          <a:p>
            <a:pPr lvl="1"/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44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Selecting from a </a:t>
            </a:r>
            <a:r>
              <a:rPr lang="en-US" err="1"/>
              <a:t>dataframe</a:t>
            </a:r>
            <a:r>
              <a:rPr lang="en-US"/>
              <a:t>: loc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pPr marL="342900" indent="-342900"/>
            <a:r>
              <a:rPr lang="en-US" sz="2000" dirty="0" err="1">
                <a:latin typeface="Courier New"/>
                <a:ea typeface="Calibri"/>
                <a:cs typeface="Courier New"/>
              </a:rPr>
              <a:t>col_selection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 </a:t>
            </a:r>
            <a:r>
              <a:rPr lang="en-US" sz="2400" dirty="0">
                <a:latin typeface="Calibri"/>
                <a:ea typeface="Calibri"/>
                <a:cs typeface="Courier New"/>
              </a:rPr>
              <a:t>can be filled in in exactly the same ways: 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Slicing: </a:t>
            </a:r>
            <a:r>
              <a:rPr lang="en-US" sz="1800" dirty="0" err="1">
                <a:latin typeface="Courier New"/>
                <a:ea typeface="Calibri"/>
                <a:cs typeface="Calibri"/>
              </a:rPr>
              <a:t>first_name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: </a:t>
            </a:r>
            <a:r>
              <a:rPr lang="en-US" sz="1800" i="1" dirty="0" err="1">
                <a:latin typeface="Courier New"/>
                <a:ea typeface="Calibri"/>
                <a:cs typeface="Courier New"/>
              </a:rPr>
              <a:t>last_name</a:t>
            </a:r>
            <a:endParaRPr lang="en-US" sz="1800" i="1" dirty="0">
              <a:latin typeface="Courier New"/>
              <a:ea typeface="Calibri"/>
              <a:cs typeface="Courier New"/>
            </a:endParaRPr>
          </a:p>
          <a:p>
            <a:pPr lvl="2"/>
            <a:r>
              <a:rPr lang="en-US" sz="1800" dirty="0">
                <a:latin typeface="Calibri"/>
                <a:ea typeface="Calibri"/>
                <a:cs typeface="Courier New"/>
              </a:rPr>
              <a:t>You make a selection from the columns from left to right </a:t>
            </a:r>
            <a:endParaRPr lang="en-US" sz="1800" dirty="0">
              <a:latin typeface="Calibri" panose="020F0502020204030204"/>
              <a:ea typeface="Calibri"/>
              <a:cs typeface="Calibri"/>
            </a:endParaRPr>
          </a:p>
          <a:p>
            <a:pPr lvl="2"/>
            <a:r>
              <a:rPr lang="en-US" sz="1800" dirty="0">
                <a:latin typeface="Calibri"/>
                <a:ea typeface="Calibri"/>
                <a:cs typeface="Courier New"/>
              </a:rPr>
              <a:t>Y</a:t>
            </a:r>
            <a:r>
              <a:rPr lang="en-US" sz="1800" dirty="0">
                <a:latin typeface="Calibri"/>
                <a:ea typeface="Calibri"/>
                <a:cs typeface="Calibri"/>
              </a:rPr>
              <a:t>our selection is a list of colnames: the first one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first_name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, </a:t>
            </a:r>
            <a:r>
              <a:rPr lang="en-US" sz="1800" dirty="0">
                <a:latin typeface="Calibri"/>
                <a:ea typeface="Calibri"/>
                <a:cs typeface="Calibri"/>
              </a:rPr>
              <a:t>the last one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last_name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(inclusive!) and all the columns in between</a:t>
            </a:r>
          </a:p>
          <a:p>
            <a:pPr lvl="2"/>
            <a:r>
              <a:rPr lang="en-US" sz="1800" dirty="0">
                <a:latin typeface="Calibri"/>
                <a:ea typeface="Calibri"/>
                <a:cs typeface="Calibri"/>
              </a:rPr>
              <a:t>If you leave out</a:t>
            </a:r>
            <a:r>
              <a:rPr lang="en-US" sz="1600" dirty="0">
                <a:latin typeface="Calibri"/>
                <a:ea typeface="Calibri"/>
                <a:cs typeface="Calibri"/>
              </a:rPr>
              <a:t>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first_name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the default is the first column and if you leave out the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last_name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the default is the last column</a:t>
            </a:r>
          </a:p>
          <a:p>
            <a:pPr lvl="2"/>
            <a:r>
              <a:rPr lang="en-US" sz="1800" dirty="0">
                <a:latin typeface="Calibri"/>
                <a:ea typeface="Calibri"/>
                <a:cs typeface="Calibri"/>
              </a:rPr>
              <a:t>So, if you leave out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first_name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and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last_name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,</a:t>
            </a:r>
            <a:r>
              <a:rPr lang="en-US" sz="1800" i="1" dirty="0">
                <a:latin typeface="Courier New"/>
                <a:ea typeface="Calibri"/>
                <a:cs typeface="Courier New"/>
              </a:rPr>
              <a:t> </a:t>
            </a:r>
            <a:r>
              <a:rPr lang="en-US" sz="1800" dirty="0">
                <a:latin typeface="Calibri"/>
                <a:ea typeface="Calibri"/>
                <a:cs typeface="Calibri"/>
              </a:rPr>
              <a:t>you select all the columns</a:t>
            </a:r>
            <a:endParaRPr lang="en-US" sz="1800" dirty="0"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A list with 1 or more colnames: e.g. </a:t>
            </a:r>
            <a:r>
              <a:rPr lang="en-US" sz="1800" dirty="0">
                <a:latin typeface="Courier New"/>
                <a:ea typeface="Calibri"/>
                <a:cs typeface="Calibri"/>
              </a:rPr>
              <a:t>['Second', 'Third']  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One colname: e.g. </a:t>
            </a:r>
            <a:r>
              <a:rPr lang="en-US" sz="1800" dirty="0">
                <a:latin typeface="Courier New"/>
                <a:ea typeface="Calibri"/>
                <a:cs typeface="Calibri"/>
              </a:rPr>
              <a:t>'Third'</a:t>
            </a:r>
            <a:r>
              <a:rPr lang="en-US" dirty="0">
                <a:latin typeface="Calibri"/>
                <a:ea typeface="Calibri"/>
                <a:cs typeface="Calibri"/>
              </a:rPr>
              <a:t>  </a:t>
            </a:r>
          </a:p>
          <a:p>
            <a:r>
              <a:rPr lang="en-US" sz="2400" dirty="0">
                <a:ea typeface="Calibri"/>
                <a:cs typeface="Calibri"/>
              </a:rPr>
              <a:t>The only difference between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row_selection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2400" dirty="0">
                <a:latin typeface="Calibri"/>
                <a:ea typeface="Calibri"/>
                <a:cs typeface="Courier New"/>
              </a:rPr>
              <a:t>and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col_selection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2400" dirty="0">
                <a:ea typeface="Calibri"/>
                <a:cs typeface="Calibri"/>
              </a:rPr>
              <a:t>is that you can leave out the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col_selection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The</a:t>
            </a:r>
            <a:r>
              <a:rPr lang="en-US" sz="2000" dirty="0">
                <a:ea typeface="Calibri"/>
                <a:cs typeface="Calibri"/>
              </a:rPr>
              <a:t> default is all colnames   </a:t>
            </a:r>
          </a:p>
          <a:p>
            <a:endParaRPr lang="en-US" sz="1900" dirty="0">
              <a:ea typeface="Calibri"/>
              <a:cs typeface="Calibri"/>
            </a:endParaRPr>
          </a:p>
          <a:p>
            <a:pPr lvl="1"/>
            <a:endParaRPr lang="en-US" dirty="0">
              <a:ea typeface="Calibri"/>
              <a:cs typeface="Calibri"/>
            </a:endParaRPr>
          </a:p>
          <a:p>
            <a:pPr lvl="1"/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194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Selecting from a dataframe, using </a:t>
            </a:r>
            <a:r>
              <a:rPr lang="en-US" dirty="0" err="1"/>
              <a:t>iloc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iloc</a:t>
            </a:r>
            <a:r>
              <a:rPr lang="en-US" sz="2000" i="1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>
                <a:latin typeface="Calibri"/>
                <a:ea typeface="Calibri"/>
                <a:cs typeface="Calibri"/>
              </a:rPr>
              <a:t>works almost the same as </a:t>
            </a:r>
            <a:r>
              <a:rPr lang="en-US" sz="2000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loc</a:t>
            </a:r>
            <a:r>
              <a:rPr lang="en-US" sz="2000" dirty="0">
                <a:latin typeface="Calibri"/>
                <a:ea typeface="Calibri"/>
                <a:cs typeface="Calibri"/>
              </a:rPr>
              <a:t>, but there are important differences: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iloc</a:t>
            </a:r>
            <a:r>
              <a:rPr lang="en-US" sz="2000" dirty="0">
                <a:latin typeface="Calibri"/>
                <a:ea typeface="Calibri"/>
                <a:cs typeface="Calibri"/>
              </a:rPr>
              <a:t> doesn't work with colnames and rownames, but with their relative position, like an index in a list</a:t>
            </a:r>
            <a:endParaRPr lang="en-US" sz="2000" dirty="0"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When slicing with </a:t>
            </a:r>
            <a:r>
              <a:rPr lang="en-US" sz="2000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iloc</a:t>
            </a:r>
            <a:r>
              <a:rPr lang="en-US" sz="2000" dirty="0">
                <a:latin typeface="Calibri"/>
                <a:ea typeface="Calibri"/>
                <a:cs typeface="Calibri"/>
              </a:rPr>
              <a:t> the end is </a:t>
            </a:r>
            <a:r>
              <a:rPr lang="en-US" sz="2000" b="1" dirty="0">
                <a:latin typeface="Calibri"/>
                <a:ea typeface="Calibri"/>
                <a:cs typeface="Calibri"/>
              </a:rPr>
              <a:t>not</a:t>
            </a:r>
            <a:r>
              <a:rPr lang="en-US" sz="2000" dirty="0">
                <a:latin typeface="Calibri"/>
                <a:ea typeface="Calibri"/>
                <a:cs typeface="Calibri"/>
              </a:rPr>
              <a:t> inclusive, like an index in a list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Just like with lists you can use -1 etc. to count from the opposite corner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You can use negative numbers when slicing, but also when you select rows/columns with a list of index numbers</a:t>
            </a:r>
            <a:endParaRPr lang="en-US" sz="2000" dirty="0">
              <a:latin typeface="Calibri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77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EFA5-0063-639C-7D96-BEFF4C92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 on slicing and indexing (Dijkstra)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B0B6-D367-FCB0-E09A-8D935384E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55" y="1443070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Slices could be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inclusive:inclusive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inclusive:exclusive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exclusive:inclusive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dirty="0"/>
              <a:t>or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exclusive:exclusive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in:ex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/>
              <a:t>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ex:in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/>
              <a:t>: length is difference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([5:18])=18-5</a:t>
            </a:r>
            <a:r>
              <a:rPr lang="en-US" dirty="0"/>
              <a:t>), and consecutive slices have overlapping point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([5:12] + [12:18] == 5:18])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ex:in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cs typeface="Courier New" panose="02070309020205020404" pitchFamily="49" charset="0"/>
              </a:rPr>
              <a:t>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ex:ex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cs typeface="Courier New" panose="02070309020205020404" pitchFamily="49" charset="0"/>
              </a:rPr>
              <a:t>: starting at zero means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[-1:…]</a:t>
            </a:r>
            <a:r>
              <a:rPr lang="en-US" dirty="0">
                <a:cs typeface="Courier New" panose="02070309020205020404" pitchFamily="49" charset="0"/>
              </a:rPr>
              <a:t>(ugly, and already used)</a:t>
            </a:r>
          </a:p>
          <a:p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in:in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nl-NL" dirty="0" err="1">
                <a:cs typeface="Courier New" panose="02070309020205020404" pitchFamily="49" charset="0"/>
              </a:rPr>
              <a:t>and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ex:in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nl-NL" dirty="0">
                <a:cs typeface="Courier New" panose="02070309020205020404" pitchFamily="49" charset="0"/>
              </a:rPr>
              <a:t>: empty list is 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[n:n-1]. </a:t>
            </a:r>
            <a:r>
              <a:rPr lang="nl-NL" dirty="0" err="1">
                <a:cs typeface="Courier New" panose="02070309020205020404" pitchFamily="49" charset="0"/>
              </a:rPr>
              <a:t>Very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ugly</a:t>
            </a:r>
            <a:r>
              <a:rPr lang="nl-NL" dirty="0">
                <a:cs typeface="Courier New" panose="02070309020205020404" pitchFamily="49" charset="0"/>
              </a:rPr>
              <a:t>.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dirty="0" err="1">
                <a:cs typeface="Courier New" panose="02070309020205020404" pitchFamily="49" charset="0"/>
              </a:rPr>
              <a:t>So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nl-N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in:ex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nl-NL" dirty="0" err="1">
                <a:cs typeface="Courier New" panose="02070309020205020404" pitchFamily="49" charset="0"/>
              </a:rPr>
              <a:t>it</a:t>
            </a:r>
            <a:r>
              <a:rPr lang="nl-NL" dirty="0">
                <a:cs typeface="Courier New" panose="02070309020205020404" pitchFamily="49" charset="0"/>
              </a:rPr>
              <a:t> is.</a:t>
            </a:r>
          </a:p>
          <a:p>
            <a:r>
              <a:rPr lang="nl-NL" dirty="0" err="1">
                <a:cs typeface="Courier New" panose="02070309020205020404" pitchFamily="49" charset="0"/>
              </a:rPr>
              <a:t>Given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that</a:t>
            </a:r>
            <a:r>
              <a:rPr lang="nl-NL" dirty="0">
                <a:cs typeface="Courier New" panose="02070309020205020404" pitchFamily="49" charset="0"/>
              </a:rPr>
              <a:t>, index of </a:t>
            </a:r>
            <a:r>
              <a:rPr lang="nl-NL" dirty="0" err="1">
                <a:cs typeface="Courier New" panose="02070309020205020404" pitchFamily="49" charset="0"/>
              </a:rPr>
              <a:t>the</a:t>
            </a:r>
            <a:r>
              <a:rPr lang="nl-NL" dirty="0">
                <a:cs typeface="Courier New" panose="02070309020205020404" pitchFamily="49" charset="0"/>
              </a:rPr>
              <a:t> last element of 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[:n]</a:t>
            </a:r>
            <a:r>
              <a:rPr lang="nl-NL" sz="2600" dirty="0">
                <a:cs typeface="Courier New" panose="02070309020205020404" pitchFamily="49" charset="0"/>
              </a:rPr>
              <a:t>is 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nl-NL" dirty="0" err="1">
                <a:cs typeface="Courier New" panose="02070309020205020404" pitchFamily="49" charset="0"/>
              </a:rPr>
              <a:t>if</a:t>
            </a:r>
            <a:r>
              <a:rPr lang="nl-NL" dirty="0">
                <a:cs typeface="Courier New" panose="02070309020205020404" pitchFamily="49" charset="0"/>
              </a:rPr>
              <a:t> we start </a:t>
            </a:r>
            <a:r>
              <a:rPr lang="nl-NL" dirty="0" err="1">
                <a:cs typeface="Courier New" panose="02070309020205020404" pitchFamily="49" charset="0"/>
              </a:rPr>
              <a:t>indexing</a:t>
            </a:r>
            <a:r>
              <a:rPr lang="nl-NL" dirty="0">
                <a:cs typeface="Courier New" panose="02070309020205020404" pitchFamily="49" charset="0"/>
              </a:rPr>
              <a:t> at 0, but </a:t>
            </a:r>
            <a:r>
              <a:rPr lang="nl-NL" dirty="0" err="1">
                <a:cs typeface="Courier New" panose="02070309020205020404" pitchFamily="49" charset="0"/>
              </a:rPr>
              <a:t>it</a:t>
            </a:r>
            <a:r>
              <a:rPr lang="nl-NL" dirty="0">
                <a:cs typeface="Courier New" panose="02070309020205020404" pitchFamily="49" charset="0"/>
              </a:rPr>
              <a:t> is </a:t>
            </a:r>
            <a:r>
              <a:rPr lang="nl-NL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nl-NL" dirty="0" err="1">
                <a:cs typeface="Courier New" panose="02070309020205020404" pitchFamily="49" charset="0"/>
              </a:rPr>
              <a:t>if</a:t>
            </a:r>
            <a:r>
              <a:rPr lang="nl-NL" dirty="0">
                <a:cs typeface="Courier New" panose="02070309020205020404" pitchFamily="49" charset="0"/>
              </a:rPr>
              <a:t> we start </a:t>
            </a:r>
            <a:r>
              <a:rPr lang="nl-NL" dirty="0" err="1">
                <a:cs typeface="Courier New" panose="02070309020205020404" pitchFamily="49" charset="0"/>
              </a:rPr>
              <a:t>indexing</a:t>
            </a:r>
            <a:r>
              <a:rPr lang="nl-NL" dirty="0">
                <a:cs typeface="Courier New" panose="02070309020205020404" pitchFamily="49" charset="0"/>
              </a:rPr>
              <a:t> at 1.</a:t>
            </a:r>
          </a:p>
          <a:p>
            <a:r>
              <a:rPr lang="nl-NL" dirty="0" err="1">
                <a:cs typeface="Courier New" panose="02070309020205020404" pitchFamily="49" charset="0"/>
              </a:rPr>
              <a:t>So</a:t>
            </a:r>
            <a:r>
              <a:rPr lang="nl-NL" dirty="0">
                <a:cs typeface="Courier New" panose="02070309020205020404" pitchFamily="49" charset="0"/>
              </a:rPr>
              <a:t> we start </a:t>
            </a:r>
            <a:r>
              <a:rPr lang="nl-NL" dirty="0" err="1">
                <a:cs typeface="Courier New" panose="02070309020205020404" pitchFamily="49" charset="0"/>
              </a:rPr>
              <a:t>indexing</a:t>
            </a:r>
            <a:r>
              <a:rPr lang="nl-NL" dirty="0">
                <a:cs typeface="Courier New" panose="02070309020205020404" pitchFamily="49" charset="0"/>
              </a:rPr>
              <a:t> at 0.</a:t>
            </a:r>
          </a:p>
          <a:p>
            <a:r>
              <a:rPr lang="nl-NL" dirty="0">
                <a:cs typeface="Courier New" panose="02070309020205020404" pitchFamily="49" charset="0"/>
              </a:rPr>
              <a:t>(Argument </a:t>
            </a:r>
            <a:r>
              <a:rPr lang="nl-NL" dirty="0" err="1">
                <a:cs typeface="Courier New" panose="02070309020205020404" pitchFamily="49" charset="0"/>
              </a:rPr>
              <a:t>doesn’t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apply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whenslicing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by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names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instead</a:t>
            </a:r>
            <a:r>
              <a:rPr lang="nl-NL" dirty="0">
                <a:cs typeface="Courier New" panose="02070309020205020404" pitchFamily="49" charset="0"/>
              </a:rPr>
              <a:t> of </a:t>
            </a:r>
            <a:r>
              <a:rPr lang="nl-NL" dirty="0" err="1">
                <a:cs typeface="Courier New" panose="02070309020205020404" pitchFamily="49" charset="0"/>
              </a:rPr>
              <a:t>numbers</a:t>
            </a:r>
            <a:r>
              <a:rPr lang="nl-NL" dirty="0">
                <a:cs typeface="Courier New" panose="02070309020205020404" pitchFamily="49" charset="0"/>
              </a:rPr>
              <a:t>. But </a:t>
            </a:r>
            <a:r>
              <a:rPr lang="nl-NL" dirty="0" err="1">
                <a:cs typeface="Courier New" panose="02070309020205020404" pitchFamily="49" charset="0"/>
              </a:rPr>
              <a:t>still</a:t>
            </a:r>
            <a:r>
              <a:rPr lang="nl-NL" dirty="0">
                <a:cs typeface="Courier New" panose="02070309020205020404" pitchFamily="49" charset="0"/>
              </a:rPr>
              <a:t> </a:t>
            </a:r>
            <a:r>
              <a:rPr lang="nl-NL" dirty="0" err="1">
                <a:cs typeface="Courier New" panose="02070309020205020404" pitchFamily="49" charset="0"/>
              </a:rPr>
              <a:t>annoying</a:t>
            </a:r>
            <a:r>
              <a:rPr lang="nl-NL" dirty="0">
                <a:cs typeface="Courier New" panose="02070309020205020404" pitchFamily="49" charset="0"/>
              </a:rPr>
              <a:t>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319D7-8369-3D05-4339-5F7CB517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6335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Selecting from a dataframe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The result of a selection is quite intuitive</a:t>
            </a:r>
            <a:endParaRPr lang="nl-NL" sz="2400" dirty="0"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All the cells that are at the same time part of one of the selected columns and one of the selected rows are selected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What may be less intuitive is the resulting datatype: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NB! A list/slice containing only one name is still a list/slice</a:t>
            </a:r>
          </a:p>
          <a:p>
            <a:pPr marL="342900" indent="-342900"/>
            <a:endParaRPr lang="en-US" sz="2400" dirty="0">
              <a:ea typeface="Calibri"/>
              <a:cs typeface="Courier New"/>
            </a:endParaRPr>
          </a:p>
          <a:p>
            <a:endParaRPr lang="en-US" sz="1900" dirty="0">
              <a:ea typeface="Calibri"/>
              <a:cs typeface="Calibri"/>
            </a:endParaRPr>
          </a:p>
          <a:p>
            <a:pPr lvl="1"/>
            <a:endParaRPr lang="en-US" dirty="0">
              <a:ea typeface="Calibri"/>
              <a:cs typeface="Calibri"/>
            </a:endParaRPr>
          </a:p>
          <a:p>
            <a:pPr lvl="1"/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25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C9F0FBC8-5054-CB27-06ED-B6678BD2D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56442"/>
              </p:ext>
            </p:extLst>
          </p:nvPr>
        </p:nvGraphicFramePr>
        <p:xfrm>
          <a:off x="378582" y="2774928"/>
          <a:ext cx="1072515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4245879354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3051021795"/>
                    </a:ext>
                  </a:extLst>
                </a:gridCol>
                <a:gridCol w="6334125">
                  <a:extLst>
                    <a:ext uri="{9D8B030D-6E8A-4147-A177-3AD203B41FA5}">
                      <a16:colId xmlns:a16="http://schemas.microsoft.com/office/drawing/2014/main" val="324587675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err="1">
                          <a:solidFill>
                            <a:schemeClr val="tx1"/>
                          </a:solidFill>
                          <a:effectLst/>
                        </a:rPr>
                        <a:t>Row_selection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err="1">
                          <a:solidFill>
                            <a:schemeClr val="tx1"/>
                          </a:solidFill>
                          <a:effectLst/>
                        </a:rPr>
                        <a:t>Col_selection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Result​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268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list/slice of rows​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list/slice of cols​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effectLst/>
                        </a:rPr>
                        <a:t>dataframe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524367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list/slice of rows​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One col​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series,</a:t>
                      </a:r>
                      <a:r>
                        <a:rPr lang="nl-NL" sz="20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nl-NL" sz="2000" b="0" dirty="0" err="1">
                          <a:solidFill>
                            <a:schemeClr val="tx1"/>
                          </a:solidFill>
                          <a:effectLst/>
                        </a:rPr>
                        <a:t>where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 the values are from the column, the rownames are from the row selection. </a:t>
                      </a:r>
                      <a:r>
                        <a:rPr lang="nl-NL" sz="2000" b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he name attribute of the series now contains the colname 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164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One row​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list/slice of cols​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series, </a:t>
                      </a:r>
                      <a:r>
                        <a:rPr lang="nl-NL" sz="2000" b="0" dirty="0" err="1">
                          <a:solidFill>
                            <a:schemeClr val="tx1"/>
                          </a:solidFill>
                          <a:effectLst/>
                        </a:rPr>
                        <a:t>where</a:t>
                      </a:r>
                      <a:r>
                        <a:rPr lang="nl-NL" sz="2000" b="0" dirty="0">
                          <a:solidFill>
                            <a:schemeClr val="tx1"/>
                          </a:solidFill>
                          <a:effectLst/>
                        </a:rPr>
                        <a:t> 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he values are from the row, the rownames are from the column selection</a:t>
                      </a:r>
                      <a:r>
                        <a:rPr lang="nl-NL" sz="20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nl-NL" sz="2000" b="0" dirty="0" err="1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 the name attribute of the series now contains the 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</a:rPr>
                        <a:t>rowname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2981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One row​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One col​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 scalar, like an integer or a string​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51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10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df1.loc[:,:]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df1.iloc[:, :]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pandas.core.frame.DataFrame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26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531684"/>
              </p:ext>
            </p:extLst>
          </p:nvPr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198263"/>
              </p:ext>
            </p:extLst>
          </p:nvPr>
        </p:nvGraphicFramePr>
        <p:xfrm>
          <a:off x="514350" y="402979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93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df1.loc[:]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df1.iloc[:]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pandas.core.frame.DataFrame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27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0689"/>
              </p:ext>
            </p:extLst>
          </p:nvPr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94345"/>
              </p:ext>
            </p:extLst>
          </p:nvPr>
        </p:nvGraphicFramePr>
        <p:xfrm>
          <a:off x="514350" y="402979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82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813418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df1.loc[:,10:12]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df1.iloc[:,:-1]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pandas.core.frame.DataFrame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28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15824"/>
              </p:ext>
            </p:extLst>
          </p:nvPr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28507"/>
              </p:ext>
            </p:extLst>
          </p:nvPr>
        </p:nvGraphicFramePr>
        <p:xfrm>
          <a:off x="514350" y="402979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65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726732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</a:t>
            </a:r>
            <a:r>
              <a:rPr lang="en-US" sz="4400" dirty="0">
                <a:latin typeface="Courier New"/>
                <a:ea typeface="Calibri"/>
                <a:cs typeface="Courier New"/>
              </a:rPr>
              <a:t>.loc[[3,0]]</a:t>
            </a:r>
            <a:r>
              <a:rPr lang="en-US" sz="4400" dirty="0">
                <a:latin typeface="Courier New"/>
                <a:ea typeface="Calibri"/>
                <a:cs typeface="Calibri"/>
              </a:rPr>
              <a:t>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df1.iloc[[0,3]]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pandas.core.frame.DataFrame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29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15481"/>
              </p:ext>
            </p:extLst>
          </p:nvPr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561129"/>
              </p:ext>
            </p:extLst>
          </p:nvPr>
        </p:nvGraphicFramePr>
        <p:xfrm>
          <a:off x="514350" y="402979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10​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13​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8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df1.loc[[2]]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df1.iloc[[1]]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pandas.core.frame.DataFrame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774424"/>
              </p:ext>
            </p:extLst>
          </p:nvPr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309557"/>
              </p:ext>
            </p:extLst>
          </p:nvPr>
        </p:nvGraphicFramePr>
        <p:xfrm>
          <a:off x="514350" y="402979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11​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86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04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df1.loc[2]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df1.iloc[1]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pandas.core.series.Series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12980"/>
              </p:ext>
            </p:extLst>
          </p:nvPr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14673"/>
              </p:ext>
            </p:extLst>
          </p:nvPr>
        </p:nvGraphicFramePr>
        <p:xfrm>
          <a:off x="645952" y="4029790"/>
          <a:ext cx="3106898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​10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17​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Name: 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80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98663"/>
            <a:ext cx="12191998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urier New"/>
                <a:ea typeface="Calibri"/>
                <a:cs typeface="Calibri"/>
              </a:rPr>
              <a:t>df1.loc[[2],[13]] </a:t>
            </a:r>
            <a:r>
              <a:rPr lang="en-US" sz="4000" dirty="0">
                <a:latin typeface="+mn-lt"/>
                <a:ea typeface="Calibri"/>
                <a:cs typeface="Calibri"/>
              </a:rPr>
              <a:t>or</a:t>
            </a:r>
            <a:r>
              <a:rPr lang="en-US" sz="4000" dirty="0">
                <a:latin typeface="Courier New"/>
                <a:ea typeface="Calibri"/>
                <a:cs typeface="Calibri"/>
              </a:rPr>
              <a:t> df1.iloc[[1],[1]]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pandas.core.frame.DataFrame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916988"/>
              </p:ext>
            </p:extLst>
          </p:nvPr>
        </p:nvGraphicFramePr>
        <p:xfrm>
          <a:off x="378579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227791"/>
              </p:ext>
            </p:extLst>
          </p:nvPr>
        </p:nvGraphicFramePr>
        <p:xfrm>
          <a:off x="514350" y="402979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57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8663"/>
            <a:ext cx="12192000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df1.loc[[2],13]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df1.iloc[[-3],-3]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pandas.core.series.Series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'&gt;</a:t>
            </a:r>
            <a:r>
              <a:rPr lang="en-US" sz="1800" dirty="0">
                <a:ea typeface="Calibri"/>
                <a:cs typeface="Calibri"/>
              </a:rPr>
              <a:t> 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85052"/>
              </p:ext>
            </p:extLst>
          </p:nvPr>
        </p:nvGraphicFramePr>
        <p:xfrm>
          <a:off x="645952" y="4029790"/>
          <a:ext cx="3106898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160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Name: 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29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1" y="198663"/>
            <a:ext cx="11813417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df1.loc[2,13] </a:t>
            </a:r>
            <a:r>
              <a:rPr lang="en-US" sz="4400" dirty="0">
                <a:latin typeface="+mn-lt"/>
                <a:ea typeface="Calibri"/>
                <a:cs typeface="Calibri"/>
              </a:rPr>
              <a:t>or</a:t>
            </a:r>
            <a:r>
              <a:rPr lang="en-US" sz="4400" dirty="0">
                <a:latin typeface="Courier New"/>
                <a:ea typeface="Calibri"/>
                <a:cs typeface="Calibri"/>
              </a:rPr>
              <a:t> df1.iloc[-3,1]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ourier New"/>
                <a:ea typeface="Calibri"/>
                <a:cs typeface="Courier New"/>
              </a:rPr>
              <a:t>&lt;class 'numpy.int64'&gt;</a:t>
            </a:r>
            <a:r>
              <a:rPr lang="en-US" sz="1800" dirty="0">
                <a:ea typeface="Calibri"/>
                <a:cs typeface="Calibri"/>
              </a:rPr>
              <a:t> 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A080DBB7-8DF9-1416-700B-D29210263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622549"/>
              </p:ext>
            </p:extLst>
          </p:nvPr>
        </p:nvGraphicFramePr>
        <p:xfrm>
          <a:off x="687897" y="4498175"/>
          <a:ext cx="14876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3006587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b="0" baseline="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980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17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Name attribute</a:t>
            </a:r>
            <a:endParaRPr lang="nl-NL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alibri"/>
              </a:rPr>
              <a:t>s1 = df1.loc[2]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print(s1.name)	# On screen: 2</a:t>
            </a:r>
          </a:p>
          <a:p>
            <a:r>
              <a:rPr lang="en-US" sz="2000" dirty="0">
                <a:latin typeface="Courier New"/>
                <a:ea typeface="Calibri"/>
                <a:cs typeface="Calibri"/>
              </a:rPr>
              <a:t>s1 = df1.iloc[1]</a:t>
            </a:r>
            <a:br>
              <a:rPr lang="en-US" sz="2000" dirty="0">
                <a:latin typeface="Courier New"/>
                <a:ea typeface="Calibri"/>
                <a:cs typeface="Calibri"/>
              </a:rPr>
            </a:br>
            <a:r>
              <a:rPr lang="en-US" sz="2000" dirty="0">
                <a:latin typeface="Courier New"/>
                <a:ea typeface="Calibri"/>
                <a:cs typeface="Calibri"/>
              </a:rPr>
              <a:t>print(s1.name)	# On screen: 2</a:t>
            </a:r>
          </a:p>
          <a:p>
            <a:r>
              <a:rPr lang="en-US" sz="2400" dirty="0">
                <a:latin typeface="Courier New"/>
                <a:ea typeface="Calibri"/>
                <a:cs typeface="Calibri"/>
              </a:rPr>
              <a:t>s1 = df1.loc[:,13]</a:t>
            </a:r>
            <a:br>
              <a:rPr lang="en-US" sz="2400" dirty="0">
                <a:latin typeface="Courier New"/>
                <a:ea typeface="Calibri"/>
                <a:cs typeface="Calibri"/>
              </a:rPr>
            </a:br>
            <a:r>
              <a:rPr lang="en-US" sz="2400" dirty="0">
                <a:latin typeface="Courier New"/>
                <a:ea typeface="Calibri"/>
                <a:cs typeface="Calibri"/>
              </a:rPr>
              <a:t>print(s1.name)	# On screen: 13</a:t>
            </a:r>
          </a:p>
          <a:p>
            <a:r>
              <a:rPr lang="en-US" sz="2400" dirty="0">
                <a:latin typeface="Courier New"/>
                <a:ea typeface="Calibri"/>
                <a:cs typeface="Calibri"/>
              </a:rPr>
              <a:t>s1 = df1.iloc[:,1]</a:t>
            </a:r>
            <a:br>
              <a:rPr lang="en-US" sz="2400" dirty="0">
                <a:latin typeface="Courier New"/>
                <a:ea typeface="Calibri"/>
                <a:cs typeface="Calibri"/>
              </a:rPr>
            </a:br>
            <a:r>
              <a:rPr lang="en-US" sz="2400" dirty="0">
                <a:latin typeface="Courier New"/>
                <a:ea typeface="Calibri"/>
                <a:cs typeface="Calibri"/>
              </a:rPr>
              <a:t>print(s1.name)	# On screen: 13</a:t>
            </a:r>
            <a:br>
              <a:rPr lang="en-US" sz="2400" dirty="0">
                <a:latin typeface="Courier New"/>
                <a:ea typeface="Calibri"/>
                <a:cs typeface="Calibri"/>
              </a:rPr>
            </a:br>
            <a:endParaRPr lang="en-US" sz="2400" dirty="0">
              <a:latin typeface="Courier New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35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551924"/>
              </p:ext>
            </p:extLst>
          </p:nvPr>
        </p:nvGraphicFramePr>
        <p:xfrm>
          <a:off x="445047" y="180988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31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Question, what is the result of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print(df2.iloc[2, 2])</a:t>
            </a:r>
            <a:endParaRPr lang="en-US" sz="2400" dirty="0">
              <a:latin typeface="Calibri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36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2E42456-BE1D-68FF-2C33-2D6957101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140541"/>
              </p:ext>
            </p:extLst>
          </p:nvPr>
        </p:nvGraphicFramePr>
        <p:xfrm>
          <a:off x="512152" y="1633025"/>
          <a:ext cx="48577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188521174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0711746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74025915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16144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534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9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540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Question, what is the result of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print(df1.iloc[2, 2])</a:t>
            </a:r>
          </a:p>
          <a:p>
            <a:r>
              <a:rPr lang="en-US" sz="2000" dirty="0" err="1">
                <a:latin typeface="Courier New"/>
                <a:ea typeface="Calibri"/>
                <a:cs typeface="Courier New"/>
              </a:rPr>
              <a:t>IndexError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 index 2 is out of bounds for axis 0 with size 2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37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2E42456-BE1D-68FF-2C33-2D6957101234}"/>
              </a:ext>
            </a:extLst>
          </p:cNvPr>
          <p:cNvGraphicFramePr>
            <a:graphicFrameLocks noGrp="1"/>
          </p:cNvGraphicFramePr>
          <p:nvPr/>
        </p:nvGraphicFramePr>
        <p:xfrm>
          <a:off x="512152" y="1633025"/>
          <a:ext cx="48577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188521174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0711746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74025915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16144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534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sz="18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96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73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1726732" cy="13255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ourier New"/>
                <a:ea typeface="Calibri"/>
                <a:cs typeface="Calibri"/>
              </a:rPr>
              <a:t>Update a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48313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use</a:t>
            </a:r>
            <a:r>
              <a:rPr lang="nl-NL" sz="2400" dirty="0"/>
              <a:t> the </a:t>
            </a:r>
            <a:r>
              <a:rPr lang="nl-NL" sz="2400" dirty="0" err="1"/>
              <a:t>selection</a:t>
            </a:r>
            <a:r>
              <a:rPr lang="nl-NL" sz="2400" dirty="0"/>
              <a:t> </a:t>
            </a:r>
            <a:r>
              <a:rPr lang="nl-NL" sz="2400" dirty="0" err="1"/>
              <a:t>mechanism</a:t>
            </a:r>
            <a:r>
              <a:rPr lang="nl-NL" sz="2400" dirty="0"/>
              <a:t> </a:t>
            </a:r>
            <a:r>
              <a:rPr lang="nl-NL" sz="2400" dirty="0" err="1"/>
              <a:t>also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nl-NL" sz="2400" dirty="0"/>
              <a:t> change </a:t>
            </a:r>
            <a:r>
              <a:rPr lang="nl-NL" sz="2400" dirty="0" err="1"/>
              <a:t>parts</a:t>
            </a:r>
            <a:r>
              <a:rPr lang="nl-NL" sz="2400" dirty="0"/>
              <a:t> of a </a:t>
            </a:r>
            <a:r>
              <a:rPr lang="nl-NL" sz="2400" dirty="0" err="1"/>
              <a:t>DataFrame</a:t>
            </a:r>
            <a:endParaRPr lang="en-US" sz="2400" dirty="0"/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ourier New"/>
                <a:ea typeface="Calibri"/>
                <a:cs typeface="Calibri"/>
              </a:rPr>
              <a:t>df1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.loc[[3,0]]</a:t>
            </a:r>
            <a:r>
              <a:rPr lang="en-US" sz="2400" dirty="0">
                <a:latin typeface="Courier New"/>
                <a:ea typeface="Calibri"/>
                <a:cs typeface="Calibri"/>
              </a:rPr>
              <a:t> = [['E', 100, 40, 20], ['F', 101, 41, 21]]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294500"/>
              </p:ext>
            </p:extLst>
          </p:nvPr>
        </p:nvGraphicFramePr>
        <p:xfrm>
          <a:off x="514350" y="1611218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70F0F94B-1AFA-1C50-8B1F-7EADA5BF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542710"/>
              </p:ext>
            </p:extLst>
          </p:nvPr>
        </p:nvGraphicFramePr>
        <p:xfrm>
          <a:off x="514350" y="4405630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E​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ase" latinLnBrk="0" hangingPunct="1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89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Selecting from a </a:t>
            </a:r>
            <a:r>
              <a:rPr lang="en-US" dirty="0" err="1"/>
              <a:t>dataframe</a:t>
            </a:r>
            <a:r>
              <a:rPr lang="en-US" dirty="0"/>
              <a:t>: </a:t>
            </a:r>
            <a:r>
              <a:rPr lang="en-US" dirty="0" err="1"/>
              <a:t>boolean</a:t>
            </a:r>
            <a:r>
              <a:rPr lang="en-US" dirty="0"/>
              <a:t> indexing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Previously, we said that the selection of the columns and the rows in</a:t>
            </a:r>
            <a:br>
              <a:rPr lang="en-US" sz="2400" dirty="0">
                <a:latin typeface="Calibri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df1.loc[</a:t>
            </a:r>
            <a:r>
              <a:rPr lang="en-US" sz="2000" i="1" dirty="0" err="1">
                <a:latin typeface="Courier New"/>
                <a:ea typeface="Calibri"/>
                <a:cs typeface="Courier New"/>
              </a:rPr>
              <a:t>row_selection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, </a:t>
            </a:r>
            <a:r>
              <a:rPr lang="en-US" sz="2000" i="1" dirty="0" err="1">
                <a:latin typeface="Courier New"/>
                <a:ea typeface="Calibri"/>
                <a:cs typeface="Courier New"/>
              </a:rPr>
              <a:t>col_selection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]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400" dirty="0">
                <a:latin typeface="Calibri"/>
                <a:ea typeface="Calibri"/>
                <a:cs typeface="Courier New"/>
              </a:rPr>
              <a:t>can be done via a slice, a list with names or one name.</a:t>
            </a:r>
            <a:endParaRPr lang="nl-NL" dirty="0"/>
          </a:p>
          <a:p>
            <a:r>
              <a:rPr lang="en-US" sz="2400" dirty="0">
                <a:latin typeface="Calibri"/>
                <a:ea typeface="Calibri"/>
                <a:cs typeface="Courier New"/>
              </a:rPr>
              <a:t>There is a fourth way: instead of giving a list of names, </a:t>
            </a:r>
            <a:r>
              <a:rPr lang="en-US" sz="2400" dirty="0">
                <a:latin typeface="Calibri"/>
                <a:ea typeface="Calibri"/>
                <a:cs typeface="Arial"/>
              </a:rPr>
              <a:t>you can give a list or series with Boolean values (</a:t>
            </a:r>
            <a:r>
              <a:rPr lang="en-US" sz="2000" dirty="0">
                <a:latin typeface="Courier New"/>
                <a:ea typeface="Calibri"/>
                <a:cs typeface="Arial"/>
              </a:rPr>
              <a:t>True</a:t>
            </a:r>
            <a:r>
              <a:rPr lang="en-US" sz="2400" dirty="0">
                <a:latin typeface="Calibri"/>
                <a:ea typeface="Calibri"/>
                <a:cs typeface="Arial"/>
              </a:rPr>
              <a:t>, </a:t>
            </a:r>
            <a:r>
              <a:rPr lang="en-US" sz="2000" dirty="0">
                <a:latin typeface="Courier New"/>
                <a:ea typeface="Calibri"/>
                <a:cs typeface="Arial"/>
              </a:rPr>
              <a:t>False</a:t>
            </a:r>
            <a:r>
              <a:rPr lang="en-US" sz="2400" dirty="0">
                <a:latin typeface="Calibri"/>
                <a:ea typeface="Calibri"/>
                <a:cs typeface="Arial"/>
              </a:rPr>
              <a:t>) 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This list with Boolean values has to have the same length as the number of rows</a:t>
            </a:r>
            <a:endParaRPr lang="en-US" sz="2000" dirty="0">
              <a:latin typeface="Calibri"/>
              <a:ea typeface="Calibri"/>
              <a:cs typeface="Arial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Then every row that corresponds with a </a:t>
            </a:r>
            <a:r>
              <a:rPr lang="en-US" sz="1600" dirty="0">
                <a:latin typeface="Courier New"/>
                <a:ea typeface="Calibri"/>
                <a:cs typeface="Arial"/>
              </a:rPr>
              <a:t>True </a:t>
            </a:r>
            <a:r>
              <a:rPr lang="en-US" sz="2000" dirty="0">
                <a:latin typeface="Calibri"/>
                <a:ea typeface="Calibri"/>
                <a:cs typeface="Arial"/>
              </a:rPr>
              <a:t>in the list is selected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Instead of a list with Booleans, you can also use a series with Boolean values </a:t>
            </a:r>
            <a:r>
              <a:rPr lang="en-US" sz="2400" dirty="0">
                <a:latin typeface="Calibri"/>
                <a:ea typeface="Calibri"/>
                <a:cs typeface="Courier New"/>
              </a:rPr>
              <a:t> </a:t>
            </a:r>
            <a:r>
              <a:rPr lang="en-US" dirty="0">
                <a:latin typeface="Courier New"/>
                <a:ea typeface="Calibri"/>
                <a:cs typeface="Courier New"/>
              </a:rPr>
              <a:t>    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85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Boolean indexing 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We want to select the green parts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With loc:</a:t>
            </a:r>
            <a:r>
              <a:rPr lang="en-US" sz="1800" dirty="0">
                <a:latin typeface="Courier New"/>
                <a:ea typeface="Calibri"/>
                <a:cs typeface="Calibri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df1.loc[[3,2],[13,17]]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With </a:t>
            </a:r>
            <a:r>
              <a:rPr lang="en-US" sz="2400" dirty="0" err="1">
                <a:ea typeface="Calibri"/>
                <a:cs typeface="Calibri"/>
              </a:rPr>
              <a:t>iloc</a:t>
            </a:r>
            <a:r>
              <a:rPr lang="en-US" sz="2400" dirty="0">
                <a:ea typeface="Calibri"/>
                <a:cs typeface="Calibri"/>
              </a:rPr>
              <a:t>:</a:t>
            </a:r>
            <a:r>
              <a:rPr lang="en-US" sz="1800" dirty="0">
                <a:latin typeface="Courier New"/>
                <a:ea typeface="Calibri"/>
                <a:cs typeface="Calibri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df1.iloc[:2,[1,-1]]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With Boolean indexing: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>
                <a:latin typeface="Courier New"/>
                <a:ea typeface="Calibri"/>
                <a:cs typeface="Calibri"/>
              </a:rPr>
              <a:t>df1.loc[[True, True, False, False],[False, True, False, True]]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You could also mix and match: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alibri"/>
              </a:rPr>
              <a:t>df1.loc[[True, True, False, False],[13,17]]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alibri"/>
              </a:rPr>
              <a:t>df1.loc[[3,2],[False, True, False, True]]</a:t>
            </a:r>
            <a:endParaRPr lang="en-US" sz="18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40</a:t>
            </a:fld>
            <a:endParaRPr lang="nl-NL"/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23473E0B-A67C-2F11-7E66-70B3023B8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763101"/>
              </p:ext>
            </p:extLst>
          </p:nvPr>
        </p:nvGraphicFramePr>
        <p:xfrm>
          <a:off x="441813" y="1644748"/>
          <a:ext cx="7949715" cy="17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943">
                  <a:extLst>
                    <a:ext uri="{9D8B030D-6E8A-4147-A177-3AD203B41FA5}">
                      <a16:colId xmlns:a16="http://schemas.microsoft.com/office/drawing/2014/main" val="2013335857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2080288176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2848182623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1656727872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732513601"/>
                    </a:ext>
                  </a:extLst>
                </a:gridCol>
              </a:tblGrid>
              <a:tr h="35445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17​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50383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3​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A​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153​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55​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122732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2​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B​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160​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70​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11​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9001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C​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150​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60​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12​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65899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D​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190​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80​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3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79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Boolean indexing 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We want to select all rows, where the values in column 13 &lt; 155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With loc:</a:t>
            </a:r>
            <a:r>
              <a:rPr lang="en-US" sz="1800" dirty="0">
                <a:latin typeface="Courier New"/>
                <a:ea typeface="Calibri"/>
                <a:cs typeface="Calibri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df1.loc[[3,1]]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ea typeface="Calibri"/>
                <a:cs typeface="Calibri"/>
              </a:rPr>
              <a:t>With </a:t>
            </a:r>
            <a:r>
              <a:rPr lang="en-US" sz="2400" dirty="0" err="1">
                <a:ea typeface="Calibri"/>
                <a:cs typeface="Calibri"/>
              </a:rPr>
              <a:t>iloc</a:t>
            </a:r>
            <a:r>
              <a:rPr lang="en-US" sz="2400" dirty="0">
                <a:ea typeface="Calibri"/>
                <a:cs typeface="Calibri"/>
              </a:rPr>
              <a:t>:</a:t>
            </a:r>
            <a:r>
              <a:rPr lang="en-US" sz="1800" dirty="0">
                <a:latin typeface="Courier New"/>
                <a:ea typeface="Calibri"/>
                <a:cs typeface="Calibri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df1.iloc[::2]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With Boolean indexing: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>
                <a:latin typeface="Courier New"/>
                <a:ea typeface="Calibri"/>
                <a:cs typeface="Calibri"/>
              </a:rPr>
              <a:t>df1.loc[df1.13 &lt; 155]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You could also mix and match: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alibri"/>
              </a:rPr>
              <a:t>df1.loc[[True, True, False, False],[13,17]]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alibri"/>
              </a:rPr>
              <a:t>df1.loc[[3,2],[False, True, False, True]]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You can also apply Boolean indexing to series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41</a:t>
            </a:fld>
            <a:endParaRPr lang="nl-NL"/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23473E0B-A67C-2F11-7E66-70B3023B8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34207"/>
              </p:ext>
            </p:extLst>
          </p:nvPr>
        </p:nvGraphicFramePr>
        <p:xfrm>
          <a:off x="441813" y="1644748"/>
          <a:ext cx="7949715" cy="17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943">
                  <a:extLst>
                    <a:ext uri="{9D8B030D-6E8A-4147-A177-3AD203B41FA5}">
                      <a16:colId xmlns:a16="http://schemas.microsoft.com/office/drawing/2014/main" val="2013335857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2080288176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2848182623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1656727872"/>
                    </a:ext>
                  </a:extLst>
                </a:gridCol>
                <a:gridCol w="1589943">
                  <a:extLst>
                    <a:ext uri="{9D8B030D-6E8A-4147-A177-3AD203B41FA5}">
                      <a16:colId xmlns:a16="http://schemas.microsoft.com/office/drawing/2014/main" val="732513601"/>
                    </a:ext>
                  </a:extLst>
                </a:gridCol>
              </a:tblGrid>
              <a:tr h="35445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17​</a:t>
                      </a:r>
                      <a:endParaRPr lang="en-US" sz="1600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50383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A​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153​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55​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10​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122732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2​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B​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160​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70​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11​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9001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C​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150​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60​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12​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65899"/>
                  </a:ext>
                </a:extLst>
              </a:tr>
              <a:tr h="3544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0​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D​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190​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80​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dirty="0">
                          <a:effectLst/>
                        </a:rPr>
                        <a:t>13​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3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88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Selecting from a </a:t>
            </a:r>
            <a:r>
              <a:rPr lang="en-US" dirty="0" err="1"/>
              <a:t>dataframe</a:t>
            </a:r>
            <a:r>
              <a:rPr lang="en-US" dirty="0"/>
              <a:t>: shortcuts 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000" dirty="0">
                <a:latin typeface="Courier New"/>
                <a:ea typeface="Calibri"/>
                <a:cs typeface="Courier New"/>
              </a:rPr>
              <a:t>df1.Name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df1.loc[:,'Name']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df1['Average Weight']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df1.loc[:,'Average Weight']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df1[['Name']]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df1.loc[:,['Name']]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df1[['Name', 'Weight']]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df1.loc[:,['Name', 'Weight']]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df1.Name['First']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df1.loc['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First','Name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df1.Name[['First', 'Second']]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df1.loc[['First', 'Second'],'Name']</a:t>
            </a:r>
            <a:endParaRPr lang="en-US" sz="2000" dirty="0">
              <a:ea typeface="Calibri"/>
              <a:cs typeface="Calibri"/>
            </a:endParaRPr>
          </a:p>
          <a:p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19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Question: What will be printed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print(df1[[1</a:t>
            </a:r>
            <a:r>
              <a:rPr lang="en-US" sz="2000" dirty="0">
                <a:latin typeface="Courier New"/>
                <a:ea typeface="Calibri"/>
                <a:cs typeface="Calibri"/>
              </a:rPr>
              <a:t>0,13]][[1,2]])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21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8663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Question: What will be printed by: </a:t>
            </a:r>
            <a:r>
              <a:rPr lang="en-US" sz="2700" dirty="0">
                <a:latin typeface="Courier New"/>
                <a:cs typeface="Calibri"/>
              </a:rPr>
              <a:t>print(df1[[10,13]][[1,2]])?</a:t>
            </a:r>
            <a:br>
              <a:rPr lang="en-US" sz="2700" dirty="0">
                <a:latin typeface="Courier New"/>
                <a:cs typeface="Calibri"/>
              </a:rPr>
            </a:br>
            <a:endParaRPr lang="en-US" sz="2700" dirty="0">
              <a:latin typeface="Courier New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813418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df1 = df1[[1</a:t>
            </a:r>
            <a:r>
              <a:rPr lang="en-US" sz="2000" dirty="0">
                <a:latin typeface="Courier New"/>
                <a:ea typeface="Calibri"/>
                <a:cs typeface="Calibri"/>
              </a:rPr>
              <a:t>0,13]]</a:t>
            </a: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Calibri"/>
            </a:endParaRPr>
          </a:p>
          <a:p>
            <a:r>
              <a:rPr lang="en-US" sz="2400" dirty="0">
                <a:latin typeface="Courier New"/>
                <a:ea typeface="Calibri"/>
                <a:cs typeface="Calibri"/>
              </a:rPr>
              <a:t>print(df1[[1,2]])</a:t>
            </a:r>
          </a:p>
          <a:p>
            <a:r>
              <a:rPr lang="en-US" sz="2400" dirty="0">
                <a:ea typeface="Calibri"/>
                <a:cs typeface="Calibri"/>
              </a:rPr>
              <a:t>An error</a:t>
            </a:r>
            <a:endParaRPr lang="en-US" sz="2400" dirty="0"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3C26B29A-27AE-DBCB-0B92-38218F2BA02B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1253331"/>
          <a:ext cx="80962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25660859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0477965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55​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70​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80​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13​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  <p:graphicFrame>
        <p:nvGraphicFramePr>
          <p:cNvPr id="5" name="Tabel 6">
            <a:extLst>
              <a:ext uri="{FF2B5EF4-FFF2-40B4-BE49-F238E27FC236}">
                <a16:creationId xmlns:a16="http://schemas.microsoft.com/office/drawing/2014/main" id="{264F0D3D-865A-0E27-32F4-247519C802F4}"/>
              </a:ext>
            </a:extLst>
          </p:cNvPr>
          <p:cNvGraphicFramePr>
            <a:graphicFrameLocks noGrp="1"/>
          </p:cNvGraphicFramePr>
          <p:nvPr/>
        </p:nvGraphicFramePr>
        <p:xfrm>
          <a:off x="514350" y="4029790"/>
          <a:ext cx="485775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99751118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895877309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386373338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459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208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8650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554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190​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9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Selecting from a Series: shortcuts 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000" dirty="0">
                <a:latin typeface="Courier New"/>
                <a:ea typeface="Calibri"/>
                <a:cs typeface="Courier New"/>
              </a:rPr>
              <a:t>s1[1]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df1.iloc[1]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s1[:2]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s1.iloc[:2]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13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Vectorized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i="1" dirty="0">
                <a:latin typeface="Calibri"/>
                <a:ea typeface="Calibri"/>
                <a:cs typeface="Calibri"/>
              </a:rPr>
              <a:t>Vectorized operations</a:t>
            </a:r>
            <a:r>
              <a:rPr lang="en-US" sz="2400" dirty="0">
                <a:latin typeface="Calibri"/>
                <a:ea typeface="Calibri"/>
                <a:cs typeface="Calibri"/>
              </a:rPr>
              <a:t>: y</a:t>
            </a:r>
            <a:r>
              <a:rPr lang="en-US" sz="2400" dirty="0">
                <a:latin typeface="Calibri"/>
                <a:ea typeface="Calibri"/>
                <a:cs typeface="Arial"/>
              </a:rPr>
              <a:t>ou apply the same operation to all elements of one or several columns, to a row or to a series </a:t>
            </a:r>
            <a:endParaRPr lang="nl-NL" dirty="0"/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This is a </a:t>
            </a:r>
            <a:r>
              <a:rPr lang="en-US" sz="2000" dirty="0">
                <a:latin typeface="Calibri"/>
                <a:ea typeface="Calibri"/>
                <a:cs typeface="Calibri"/>
              </a:rPr>
              <a:t>very powerful part of Pandas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The topics we will discuss are: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Broadcasting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Basic statistical operations are available as Series methods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Mapping a function to Series elements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Vectorized string methods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Applying a function to each row or to each column</a:t>
            </a:r>
          </a:p>
          <a:p>
            <a:endParaRPr lang="en-US" sz="2400" dirty="0">
              <a:latin typeface="Calibri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526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Basic operations: broadcasting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i="1" dirty="0">
                <a:latin typeface="Calibri"/>
                <a:ea typeface="Calibri"/>
                <a:cs typeface="Arial"/>
              </a:rPr>
              <a:t>Broadcasting </a:t>
            </a:r>
            <a:r>
              <a:rPr lang="en-US" sz="2400" dirty="0">
                <a:latin typeface="Calibri"/>
                <a:ea typeface="Calibri"/>
                <a:cs typeface="Arial"/>
              </a:rPr>
              <a:t>can be done for the whole dataframe or for one column or row</a:t>
            </a:r>
            <a:endParaRPr lang="nl-NL" dirty="0"/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This works with scalars (integers, floats)</a:t>
            </a:r>
            <a:endParaRPr lang="nl-NL" sz="20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Consider the following </a:t>
            </a:r>
            <a:r>
              <a:rPr lang="en-US" sz="2400" dirty="0" err="1">
                <a:latin typeface="Calibri"/>
                <a:ea typeface="Calibri"/>
                <a:cs typeface="Arial"/>
              </a:rPr>
              <a:t>dataframe</a:t>
            </a:r>
            <a:r>
              <a:rPr lang="en-US" sz="2400" dirty="0">
                <a:latin typeface="Calibri"/>
                <a:ea typeface="Calibri"/>
                <a:cs typeface="Arial"/>
              </a:rPr>
              <a:t>, called </a:t>
            </a:r>
            <a:r>
              <a:rPr lang="en-US" sz="2400" dirty="0" err="1">
                <a:latin typeface="Calibri"/>
                <a:ea typeface="Calibri"/>
                <a:cs typeface="Arial"/>
              </a:rPr>
              <a:t>df</a:t>
            </a:r>
            <a:r>
              <a:rPr lang="en-US" sz="2400" dirty="0">
                <a:latin typeface="Calibri"/>
                <a:ea typeface="Calibri"/>
                <a:cs typeface="Arial"/>
              </a:rPr>
              <a:t>: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r>
              <a:rPr lang="en-US" sz="2400" dirty="0">
                <a:latin typeface="Calibri"/>
                <a:ea typeface="Calibri"/>
                <a:cs typeface="Courier New"/>
              </a:rPr>
              <a:t>The following give the same result: </a:t>
            </a:r>
            <a:endParaRPr lang="nl-NL" sz="24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 err="1">
                <a:latin typeface="Courier New"/>
                <a:ea typeface="Calibri"/>
                <a:cs typeface="Courier New"/>
              </a:rPr>
              <a:t>df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+= 1</a:t>
            </a:r>
            <a:endParaRPr lang="nl-NL" sz="18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 err="1">
                <a:latin typeface="Courier New"/>
                <a:ea typeface="Calibri"/>
                <a:cs typeface="Courier New"/>
              </a:rPr>
              <a:t>df.A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+= 1; 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df.B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+=1</a:t>
            </a:r>
            <a:endParaRPr lang="nl-NL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marL="457200" lvl="1" indent="0">
              <a:buNone/>
            </a:pPr>
            <a:endParaRPr lang="en-US" sz="1800" dirty="0">
              <a:latin typeface="Courier New"/>
              <a:ea typeface="Calibri"/>
              <a:cs typeface="Courier New"/>
            </a:endParaRPr>
          </a:p>
          <a:p>
            <a:endParaRPr lang="en-US" sz="1800" dirty="0">
              <a:latin typeface="Courier New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47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3E72E09-3F92-DBE1-D4CD-FE4DFE9DD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147049"/>
              </p:ext>
            </p:extLst>
          </p:nvPr>
        </p:nvGraphicFramePr>
        <p:xfrm>
          <a:off x="521678" y="2427849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861E9E83-BA02-ECCB-324B-39C8D9A24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61346"/>
              </p:ext>
            </p:extLst>
          </p:nvPr>
        </p:nvGraphicFramePr>
        <p:xfrm>
          <a:off x="480646" y="4958860"/>
          <a:ext cx="2242038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346">
                  <a:extLst>
                    <a:ext uri="{9D8B030D-6E8A-4147-A177-3AD203B41FA5}">
                      <a16:colId xmlns:a16="http://schemas.microsoft.com/office/drawing/2014/main" val="309866882"/>
                    </a:ext>
                  </a:extLst>
                </a:gridCol>
                <a:gridCol w="747346">
                  <a:extLst>
                    <a:ext uri="{9D8B030D-6E8A-4147-A177-3AD203B41FA5}">
                      <a16:colId xmlns:a16="http://schemas.microsoft.com/office/drawing/2014/main" val="734028189"/>
                    </a:ext>
                  </a:extLst>
                </a:gridCol>
                <a:gridCol w="747346">
                  <a:extLst>
                    <a:ext uri="{9D8B030D-6E8A-4147-A177-3AD203B41FA5}">
                      <a16:colId xmlns:a16="http://schemas.microsoft.com/office/drawing/2014/main" val="735983010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02782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67510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919359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8​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4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00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Basic operations: broadcasting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Instead of using broadcasting, you can also work with a more complex structure, as long as it has the same shape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For example: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*= </a:t>
            </a:r>
            <a:r>
              <a:rPr lang="nl-NL" sz="1800" dirty="0" err="1">
                <a:latin typeface="Courier New"/>
                <a:ea typeface="Calibri"/>
                <a:cs typeface="Courier New"/>
              </a:rPr>
              <a:t>df</a:t>
            </a:r>
            <a:r>
              <a:rPr lang="nl-NL" sz="1800" dirty="0">
                <a:latin typeface="Courier New"/>
                <a:ea typeface="Calibri"/>
                <a:cs typeface="Courier New"/>
              </a:rPr>
              <a:t>:</a:t>
            </a:r>
          </a:p>
          <a:p>
            <a:pPr lvl="1"/>
            <a:endParaRPr lang="nl-NL" sz="1800" dirty="0">
              <a:latin typeface="Courier New"/>
              <a:ea typeface="Calibri"/>
              <a:cs typeface="Courier New"/>
            </a:endParaRPr>
          </a:p>
          <a:p>
            <a:pPr lvl="1"/>
            <a:endParaRPr lang="nl-NL" sz="18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The following also works: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df.A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/= [1, 2, 3]</a:t>
            </a: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20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But the following gives an error: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df.A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//= [1,2] </a:t>
            </a:r>
            <a:endParaRPr lang="en-US" dirty="0">
              <a:latin typeface="Calibri" panose="020F0502020204030204"/>
              <a:ea typeface="Calibri"/>
              <a:cs typeface="Calibri" panose="020F0502020204030204"/>
            </a:endParaRPr>
          </a:p>
          <a:p>
            <a:pPr marL="457200" lvl="1" indent="0">
              <a:buNone/>
            </a:pPr>
            <a:r>
              <a:rPr lang="en-US" sz="1800" dirty="0">
                <a:latin typeface="Courier New"/>
                <a:ea typeface="Calibri"/>
                <a:cs typeface="Courier New"/>
              </a:rPr>
              <a:t># </a:t>
            </a:r>
            <a:r>
              <a:rPr lang="en-US" sz="1800" b="1" dirty="0" err="1">
                <a:latin typeface="Courier New"/>
                <a:ea typeface="Calibri"/>
                <a:cs typeface="Courier New"/>
              </a:rPr>
              <a:t>ValueError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: operands could not be broadcast together with shapes (3,) (2,)</a:t>
            </a:r>
            <a:endParaRPr lang="en-US" dirty="0">
              <a:cs typeface="Calibri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/>
            <a:endParaRPr lang="en-US" sz="1800" dirty="0">
              <a:latin typeface="Courier New"/>
              <a:ea typeface="Calibri"/>
              <a:cs typeface="Courier New"/>
            </a:endParaRPr>
          </a:p>
          <a:p>
            <a:pPr marL="457200" lvl="1" indent="0">
              <a:buNone/>
            </a:pPr>
            <a:endParaRPr lang="en-US" sz="1800" dirty="0">
              <a:latin typeface="Courier New"/>
              <a:ea typeface="Calibri"/>
              <a:cs typeface="Courier New"/>
            </a:endParaRPr>
          </a:p>
          <a:p>
            <a:endParaRPr lang="en-US" sz="1800" dirty="0">
              <a:latin typeface="Courier New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48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53E72E09-3F92-DBE1-D4CD-FE4DFE9DD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297296"/>
              </p:ext>
            </p:extLst>
          </p:nvPr>
        </p:nvGraphicFramePr>
        <p:xfrm>
          <a:off x="967155" y="2357510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861E9E83-BA02-ECCB-324B-39C8D9A24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258447"/>
              </p:ext>
            </p:extLst>
          </p:nvPr>
        </p:nvGraphicFramePr>
        <p:xfrm>
          <a:off x="926123" y="4243753"/>
          <a:ext cx="2242038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346">
                  <a:extLst>
                    <a:ext uri="{9D8B030D-6E8A-4147-A177-3AD203B41FA5}">
                      <a16:colId xmlns:a16="http://schemas.microsoft.com/office/drawing/2014/main" val="309866882"/>
                    </a:ext>
                  </a:extLst>
                </a:gridCol>
                <a:gridCol w="747346">
                  <a:extLst>
                    <a:ext uri="{9D8B030D-6E8A-4147-A177-3AD203B41FA5}">
                      <a16:colId xmlns:a16="http://schemas.microsoft.com/office/drawing/2014/main" val="734028189"/>
                    </a:ext>
                  </a:extLst>
                </a:gridCol>
                <a:gridCol w="747346">
                  <a:extLst>
                    <a:ext uri="{9D8B030D-6E8A-4147-A177-3AD203B41FA5}">
                      <a16:colId xmlns:a16="http://schemas.microsoft.com/office/drawing/2014/main" val="735983010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02782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2.0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67510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2.5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919359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2.0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47359"/>
                  </a:ext>
                </a:extLst>
              </a:tr>
            </a:tbl>
          </a:graphicData>
        </a:graphic>
      </p:graphicFrame>
      <p:graphicFrame>
        <p:nvGraphicFramePr>
          <p:cNvPr id="7" name="Tabel 5">
            <a:extLst>
              <a:ext uri="{FF2B5EF4-FFF2-40B4-BE49-F238E27FC236}">
                <a16:creationId xmlns:a16="http://schemas.microsoft.com/office/drawing/2014/main" id="{7ABFE8E5-DCC4-79F1-5465-370E4C45B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720078"/>
              </p:ext>
            </p:extLst>
          </p:nvPr>
        </p:nvGraphicFramePr>
        <p:xfrm>
          <a:off x="9138326" y="2483253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  <p:sp>
        <p:nvSpPr>
          <p:cNvPr id="5" name="Tekstvak 4">
            <a:extLst>
              <a:ext uri="{FF2B5EF4-FFF2-40B4-BE49-F238E27FC236}">
                <a16:creationId xmlns:a16="http://schemas.microsoft.com/office/drawing/2014/main" id="{5B66961F-836F-0341-FF02-B20D4804350C}"/>
              </a:ext>
            </a:extLst>
          </p:cNvPr>
          <p:cNvSpPr txBox="1"/>
          <p:nvPr/>
        </p:nvSpPr>
        <p:spPr>
          <a:xfrm>
            <a:off x="9070731" y="2101361"/>
            <a:ext cx="14360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>
                <a:latin typeface="Calibri"/>
                <a:cs typeface="Calibri"/>
              </a:rPr>
              <a:t>df</a:t>
            </a:r>
            <a:r>
              <a:rPr lang="nl-NL" dirty="0">
                <a:latin typeface="Calibri"/>
                <a:cs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7303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/>
                <a:cs typeface="Arial"/>
              </a:rPr>
              <a:t>Basic statistical operations as Series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mean, max, min, median, mode, sum,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value_counts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, std, ...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400" dirty="0">
                <a:latin typeface="Calibri"/>
                <a:ea typeface="Calibri"/>
                <a:cs typeface="Arial"/>
              </a:rPr>
              <a:t>all work as methods of series</a:t>
            </a:r>
            <a:endParaRPr lang="en-US" dirty="0"/>
          </a:p>
          <a:p>
            <a:pPr lvl="1"/>
            <a:r>
              <a:rPr lang="en-US" sz="2000" dirty="0">
                <a:latin typeface="Calibri"/>
                <a:ea typeface="Calibri"/>
                <a:cs typeface="Courier New"/>
              </a:rPr>
              <a:t>For example,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 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df.A.mean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() </a:t>
            </a:r>
            <a:r>
              <a:rPr lang="en-US" sz="2000" dirty="0">
                <a:latin typeface="Calibri"/>
                <a:ea typeface="Calibri"/>
                <a:cs typeface="Courier New"/>
              </a:rPr>
              <a:t>returns 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4.333333333333333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These methods can be used in a vectorized way too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For example,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df.mean</a:t>
            </a:r>
            <a:r>
              <a:rPr lang="en-US" sz="1800" dirty="0">
                <a:latin typeface="Courier New"/>
                <a:ea typeface="Calibri"/>
                <a:cs typeface="Arial"/>
              </a:rPr>
              <a:t>() </a:t>
            </a:r>
            <a:r>
              <a:rPr lang="en-US" sz="2000" dirty="0">
                <a:latin typeface="Calibri"/>
                <a:ea typeface="Calibri"/>
                <a:cs typeface="Arial"/>
              </a:rPr>
              <a:t>returns the series: 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49</a:t>
            </a:fld>
            <a:endParaRPr lang="nl-NL"/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4E2F013E-108E-BE46-5F67-59013266E663}"/>
              </a:ext>
            </a:extLst>
          </p:cNvPr>
          <p:cNvSpPr txBox="1"/>
          <p:nvPr/>
        </p:nvSpPr>
        <p:spPr>
          <a:xfrm>
            <a:off x="884983" y="4923561"/>
            <a:ext cx="1701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 4.333333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 4.666667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35B3CD0B-EB0E-7800-E0B8-54937FDB9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029586"/>
              </p:ext>
            </p:extLst>
          </p:nvPr>
        </p:nvGraphicFramePr>
        <p:xfrm>
          <a:off x="568570" y="1642403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50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/>
                <a:cs typeface="Arial"/>
              </a:rPr>
              <a:t>Mapping a function to all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ourier New"/>
              </a:rPr>
              <a:t>For example: </a:t>
            </a:r>
            <a:endParaRPr lang="nl-NL" sz="2400" dirty="0">
              <a:latin typeface="Calibri"/>
              <a:cs typeface="Calibri"/>
            </a:endParaRPr>
          </a:p>
          <a:p>
            <a:pPr lvl="1"/>
            <a:r>
              <a:rPr lang="en-US" sz="1800" dirty="0" err="1">
                <a:latin typeface="Courier New"/>
                <a:ea typeface="Calibri"/>
                <a:cs typeface="Courier New"/>
              </a:rPr>
              <a:t>df.A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=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df.A.map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(lambda x: 3 * x)</a:t>
            </a:r>
            <a:endParaRPr lang="en-US" sz="1800" dirty="0">
              <a:cs typeface="Calibri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def triple(x):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    return x*3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 err="1">
                <a:latin typeface="Courier New"/>
                <a:ea typeface="Calibri"/>
                <a:cs typeface="Courier New"/>
              </a:rPr>
              <a:t>df.A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=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df.A.map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(triple)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You can only apply this map method to a series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If you want to apply a function to all elements (all cells) in the dataframe, you must use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applymap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ourier New"/>
              </a:rPr>
              <a:t>For example: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 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=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df.applymap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(lambda x: 3 * x)</a:t>
            </a:r>
          </a:p>
          <a:p>
            <a:endParaRPr lang="en-US" sz="24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000" dirty="0">
              <a:latin typeface="Courier New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50</a:t>
            </a:fld>
            <a:endParaRPr lang="nl-NL"/>
          </a:p>
        </p:txBody>
      </p:sp>
      <p:graphicFrame>
        <p:nvGraphicFramePr>
          <p:cNvPr id="12" name="Tabel 5">
            <a:extLst>
              <a:ext uri="{FF2B5EF4-FFF2-40B4-BE49-F238E27FC236}">
                <a16:creationId xmlns:a16="http://schemas.microsoft.com/office/drawing/2014/main" id="{8F93A6EE-1527-C834-DD72-7B287B254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54815"/>
              </p:ext>
            </p:extLst>
          </p:nvPr>
        </p:nvGraphicFramePr>
        <p:xfrm>
          <a:off x="9454849" y="1240607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  <p:sp>
        <p:nvSpPr>
          <p:cNvPr id="14" name="Tekstvak 13">
            <a:extLst>
              <a:ext uri="{FF2B5EF4-FFF2-40B4-BE49-F238E27FC236}">
                <a16:creationId xmlns:a16="http://schemas.microsoft.com/office/drawing/2014/main" id="{303A0F07-292A-8AD2-719F-7F85219B6979}"/>
              </a:ext>
            </a:extLst>
          </p:cNvPr>
          <p:cNvSpPr txBox="1"/>
          <p:nvPr/>
        </p:nvSpPr>
        <p:spPr>
          <a:xfrm>
            <a:off x="9387254" y="858715"/>
            <a:ext cx="14360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>
                <a:latin typeface="Calibri"/>
                <a:cs typeface="Calibri"/>
              </a:rPr>
              <a:t>df</a:t>
            </a:r>
            <a:r>
              <a:rPr lang="nl-NL" dirty="0">
                <a:latin typeface="Calibri"/>
                <a:cs typeface="Calibri"/>
              </a:rPr>
              <a:t>:</a:t>
            </a:r>
          </a:p>
        </p:txBody>
      </p:sp>
      <p:graphicFrame>
        <p:nvGraphicFramePr>
          <p:cNvPr id="16" name="Tabel 5">
            <a:extLst>
              <a:ext uri="{FF2B5EF4-FFF2-40B4-BE49-F238E27FC236}">
                <a16:creationId xmlns:a16="http://schemas.microsoft.com/office/drawing/2014/main" id="{20BE544B-AE97-B1A4-F705-5F53ABF41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388990"/>
              </p:ext>
            </p:extLst>
          </p:nvPr>
        </p:nvGraphicFramePr>
        <p:xfrm>
          <a:off x="5762080" y="1252329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  <p:graphicFrame>
        <p:nvGraphicFramePr>
          <p:cNvPr id="20" name="Tabel 5">
            <a:extLst>
              <a:ext uri="{FF2B5EF4-FFF2-40B4-BE49-F238E27FC236}">
                <a16:creationId xmlns:a16="http://schemas.microsoft.com/office/drawing/2014/main" id="{A866AFE2-B25C-9281-A502-BD5397445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048108"/>
              </p:ext>
            </p:extLst>
          </p:nvPr>
        </p:nvGraphicFramePr>
        <p:xfrm>
          <a:off x="871019" y="4589286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14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ffectLst/>
              </a:rPr>
              <a:t>Vectorized</a:t>
            </a:r>
            <a:r>
              <a:rPr lang="en-US" dirty="0">
                <a:effectLst/>
              </a:rPr>
              <a:t> string methods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nl-NL" sz="2400" dirty="0" err="1"/>
              <a:t>Consider</a:t>
            </a:r>
            <a:r>
              <a:rPr lang="nl-NL" sz="2400" dirty="0"/>
              <a:t> a</a:t>
            </a:r>
            <a:r>
              <a:rPr lang="en-US" sz="2400" dirty="0">
                <a:effectLst/>
              </a:rPr>
              <a:t> Series called </a:t>
            </a:r>
            <a:r>
              <a:rPr lang="en-US" sz="2000" dirty="0">
                <a:latin typeface="Courier New" panose="02070309020205020404" pitchFamily="49" charset="0"/>
                <a:ea typeface="Times New Roman" panose="02000000000000000000" pitchFamily="2" charset="0"/>
                <a:cs typeface="Courier New" panose="02070309020205020404" pitchFamily="49" charset="0"/>
              </a:rPr>
              <a:t>s</a:t>
            </a:r>
            <a:r>
              <a:rPr lang="en-US" sz="2400" dirty="0">
                <a:effectLst/>
              </a:rPr>
              <a:t> </a:t>
            </a:r>
            <a:r>
              <a:rPr lang="nl-NL" sz="2400" dirty="0" err="1">
                <a:effectLst/>
              </a:rPr>
              <a:t>that</a:t>
            </a:r>
            <a:r>
              <a:rPr lang="nl-NL" sz="2400" dirty="0">
                <a:effectLst/>
              </a:rPr>
              <a:t> c</a:t>
            </a:r>
            <a:r>
              <a:rPr lang="en-US" sz="2400" dirty="0" err="1">
                <a:effectLst/>
              </a:rPr>
              <a:t>ontains</a:t>
            </a:r>
            <a:r>
              <a:rPr lang="en-US" sz="2400" dirty="0">
                <a:effectLst/>
              </a:rPr>
              <a:t> only strings</a:t>
            </a:r>
          </a:p>
          <a:p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en-US" sz="2400" dirty="0">
                <a:effectLst/>
              </a:rPr>
              <a:t>may want to apply the same string method, indexing</a:t>
            </a:r>
            <a:r>
              <a:rPr lang="nl-NL" sz="2400" dirty="0">
                <a:effectLst/>
              </a:rPr>
              <a:t> </a:t>
            </a:r>
            <a:r>
              <a:rPr lang="en-US" sz="2400" dirty="0">
                <a:effectLst/>
              </a:rPr>
              <a:t>or slicing to every element</a:t>
            </a:r>
            <a:r>
              <a:rPr lang="nl-NL" sz="2400" dirty="0">
                <a:effectLst/>
              </a:rPr>
              <a:t> of </a:t>
            </a:r>
            <a:r>
              <a:rPr lang="nl-NL" sz="2400" dirty="0" err="1">
                <a:effectLst/>
              </a:rPr>
              <a:t>this</a:t>
            </a:r>
            <a:r>
              <a:rPr lang="nl-NL" sz="2400" dirty="0">
                <a:effectLst/>
              </a:rPr>
              <a:t> series </a:t>
            </a:r>
            <a:endParaRPr lang="en-US" sz="2400" dirty="0">
              <a:effectLst/>
            </a:endParaRPr>
          </a:p>
          <a:p>
            <a:r>
              <a:rPr lang="en-US" sz="2400" dirty="0">
                <a:effectLst/>
              </a:rPr>
              <a:t>We already saw that we can do this with the help of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s.map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effectLst/>
              </a:rPr>
              <a:t>But</a:t>
            </a:r>
            <a:r>
              <a:rPr lang="nl-NL" sz="2400" dirty="0">
                <a:effectLst/>
              </a:rPr>
              <a:t>, </a:t>
            </a:r>
            <a:r>
              <a:rPr lang="nl-NL" sz="2400" dirty="0" err="1">
                <a:effectLst/>
              </a:rPr>
              <a:t>remember</a:t>
            </a:r>
            <a:r>
              <a:rPr lang="nl-NL" sz="2400" dirty="0">
                <a:effectLst/>
              </a:rPr>
              <a:t> </a:t>
            </a:r>
            <a:r>
              <a:rPr lang="nl-NL" sz="2400" dirty="0" err="1">
                <a:effectLst/>
              </a:rPr>
              <a:t>that</a:t>
            </a:r>
            <a:r>
              <a:rPr lang="nl-NL" sz="2400" dirty="0">
                <a:effectLst/>
              </a:rPr>
              <a:t> l</a:t>
            </a:r>
            <a:r>
              <a:rPr lang="en-US" sz="2400" dirty="0" err="1">
                <a:effectLst/>
              </a:rPr>
              <a:t>ast</a:t>
            </a:r>
            <a:r>
              <a:rPr lang="en-US" sz="2400" dirty="0">
                <a:effectLst/>
              </a:rPr>
              <a:t> week we learnt that an object is always build based on a class</a:t>
            </a:r>
          </a:p>
          <a:p>
            <a:r>
              <a:rPr lang="en-US" sz="2400" dirty="0">
                <a:effectLst/>
              </a:rPr>
              <a:t>The basis of a string object is the 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effectLst/>
              </a:rPr>
              <a:t>By using this class name </a:t>
            </a: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dirty="0">
                <a:effectLst/>
                <a:cs typeface="Courier New" panose="02070309020205020404" pitchFamily="49" charset="0"/>
              </a:rPr>
              <a:t> </a:t>
            </a:r>
            <a:r>
              <a:rPr lang="en-US" sz="2400" dirty="0">
                <a:effectLst/>
              </a:rPr>
              <a:t>we can directly call the methods in the class</a:t>
            </a:r>
          </a:p>
          <a:p>
            <a:r>
              <a:rPr lang="en-US" sz="2400" dirty="0">
                <a:effectLst/>
              </a:rPr>
              <a:t>With this trick we can apply all methods</a:t>
            </a:r>
            <a:r>
              <a:rPr lang="nl-NL" sz="2400" dirty="0">
                <a:effectLst/>
              </a:rPr>
              <a:t> </a:t>
            </a:r>
            <a:r>
              <a:rPr lang="nl-NL" sz="2400" dirty="0" err="1">
                <a:effectLst/>
              </a:rPr>
              <a:t>that</a:t>
            </a:r>
            <a:r>
              <a:rPr lang="nl-NL" sz="2400" dirty="0">
                <a:effectLst/>
              </a:rPr>
              <a:t> we </a:t>
            </a:r>
            <a:r>
              <a:rPr lang="nl-NL" sz="2400" dirty="0" err="1">
                <a:effectLst/>
              </a:rPr>
              <a:t>know</a:t>
            </a:r>
            <a:r>
              <a:rPr lang="nl-NL" sz="2400" dirty="0">
                <a:effectLst/>
              </a:rPr>
              <a:t> </a:t>
            </a:r>
            <a:r>
              <a:rPr lang="nl-NL" sz="2400" dirty="0" err="1">
                <a:effectLst/>
              </a:rPr>
              <a:t>work</a:t>
            </a:r>
            <a:r>
              <a:rPr lang="nl-NL" sz="2400" dirty="0">
                <a:effectLst/>
              </a:rPr>
              <a:t> </a:t>
            </a:r>
            <a:r>
              <a:rPr lang="nl-NL" sz="2400" dirty="0" err="1">
                <a:effectLst/>
              </a:rPr>
              <a:t>for</a:t>
            </a:r>
            <a:r>
              <a:rPr lang="nl-NL" sz="2400" dirty="0">
                <a:effectLst/>
              </a:rPr>
              <a:t> strings</a:t>
            </a:r>
            <a:r>
              <a:rPr lang="en-US" sz="2400" dirty="0">
                <a:effectLst/>
              </a:rPr>
              <a:t>, slicing and indexing</a:t>
            </a:r>
            <a:r>
              <a:rPr lang="nl-NL" sz="2400" dirty="0"/>
              <a:t> </a:t>
            </a:r>
            <a:r>
              <a:rPr lang="nl-NL" sz="2400" dirty="0" err="1"/>
              <a:t>to</a:t>
            </a:r>
            <a:r>
              <a:rPr lang="en-US" sz="2400" dirty="0">
                <a:effectLst/>
              </a:rPr>
              <a:t> the series</a:t>
            </a:r>
          </a:p>
          <a:p>
            <a:pPr lvl="1"/>
            <a:r>
              <a:rPr lang="en-US" sz="2000" dirty="0">
                <a:effectLst/>
              </a:rPr>
              <a:t>And because this is pandas</a:t>
            </a:r>
            <a:r>
              <a:rPr lang="nl-NL" sz="2000" dirty="0">
                <a:effectLst/>
              </a:rPr>
              <a:t>,</a:t>
            </a:r>
            <a:r>
              <a:rPr lang="en-US" sz="2000" dirty="0">
                <a:effectLst/>
              </a:rPr>
              <a:t> this will be </a:t>
            </a:r>
            <a:r>
              <a:rPr lang="en-US" sz="2000" dirty="0"/>
              <a:t>broadcast to all elements of the series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468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ffectLst/>
              </a:rPr>
              <a:t>Vectorized</a:t>
            </a:r>
            <a:r>
              <a:rPr lang="en-US" dirty="0">
                <a:effectLst/>
              </a:rPr>
              <a:t> string methods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nl-NL" sz="2400" dirty="0">
                <a:effectLst/>
              </a:rPr>
              <a:t>T</a:t>
            </a:r>
            <a:r>
              <a:rPr lang="en-US" sz="2400" dirty="0">
                <a:effectLst/>
              </a:rPr>
              <a:t>he following pairs of code work exactly the same way:</a:t>
            </a:r>
          </a:p>
          <a:p>
            <a:pPr lvl="1"/>
            <a:r>
              <a:rPr lang="en-US" sz="2000" dirty="0" err="1">
                <a:effectLst/>
                <a:latin typeface="Courier New" panose="02070309020205020404" pitchFamily="49" charset="0"/>
              </a:rPr>
              <a:t>s.map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(lambda x: x[::-1])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</a:rPr>
              <a:t>s.str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[::-1]</a:t>
            </a:r>
          </a:p>
          <a:p>
            <a:pPr lvl="1"/>
            <a:r>
              <a:rPr lang="en-US" sz="2000" dirty="0" err="1">
                <a:effectLst/>
                <a:latin typeface="Courier New" panose="02070309020205020404" pitchFamily="49" charset="0"/>
              </a:rPr>
              <a:t>s.map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(lambda x: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x.lower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()) 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</a:rPr>
              <a:t>s.str.lower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sz="2000" dirty="0" err="1">
                <a:effectLst/>
                <a:latin typeface="Courier New" panose="02070309020205020404" pitchFamily="49" charset="0"/>
              </a:rPr>
              <a:t>s.map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(lambda x: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x.count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('a')) 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</a:rPr>
              <a:t>s.str.count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('a')</a:t>
            </a:r>
          </a:p>
          <a:p>
            <a:pPr lvl="1"/>
            <a:r>
              <a:rPr lang="en-US" sz="2000" dirty="0" err="1">
                <a:effectLst/>
                <a:latin typeface="Courier New" panose="02070309020205020404" pitchFamily="49" charset="0"/>
              </a:rPr>
              <a:t>s.map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(lambda x: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x.isupper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()) 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</a:rPr>
              <a:t>s.str.isupper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And just like any other method, you can chain them with dot operators in between, if the result of the operation is a new series with only strings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173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nl-NL" dirty="0">
                <a:latin typeface="Calibri Light"/>
                <a:cs typeface="Arial"/>
              </a:rPr>
              <a:t>Question 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/>
              <a:t>What will the following program print: </a:t>
            </a:r>
            <a:br>
              <a:rPr lang="en-US" sz="2400" dirty="0"/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(['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aAgh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s.str.upper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str.count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('A').mean())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0.0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0.5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5086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nl-NL" dirty="0" err="1">
                <a:latin typeface="Calibri Light"/>
                <a:cs typeface="Arial"/>
              </a:rPr>
              <a:t>Answer</a:t>
            </a:r>
            <a:r>
              <a:rPr lang="nl-NL" dirty="0">
                <a:latin typeface="Calibri Light"/>
                <a:cs typeface="Arial"/>
              </a:rPr>
              <a:t> 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/>
              <a:t>What will the following program print: </a:t>
            </a:r>
            <a:br>
              <a:rPr lang="en-US" sz="2400" dirty="0"/>
            </a:br>
            <a:r>
              <a:rPr lang="en-US" sz="2000" dirty="0">
                <a:latin typeface="Courier New"/>
                <a:cs typeface="Courier New"/>
              </a:rPr>
              <a:t>import pandas as pd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/>
                <a:cs typeface="Courier New"/>
              </a:rPr>
              <a:t>s = </a:t>
            </a:r>
            <a:r>
              <a:rPr lang="en-US" sz="2000" dirty="0" err="1">
                <a:latin typeface="Courier New"/>
                <a:cs typeface="Courier New"/>
              </a:rPr>
              <a:t>pd.Series</a:t>
            </a:r>
            <a:r>
              <a:rPr lang="en-US" sz="2000" dirty="0">
                <a:latin typeface="Courier New"/>
                <a:cs typeface="Courier New"/>
              </a:rPr>
              <a:t>(['</a:t>
            </a:r>
            <a:r>
              <a:rPr lang="en-US" sz="2000" dirty="0" err="1">
                <a:latin typeface="Courier New"/>
                <a:cs typeface="Courier New"/>
              </a:rPr>
              <a:t>abc</a:t>
            </a:r>
            <a:r>
              <a:rPr lang="en-US" sz="2000" dirty="0">
                <a:latin typeface="Courier New"/>
                <a:cs typeface="Courier New"/>
              </a:rPr>
              <a:t>', '</a:t>
            </a:r>
            <a:r>
              <a:rPr lang="en-US" sz="2000" dirty="0" err="1">
                <a:latin typeface="Courier New"/>
                <a:cs typeface="Courier New"/>
              </a:rPr>
              <a:t>xAef</a:t>
            </a:r>
            <a:r>
              <a:rPr lang="en-US" sz="2000" dirty="0">
                <a:latin typeface="Courier New"/>
                <a:cs typeface="Courier New"/>
              </a:rPr>
              <a:t>', '</a:t>
            </a:r>
            <a:r>
              <a:rPr lang="en-US" sz="2000" dirty="0" err="1">
                <a:latin typeface="Courier New"/>
                <a:cs typeface="Courier New"/>
              </a:rPr>
              <a:t>aAgh</a:t>
            </a:r>
            <a:r>
              <a:rPr lang="en-US" sz="2000" dirty="0">
                <a:latin typeface="Courier New"/>
                <a:cs typeface="Courier New"/>
              </a:rPr>
              <a:t>', '</a:t>
            </a:r>
            <a:r>
              <a:rPr lang="en-US" sz="2000" dirty="0" err="1">
                <a:latin typeface="Courier New"/>
                <a:cs typeface="Courier New"/>
              </a:rPr>
              <a:t>xyz</a:t>
            </a:r>
            <a:r>
              <a:rPr lang="en-US" sz="2000" dirty="0">
                <a:latin typeface="Courier New"/>
                <a:cs typeface="Courier New"/>
              </a:rPr>
              <a:t>'])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/>
                <a:cs typeface="Courier New"/>
              </a:rPr>
              <a:t>print(</a:t>
            </a:r>
            <a:r>
              <a:rPr lang="en-US" sz="2000" dirty="0" err="1">
                <a:latin typeface="Courier New"/>
                <a:cs typeface="Courier New"/>
              </a:rPr>
              <a:t>s.str.upper</a:t>
            </a:r>
            <a:r>
              <a:rPr lang="en-US" sz="2000" dirty="0">
                <a:latin typeface="Courier New"/>
                <a:cs typeface="Courier New"/>
              </a:rPr>
              <a:t>().</a:t>
            </a:r>
            <a:r>
              <a:rPr lang="en-US" sz="2000" dirty="0" err="1">
                <a:latin typeface="Courier New"/>
                <a:cs typeface="Courier New"/>
              </a:rPr>
              <a:t>str.count</a:t>
            </a:r>
            <a:r>
              <a:rPr lang="en-US" sz="2000" dirty="0">
                <a:latin typeface="Courier New"/>
                <a:cs typeface="Courier New"/>
              </a:rPr>
              <a:t>('A').mean())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0.0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0.5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000" dirty="0">
                <a:latin typeface="Courier New"/>
                <a:cs typeface="Courier New"/>
              </a:rPr>
              <a:t>1.5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lphaLcPeriod"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/>
                <a:cs typeface="Courier New"/>
              </a:rPr>
              <a:t>Answer: option c is correct.</a:t>
            </a:r>
            <a:br>
              <a:rPr lang="en-US" sz="2400" dirty="0">
                <a:latin typeface="Calibri"/>
                <a:cs typeface="Courier New" panose="02070309020205020404" pitchFamily="49" charset="0"/>
              </a:rPr>
            </a:br>
            <a:endParaRPr lang="en-US" sz="2000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618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nl-NL" dirty="0">
                <a:latin typeface="Calibri Light"/>
                <a:cs typeface="Arial"/>
              </a:rPr>
              <a:t>The </a:t>
            </a:r>
            <a:r>
              <a:rPr lang="nl-NL" dirty="0" err="1">
                <a:latin typeface="Calibri Light"/>
                <a:cs typeface="Arial"/>
              </a:rPr>
              <a:t>vectorized</a:t>
            </a:r>
            <a:r>
              <a:rPr lang="nl-NL" dirty="0">
                <a:latin typeface="Calibri Light"/>
                <a:cs typeface="Arial"/>
              </a:rPr>
              <a:t> </a:t>
            </a:r>
            <a:r>
              <a:rPr lang="nl-NL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dirty="0">
                <a:latin typeface="Calibri Light"/>
                <a:cs typeface="Arial"/>
              </a:rPr>
              <a:t> operator  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nl-NL" sz="2400" dirty="0">
                <a:cs typeface="Courier New" panose="02070309020205020404" pitchFamily="49" charset="0"/>
              </a:rPr>
              <a:t>The</a:t>
            </a:r>
            <a:r>
              <a:rPr lang="nl-N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400" dirty="0">
                <a:effectLst/>
              </a:rPr>
              <a:t> operator </a:t>
            </a:r>
            <a:r>
              <a:rPr lang="nl-NL" sz="2400" dirty="0">
                <a:effectLst/>
              </a:rPr>
              <a:t>is </a:t>
            </a:r>
            <a:r>
              <a:rPr lang="nl-NL" sz="2400" dirty="0" err="1">
                <a:effectLst/>
              </a:rPr>
              <a:t>used</a:t>
            </a:r>
            <a:r>
              <a:rPr lang="nl-NL" sz="2400" dirty="0">
                <a:effectLst/>
              </a:rPr>
              <a:t> </a:t>
            </a:r>
            <a:r>
              <a:rPr lang="en-US" sz="2400" dirty="0">
                <a:effectLst/>
              </a:rPr>
              <a:t>to test</a:t>
            </a:r>
            <a:r>
              <a:rPr lang="nl-NL" sz="2400" dirty="0">
                <a:effectLst/>
              </a:rPr>
              <a:t> w</a:t>
            </a:r>
            <a:r>
              <a:rPr lang="en-US" sz="2400" dirty="0" err="1">
                <a:effectLst/>
              </a:rPr>
              <a:t>hether</a:t>
            </a:r>
            <a:r>
              <a:rPr lang="en-US" sz="2400" dirty="0">
                <a:effectLst/>
              </a:rPr>
              <a:t> a string is a substring of another string or a string is an element of a list (or tuple </a:t>
            </a:r>
            <a:r>
              <a:rPr lang="en-US" sz="2400" dirty="0" err="1">
                <a:effectLst/>
              </a:rPr>
              <a:t>etc</a:t>
            </a:r>
            <a:r>
              <a:rPr lang="nl-NL" sz="2400" dirty="0">
                <a:effectLst/>
              </a:rPr>
              <a:t>.</a:t>
            </a:r>
            <a:r>
              <a:rPr lang="en-US" sz="2400" dirty="0">
                <a:effectLst/>
              </a:rPr>
              <a:t>) </a:t>
            </a:r>
          </a:p>
          <a:p>
            <a:r>
              <a:rPr lang="en-US" sz="2400" dirty="0">
                <a:effectLst/>
              </a:rPr>
              <a:t>The </a:t>
            </a:r>
            <a:r>
              <a:rPr lang="en-US" sz="2400" dirty="0" err="1">
                <a:effectLst/>
              </a:rPr>
              <a:t>vectorized</a:t>
            </a:r>
            <a:r>
              <a:rPr lang="en-US" sz="2400" dirty="0">
                <a:effectLst/>
              </a:rPr>
              <a:t> version is called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isin</a:t>
            </a:r>
            <a:endParaRPr lang="nl-NL" sz="2400" dirty="0"/>
          </a:p>
          <a:p>
            <a:r>
              <a:rPr lang="nl-NL" sz="2000" dirty="0" err="1">
                <a:latin typeface="Courier New" panose="02070309020205020404" pitchFamily="49" charset="0"/>
                <a:ea typeface="Abadi Extra Light" panose="02000000000000000000" pitchFamily="2" charset="0"/>
                <a:cs typeface="Courier New" panose="02070309020205020404" pitchFamily="49" charset="0"/>
              </a:rPr>
              <a:t>isin</a:t>
            </a:r>
            <a:r>
              <a:rPr lang="nl-NL" sz="2400" dirty="0">
                <a:cs typeface="Courier New" panose="02070309020205020404" pitchFamily="49" charset="0"/>
              </a:rPr>
              <a:t> </a:t>
            </a:r>
            <a:r>
              <a:rPr lang="nl-NL" sz="2400" dirty="0" err="1">
                <a:cs typeface="Courier New" panose="02070309020205020404" pitchFamily="49" charset="0"/>
              </a:rPr>
              <a:t>an</a:t>
            </a:r>
            <a:r>
              <a:rPr lang="en-US" sz="2400" dirty="0">
                <a:effectLst/>
              </a:rPr>
              <a:t>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2400" dirty="0">
                <a:cs typeface="Courier New" panose="02070309020205020404" pitchFamily="49" charset="0"/>
              </a:rPr>
              <a:t> a</a:t>
            </a:r>
            <a:r>
              <a:rPr lang="en-US" sz="2400" dirty="0">
                <a:effectLst/>
              </a:rPr>
              <a:t>re not defined as methods in the </a:t>
            </a:r>
            <a:r>
              <a:rPr lang="en-US" sz="2400" dirty="0" err="1">
                <a:effectLst/>
              </a:rPr>
              <a:t>str</a:t>
            </a:r>
            <a:r>
              <a:rPr lang="en-US" sz="2400" dirty="0">
                <a:effectLst/>
              </a:rPr>
              <a:t> class</a:t>
            </a:r>
          </a:p>
          <a:p>
            <a:r>
              <a:rPr lang="en-US" sz="2400" dirty="0">
                <a:effectLst/>
              </a:rPr>
              <a:t>The following work the same: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</a:rPr>
              <a:t>s.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map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(lambda x: x in '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abcd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')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</a:rPr>
              <a:t>s.isin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(list('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abcd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'))</a:t>
            </a:r>
          </a:p>
          <a:p>
            <a:pPr lvl="1"/>
            <a:r>
              <a:rPr lang="en-US" sz="2000" dirty="0" err="1">
                <a:latin typeface="Courier New" panose="02070309020205020404" pitchFamily="49" charset="0"/>
              </a:rPr>
              <a:t>s.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map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(lambda x: x not in '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abcd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')</a:t>
            </a:r>
            <a:br>
              <a:rPr lang="en-US" sz="2000" dirty="0">
                <a:effectLst/>
                <a:latin typeface="Courier New" panose="02070309020205020404" pitchFamily="49" charset="0"/>
              </a:rPr>
            </a:br>
            <a:r>
              <a:rPr lang="en-US" sz="2000" dirty="0">
                <a:effectLst/>
                <a:latin typeface="Courier New" panose="02070309020205020404" pitchFamily="49" charset="0"/>
              </a:rPr>
              <a:t>~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s.isin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(list('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abcd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'))</a:t>
            </a:r>
          </a:p>
          <a:p>
            <a:r>
              <a:rPr lang="en-US" sz="2400" dirty="0"/>
              <a:t>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2400" dirty="0"/>
              <a:t> operator works like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2400" dirty="0"/>
              <a:t> operator but is </a:t>
            </a:r>
            <a:r>
              <a:rPr lang="en-US" sz="2400" dirty="0" err="1"/>
              <a:t>vectorized</a:t>
            </a:r>
            <a:endParaRPr lang="en-US" sz="2400" dirty="0"/>
          </a:p>
          <a:p>
            <a:pPr lvl="1"/>
            <a:r>
              <a:rPr lang="en-US" sz="2000" dirty="0"/>
              <a:t>If you have a series with only Boolean values, and you apply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sz="2000" dirty="0"/>
              <a:t> operator all Trues will become False and all </a:t>
            </a:r>
            <a:r>
              <a:rPr lang="en-US" sz="2000" dirty="0" err="1"/>
              <a:t>Falses</a:t>
            </a:r>
            <a:r>
              <a:rPr lang="en-US" sz="2000" dirty="0"/>
              <a:t> will become True</a:t>
            </a:r>
            <a:endParaRPr lang="en-US" sz="1600" dirty="0"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078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/>
                <a:cs typeface="Arial"/>
              </a:rPr>
              <a:t>Applying a function to each row/column</a:t>
            </a:r>
            <a:endParaRPr lang="nl-NL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latin typeface="Calibri"/>
                <a:cs typeface="Arial"/>
              </a:rPr>
              <a:t>Say you want </a:t>
            </a:r>
            <a:r>
              <a:rPr lang="en-US" sz="2400" dirty="0">
                <a:effectLst/>
                <a:latin typeface="Calibri"/>
                <a:cs typeface="Arial"/>
              </a:rPr>
              <a:t>a </a:t>
            </a:r>
            <a:r>
              <a:rPr lang="en-US" sz="2400" dirty="0">
                <a:latin typeface="Calibri"/>
                <a:cs typeface="Arial"/>
              </a:rPr>
              <a:t>new row with </a:t>
            </a:r>
            <a:r>
              <a:rPr lang="en-US" sz="2400" dirty="0">
                <a:effectLst/>
                <a:latin typeface="Calibri"/>
                <a:cs typeface="Arial"/>
              </a:rPr>
              <a:t>the </a:t>
            </a:r>
            <a:r>
              <a:rPr lang="en-US" sz="2400" dirty="0">
                <a:latin typeface="Calibri"/>
                <a:cs typeface="Arial"/>
              </a:rPr>
              <a:t>averages of each column: </a:t>
            </a:r>
            <a:endParaRPr lang="nl-NL" sz="2000" dirty="0">
              <a:latin typeface="Calibri" panose="020F0502020204030204"/>
              <a:cs typeface="Calibri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/>
                <a:cs typeface="Courier New"/>
              </a:rPr>
              <a:t>df.loc</a:t>
            </a:r>
            <a:r>
              <a:rPr lang="en-US" sz="2000" dirty="0">
                <a:latin typeface="Courier New"/>
                <a:cs typeface="Courier New"/>
              </a:rPr>
              <a:t>['Av'] = </a:t>
            </a:r>
            <a:r>
              <a:rPr lang="en-US" sz="2000" dirty="0" err="1">
                <a:latin typeface="Courier New"/>
                <a:cs typeface="Courier New"/>
              </a:rPr>
              <a:t>df.apply</a:t>
            </a:r>
            <a:r>
              <a:rPr lang="en-US" sz="2000" dirty="0">
                <a:effectLst/>
                <a:latin typeface="Courier New"/>
                <a:cs typeface="Courier New"/>
              </a:rPr>
              <a:t>(lambda x:</a:t>
            </a:r>
            <a:r>
              <a:rPr lang="en-US" sz="2000" dirty="0">
                <a:latin typeface="Courier New"/>
                <a:cs typeface="Courier New"/>
              </a:rPr>
              <a:t> </a:t>
            </a:r>
            <a:r>
              <a:rPr lang="en-US" sz="2000" dirty="0" err="1">
                <a:effectLst/>
                <a:latin typeface="Courier New"/>
                <a:cs typeface="Courier New"/>
              </a:rPr>
              <a:t>x.</a:t>
            </a:r>
            <a:r>
              <a:rPr lang="en-US" sz="2000" dirty="0" err="1">
                <a:latin typeface="Courier New"/>
                <a:cs typeface="Courier New"/>
              </a:rPr>
              <a:t>mean</a:t>
            </a:r>
            <a:r>
              <a:rPr lang="en-US" sz="2000" dirty="0">
                <a:latin typeface="Courier New"/>
                <a:cs typeface="Courier New"/>
              </a:rPr>
              <a:t>(), axis = 0)</a:t>
            </a:r>
            <a:endParaRPr lang="nl-NL" sz="2000" dirty="0">
              <a:cs typeface="Calibri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r>
              <a:rPr lang="en-US" sz="2400" dirty="0">
                <a:latin typeface="Calibri"/>
                <a:cs typeface="Arial"/>
              </a:rPr>
              <a:t>Say you want a new column with the averages of each row:</a:t>
            </a:r>
          </a:p>
          <a:p>
            <a:pPr marL="0" indent="0">
              <a:buNone/>
            </a:pPr>
            <a:r>
              <a:rPr lang="en-US" sz="2000" dirty="0" err="1">
                <a:latin typeface="Courier New"/>
                <a:cs typeface="Courier New"/>
              </a:rPr>
              <a:t>df.loc</a:t>
            </a:r>
            <a:r>
              <a:rPr lang="en-US" sz="2000" dirty="0">
                <a:latin typeface="Courier New"/>
                <a:cs typeface="Courier New"/>
              </a:rPr>
              <a:t>[:,'Av'] = </a:t>
            </a:r>
            <a:r>
              <a:rPr lang="en-US" sz="2000" dirty="0" err="1">
                <a:latin typeface="Courier New"/>
                <a:cs typeface="Courier New"/>
              </a:rPr>
              <a:t>df.apply</a:t>
            </a:r>
            <a:r>
              <a:rPr lang="en-US" sz="2000" dirty="0">
                <a:effectLst/>
                <a:latin typeface="Courier New"/>
                <a:cs typeface="Courier New"/>
              </a:rPr>
              <a:t>(lambda x:</a:t>
            </a:r>
            <a:r>
              <a:rPr lang="en-US" sz="2000" dirty="0">
                <a:latin typeface="Courier New"/>
                <a:cs typeface="Courier New"/>
              </a:rPr>
              <a:t> </a:t>
            </a:r>
            <a:r>
              <a:rPr lang="en-US" sz="2000" dirty="0" err="1">
                <a:effectLst/>
                <a:latin typeface="Courier New"/>
                <a:cs typeface="Courier New"/>
              </a:rPr>
              <a:t>x.</a:t>
            </a:r>
            <a:r>
              <a:rPr lang="en-US" sz="2000" dirty="0" err="1">
                <a:latin typeface="Courier New"/>
                <a:cs typeface="Courier New"/>
              </a:rPr>
              <a:t>mean</a:t>
            </a:r>
            <a:r>
              <a:rPr lang="en-US" sz="2000" dirty="0">
                <a:latin typeface="Courier New"/>
                <a:cs typeface="Courier New"/>
              </a:rPr>
              <a:t>(), axis = 1)</a:t>
            </a:r>
            <a:endParaRPr lang="en-US" dirty="0"/>
          </a:p>
          <a:p>
            <a:endParaRPr lang="en-US" sz="24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56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1BE7BF1-DCB4-1D85-F6C6-334F835CE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41203"/>
              </p:ext>
            </p:extLst>
          </p:nvPr>
        </p:nvGraphicFramePr>
        <p:xfrm>
          <a:off x="468556" y="2198227"/>
          <a:ext cx="30956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39045800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39176238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42893533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2300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2.000000​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3.000000​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68592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5.000000​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4.000000​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0369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6.000000​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7.000000​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1301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Av​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4.333333​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4.666667​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006167"/>
                  </a:ext>
                </a:extLst>
              </a:tr>
            </a:tbl>
          </a:graphicData>
        </a:graphic>
      </p:graphicFrame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DB4DE4B0-07D3-03F7-EECF-92AA1308C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46262"/>
              </p:ext>
            </p:extLst>
          </p:nvPr>
        </p:nvGraphicFramePr>
        <p:xfrm>
          <a:off x="470388" y="5053819"/>
          <a:ext cx="31623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575">
                  <a:extLst>
                    <a:ext uri="{9D8B030D-6E8A-4147-A177-3AD203B41FA5}">
                      <a16:colId xmlns:a16="http://schemas.microsoft.com/office/drawing/2014/main" val="247576426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692743474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622348442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59489832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Av​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621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2.5​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7604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4.5​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47549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6.5​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17233"/>
                  </a:ext>
                </a:extLst>
              </a:tr>
            </a:tbl>
          </a:graphicData>
        </a:graphic>
      </p:graphicFrame>
      <p:graphicFrame>
        <p:nvGraphicFramePr>
          <p:cNvPr id="10" name="Tabel 5">
            <a:extLst>
              <a:ext uri="{FF2B5EF4-FFF2-40B4-BE49-F238E27FC236}">
                <a16:creationId xmlns:a16="http://schemas.microsoft.com/office/drawing/2014/main" id="{BB638017-C836-0AEB-6EB8-C5AAE1CF2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81312"/>
              </p:ext>
            </p:extLst>
          </p:nvPr>
        </p:nvGraphicFramePr>
        <p:xfrm>
          <a:off x="9372787" y="1592299"/>
          <a:ext cx="2256690" cy="139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230">
                  <a:extLst>
                    <a:ext uri="{9D8B030D-6E8A-4147-A177-3AD203B41FA5}">
                      <a16:colId xmlns:a16="http://schemas.microsoft.com/office/drawing/2014/main" val="388443057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4051248135"/>
                    </a:ext>
                  </a:extLst>
                </a:gridCol>
                <a:gridCol w="752230">
                  <a:extLst>
                    <a:ext uri="{9D8B030D-6E8A-4147-A177-3AD203B41FA5}">
                      <a16:colId xmlns:a16="http://schemas.microsoft.com/office/drawing/2014/main" val="3307798387"/>
                    </a:ext>
                  </a:extLst>
                </a:gridCol>
              </a:tblGrid>
              <a:tr h="347806">
                <a:tc>
                  <a:txBody>
                    <a:bodyPr/>
                    <a:lstStyle/>
                    <a:p>
                      <a:pPr fontAlgn="auto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16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530874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3​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49663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5​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4​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71645"/>
                  </a:ext>
                </a:extLst>
              </a:tr>
              <a:tr h="347806"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6​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</a:rPr>
                        <a:t>7​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987756"/>
                  </a:ext>
                </a:extLst>
              </a:tr>
            </a:tbl>
          </a:graphicData>
        </a:graphic>
      </p:graphicFrame>
      <p:sp>
        <p:nvSpPr>
          <p:cNvPr id="12" name="Tekstvak 11">
            <a:extLst>
              <a:ext uri="{FF2B5EF4-FFF2-40B4-BE49-F238E27FC236}">
                <a16:creationId xmlns:a16="http://schemas.microsoft.com/office/drawing/2014/main" id="{1FA7574B-A78A-9267-61FE-C39B3CF568F7}"/>
              </a:ext>
            </a:extLst>
          </p:cNvPr>
          <p:cNvSpPr txBox="1"/>
          <p:nvPr/>
        </p:nvSpPr>
        <p:spPr>
          <a:xfrm>
            <a:off x="9305192" y="1210407"/>
            <a:ext cx="14360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err="1">
                <a:latin typeface="Calibri"/>
                <a:cs typeface="Calibri"/>
              </a:rPr>
              <a:t>df</a:t>
            </a:r>
            <a:r>
              <a:rPr lang="nl-NL" dirty="0">
                <a:latin typeface="Calibri"/>
                <a:cs typeface="Calibri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0773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data to a dataframe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effectLst/>
              </a:rPr>
              <a:t>In the previous slide we saw an example of adding a column to a </a:t>
            </a:r>
            <a:r>
              <a:rPr lang="en-US" sz="2400" dirty="0" err="1">
                <a:effectLst/>
              </a:rPr>
              <a:t>dataframe</a:t>
            </a:r>
            <a:endParaRPr lang="en-US" sz="2400" dirty="0">
              <a:effectLst/>
            </a:endParaRPr>
          </a:p>
          <a:p>
            <a:r>
              <a:rPr lang="en-US" sz="2400" dirty="0">
                <a:effectLst/>
              </a:rPr>
              <a:t>When adding data to a column, the following applies:</a:t>
            </a:r>
          </a:p>
          <a:p>
            <a:pPr lvl="1"/>
            <a:r>
              <a:rPr lang="en-US" sz="2000" dirty="0">
                <a:effectLst/>
              </a:rPr>
              <a:t>A scalar value is broadcast to all rows </a:t>
            </a:r>
          </a:p>
          <a:p>
            <a:pPr lvl="1"/>
            <a:r>
              <a:rPr lang="en-US" sz="2000" dirty="0">
                <a:effectLst/>
              </a:rPr>
              <a:t>Collections of values (arrays, lists) must have a length and structure equal to the number of rows  </a:t>
            </a:r>
          </a:p>
          <a:p>
            <a:pPr lvl="1"/>
            <a:r>
              <a:rPr lang="en-US" sz="2000" dirty="0">
                <a:effectLst/>
              </a:rPr>
              <a:t>A </a:t>
            </a:r>
            <a:r>
              <a:rPr lang="en-US" sz="2000" dirty="0"/>
              <a:t>seri</a:t>
            </a:r>
            <a:r>
              <a:rPr lang="en-US" sz="2000" dirty="0">
                <a:effectLst/>
              </a:rPr>
              <a:t>es of values added to a column will be fit into the </a:t>
            </a:r>
            <a:r>
              <a:rPr lang="en-US" sz="2000" dirty="0" err="1">
                <a:effectLst/>
              </a:rPr>
              <a:t>dataframe</a:t>
            </a:r>
            <a:r>
              <a:rPr lang="en-US" sz="2000" dirty="0">
                <a:effectLst/>
              </a:rPr>
              <a:t> according to the </a:t>
            </a:r>
            <a:r>
              <a:rPr lang="en-US" sz="2000" dirty="0" err="1">
                <a:effectLst/>
              </a:rPr>
              <a:t>rownames</a:t>
            </a:r>
            <a:r>
              <a:rPr lang="en-US" sz="2000" dirty="0">
                <a:effectLst/>
              </a:rPr>
              <a:t> of the </a:t>
            </a:r>
            <a:r>
              <a:rPr lang="en-US" sz="2000" dirty="0" err="1">
                <a:effectLst/>
              </a:rPr>
              <a:t>dataframe</a:t>
            </a:r>
            <a:r>
              <a:rPr lang="en-US" sz="2000" dirty="0">
                <a:effectLst/>
              </a:rPr>
              <a:t> and the </a:t>
            </a:r>
            <a:r>
              <a:rPr lang="en-US" sz="2000" dirty="0" err="1">
                <a:effectLst/>
              </a:rPr>
              <a:t>indexnames</a:t>
            </a:r>
            <a:r>
              <a:rPr lang="en-US" sz="2000" dirty="0">
                <a:effectLst/>
              </a:rPr>
              <a:t> of the series</a:t>
            </a:r>
          </a:p>
          <a:p>
            <a:pPr lvl="1"/>
            <a:r>
              <a:rPr lang="en-US" sz="2000" dirty="0">
                <a:effectLst/>
              </a:rPr>
              <a:t>Missing values may result if the two indices are not fully overlapping</a:t>
            </a:r>
            <a:endParaRPr lang="en-US" sz="2000" dirty="0"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91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Adding data to a dataframe</a:t>
            </a:r>
            <a:endParaRPr lang="en-US" dirty="0">
              <a:latin typeface="Calibri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351338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/>
              <a:t>When adding data to a row, the following applies:</a:t>
            </a:r>
          </a:p>
          <a:p>
            <a:pPr lvl="1"/>
            <a:r>
              <a:rPr lang="en-US" sz="2000" dirty="0">
                <a:effectLst/>
              </a:rPr>
              <a:t>A scalar value is broadcasted to all columns </a:t>
            </a:r>
          </a:p>
          <a:p>
            <a:pPr lvl="1"/>
            <a:r>
              <a:rPr lang="en-US" sz="2000" dirty="0">
                <a:effectLst/>
              </a:rPr>
              <a:t>Collections of values (arrays, lists) must have a length equal to the number of columns </a:t>
            </a:r>
          </a:p>
          <a:p>
            <a:pPr lvl="1"/>
            <a:r>
              <a:rPr lang="en-US" sz="2000" dirty="0">
                <a:effectLst/>
              </a:rPr>
              <a:t>A Series of values added to a row will be fit into the </a:t>
            </a:r>
            <a:r>
              <a:rPr lang="en-US" sz="2000" dirty="0" err="1">
                <a:effectLst/>
              </a:rPr>
              <a:t>DataFrame</a:t>
            </a:r>
            <a:r>
              <a:rPr lang="en-US" sz="2000" dirty="0">
                <a:effectLst/>
              </a:rPr>
              <a:t> according to the </a:t>
            </a:r>
            <a:r>
              <a:rPr lang="en-US" sz="2000" dirty="0" err="1">
                <a:effectLst/>
              </a:rPr>
              <a:t>columnames</a:t>
            </a:r>
            <a:r>
              <a:rPr lang="en-US" sz="2000" dirty="0">
                <a:effectLst/>
              </a:rPr>
              <a:t> of the </a:t>
            </a:r>
            <a:r>
              <a:rPr lang="en-US" sz="2000" dirty="0" err="1">
                <a:effectLst/>
              </a:rPr>
              <a:t>dataframe</a:t>
            </a:r>
            <a:r>
              <a:rPr lang="en-US" sz="2000" dirty="0">
                <a:effectLst/>
              </a:rPr>
              <a:t> and the </a:t>
            </a:r>
            <a:r>
              <a:rPr lang="en-US" sz="2000" dirty="0" err="1">
                <a:effectLst/>
              </a:rPr>
              <a:t>indexnames</a:t>
            </a:r>
            <a:r>
              <a:rPr lang="en-US" sz="2000" dirty="0">
                <a:effectLst/>
              </a:rPr>
              <a:t> in the series</a:t>
            </a:r>
          </a:p>
          <a:p>
            <a:pPr lvl="1"/>
            <a:r>
              <a:rPr lang="en-US" sz="2000" dirty="0">
                <a:effectLst/>
              </a:rPr>
              <a:t>Missing values may result if the two indices are not fully overlapping</a:t>
            </a:r>
            <a:endParaRPr lang="en-US" sz="2000" dirty="0"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039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/>
                <a:cs typeface="Arial"/>
              </a:rPr>
              <a:t>Missing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effectLst/>
              </a:rPr>
              <a:t>A special value from </a:t>
            </a:r>
            <a:r>
              <a:rPr lang="en-US" sz="2400" dirty="0" err="1">
                <a:effectLst/>
              </a:rPr>
              <a:t>Numpy</a:t>
            </a:r>
            <a:r>
              <a:rPr lang="en-US" sz="2400" dirty="0">
                <a:effectLst/>
              </a:rPr>
              <a:t> is used to denote missing data:</a:t>
            </a:r>
            <a:r>
              <a:rPr lang="en-US" sz="2000" dirty="0">
                <a:effectLst/>
                <a:latin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np.nan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pPr lvl="1"/>
            <a:r>
              <a:rPr lang="en-US" sz="2000" dirty="0">
                <a:effectLst/>
              </a:rPr>
              <a:t>Looks like </a:t>
            </a:r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6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 </a:t>
            </a:r>
            <a:r>
              <a:rPr lang="en-US" sz="2000" dirty="0">
                <a:effectLst/>
              </a:rPr>
              <a:t>when printed, but it is not a string: it's something like </a:t>
            </a:r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600" dirty="0">
                <a:effectLst/>
                <a:latin typeface="Arial" panose="020B0604020202020204" pitchFamily="34" charset="0"/>
              </a:rPr>
              <a:t>, </a:t>
            </a:r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>
                <a:effectLst/>
                <a:latin typeface="Arial" panose="020B0604020202020204" pitchFamily="34" charset="0"/>
              </a:rPr>
              <a:t>, </a:t>
            </a:r>
            <a:r>
              <a:rPr lang="en-US" sz="2000" dirty="0">
                <a:effectLst/>
              </a:rPr>
              <a:t>and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  <a:p>
            <a:r>
              <a:rPr lang="en-US" sz="2400" dirty="0">
                <a:effectLst/>
              </a:rPr>
              <a:t>Indicate missing values: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df.isna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(), </a:t>
            </a:r>
            <a:r>
              <a:rPr lang="en-US" sz="2000" dirty="0"/>
              <a:t>creates the same shape as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df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/>
              <a:t>but with Trues and </a:t>
            </a:r>
            <a:r>
              <a:rPr lang="en-US" sz="2000" dirty="0" err="1"/>
              <a:t>Falses</a:t>
            </a:r>
            <a:endParaRPr lang="en-US" sz="2000" dirty="0"/>
          </a:p>
          <a:p>
            <a:r>
              <a:rPr lang="en-US" sz="2400" dirty="0">
                <a:effectLst/>
              </a:rPr>
              <a:t>Replace missing data with a value:</a:t>
            </a:r>
            <a:r>
              <a:rPr lang="en-US" sz="2000" dirty="0">
                <a:effectLst/>
                <a:latin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df.fillna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effectLst/>
                <a:latin typeface="Arial" panose="020B0604020202020204" pitchFamily="34" charset="0"/>
              </a:rPr>
              <a:t>value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2400" dirty="0">
                <a:effectLst/>
              </a:rPr>
              <a:t>Drop rows / columns with missing data: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df.dropna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sz="2400" dirty="0">
                <a:effectLst/>
              </a:rPr>
              <a:t>Missing data is sometimes automatically generated</a:t>
            </a:r>
          </a:p>
          <a:p>
            <a:pPr lvl="1"/>
            <a:r>
              <a:rPr lang="en-US" sz="2000" dirty="0">
                <a:effectLst/>
              </a:rPr>
              <a:t>e.g. by merging datasets with (partly) incompatible names/indices</a:t>
            </a:r>
            <a:endParaRPr lang="en-US" sz="2000" dirty="0">
              <a:ea typeface="Calibri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158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Concatenating </a:t>
            </a:r>
            <a:r>
              <a:rPr lang="en-US" dirty="0" err="1">
                <a:effectLst/>
              </a:rPr>
              <a:t>DataFrames</a:t>
            </a:r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 err="1"/>
              <a:t>Dataframes</a:t>
            </a:r>
            <a:r>
              <a:rPr lang="en-US" sz="2400" dirty="0"/>
              <a:t> can be concatenated either v</a:t>
            </a:r>
            <a:r>
              <a:rPr lang="en-US" sz="2400" dirty="0">
                <a:effectLst/>
              </a:rPr>
              <a:t>ertically or horizontally:</a:t>
            </a:r>
          </a:p>
          <a:p>
            <a:pPr lvl="1"/>
            <a:r>
              <a:rPr lang="en-US" sz="2000" dirty="0">
                <a:effectLst/>
              </a:rPr>
              <a:t>Vertically</a:t>
            </a:r>
            <a:r>
              <a:rPr lang="en-US" sz="2000" dirty="0">
                <a:effectLst/>
                <a:latin typeface="Arial" panose="020B0604020202020204" pitchFamily="34" charset="0"/>
              </a:rPr>
              <a:t>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pd.concat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([df1, df2])</a:t>
            </a:r>
          </a:p>
          <a:p>
            <a:pPr lvl="1"/>
            <a:r>
              <a:rPr lang="en-US" sz="2000" dirty="0">
                <a:effectLst/>
              </a:rPr>
              <a:t>Horizontally</a:t>
            </a:r>
            <a:r>
              <a:rPr lang="en-US" sz="2000" dirty="0">
                <a:effectLst/>
                <a:latin typeface="Arial" panose="020B0604020202020204" pitchFamily="34" charset="0"/>
              </a:rPr>
              <a:t>: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pd.concat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([df1, df2], axis=1)</a:t>
            </a:r>
          </a:p>
          <a:p>
            <a:r>
              <a:rPr lang="en-US" sz="2400" dirty="0">
                <a:effectLst/>
              </a:rPr>
              <a:t>The resulting </a:t>
            </a:r>
            <a:r>
              <a:rPr lang="en-US" sz="2400" dirty="0" err="1">
                <a:effectLst/>
              </a:rPr>
              <a:t>DataFrame</a:t>
            </a:r>
            <a:r>
              <a:rPr lang="en-US" sz="2400" dirty="0">
                <a:effectLst/>
              </a:rPr>
              <a:t> has the union of the index / column labels in the direction of concatenation</a:t>
            </a:r>
          </a:p>
          <a:p>
            <a:r>
              <a:rPr lang="en-US" sz="2400" dirty="0">
                <a:effectLst/>
              </a:rPr>
              <a:t>Missing values are created when the 'unionized' labels are not fully overlapping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axis=0</a:t>
            </a:r>
            <a:r>
              <a:rPr lang="en-US" sz="2400" dirty="0"/>
              <a:t>, is the default</a:t>
            </a:r>
            <a:endParaRPr lang="en-US" sz="24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5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Joining / merging </a:t>
            </a:r>
            <a:r>
              <a:rPr lang="en-US" dirty="0" err="1">
                <a:effectLst/>
              </a:rPr>
              <a:t>DataFrames</a:t>
            </a:r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r>
              <a:rPr lang="en-US" sz="2400" dirty="0">
                <a:effectLst/>
              </a:rPr>
              <a:t>Data we want to use is often dispersed across several tables</a:t>
            </a:r>
          </a:p>
          <a:p>
            <a:r>
              <a:rPr lang="en-US" sz="2400" dirty="0">
                <a:effectLst/>
              </a:rPr>
              <a:t>Example:</a:t>
            </a:r>
          </a:p>
          <a:p>
            <a:pPr lvl="1"/>
            <a:r>
              <a:rPr lang="en-US" sz="2000" dirty="0">
                <a:effectLst/>
              </a:rPr>
              <a:t>We have millions of tax records, including municipality of residence, in one table</a:t>
            </a:r>
          </a:p>
          <a:p>
            <a:pPr lvl="1"/>
            <a:r>
              <a:rPr lang="en-US" sz="2000" dirty="0">
                <a:effectLst/>
              </a:rPr>
              <a:t>We have each municipality and the province it is part of in another table</a:t>
            </a:r>
          </a:p>
          <a:p>
            <a:pPr lvl="1"/>
            <a:r>
              <a:rPr lang="en-US" sz="2000" dirty="0">
                <a:effectLst/>
              </a:rPr>
              <a:t>We want to calculate taxes paid per province</a:t>
            </a:r>
          </a:p>
          <a:p>
            <a:pPr lvl="1"/>
            <a:r>
              <a:rPr lang="en-US" sz="2000" dirty="0">
                <a:effectLst/>
              </a:rPr>
              <a:t>We'd have to match the province from the second table to each tax record in the first table, using the municipality name as a key for the matching, before we can calculate province-level statistics</a:t>
            </a:r>
          </a:p>
          <a:p>
            <a:pPr lvl="1"/>
            <a:r>
              <a:rPr lang="en-US" sz="2000" dirty="0">
                <a:effectLst/>
              </a:rPr>
              <a:t>We'd have to join / merge the </a:t>
            </a:r>
            <a:r>
              <a:rPr lang="en-US" sz="2000" dirty="0" err="1">
                <a:effectLst/>
              </a:rPr>
              <a:t>DataFrames</a:t>
            </a:r>
            <a:endParaRPr lang="en-US" sz="20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788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Merging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DataFrames</a:t>
            </a:r>
            <a:endParaRPr lang="en-US" dirty="0">
              <a:cs typeface="Arial"/>
            </a:endParaRPr>
          </a:p>
        </p:txBody>
      </p:sp>
      <p:graphicFrame>
        <p:nvGraphicFramePr>
          <p:cNvPr id="9" name="Tijdelijke aanduiding voor inhoud 8">
            <a:extLst>
              <a:ext uri="{FF2B5EF4-FFF2-40B4-BE49-F238E27FC236}">
                <a16:creationId xmlns:a16="http://schemas.microsoft.com/office/drawing/2014/main" id="{92801438-2EAA-2DB8-9FBD-E42F91D45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4635454"/>
              </p:ext>
            </p:extLst>
          </p:nvPr>
        </p:nvGraphicFramePr>
        <p:xfrm>
          <a:off x="533400" y="1720117"/>
          <a:ext cx="105156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0833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281330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29518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257799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20918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Income​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Tax​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City​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6337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Amsterdam​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17051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Rotterdam​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0252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London​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17413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62</a:t>
            </a:fld>
            <a:endParaRPr lang="nl-NL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931DCB31-6E7C-7706-4205-CF9122899116}"/>
              </a:ext>
            </a:extLst>
          </p:cNvPr>
          <p:cNvSpPr txBox="1"/>
          <p:nvPr/>
        </p:nvSpPr>
        <p:spPr>
          <a:xfrm>
            <a:off x="463060" y="1315871"/>
            <a:ext cx="3521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err="1"/>
              <a:t>dftax</a:t>
            </a:r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2FDBF-8AF6-B523-1421-7D125141CF5D}"/>
              </a:ext>
            </a:extLst>
          </p:cNvPr>
          <p:cNvSpPr txBox="1"/>
          <p:nvPr/>
        </p:nvSpPr>
        <p:spPr>
          <a:xfrm>
            <a:off x="463060" y="3840034"/>
            <a:ext cx="1501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err="1"/>
              <a:t>dfprov</a:t>
            </a:r>
            <a:endParaRPr lang="en-US" sz="2000"/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37DC9675-ED21-6AB1-2544-634A14324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232719"/>
              </p:ext>
            </p:extLst>
          </p:nvPr>
        </p:nvGraphicFramePr>
        <p:xfrm>
          <a:off x="537796" y="4254304"/>
          <a:ext cx="81153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93982764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685441735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552581158"/>
                    </a:ext>
                  </a:extLst>
                </a:gridCol>
              </a:tblGrid>
              <a:tr h="395653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City​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Province​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5675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Amsterdam​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Noord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671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Rotterdam​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Zuid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57755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Utrecht​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Utrecht​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813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70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Merging </a:t>
            </a:r>
            <a:r>
              <a:rPr lang="en-US" err="1">
                <a:effectLst/>
              </a:rPr>
              <a:t>DataFrames</a:t>
            </a:r>
            <a:r>
              <a:rPr lang="en-US" dirty="0"/>
              <a:t>: </a:t>
            </a:r>
            <a:r>
              <a:rPr lang="en-US" sz="4000" dirty="0">
                <a:latin typeface="Courier New"/>
                <a:cs typeface="Courier New"/>
              </a:rPr>
              <a:t>on </a:t>
            </a:r>
            <a:r>
              <a:rPr lang="en-US" dirty="0"/>
              <a:t>parameter </a:t>
            </a:r>
            <a:endParaRPr lang="en-US" dirty="0" err="1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374477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Courier New"/>
                <a:cs typeface="Courier New"/>
              </a:rPr>
              <a:t>print(</a:t>
            </a:r>
            <a:r>
              <a:rPr lang="en-US" sz="1800" dirty="0" err="1">
                <a:latin typeface="Courier New"/>
                <a:cs typeface="Courier New"/>
              </a:rPr>
              <a:t>dftax.merge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dfprov</a:t>
            </a:r>
            <a:r>
              <a:rPr lang="en-US" sz="1800" dirty="0">
                <a:latin typeface="Courier New"/>
                <a:cs typeface="Courier New"/>
              </a:rPr>
              <a:t>,  how='left'))</a:t>
            </a:r>
            <a:endParaRPr lang="en-US" sz="1800" dirty="0">
              <a:effectLst/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Courier New"/>
                <a:cs typeface="Courier New"/>
              </a:rPr>
              <a:t>print(</a:t>
            </a:r>
            <a:r>
              <a:rPr lang="en-US" sz="1800" dirty="0" err="1">
                <a:latin typeface="Courier New"/>
                <a:cs typeface="Courier New"/>
              </a:rPr>
              <a:t>pd.merge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dftax</a:t>
            </a:r>
            <a:r>
              <a:rPr lang="en-US" sz="1800" dirty="0">
                <a:effectLst/>
                <a:latin typeface="Courier New"/>
                <a:cs typeface="Courier New"/>
              </a:rPr>
              <a:t>,</a:t>
            </a:r>
            <a:r>
              <a:rPr lang="en-US" sz="1800" dirty="0">
                <a:latin typeface="Courier New"/>
                <a:cs typeface="Courier New"/>
              </a:rPr>
              <a:t> </a:t>
            </a:r>
            <a:r>
              <a:rPr lang="en-US" sz="1800" dirty="0" err="1">
                <a:latin typeface="Courier New"/>
                <a:cs typeface="Courier New"/>
              </a:rPr>
              <a:t>dfprov</a:t>
            </a:r>
            <a:r>
              <a:rPr lang="en-US" sz="1800" dirty="0">
                <a:effectLst/>
                <a:latin typeface="Courier New"/>
                <a:cs typeface="Courier New"/>
              </a:rPr>
              <a:t>,</a:t>
            </a:r>
            <a:r>
              <a:rPr lang="en-US" sz="1800" dirty="0">
                <a:latin typeface="Courier New"/>
                <a:cs typeface="Courier New"/>
              </a:rPr>
              <a:t>  how='left'))</a:t>
            </a:r>
            <a:endParaRPr lang="en-US" sz="1800" dirty="0">
              <a:effectLst/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Courier New"/>
                <a:cs typeface="Courier New"/>
              </a:rPr>
              <a:t>print(</a:t>
            </a:r>
            <a:r>
              <a:rPr lang="en-US" sz="1800" dirty="0" err="1">
                <a:latin typeface="Courier New"/>
                <a:cs typeface="Courier New"/>
              </a:rPr>
              <a:t>dftax.merge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dfprov</a:t>
            </a:r>
            <a:r>
              <a:rPr lang="en-US" sz="1800" dirty="0">
                <a:effectLst/>
                <a:latin typeface="Courier New"/>
                <a:cs typeface="Courier New"/>
              </a:rPr>
              <a:t>,</a:t>
            </a:r>
            <a:r>
              <a:rPr lang="en-US" sz="1800" dirty="0">
                <a:latin typeface="Courier New"/>
                <a:cs typeface="Courier New"/>
              </a:rPr>
              <a:t>  on= 'City', how='left'))</a:t>
            </a:r>
            <a:endParaRPr lang="en-US" sz="1800" dirty="0">
              <a:effectLst/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Courier New"/>
                <a:cs typeface="Courier New"/>
              </a:rPr>
              <a:t>print(</a:t>
            </a:r>
            <a:r>
              <a:rPr lang="en-US" sz="1800" dirty="0" err="1">
                <a:latin typeface="Courier New"/>
                <a:cs typeface="Courier New"/>
              </a:rPr>
              <a:t>dftax.</a:t>
            </a:r>
            <a:r>
              <a:rPr lang="en-US" sz="1800" dirty="0" err="1">
                <a:effectLst/>
                <a:latin typeface="Courier New"/>
                <a:cs typeface="Courier New"/>
              </a:rPr>
              <a:t>merge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err="1">
                <a:latin typeface="Courier New"/>
                <a:cs typeface="Courier New"/>
              </a:rPr>
              <a:t>dfprov</a:t>
            </a:r>
            <a:r>
              <a:rPr lang="en-US" sz="1800" dirty="0">
                <a:latin typeface="Courier New"/>
                <a:cs typeface="Courier New"/>
              </a:rPr>
              <a:t>, </a:t>
            </a:r>
            <a:r>
              <a:rPr lang="en-US" sz="1800" dirty="0" err="1">
                <a:latin typeface="Courier New"/>
                <a:cs typeface="Courier New"/>
              </a:rPr>
              <a:t>left_on</a:t>
            </a:r>
            <a:r>
              <a:rPr lang="en-US" sz="1800" dirty="0">
                <a:latin typeface="Courier New"/>
                <a:cs typeface="Courier New"/>
              </a:rPr>
              <a:t>='City', </a:t>
            </a:r>
            <a:r>
              <a:rPr lang="en-US" sz="1800" dirty="0" err="1">
                <a:latin typeface="Courier New"/>
                <a:cs typeface="Courier New"/>
              </a:rPr>
              <a:t>right_on</a:t>
            </a:r>
            <a:r>
              <a:rPr lang="en-US" sz="1800" dirty="0">
                <a:latin typeface="Courier New"/>
                <a:cs typeface="Courier New"/>
              </a:rPr>
              <a:t> = 'City', how='left'))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effectLst/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400" dirty="0">
                <a:latin typeface="Calibri"/>
                <a:cs typeface="Calibri"/>
              </a:rPr>
              <a:t>If both </a:t>
            </a:r>
            <a:r>
              <a:rPr lang="en-US" sz="2400" dirty="0" err="1">
                <a:latin typeface="Calibri"/>
                <a:cs typeface="Calibri"/>
              </a:rPr>
              <a:t>dataframes</a:t>
            </a:r>
            <a:r>
              <a:rPr lang="en-US" sz="2400" dirty="0">
                <a:latin typeface="Calibri"/>
                <a:cs typeface="Calibri"/>
              </a:rPr>
              <a:t> share some colnames, Pandas will use those to connect the data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000" dirty="0">
                <a:latin typeface="Calibri"/>
                <a:cs typeface="Calibri"/>
              </a:rPr>
              <a:t>If you want only some of the columns with the same name as the connection, you should use the </a:t>
            </a:r>
            <a:r>
              <a:rPr lang="en-US" sz="1800" dirty="0">
                <a:latin typeface="Courier New"/>
                <a:cs typeface="Calibri"/>
              </a:rPr>
              <a:t>on </a:t>
            </a:r>
            <a:r>
              <a:rPr lang="en-US" sz="2000" dirty="0">
                <a:latin typeface="Calibri"/>
                <a:cs typeface="Calibri"/>
              </a:rPr>
              <a:t>parameter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000" dirty="0">
                <a:latin typeface="Calibri"/>
                <a:cs typeface="Calibri"/>
              </a:rPr>
              <a:t>If the columns you want to use for the connection have different names, you have to use </a:t>
            </a:r>
            <a:r>
              <a:rPr lang="en-US" sz="1800" dirty="0" err="1">
                <a:latin typeface="Courier New"/>
                <a:cs typeface="Calibri"/>
              </a:rPr>
              <a:t>right_on</a:t>
            </a:r>
            <a:r>
              <a:rPr lang="en-US" sz="2000" dirty="0">
                <a:latin typeface="Calibri"/>
                <a:cs typeface="Calibri"/>
              </a:rPr>
              <a:t> and </a:t>
            </a:r>
            <a:r>
              <a:rPr lang="en-US" sz="1800" dirty="0" err="1">
                <a:latin typeface="Courier New"/>
                <a:cs typeface="Calibri"/>
              </a:rPr>
              <a:t>left_on</a:t>
            </a:r>
            <a:endParaRPr lang="en-US" sz="1800" dirty="0">
              <a:latin typeface="Courier New"/>
              <a:cs typeface="Calibri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Calibri"/>
                <a:cs typeface="Calibri"/>
              </a:rPr>
              <a:t>For example, if the city column in </a:t>
            </a:r>
            <a:r>
              <a:rPr lang="en-US" sz="1600" dirty="0" err="1">
                <a:latin typeface="Courier New"/>
                <a:cs typeface="Calibri"/>
              </a:rPr>
              <a:t>dfprov</a:t>
            </a:r>
            <a:r>
              <a:rPr lang="en-US" sz="1600" dirty="0">
                <a:latin typeface="Courier New"/>
                <a:cs typeface="Calibri"/>
              </a:rPr>
              <a:t> </a:t>
            </a:r>
            <a:r>
              <a:rPr lang="en-US" sz="1800" dirty="0">
                <a:latin typeface="Calibri"/>
                <a:cs typeface="Calibri"/>
              </a:rPr>
              <a:t>was called Cities you would need:</a:t>
            </a:r>
            <a:endParaRPr lang="nl-NL" sz="1600" dirty="0">
              <a:latin typeface="Courier New"/>
              <a:cs typeface="Calibri" panose="020F0502020204030204"/>
            </a:endParaRPr>
          </a:p>
          <a:p>
            <a:pPr marL="102870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Courier New"/>
                <a:cs typeface="Calibri" panose="020F0502020204030204"/>
              </a:rPr>
              <a:t>right_on</a:t>
            </a:r>
            <a:r>
              <a:rPr lang="en-US" sz="1600" dirty="0">
                <a:latin typeface="Courier New"/>
                <a:cs typeface="Calibri" panose="020F0502020204030204"/>
              </a:rPr>
              <a:t> =‘Cities',   </a:t>
            </a:r>
            <a:r>
              <a:rPr lang="en-US" sz="1600" dirty="0" err="1">
                <a:latin typeface="Courier New"/>
                <a:cs typeface="Calibri" panose="020F0502020204030204"/>
              </a:rPr>
              <a:t>left_on</a:t>
            </a:r>
            <a:r>
              <a:rPr lang="en-US" sz="1600" dirty="0">
                <a:latin typeface="Courier New"/>
                <a:cs typeface="Calibri" panose="020F0502020204030204"/>
              </a:rPr>
              <a:t> </a:t>
            </a:r>
            <a:r>
              <a:rPr lang="en-US" sz="1600">
                <a:latin typeface="Courier New"/>
                <a:cs typeface="Calibri" panose="020F0502020204030204"/>
              </a:rPr>
              <a:t>= ‘City'</a:t>
            </a:r>
            <a:endParaRPr lang="en-US" sz="1600" dirty="0">
              <a:latin typeface="Courier New"/>
              <a:cs typeface="Calibri" panose="020F0502020204030204"/>
            </a:endParaRPr>
          </a:p>
          <a:p>
            <a:pPr marL="800100" lvl="1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000" dirty="0">
                <a:latin typeface="Calibri"/>
                <a:cs typeface="Calibri"/>
              </a:rPr>
              <a:t>The first </a:t>
            </a:r>
            <a:r>
              <a:rPr lang="en-US" sz="2000" dirty="0" err="1">
                <a:latin typeface="Calibri"/>
                <a:cs typeface="Calibri"/>
              </a:rPr>
              <a:t>dataframe</a:t>
            </a:r>
            <a:r>
              <a:rPr lang="en-US" sz="2000" dirty="0">
                <a:latin typeface="Calibri"/>
                <a:cs typeface="Calibri"/>
              </a:rPr>
              <a:t> is called left, the second one right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63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FA878D96-7C3D-CCEB-AF63-E1B66F240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204926"/>
              </p:ext>
            </p:extLst>
          </p:nvPr>
        </p:nvGraphicFramePr>
        <p:xfrm>
          <a:off x="280255" y="2531013"/>
          <a:ext cx="1142047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19444066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7295191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5418004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262082895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7934483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3685926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Income​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Tax​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City​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Province​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1784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Amsterdam​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Noord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2729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Rotterdam​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Zuid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1037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London​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err="1">
                          <a:solidFill>
                            <a:schemeClr val="tx1"/>
                          </a:solidFill>
                          <a:effectLst/>
                        </a:rPr>
                        <a:t>NaN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6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17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Merging </a:t>
            </a:r>
            <a:r>
              <a:rPr lang="en-US" dirty="0" err="1">
                <a:effectLst/>
              </a:rPr>
              <a:t>DataFrames</a:t>
            </a:r>
            <a:r>
              <a:rPr lang="en-US" dirty="0"/>
              <a:t>: </a:t>
            </a:r>
            <a:r>
              <a:rPr lang="en-US" sz="4000" dirty="0">
                <a:latin typeface="Courier New"/>
                <a:cs typeface="Courier New"/>
              </a:rPr>
              <a:t>how </a:t>
            </a:r>
            <a:r>
              <a:rPr lang="en-US" dirty="0"/>
              <a:t>parameter</a:t>
            </a:r>
            <a:endParaRPr lang="en-US" dirty="0" err="1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374477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000" dirty="0">
                <a:latin typeface="Courier New"/>
                <a:cs typeface="Courier New"/>
              </a:rPr>
              <a:t>print(</a:t>
            </a:r>
            <a:r>
              <a:rPr lang="en-US" sz="2000" dirty="0" err="1">
                <a:latin typeface="Courier New"/>
                <a:cs typeface="Courier New"/>
              </a:rPr>
              <a:t>dftax.merge</a:t>
            </a:r>
            <a:r>
              <a:rPr lang="en-US" sz="2000" dirty="0">
                <a:latin typeface="Courier New"/>
                <a:cs typeface="Courier New"/>
              </a:rPr>
              <a:t>(</a:t>
            </a:r>
            <a:r>
              <a:rPr lang="en-US" sz="2000" dirty="0" err="1">
                <a:latin typeface="Courier New"/>
                <a:cs typeface="Courier New"/>
              </a:rPr>
              <a:t>dfprov</a:t>
            </a:r>
            <a:r>
              <a:rPr lang="en-US" sz="2000" dirty="0">
                <a:latin typeface="Courier New"/>
                <a:cs typeface="Courier New"/>
              </a:rPr>
              <a:t>,  how='left'))</a:t>
            </a:r>
            <a:endParaRPr lang="en-US" sz="2000" dirty="0">
              <a:effectLst/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2000" dirty="0">
              <a:latin typeface="Courier New"/>
              <a:cs typeface="Courier New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Courier New"/>
                <a:cs typeface="Courier New"/>
              </a:rPr>
              <a:t>print(</a:t>
            </a:r>
            <a:r>
              <a:rPr lang="en-US" sz="2000" dirty="0" err="1">
                <a:latin typeface="Courier New"/>
                <a:cs typeface="Courier New"/>
              </a:rPr>
              <a:t>dftax.merge</a:t>
            </a:r>
            <a:r>
              <a:rPr lang="en-US" sz="2000" dirty="0">
                <a:latin typeface="Courier New"/>
                <a:cs typeface="Courier New"/>
              </a:rPr>
              <a:t>(</a:t>
            </a:r>
            <a:r>
              <a:rPr lang="en-US" sz="2000" dirty="0" err="1">
                <a:latin typeface="Courier New"/>
                <a:cs typeface="Courier New"/>
              </a:rPr>
              <a:t>dfprov</a:t>
            </a:r>
            <a:r>
              <a:rPr lang="en-US" sz="2000" dirty="0">
                <a:latin typeface="Courier New"/>
                <a:cs typeface="Courier New"/>
              </a:rPr>
              <a:t>,  how='right'))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64</a:t>
            </a:fld>
            <a:endParaRPr lang="nl-NL"/>
          </a:p>
        </p:txBody>
      </p:sp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086409F4-CD75-6218-3EEA-BD3993A5E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44733"/>
              </p:ext>
            </p:extLst>
          </p:nvPr>
        </p:nvGraphicFramePr>
        <p:xfrm>
          <a:off x="428258" y="1640058"/>
          <a:ext cx="1107757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976129764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582414964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404127428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376279159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257750866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154530401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Income​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Tax​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City​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Province​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23657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Amsterdam​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Noord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0229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Rotterdam​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Zuid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7535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150​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London​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</a:rPr>
                        <a:t>NaN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440596"/>
                  </a:ext>
                </a:extLst>
              </a:tr>
            </a:tbl>
          </a:graphicData>
        </a:graphic>
      </p:graphicFrame>
      <p:graphicFrame>
        <p:nvGraphicFramePr>
          <p:cNvPr id="9" name="Tabel 8">
            <a:extLst>
              <a:ext uri="{FF2B5EF4-FFF2-40B4-BE49-F238E27FC236}">
                <a16:creationId xmlns:a16="http://schemas.microsoft.com/office/drawing/2014/main" id="{E223C049-ABF5-DEF6-2620-7634E06D0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84560"/>
              </p:ext>
            </p:extLst>
          </p:nvPr>
        </p:nvGraphicFramePr>
        <p:xfrm>
          <a:off x="416535" y="3843997"/>
          <a:ext cx="1107757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822994269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132395359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936469515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93959108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495186166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303942498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auto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sz="2000" b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Name​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Income​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Tax​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City​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Province​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75971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Amsterdam​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Noord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24195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B​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200​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Rotterdam​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Zuid Holland​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2825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2​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</a:rPr>
                        <a:t>NaN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</a:rPr>
                        <a:t>NaN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</a:rPr>
                        <a:t>NaN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Utrecht​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Utrecht​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08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3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Grouping </a:t>
            </a:r>
            <a:r>
              <a:rPr lang="en-US" dirty="0" err="1">
                <a:effectLst/>
              </a:rPr>
              <a:t>DataFrames</a:t>
            </a:r>
            <a:r>
              <a:rPr lang="en-US" dirty="0">
                <a:effectLst/>
              </a:rPr>
              <a:t> (Split-Apply-Combine)</a:t>
            </a:r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140016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</a:rPr>
              <a:t>Splitting the data into groups based on some criteria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</a:rPr>
              <a:t>Applying a function to each group independently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effectLst/>
              </a:rPr>
              <a:t>Combining the results into a data structure</a:t>
            </a:r>
          </a:p>
          <a:p>
            <a:r>
              <a:rPr lang="en-US" sz="2400" dirty="0">
                <a:effectLst/>
              </a:rPr>
              <a:t>Example:</a:t>
            </a:r>
          </a:p>
          <a:p>
            <a:pPr lvl="1"/>
            <a:r>
              <a:rPr lang="en-US" sz="2000" dirty="0">
                <a:effectLst/>
              </a:rPr>
              <a:t>In the tax records example earlier, we might split the data by province names, calculate total taxes paid for each province, then combine the resulting numbers into a Series indexed by province names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4495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6EBB-EEA5-0797-236F-A4296A7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82" y="19866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Grouping </a:t>
            </a:r>
            <a:r>
              <a:rPr lang="en-US" dirty="0" err="1">
                <a:effectLst/>
              </a:rPr>
              <a:t>DataFrames</a:t>
            </a:r>
            <a:endParaRPr lang="en-US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1E4F-BDB1-97A8-09B1-31FB5DE88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82" y="1253331"/>
            <a:ext cx="11714446" cy="4147193"/>
          </a:xfrm>
        </p:spPr>
        <p:txBody>
          <a:bodyPr vert="horz" lIns="91440" tIns="45720" rIns="0" bIns="45720" rtlCol="0" anchor="t">
            <a:noAutofit/>
          </a:bodyPr>
          <a:lstStyle/>
          <a:p>
            <a:pPr>
              <a:buFont typeface="Arial" panose="020F0302020204030204"/>
              <a:buChar char="•"/>
            </a:pPr>
            <a:r>
              <a:rPr lang="en-US" sz="2000" dirty="0" err="1">
                <a:latin typeface="Courier New"/>
                <a:cs typeface="Courier New"/>
              </a:rPr>
              <a:t>dfcombined</a:t>
            </a:r>
            <a:r>
              <a:rPr lang="en-US" sz="2000" dirty="0">
                <a:latin typeface="Courier New"/>
                <a:cs typeface="Courier New"/>
              </a:rPr>
              <a:t> = </a:t>
            </a:r>
            <a:r>
              <a:rPr lang="en-US" sz="2000" dirty="0" err="1">
                <a:latin typeface="Courier New"/>
                <a:cs typeface="Courier New"/>
              </a:rPr>
              <a:t>dftax.merge</a:t>
            </a:r>
            <a:r>
              <a:rPr lang="en-US" sz="2000" dirty="0">
                <a:latin typeface="Courier New"/>
                <a:cs typeface="Courier New"/>
              </a:rPr>
              <a:t>(</a:t>
            </a:r>
            <a:r>
              <a:rPr lang="en-US" sz="2000" dirty="0" err="1">
                <a:latin typeface="Courier New"/>
                <a:cs typeface="Courier New"/>
              </a:rPr>
              <a:t>dfprov</a:t>
            </a:r>
            <a:r>
              <a:rPr lang="en-US" sz="2000" dirty="0">
                <a:latin typeface="Courier New"/>
                <a:cs typeface="Courier New"/>
              </a:rPr>
              <a:t>,  how='left')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 err="1">
                <a:latin typeface="Courier New"/>
                <a:cs typeface="Courier New"/>
              </a:rPr>
              <a:t>dfcombined.loc</a:t>
            </a:r>
            <a:r>
              <a:rPr lang="en-US" sz="2000" dirty="0">
                <a:latin typeface="Courier New"/>
                <a:cs typeface="Courier New"/>
              </a:rPr>
              <a:t>[:,'Province'] = </a:t>
            </a:r>
            <a:r>
              <a:rPr lang="en-US" sz="2000" dirty="0" err="1">
                <a:latin typeface="Courier New"/>
                <a:cs typeface="Courier New"/>
              </a:rPr>
              <a:t>dfcombined.loc</a:t>
            </a:r>
            <a:r>
              <a:rPr lang="en-US" sz="2000" dirty="0">
                <a:latin typeface="Courier New"/>
                <a:cs typeface="Courier New"/>
              </a:rPr>
              <a:t>[:,'Province'].</a:t>
            </a:r>
            <a:r>
              <a:rPr lang="en-US" sz="2000" dirty="0" err="1">
                <a:latin typeface="Courier New"/>
                <a:cs typeface="Courier New"/>
              </a:rPr>
              <a:t>fillna</a:t>
            </a:r>
            <a:r>
              <a:rPr lang="en-US" sz="2000" dirty="0">
                <a:latin typeface="Courier New"/>
                <a:cs typeface="Courier New"/>
              </a:rPr>
              <a:t>('Rest')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cs typeface="Courier New"/>
              </a:rPr>
              <a:t># We replace </a:t>
            </a:r>
            <a:r>
              <a:rPr lang="en-US" sz="2000" dirty="0">
                <a:effectLst/>
                <a:latin typeface="Courier New"/>
                <a:cs typeface="Courier New"/>
              </a:rPr>
              <a:t>the </a:t>
            </a:r>
            <a:r>
              <a:rPr lang="en-US" sz="2000" dirty="0">
                <a:latin typeface="Courier New"/>
                <a:cs typeface="Courier New"/>
              </a:rPr>
              <a:t>missing values with </a:t>
            </a:r>
            <a:r>
              <a:rPr lang="en-US" sz="2000" dirty="0">
                <a:effectLst/>
                <a:latin typeface="Courier New"/>
                <a:cs typeface="Courier New"/>
              </a:rPr>
              <a:t>a </a:t>
            </a:r>
            <a:r>
              <a:rPr lang="en-US" sz="2000" dirty="0">
                <a:latin typeface="Courier New"/>
                <a:cs typeface="Courier New"/>
              </a:rPr>
              <a:t>string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cs typeface="Courier New"/>
              </a:rPr>
              <a:t># As the </a:t>
            </a:r>
            <a:r>
              <a:rPr lang="en-US" sz="2000" dirty="0" err="1">
                <a:latin typeface="Courier New"/>
                <a:cs typeface="Courier New"/>
              </a:rPr>
              <a:t>groupby</a:t>
            </a:r>
            <a:r>
              <a:rPr lang="en-US" sz="2000" dirty="0">
                <a:latin typeface="Courier New"/>
                <a:cs typeface="Courier New"/>
              </a:rPr>
              <a:t> method ignores </a:t>
            </a:r>
            <a:r>
              <a:rPr lang="en-US" sz="2000" dirty="0" err="1">
                <a:latin typeface="Courier New"/>
                <a:cs typeface="Courier New"/>
              </a:rPr>
              <a:t>NaN</a:t>
            </a:r>
            <a:r>
              <a:rPr lang="en-US" sz="2000" dirty="0">
                <a:latin typeface="Courier New"/>
                <a:cs typeface="Courier New"/>
              </a:rPr>
              <a:t> values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cs typeface="Courier New"/>
              </a:rPr>
              <a:t>result = </a:t>
            </a:r>
            <a:r>
              <a:rPr lang="en-US" sz="2000" dirty="0" err="1">
                <a:latin typeface="Courier New"/>
                <a:cs typeface="Courier New"/>
              </a:rPr>
              <a:t>dfcombined.groupby</a:t>
            </a:r>
            <a:r>
              <a:rPr lang="en-US" sz="2000" dirty="0">
                <a:latin typeface="Courier New"/>
                <a:cs typeface="Courier New"/>
              </a:rPr>
              <a:t>('Province')['Tax'].sum()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cs typeface="Courier New"/>
              </a:rPr>
              <a:t>result = </a:t>
            </a:r>
            <a:r>
              <a:rPr lang="en-US" sz="2000" dirty="0" err="1">
                <a:latin typeface="Courier New"/>
                <a:cs typeface="Courier New"/>
              </a:rPr>
              <a:t>result.sort_values</a:t>
            </a:r>
            <a:r>
              <a:rPr lang="en-US" sz="2000" dirty="0">
                <a:latin typeface="Courier New"/>
                <a:cs typeface="Courier New"/>
              </a:rPr>
              <a:t>(ascending = False)</a:t>
            </a:r>
            <a:br>
              <a:rPr lang="en-US" sz="2000" dirty="0">
                <a:latin typeface="Courier New"/>
                <a:cs typeface="Courier New"/>
              </a:rPr>
            </a:br>
            <a:r>
              <a:rPr lang="en-US" sz="2000" dirty="0">
                <a:latin typeface="Courier New"/>
                <a:cs typeface="Courier New"/>
              </a:rPr>
              <a:t># We want </a:t>
            </a:r>
            <a:r>
              <a:rPr lang="en-US" sz="2000" dirty="0">
                <a:effectLst/>
                <a:latin typeface="Courier New"/>
                <a:cs typeface="Courier New"/>
              </a:rPr>
              <a:t>the </a:t>
            </a:r>
            <a:r>
              <a:rPr lang="en-US" sz="2000" dirty="0">
                <a:latin typeface="Courier New"/>
                <a:cs typeface="Courier New"/>
              </a:rPr>
              <a:t>highest taxed Province first</a:t>
            </a:r>
            <a:endParaRPr lang="en-US" sz="2000" dirty="0">
              <a:effectLst/>
              <a:latin typeface="Courier New"/>
              <a:cs typeface="Courier New"/>
            </a:endParaRPr>
          </a:p>
          <a:p>
            <a:pPr marL="0">
              <a:buFont typeface="Arial" panose="020F0302020204030204"/>
            </a:pPr>
            <a:r>
              <a:rPr lang="en-US" sz="2400" dirty="0">
                <a:latin typeface="Calibri"/>
                <a:cs typeface="Arial"/>
              </a:rPr>
              <a:t>The result will be</a:t>
            </a:r>
            <a:r>
              <a:rPr lang="en-US" sz="2400" dirty="0">
                <a:effectLst/>
                <a:latin typeface="Calibri"/>
                <a:cs typeface="Arial"/>
              </a:rPr>
              <a:t>:</a:t>
            </a:r>
          </a:p>
          <a:p>
            <a:pPr>
              <a:buFont typeface="Arial" panose="020F0302020204030204"/>
            </a:pPr>
            <a:endParaRPr lang="en-US" sz="2000" dirty="0">
              <a:latin typeface="Courier New"/>
              <a:cs typeface="Courier New"/>
            </a:endParaRPr>
          </a:p>
          <a:p>
            <a:pPr>
              <a:buFont typeface="Arial" panose="020F0302020204030204"/>
            </a:pPr>
            <a:endParaRPr lang="en-US" sz="2000" dirty="0">
              <a:latin typeface="Courier New"/>
              <a:cs typeface="Courier New"/>
            </a:endParaRPr>
          </a:p>
          <a:p>
            <a:pPr>
              <a:buFont typeface="Arial" panose="020F0302020204030204"/>
            </a:pPr>
            <a:endParaRPr lang="en-US" sz="2000" dirty="0">
              <a:latin typeface="Courier New"/>
              <a:cs typeface="Courier New"/>
            </a:endParaRPr>
          </a:p>
          <a:p>
            <a:pPr>
              <a:buFont typeface="Arial" panose="020F0302020204030204"/>
            </a:pPr>
            <a:r>
              <a:rPr lang="en-US" sz="2400" dirty="0">
                <a:latin typeface="Calibri"/>
                <a:cs typeface="Arial"/>
              </a:rPr>
              <a:t>You get </a:t>
            </a:r>
            <a:r>
              <a:rPr lang="en-US" sz="2400" dirty="0">
                <a:effectLst/>
                <a:latin typeface="Calibri"/>
                <a:cs typeface="Arial"/>
              </a:rPr>
              <a:t>the </a:t>
            </a:r>
            <a:r>
              <a:rPr lang="en-US" sz="2400" dirty="0">
                <a:latin typeface="Calibri"/>
                <a:cs typeface="Arial"/>
              </a:rPr>
              <a:t>total </a:t>
            </a:r>
            <a:r>
              <a:rPr lang="en-US" sz="2400" dirty="0">
                <a:effectLst/>
                <a:latin typeface="Calibri"/>
                <a:cs typeface="Arial"/>
              </a:rPr>
              <a:t>tax </a:t>
            </a:r>
            <a:r>
              <a:rPr lang="en-US" sz="2400" dirty="0">
                <a:latin typeface="Calibri"/>
                <a:cs typeface="Arial"/>
              </a:rPr>
              <a:t>with:</a:t>
            </a:r>
            <a:br>
              <a:rPr lang="en-US" sz="2400" dirty="0">
                <a:latin typeface="Calibri"/>
                <a:cs typeface="Arial"/>
              </a:rPr>
            </a:br>
            <a:r>
              <a:rPr lang="en-US" sz="2000" dirty="0">
                <a:latin typeface="Courier New"/>
                <a:cs typeface="Arial"/>
              </a:rPr>
              <a:t>print(</a:t>
            </a:r>
            <a:r>
              <a:rPr lang="en-US" sz="2000" dirty="0" err="1">
                <a:latin typeface="Courier New"/>
                <a:cs typeface="Courier New"/>
              </a:rPr>
              <a:t>result.sum</a:t>
            </a:r>
            <a:r>
              <a:rPr lang="en-US" sz="2000" dirty="0">
                <a:latin typeface="Courier New"/>
                <a:cs typeface="Courier New"/>
              </a:rPr>
              <a:t>())             # Onscreen 105</a:t>
            </a:r>
          </a:p>
          <a:p>
            <a:pPr>
              <a:buFont typeface="Arial" panose="020F0302020204030204"/>
            </a:pPr>
            <a:r>
              <a:rPr lang="en-US" sz="2400" dirty="0">
                <a:latin typeface="Calibri"/>
                <a:cs typeface="Arial"/>
              </a:rPr>
              <a:t>And </a:t>
            </a:r>
            <a:r>
              <a:rPr lang="en-US" sz="2400" dirty="0">
                <a:effectLst/>
                <a:latin typeface="Calibri"/>
                <a:cs typeface="Arial"/>
              </a:rPr>
              <a:t>the tax</a:t>
            </a:r>
            <a:r>
              <a:rPr lang="en-US" sz="2400" dirty="0">
                <a:latin typeface="Calibri"/>
                <a:cs typeface="Arial"/>
              </a:rPr>
              <a:t> </a:t>
            </a:r>
            <a:r>
              <a:rPr lang="en-US" sz="2400" dirty="0">
                <a:effectLst/>
                <a:latin typeface="Calibri"/>
                <a:cs typeface="Arial"/>
              </a:rPr>
              <a:t>for </a:t>
            </a:r>
            <a:r>
              <a:rPr lang="en-US" sz="2400" dirty="0">
                <a:latin typeface="Calibri"/>
                <a:cs typeface="Arial"/>
              </a:rPr>
              <a:t>Noord Holland with:</a:t>
            </a:r>
            <a:br>
              <a:rPr lang="en-US" sz="2400" dirty="0">
                <a:latin typeface="Calibri"/>
                <a:cs typeface="Arial"/>
              </a:rPr>
            </a:br>
            <a:r>
              <a:rPr lang="en-US" sz="2000" dirty="0">
                <a:latin typeface="Courier New"/>
                <a:cs typeface="Arial"/>
              </a:rPr>
              <a:t>print(result['Noord Holland'])  # Onscreen: 10</a:t>
            </a:r>
            <a:endParaRPr lang="en-US" sz="2000" dirty="0">
              <a:latin typeface="Courier New"/>
              <a:cs typeface="Courier New"/>
            </a:endParaRPr>
          </a:p>
          <a:p>
            <a:pPr marL="514350" indent="-514350">
              <a:buAutoNum type="arabicPeriod"/>
            </a:pPr>
            <a:endParaRPr lang="en-US" sz="2400" dirty="0">
              <a:effectLst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2AA1-7F75-A767-61CF-633A7684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66</a:t>
            </a:fld>
            <a:endParaRPr lang="nl-NL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3068C61B-257E-B64B-9DF9-C1712D4DA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534380"/>
              </p:ext>
            </p:extLst>
          </p:nvPr>
        </p:nvGraphicFramePr>
        <p:xfrm>
          <a:off x="515815" y="3751384"/>
          <a:ext cx="7848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0950">
                  <a:extLst>
                    <a:ext uri="{9D8B030D-6E8A-4147-A177-3AD203B41FA5}">
                      <a16:colId xmlns:a16="http://schemas.microsoft.com/office/drawing/2014/main" val="69499015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423860272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Zuid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60​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812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Rest​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35​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947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Noord Holland​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</a:rPr>
                        <a:t>10​</a:t>
                      </a:r>
                      <a:endParaRPr lang="en-US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8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46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8286</TotalTime>
  <Words>7334</Words>
  <Application>Microsoft Office PowerPoint</Application>
  <PresentationFormat>Widescreen</PresentationFormat>
  <Paragraphs>1819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Arial,Sans-Serif</vt:lpstr>
      <vt:lpstr>Calibri</vt:lpstr>
      <vt:lpstr>Calibri Light</vt:lpstr>
      <vt:lpstr>Courier New</vt:lpstr>
      <vt:lpstr>Office Theme</vt:lpstr>
      <vt:lpstr>Introduction to Python</vt:lpstr>
      <vt:lpstr>Program for This Week: Data analysis with Pandas</vt:lpstr>
      <vt:lpstr>Pandas DataFrame</vt:lpstr>
      <vt:lpstr>DataFrame, rownames and colnames</vt:lpstr>
      <vt:lpstr>Creating a DataFrame using a dictionary </vt:lpstr>
      <vt:lpstr>Creating a DataFrame using a dictionary </vt:lpstr>
      <vt:lpstr>Creating a DataFrame using a list of lists</vt:lpstr>
      <vt:lpstr>Creating a DataFrame using the transpose operator</vt:lpstr>
      <vt:lpstr>Creating a DataFrame using default col and row names</vt:lpstr>
      <vt:lpstr>Creating a series using a dictionary or a list</vt:lpstr>
      <vt:lpstr>Series using defaults</vt:lpstr>
      <vt:lpstr>Dataframe and Series indices are like keys in dictionaries</vt:lpstr>
      <vt:lpstr>Viewing data</vt:lpstr>
      <vt:lpstr>Viewing data</vt:lpstr>
      <vt:lpstr>Sorting dataframes</vt:lpstr>
      <vt:lpstr>Sorting a dataframe by rownames</vt:lpstr>
      <vt:lpstr>Sorting a dataframe by colnames</vt:lpstr>
      <vt:lpstr>Sorting a dataframe by the values in a column </vt:lpstr>
      <vt:lpstr>Sorting a dataframe by the values in a row</vt:lpstr>
      <vt:lpstr>Selecting from a dataframe using columns</vt:lpstr>
      <vt:lpstr>Selecting from a dataframe, using loc</vt:lpstr>
      <vt:lpstr>Selecting from a dataframe: loc</vt:lpstr>
      <vt:lpstr>Selecting from a dataframe, using iloc</vt:lpstr>
      <vt:lpstr>Aside on slicing and indexing (Dijkstra)</vt:lpstr>
      <vt:lpstr>Selecting from a dataframe</vt:lpstr>
      <vt:lpstr>df1.loc[:,:] or df1.iloc[:, :]</vt:lpstr>
      <vt:lpstr>df1.loc[:] or df1.iloc[:]</vt:lpstr>
      <vt:lpstr>df1.loc[:,10:12] or df1.iloc[:,:-1]</vt:lpstr>
      <vt:lpstr>df1.loc[[3,0]] or df1.iloc[[0,3]]</vt:lpstr>
      <vt:lpstr>df1.loc[[2]] or df1.iloc[[1]] </vt:lpstr>
      <vt:lpstr>df1.loc[2] or df1.iloc[1]</vt:lpstr>
      <vt:lpstr>df1.loc[[2],[13]] or df1.iloc[[1],[1]] </vt:lpstr>
      <vt:lpstr>df1.loc[[2],13] or df1.iloc[[-3],-3]</vt:lpstr>
      <vt:lpstr>df1.loc[2,13] or df1.iloc[-3,1]</vt:lpstr>
      <vt:lpstr>Name attribute</vt:lpstr>
      <vt:lpstr>Question, what is the result of</vt:lpstr>
      <vt:lpstr>Question, what is the result of</vt:lpstr>
      <vt:lpstr>Update a selection</vt:lpstr>
      <vt:lpstr>Selecting from a dataframe: boolean indexing</vt:lpstr>
      <vt:lpstr>Boolean indexing </vt:lpstr>
      <vt:lpstr>Boolean indexing </vt:lpstr>
      <vt:lpstr>Selecting from a dataframe: shortcuts </vt:lpstr>
      <vt:lpstr>Question: What will be printed by</vt:lpstr>
      <vt:lpstr>Question: What will be printed by: print(df1[[10,13]][[1,2]])? </vt:lpstr>
      <vt:lpstr>Selecting from a Series: shortcuts </vt:lpstr>
      <vt:lpstr>Vectorized operations</vt:lpstr>
      <vt:lpstr>Basic operations: broadcasting </vt:lpstr>
      <vt:lpstr>Basic operations: broadcasting </vt:lpstr>
      <vt:lpstr>Basic statistical operations as Series methods</vt:lpstr>
      <vt:lpstr>Mapping a function to all elements</vt:lpstr>
      <vt:lpstr>Vectorized string methods</vt:lpstr>
      <vt:lpstr>Vectorized string methods</vt:lpstr>
      <vt:lpstr>Question </vt:lpstr>
      <vt:lpstr>Answer </vt:lpstr>
      <vt:lpstr>The vectorized in operator  </vt:lpstr>
      <vt:lpstr>Applying a function to each row/column</vt:lpstr>
      <vt:lpstr>Adding data to a dataframe</vt:lpstr>
      <vt:lpstr>Adding data to a dataframe</vt:lpstr>
      <vt:lpstr>Missing data </vt:lpstr>
      <vt:lpstr>Concatenating DataFrames</vt:lpstr>
      <vt:lpstr>Joining / merging DataFrames</vt:lpstr>
      <vt:lpstr>Merging DataFrames</vt:lpstr>
      <vt:lpstr>Merging DataFrames: on parameter </vt:lpstr>
      <vt:lpstr>Merging DataFrames: how parameter</vt:lpstr>
      <vt:lpstr>Grouping DataFrames (Split-Apply-Combine)</vt:lpstr>
      <vt:lpstr>Grouping DataFrames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Ailko van der Veen</dc:creator>
  <cp:lastModifiedBy>Mathijs Janssen</cp:lastModifiedBy>
  <cp:revision>486</cp:revision>
  <dcterms:created xsi:type="dcterms:W3CDTF">2023-04-29T20:15:45Z</dcterms:created>
  <dcterms:modified xsi:type="dcterms:W3CDTF">2026-03-11T14:21:44Z</dcterms:modified>
</cp:coreProperties>
</file>